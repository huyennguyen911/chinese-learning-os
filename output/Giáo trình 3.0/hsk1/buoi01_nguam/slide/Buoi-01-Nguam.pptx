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image" Target="../media/image16.gif"/><Relationship Id="rId4" Type="http://schemas.openxmlformats.org/officeDocument/2006/relationships/image" Target="../media/image17.gif"/><Relationship Id="rId5" Type="http://schemas.microsoft.com/office/2007/relationships/media" Target="../media/media25.mp3"/><Relationship Id="rId6" Type="http://schemas.openxmlformats.org/officeDocument/2006/relationships/video" Target="../media/media25.mp3"/><Relationship Id="rId7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gif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gif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gif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0.mp3"/><Relationship Id="rId3" Type="http://schemas.openxmlformats.org/officeDocument/2006/relationships/video" Target="../media/media30.mp3"/><Relationship Id="rId4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1.mp3"/><Relationship Id="rId3" Type="http://schemas.openxmlformats.org/officeDocument/2006/relationships/video" Target="../media/media31.mp3"/><Relationship Id="rId4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2.mp3"/><Relationship Id="rId3" Type="http://schemas.openxmlformats.org/officeDocument/2006/relationships/video" Target="../media/media32.mp3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âm tiếng Trung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拼音 (pīnyīn) — hệ thống ghép âm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Sơ cấp · Buổi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Cấu trúc âm tiết tiếng Trung</a:t>
            </a:r>
          </a:p>
        </p:txBody>
      </p:sp>
      <p:pic>
        <p:nvPicPr>
          <p:cNvPr id="6" name="Picture 5" descr="overview_piny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80" y="1481328"/>
            <a:ext cx="9367934" cy="4590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81344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3 phần ghép thành 1 âm tiết: 声母 (phụ âm đầu) + 韵母 (phần vần) + 声调 (thanh điệu).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Nhóm Môi (b p m f)</a:t>
            </a:r>
          </a:p>
        </p:txBody>
      </p:sp>
      <p:pic>
        <p:nvPicPr>
          <p:cNvPr id="6" name="Picture 5" descr="artic_mo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4086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6920"/>
          <a:ext cx="7436814" cy="4033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95"/>
                <a:gridCol w="3424849"/>
                <a:gridCol w="3742870"/>
              </a:tblGrid>
              <a:tr h="1034735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"p" Việt — KHÔNG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爸爸 bàba — bố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"ph" Việt — bật hơi mạnh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苹果 píngguǒ — táo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"m"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妈妈 māma — mẹ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"ph/f"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飞机 fēijī — máy bay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12327"/>
            <a:ext cx="7436815" cy="579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bā (không bật hơi) so với pā (bật hơi mạnh) — vị trí giống hệt, chỉ khác luồng hơi.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Nhóm Môi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68482"/>
          <a:ext cx="5419190" cy="107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77"/>
                <a:gridCol w="1192222"/>
                <a:gridCol w="2775991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玻璃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bōli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thủy tinh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481328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268482"/>
          <a:ext cx="5419190" cy="107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77"/>
                <a:gridCol w="1192222"/>
                <a:gridCol w="2775991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pāi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vỗ, chụp (ảnh)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phê duyệt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092376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879530"/>
          <a:ext cx="5419190" cy="107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77"/>
                <a:gridCol w="1192222"/>
                <a:gridCol w="2775991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 mèo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摸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23863" y="4092376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f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23863" y="4879530"/>
          <a:ext cx="5419190" cy="161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977"/>
                <a:gridCol w="1192222"/>
                <a:gridCol w="2775991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phát ra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fēn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phút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夫妻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fūqī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vợ chồng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14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Nhóm Đầu lưỡi (d t n l)</a:t>
            </a:r>
          </a:p>
        </p:txBody>
      </p:sp>
      <p:pic>
        <p:nvPicPr>
          <p:cNvPr id="6" name="Picture 5" descr="artic_daul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4086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4457"/>
          <a:ext cx="7436814" cy="4318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270"/>
                <a:gridCol w="3159800"/>
                <a:gridCol w="4028744"/>
              </a:tblGrid>
              <a:tr h="1034735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"t" Việt — KHÔNG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 dà — to, lớn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"th" Việt — bật hơi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 tā — anh ấy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"n"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 nǐ — bạn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"l"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老师 lǎoshī — giáo viên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4791"/>
            <a:ext cx="7436815" cy="437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dū so với tū — cùng đầu lưỡi chạm lợi, khác bật hơi (giống quy tắc b–p vừa học).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Nhóm Đầu lưỡi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419191" cy="64071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9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11025"/>
          <a:ext cx="5419190" cy="1494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143"/>
                <a:gridCol w="1560772"/>
                <a:gridCol w="2361275"/>
              </a:tblGrid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nhờ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低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thấp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dōu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đều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481328"/>
            <a:ext cx="5419191" cy="64071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9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211025"/>
          <a:ext cx="5419190" cy="1494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143"/>
                <a:gridCol w="1560772"/>
                <a:gridCol w="2361275"/>
              </a:tblGrid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cô ấy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nó (đồ vật)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踢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đá (bóng)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901788"/>
            <a:ext cx="5419191" cy="64071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9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631485"/>
          <a:ext cx="5419190" cy="49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143"/>
                <a:gridCol w="1560772"/>
                <a:gridCol w="2361275"/>
              </a:tblGrid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妞妞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niūniu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bé gái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23863" y="3901788"/>
            <a:ext cx="5419191" cy="64071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9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23863" y="4631485"/>
          <a:ext cx="5419190" cy="49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143"/>
                <a:gridCol w="1560772"/>
                <a:gridCol w="2361275"/>
              </a:tblGrid>
              <a:tr h="498330"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拉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kéo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619963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 và l ít từ thanh 1 thông dụng — 2 âm này KHÔNG khó phát âm với người Việt nên không cần ép ví dụ, tập trung vào âm là chính.</a:t>
            </a:r>
          </a:p>
        </p:txBody>
      </p:sp>
      <p:pic>
        <p:nvPicPr>
          <p:cNvPr id="15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Nhóm Gốc lưỡi (g k h)</a:t>
            </a:r>
          </a:p>
        </p:txBody>
      </p:sp>
      <p:pic>
        <p:nvPicPr>
          <p:cNvPr id="6" name="Picture 5" descr="artic_gocl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4086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9361"/>
          <a:ext cx="7436814" cy="3569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25"/>
                <a:gridCol w="3552618"/>
                <a:gridCol w="3623671"/>
              </a:tblGrid>
              <a:tr h="1034735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"c/k" Việt — KHÔNG bật hơi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哥哥 gēge — anh trai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"kh" Việt — bật hơi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 kàn — xem, nhìn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"h" Việt, hơi cọ ở họng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好 hǎo — tốt, khỏe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79887"/>
            <a:ext cx="7436815" cy="812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gē so với kē — cùng gốc lưỡi chạm ngạc mềm, khác bật hơi.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Nhóm Gốc lưỡi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93568"/>
          <a:ext cx="3527449" cy="2073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371"/>
                <a:gridCol w="1086672"/>
                <a:gridCol w="1398406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cao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nên, phải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姑姑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gūgu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cô, dì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32122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32122" y="2493568"/>
          <a:ext cx="3527449" cy="2073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371"/>
                <a:gridCol w="1086672"/>
                <a:gridCol w="1398406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咖啡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kāfēi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cà phê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开心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kāixīn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vui vẻ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kē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môn, khoa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15604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15604" y="2493568"/>
          <a:ext cx="3527449" cy="2073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371"/>
                <a:gridCol w="1086672"/>
                <a:gridCol w="1398406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花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huā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hoa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đen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呼吸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hūxī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12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Nhóm Mặt lưỡi phẳng (j q x)</a:t>
            </a:r>
          </a:p>
        </p:txBody>
      </p:sp>
      <p:pic>
        <p:nvPicPr>
          <p:cNvPr id="6" name="Picture 5" descr="artic_matluo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4086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6897"/>
          <a:ext cx="7436814" cy="3854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17"/>
                <a:gridCol w="3563669"/>
                <a:gridCol w="3666828"/>
              </a:tblGrid>
              <a:tr h="1034735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"ch" nhẹ, lưỡi PHẲNG sát răng dưới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叫 jiào — gọi là, tên là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"ch" bật hơi mạnh, lưỡi phẳng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请 qǐng — mời, xin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"x/s" nhẹ, lưỡi phẳng sát răng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学习 xuéxí —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22350"/>
            <a:ext cx="7436815" cy="669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j/q/x lưỡi PHẲNG sát răng dưới — dễ lẫn với zh/ch/sh (lưỡi CONG) ở nhóm sau; 2 nhóm đều nghe gần giống "ch/x" tiếng Việt nên dễ gộp làm một, so sánh kỹ khi sang slide tiếp theo.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Nhóm Mặt lưỡi phẳng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j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93568"/>
          <a:ext cx="3527449" cy="276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12"/>
                <a:gridCol w="1067420"/>
                <a:gridCol w="1547217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家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 gà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机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máy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32122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q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32122" y="2493568"/>
          <a:ext cx="3527449" cy="276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12"/>
                <a:gridCol w="1067420"/>
                <a:gridCol w="1547217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7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秋天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qiūtiān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thu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妻子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qīzi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vợ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kỳ, thời hạn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15604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x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15604" y="2493568"/>
          <a:ext cx="3527449" cy="276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12"/>
                <a:gridCol w="1067420"/>
                <a:gridCol w="1547217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hướng tây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tim, lòng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西瓜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xīguā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dưa hấu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吸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hít vào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Nhóm Cong lưỡi (zh ch sh r) · khó nhất</a:t>
            </a:r>
          </a:p>
        </p:txBody>
      </p:sp>
      <p:pic>
        <p:nvPicPr>
          <p:cNvPr id="6" name="Picture 5" descr="artic_congl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4086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81329"/>
          <a:ext cx="7436814" cy="464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90"/>
                <a:gridCol w="4270646"/>
                <a:gridCol w="3004178"/>
              </a:tblGrid>
              <a:tr h="92903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92903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"tr" Việt, KHÔNG bật hơi, đầu lưỡi CONG chạm ngạc cứng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中国 Zhōngguó — Trung Quốc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92903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"tr" bật hơi mạnh, lưỡi cong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吃 chī — ăn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92903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"s" Việt nhưng lưỡi cong lên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是 shì — là, thì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92903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âm tương đương — lưỡi cong, rung nhẹ, gần "r" Mỹ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人 rén — người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17919"/>
            <a:ext cx="7436815" cy="274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jī (lưỡi phẳng, nhóm trước) so với zhī (lưỡi CONG lên ngạc) rất dễ gộp làm một · người Việt hay đọc zh/ch/sh như tr/ch/s tiếng Việt (KHÔNG cong lưỡi) — vì tiếng Việt không có âm cong lưỡi (retroflex), phải tập cong hẳn đầu lưỡi lên chạm ngạc cứng.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Nhóm Cong lưỡi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419191" cy="527525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zh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82120"/>
          <a:ext cx="5419191" cy="164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065"/>
                <a:gridCol w="1813538"/>
                <a:gridCol w="2206588"/>
              </a:tblGrid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zhōng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giữa, Trung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猪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 lợn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抓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zhuā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nắm, bắt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桌子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zhuōzi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bàn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481328"/>
            <a:ext cx="5419191" cy="527525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082120"/>
          <a:ext cx="5419191" cy="164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065"/>
                <a:gridCol w="1813538"/>
                <a:gridCol w="2206588"/>
              </a:tblGrid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车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chē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春天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chūntiān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mùa xuân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出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抽烟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chōuyān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hút thuốc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884496"/>
            <a:ext cx="5419191" cy="527525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485288"/>
          <a:ext cx="5419191" cy="164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065"/>
                <a:gridCol w="1813538"/>
                <a:gridCol w="2206588"/>
              </a:tblGrid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书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sách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山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núi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伤心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shāngxīn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buồn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shōu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thu, nhận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23863" y="3884496"/>
            <a:ext cx="5419191" cy="527525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23863" y="4485288"/>
          <a:ext cx="5419191" cy="1230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065"/>
                <a:gridCol w="1813538"/>
                <a:gridCol w="2206588"/>
              </a:tblGrid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认识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rènshi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quen biết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10297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日本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Rìběn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Nhật Bản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619963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 KHÔNG có âm tiết thanh 1 thông dụng trong tiếng Trung (đặc điểm ngữ âm, không tránh được) — 3 ví dụ trên giữ nguyên thanh gốc, nghe giáo viên đọc mẫu.</a:t>
            </a:r>
          </a:p>
        </p:txBody>
      </p:sp>
      <p:pic>
        <p:nvPicPr>
          <p:cNvPr id="15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Nhóm Đầu lưỡi phẳng (z c s)</a:t>
            </a:r>
          </a:p>
        </p:txBody>
      </p:sp>
      <p:pic>
        <p:nvPicPr>
          <p:cNvPr id="6" name="Picture 5" descr="artic_dauluoi_phang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34086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4434"/>
          <a:ext cx="7436813" cy="413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80"/>
                <a:gridCol w="4925682"/>
                <a:gridCol w="2298651"/>
              </a:tblGrid>
              <a:tr h="1034735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声母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"d/ch" nhẹ, đầu lưỡi chạm RĂNG trên, KHÔNG cong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字 zì — chữ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gần "x/ts" bật hơi mạnh, lưỡi phẳng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菜 cài — món ăn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1034735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"x/s" Việt, lưỡi phẳng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 sān — số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64814"/>
            <a:ext cx="7436815" cy="52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zhī–zī, chī–cī, shī–sī — cong lưỡi (nhóm trước) và phẳng lưỡi (nhóm này) nghe khác hẳn dù nhìn gần giống.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Nhóm Đầu lưỡi phẳng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z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93568"/>
          <a:ext cx="3527449" cy="138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03"/>
                <a:gridCol w="1174874"/>
                <a:gridCol w="1347872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糟糕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zāogāo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hỏng rồi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增加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zēngjiā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tăng thêm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32122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32122" y="2493568"/>
          <a:ext cx="3527449" cy="2765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03"/>
                <a:gridCol w="1174874"/>
                <a:gridCol w="1347872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参加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cānjiā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tham gia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猜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đoán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餐厅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cāntīng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nhà hàng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粗心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cūxīn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bất cẩn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15604" y="1481328"/>
            <a:ext cx="3527450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15604" y="2493568"/>
          <a:ext cx="3527449" cy="138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03"/>
                <a:gridCol w="1174874"/>
                <a:gridCol w="1347872"/>
              </a:tblGrid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司机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sījī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tài xế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酸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suān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chua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Nguyên âm đơn (1/3)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9"/>
          <a:ext cx="11094413" cy="4645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43"/>
                <a:gridCol w="7853349"/>
                <a:gridCol w="2966821"/>
              </a:tblGrid>
              <a:tr h="868605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韵母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94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"a" Việt, mở miệng to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 mā — mẹ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94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giữa "o" và "ô"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 wǒ — tôi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94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âm tương đương — giữa "ơ" và "ưa", miệng dẹt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喝 hē — uống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94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"i" Việt (sau phụ âm thường)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 nǐ — bạn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94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"u"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五 wǔ — số 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942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ü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có trong tiếng Việt — đọc "i" nhưng CHÚM MÔI tròn như "u"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女 nǚ — con gái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217918"/>
            <a:ext cx="11094415" cy="27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e và i đọc KHÁC ĐI tuỳ ngữ cảnh — e đứng riêng khác e trong ei; i thường khác i (câm/buzz) sau zh/ch/sh/z/c/s. Xem rõ ở slide luyện đọc kế tiếp.</a:t>
            </a:r>
          </a:p>
        </p:txBody>
      </p:sp>
      <p:pic>
        <p:nvPicPr>
          <p:cNvPr id="8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— Nguyên âm đơn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103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8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386251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86251" y="2410358"/>
          <a:ext cx="2581578" cy="63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摸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sờ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23863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e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đứng riêng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23863" y="24103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喝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uống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061475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e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trong ei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61475" y="2410358"/>
          <a:ext cx="2581578" cy="63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i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8575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hướng tây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7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86251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i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sau zh/ch/sh/z/c/s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86251" y="4857558"/>
          <a:ext cx="2581578" cy="63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知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biết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23863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u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23863" y="4857558"/>
          <a:ext cx="2581578" cy="63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呼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gọi, hô hấp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9061475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ü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khó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061475" y="48575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306"/>
                <a:gridCol w="593357"/>
                <a:gridCol w="1413915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 gái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48640" y="619963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nǚ (ü, môi CHÚM tròn) so với nú (u, môi tròn thường) — 2 âm khác nghĩa hoàn toàn dù nhìn gần giống; bỏ qua ü rồi đọc thành u là lỗi rất thường gặp.</a:t>
            </a:r>
          </a:p>
        </p:txBody>
      </p:sp>
      <p:pic>
        <p:nvPicPr>
          <p:cNvPr id="23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Nguyên âm kép (2/3)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822"/>
                <a:gridCol w="2869245"/>
                <a:gridCol w="7804347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韵母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"ai"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爱 ài — yêu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"ây"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 shéi — ai (đại từ hỏi)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"ao"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好 hǎo — tốt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ou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"âu/ô"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都 dōu — đều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— Nguyên âm kép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68482"/>
          <a:ext cx="5419190" cy="161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01"/>
                <a:gridCol w="1374262"/>
                <a:gridCol w="2544027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猜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cāi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đoán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nên, phải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哀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āi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buồn, thương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481328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ei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268482"/>
          <a:ext cx="5419190" cy="161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01"/>
                <a:gridCol w="1374262"/>
                <a:gridCol w="2544027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飞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fēi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bay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杯子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bēizi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cốc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092376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879530"/>
          <a:ext cx="5419190" cy="161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01"/>
                <a:gridCol w="1374262"/>
                <a:gridCol w="2544027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cao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māo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mèo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包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gói, cái túi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23863" y="4092376"/>
            <a:ext cx="5419191" cy="691160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ou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23863" y="4879530"/>
          <a:ext cx="5419190" cy="161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901"/>
                <a:gridCol w="1374262"/>
                <a:gridCol w="2544027"/>
              </a:tblGrid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dōu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đều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shōu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thu, nhận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3756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偷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tōu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trộm, ăn cắp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14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韵母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Vận mẫu mũi (3/3) — phần khó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31"/>
          <a:ext cx="11094413" cy="5010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677"/>
                <a:gridCol w="5994876"/>
                <a:gridCol w="3308860"/>
              </a:tblGrid>
              <a:tr h="548239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韵母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gần giống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4823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"an"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 sān — số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4823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"ân" Việt, nhẹ và ngắn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很 hěn — rất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4823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"ang" Việt nhưng MŨI hơn, miệng mở to hơn 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忙 máng — bận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4823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"âng"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冷 lěng — lạnh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5657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"in" Việt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您 nín — ngài (kính trọng)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5657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như "inh" Việt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姓 xìng — họ, tên họ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5657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-i (sau zh/ch/sh/z/c/s)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đọc "i" thường — chỉ giữ vị trí lưỡi của phụ âm trước, không phát âm rõ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知 zhī — biết · 是 shì — là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— Vận mẫu mũi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103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3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 toàn, yên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386251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86251" y="2410358"/>
          <a:ext cx="2581578" cy="63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ēn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ơn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23863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ang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so với 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23863" y="24103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汤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canh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帮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giúp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061475" y="14813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eng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so với en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61475" y="24103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dēng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đèn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蒸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zhēng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hấp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in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8575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xīn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tim, lòng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vì, do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86251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ing</a:t>
            </a:r>
          </a:p>
          <a:p>
            <a:pPr algn="ctr"/>
            <a:r>
              <a:rPr sz="12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so với in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386251" y="4857558"/>
          <a:ext cx="2581578" cy="634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鹰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chim ưng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23863" y="3928528"/>
            <a:ext cx="2581579" cy="815734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-i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23863" y="4857558"/>
          <a:ext cx="2581578" cy="126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47"/>
                <a:gridCol w="716967"/>
                <a:gridCol w="1296664"/>
              </a:tblGrid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知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biết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34459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suy nghĩ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199632"/>
            <a:ext cx="11094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an/ang, en/eng, in/ing — tiếng Việt không phân biệt rõ 3 cặp này; ang/eng/ing MŨI và MỞ miệng hơn an/en/in.</a:t>
            </a:r>
          </a:p>
        </p:txBody>
      </p:sp>
      <p:pic>
        <p:nvPicPr>
          <p:cNvPr id="21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So sánh 4 thanh + khinh thanh</a:t>
            </a:r>
          </a:p>
        </p:txBody>
      </p:sp>
      <p:pic>
        <p:nvPicPr>
          <p:cNvPr id="6" name="Picture 5" descr="to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78" y="1481328"/>
            <a:ext cx="9598738" cy="4590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81344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Xem GIF động từng thanh ở 5 slide sau để luyện phát âm chi tiết.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Thanh 1 — Ngang cao (55)</a:t>
            </a:r>
          </a:p>
        </p:txBody>
      </p:sp>
      <p:pic>
        <p:nvPicPr>
          <p:cNvPr id="6" name="Picture 5" descr="tone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06649"/>
            <a:ext cx="3291840" cy="216027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481330"/>
          <a:ext cx="7436814" cy="501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77"/>
                <a:gridCol w="2133512"/>
                <a:gridCol w="4267025"/>
              </a:tblGrid>
              <a:tr h="71584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anh ấy / cô ấy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cao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飞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fēi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bay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ăn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今天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jīntiān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8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Thanh 2 — Đi lên (35)</a:t>
            </a:r>
          </a:p>
        </p:txBody>
      </p:sp>
      <p:pic>
        <p:nvPicPr>
          <p:cNvPr id="6" name="Picture 5" descr="tone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06649"/>
            <a:ext cx="3291840" cy="216027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481330"/>
          <a:ext cx="7436813" cy="501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562"/>
                <a:gridCol w="1906875"/>
                <a:gridCol w="4449376"/>
              </a:tblGrid>
              <a:tr h="71584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shéi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人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rén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người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đến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guó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nước, quốc gia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xué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số 10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Thanh 3 — Xuống rồi lên (214)</a:t>
            </a:r>
          </a:p>
        </p:txBody>
      </p:sp>
      <p:pic>
        <p:nvPicPr>
          <p:cNvPr id="6" name="Picture 5" descr="tone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06649"/>
            <a:ext cx="3291840" cy="216027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481330"/>
          <a:ext cx="7436814" cy="501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194"/>
                <a:gridCol w="2425048"/>
                <a:gridCol w="3637572"/>
              </a:tblGrid>
              <a:tr h="71584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hǎo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tốt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hěn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kěyǐ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có thể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老师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lǎoshī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giáo viên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Thanh 4 — Đi xuống (51)</a:t>
            </a:r>
          </a:p>
        </p:txBody>
      </p:sp>
      <p:pic>
        <p:nvPicPr>
          <p:cNvPr id="6" name="Picture 5" descr="tone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06649"/>
            <a:ext cx="3291840" cy="216027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481330"/>
          <a:ext cx="7436814" cy="501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194"/>
                <a:gridCol w="2425048"/>
                <a:gridCol w="3637572"/>
              </a:tblGrid>
              <a:tr h="71584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zài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lại, nữa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là, thì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xem, nhìn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去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to, lớn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爱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ài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yêu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声调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Thanh 5 — Khinh thanh (nhẹ)</a:t>
            </a:r>
          </a:p>
        </p:txBody>
      </p:sp>
      <p:pic>
        <p:nvPicPr>
          <p:cNvPr id="6" name="Picture 5" descr="tone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06649"/>
            <a:ext cx="3291840" cy="216027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481330"/>
          <a:ext cx="7436814" cy="501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260"/>
                <a:gridCol w="1657888"/>
                <a:gridCol w="4973666"/>
              </a:tblGrid>
              <a:tr h="71584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妈妈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māma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mẹ (chữ 2 nhẹ)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吗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trợ từ hỏi cuối câu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爸爸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bàba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bố (chữ 2 nhẹ)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谢谢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xièxie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cảm ơn (chữ 2 nhẹ)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朋友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péngyou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bè (chữ 2 nhẹ)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tôi (chữ 2 nhẹ)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8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变调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Biến điệu 不 (bù) và 一 (yī)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9"/>
          <a:ext cx="11094413" cy="50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234"/>
                <a:gridCol w="2369680"/>
                <a:gridCol w="2692819"/>
                <a:gridCol w="2369680"/>
              </a:tblGrid>
              <a:tr h="741259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Quy tắc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 1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 2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 3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10229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+ thanh 4 → bú (thanh 2)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不是 bú shì — không phải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不客气 bú kèqi — không có gì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不对 bú duì — không đúng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10229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+ thanh 1/2/3 → giữ bù (thanh 4)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不好 bù hǎo — không tốt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不来 bù lái — không đến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不忙 bù máng — không bận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125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 + thanh 4 → yí (thanh 2)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一定 yídìng — nhất định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一样 yíyàng — giống nhau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一共 yígòng — tổng cộng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125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 + thanh 1/2/3 → yì (thanh 4)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一天 yìtiān — một ngày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一起 yìqǐ — cùng nhau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一直 yìzhí — luôn luôn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1259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 đứng riêng/cuối số đếm → giữ yī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第一 dìyī — thứ nhất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一、二、三 — đếm số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十一 shíyī — 11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不 và 一 là 2 chữ ĐỔI THANH THEO NGỮ CẢNH duy nhất cần nhớ ngay từ đầu vì xuất hiện liên tục — các quy tắc biến điệu khác (chuỗi thanh 3, 轻声, 儿化) học ở buổi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8 nét cơ bản trong chữ Hán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270"/>
                <a:gridCol w="1954006"/>
                <a:gridCol w="8033138"/>
              </a:tblGrid>
              <a:tr h="5567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Tên gọi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Cách viết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ngang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Kéo từ trái sang phải.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sổ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Kéo thẳng từ trên xuống dưới.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chấm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Một dấu chấm từ trên xuống.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丿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phẩy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Cong từ trên xuống dưới, sang trái.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mác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Kéo từ trên xuống dưới, sang phải.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亅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hất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Hất từ dưới lên trên, sang phải.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gập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ngang gập gãy xuống thành nét sổ.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亅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Nét móc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Kéo sổ xuống dưới rồi móc nhẹ lên.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6 quy tắc thứ tự viết nét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30"/>
          <a:ext cx="11094414" cy="5010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6450"/>
                <a:gridCol w="8567964"/>
              </a:tblGrid>
              <a:tr h="71584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Quy tắc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Mô tả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Ngang trước, sổ sau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nét ngang trước rồi mới viết nét sổ cắt qua.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Phẩy trước, mác sau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nét phẩy (trái) trước, nét mác (phải) sau.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Trên trước, dưới sau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các nét ở phần trên trước, phần dưới sau.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Trái trước, phải sau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phần bên trái trước, phần bên phải sau.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Ngoài trước, trong sau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khung bao quanh bên ngoài trước, chữ bên trong sau (sau đó mới đóng cửa).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15844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Giữa trước, hai bên sau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Với các chữ có đối xứng, viết nét ở giữa trước, sau đó viết hai bên.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6 quy tắc này là NỀN TẢNG áp dụng cho mọi chữ Hán — 6 ví dụ chữ ở các slide sau đều minh hoạ lại đúng các quy tắc này.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Ví dụ: Nét ngang — 一 二 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📐 Nguyên tắc: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Ngang trước, sổ sau (áp dụng lặp lại): mỗi nét ngang viết trái → phải; nhiều nét ngang xếp chồng thì TRÊN trước, DƯỚI sau.</a:t>
            </a:r>
          </a:p>
        </p:txBody>
      </p:sp>
      <p:pic>
        <p:nvPicPr>
          <p:cNvPr id="7" name="Picture 6" descr="stroke_y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57" y="2414016"/>
            <a:ext cx="3392424" cy="3392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61304"/>
            <a:ext cx="351525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yī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số 1</a:t>
            </a:r>
          </a:p>
        </p:txBody>
      </p:sp>
      <p:pic>
        <p:nvPicPr>
          <p:cNvPr id="9" name="Picture 8" descr="stroke_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635" y="2414016"/>
            <a:ext cx="3392424" cy="3392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38218" y="5861304"/>
            <a:ext cx="351525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二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èr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số 2</a:t>
            </a:r>
          </a:p>
        </p:txBody>
      </p:sp>
      <p:pic>
        <p:nvPicPr>
          <p:cNvPr id="11" name="Picture 10" descr="stroke_s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213" y="2414016"/>
            <a:ext cx="3392424" cy="3392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7796" y="5861304"/>
            <a:ext cx="351525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sān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số 3</a:t>
            </a:r>
          </a:p>
        </p:txBody>
      </p:sp>
      <p:pic>
        <p:nvPicPr>
          <p:cNvPr id="13" name="slide30.mp3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Ví dụ: Phẩy trước, mác sau — 人 (rén)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người. Gồm 2 nét (nét phẩy + nét mác).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nét phẩy (bên trái, đi xuống) viết trước, nét mác (bên phải, đi xuống)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Quy tắc: Phẩy trước, mác sau — hình dáng như 2 chân người đang đứng.</a:t>
            </a:r>
          </a:p>
        </p:txBody>
      </p:sp>
      <p:pic>
        <p:nvPicPr>
          <p:cNvPr id="7" name="Picture 6" descr="stroke_r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  <p:pic>
        <p:nvPicPr>
          <p:cNvPr id="8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Ví dụ: Ngoài trước, trong sau — 口 (kǒu)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miệng. Cũng là bộ thủ hay gặp (吗, 叫, 谢…).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nét dọc bên trái → nét ngang-dọc gập góc (trên + phải) → nét ngang đóng đáy.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Quy tắc: Ngoài trước, trong sau — viết khung bao ngoài trước, đóng đáy sau cùng.</a:t>
            </a:r>
          </a:p>
        </p:txBody>
      </p:sp>
      <p:pic>
        <p:nvPicPr>
          <p:cNvPr id="7" name="Picture 6" descr="stroke_ko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  <p:pic>
        <p:nvPicPr>
          <p:cNvPr id="8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Ví dụ: Trái trước, phải sau — 你 (nǐ)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bạn / anh / chị. Ghép bộ 亻(nhân đứng) + 尔.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bộ 亻 (2 nét) viết trước, phần bên phải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Quy tắc: Trái trước, phải sau — áp dụng cho mọi chữ có bộ 亻 (你 / 他 / 们).</a:t>
            </a:r>
          </a:p>
        </p:txBody>
      </p:sp>
      <p:pic>
        <p:nvPicPr>
          <p:cNvPr id="7" name="Picture 6" descr="stroke_n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  <p:pic>
        <p:nvPicPr>
          <p:cNvPr id="8" name="slide3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Ví dụ: Trái trước, phải sau — 好 (hǎo)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Nghĩa: tốt, khỏe. Ghép 女 (nữ) + 子 (tử/con).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Thứ tự nét: 女 (3 nét, bên trái) viết trước, 子 (3 nét, bên phải) viết sau.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Ghi nhớ: "女 (mẹ) + 子 (con) = 好 (tốt)" — hình ảnh dễ nhớ để ghép nghĩa với mặt chữ.</a:t>
            </a:r>
          </a:p>
        </p:txBody>
      </p:sp>
      <p:pic>
        <p:nvPicPr>
          <p:cNvPr id="7" name="Picture 6" descr="stroke_ha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83664"/>
            <a:ext cx="4206240" cy="4206240"/>
          </a:xfrm>
          <a:prstGeom prst="rect">
            <a:avLst/>
          </a:prstGeom>
        </p:spPr>
      </p:pic>
      <p:pic>
        <p:nvPicPr>
          <p:cNvPr id="8" name="slide3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— Phân biệt phụ âm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9384"/>
          <a:ext cx="1109441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kāi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dōu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tōu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69864"/>
            <a:ext cx="110944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Đọc thanh 1 (ngang cao) xuyên suốt — sách gốc không ghi thanh, buổi 1 mặc định thanh 1 để tập trung vào ÂM, chưa cần lo cao độ.</a:t>
            </a:r>
          </a:p>
        </p:txBody>
      </p:sp>
      <p:pic>
        <p:nvPicPr>
          <p:cNvPr id="8" name="slide3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汉语教程 (Giáo trình Hán ngữ, Yang Jizhou chủ biên) Quyển 1, Bài 1, mục 语音练习 (1) 辨别声母 — Đại học Ngôn ngữ Bắc Kinh xuất bản.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— Phân biệt vận mẫu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4" cy="4645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663593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Đối lập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Âm tiết luyện đọc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63593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vs o (b p m f)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 – bō, pā – pō, mā – mō, fā – fō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3593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ai vs ei (b m g h)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bāi – bēi, māi – mēi, gāi – gēi, hāi – hēi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3593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 (h n d k)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hē, nē, dē, kē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3593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ao (p h k 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pāo, hāo, kāo, gāo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3593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o (f m b p)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fō, mō, bō, pō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3593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ou (p h k 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pōu, hōu, kōu, gōu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217919"/>
            <a:ext cx="11094415" cy="274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Đọc thanh 1 xuyên suốt, cùng lý do như slide trước.</a:t>
            </a:r>
          </a:p>
        </p:txBody>
      </p:sp>
      <p:pic>
        <p:nvPicPr>
          <p:cNvPr id="8" name="slide3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汉语教程 Quyển 1, Bài 1, mục 语音练习 (2) 辨别韵母 — cùng nguồn với slide trước.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đọc mở rộng — Vần phức (làm quen)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04288"/>
          <a:ext cx="11094412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666"/>
                <a:gridCol w="2919582"/>
                <a:gridCol w="2919582"/>
                <a:gridCol w="2919582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Vần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xián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iang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jiāng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qiáng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xiāng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iong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qióng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xiōng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🔍 So sánh: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Vần phức có âm đệm i/u/ü (ian, iang, iong…) học kỹ ở buổi sau — đây chỉ để LÀM QUEN mặt chữ, giúp nhận diện khi gặp trong bài đọc.</a:t>
            </a:r>
          </a:p>
        </p:txBody>
      </p:sp>
      <p:pic>
        <p:nvPicPr>
          <p:cNvPr id="8" name="slide3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