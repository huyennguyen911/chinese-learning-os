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microsoft.com/office/2007/relationships/media" Target="../media/media4.mp3"/><Relationship Id="rId5" Type="http://schemas.openxmlformats.org/officeDocument/2006/relationships/video" Target="../media/media4.mp3"/><Relationship Id="rId6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microsoft.com/office/2007/relationships/media" Target="../media/media5.mp3"/><Relationship Id="rId5" Type="http://schemas.openxmlformats.org/officeDocument/2006/relationships/video" Target="../media/media5.mp3"/><Relationship Id="rId6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microsoft.com/office/2007/relationships/media" Target="../media/media6.mp3"/><Relationship Id="rId5" Type="http://schemas.openxmlformats.org/officeDocument/2006/relationships/video" Target="../media/media6.mp3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microsoft.com/office/2007/relationships/media" Target="../media/media8.mp3"/><Relationship Id="rId5" Type="http://schemas.openxmlformats.org/officeDocument/2006/relationships/video" Target="../media/media8.mp3"/><Relationship Id="rId6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microsoft.com/office/2007/relationships/media" Target="../media/media9.mp3"/><Relationship Id="rId5" Type="http://schemas.openxmlformats.org/officeDocument/2006/relationships/video" Target="../media/media9.mp3"/><Relationship Id="rId6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microsoft.com/office/2007/relationships/media" Target="../media/media14.mp3"/><Relationship Id="rId5" Type="http://schemas.openxmlformats.org/officeDocument/2006/relationships/video" Target="../media/media14.mp3"/><Relationship Id="rId6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你好！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Chào hỏi &amp; làm quen</a:t>
            </a:r>
          </a:p>
          <a:p>
            <a:pPr algn="l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Buổi 2</a:t>
            </a:r>
          </a:p>
        </p:txBody>
      </p:sp>
      <p:pic>
        <p:nvPicPr>
          <p:cNvPr id="4" name="Picture 3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46304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522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Chào hỏi tự nhiên: 你好！大家好！用đúng 您 khi nói với người lớn tuổi/đáng kính.</a:t>
            </a:r>
          </a:p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Cảm ơn — đáp lễ: 谢谢！ → 不客气！</a:t>
            </a:r>
          </a:p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tên và tự giới thiệu: 你叫什么名字？我叫……。</a:t>
            </a:r>
          </a:p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Xin lỗi — đáp lễ: 对不起！ → 没关系！</a:t>
            </a:r>
          </a:p>
          <a:p>
            <a:pPr>
              <a:spcBef>
                <a:spcPts val="2427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Tự giới thiệu bản thân thật tự tin trước cả lớp!</a:t>
            </a:r>
          </a:p>
        </p:txBody>
      </p:sp>
      <p:pic>
        <p:nvPicPr>
          <p:cNvPr id="7" name="Picture 6" descr="ic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9486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9372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1-2/28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(số ít)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你叫什么名字？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jiào shénme míngzi?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tên là gì?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ngài, bác (kính ngữ, ngôi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老师，您好！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nín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chào thầy/cô ạ!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9372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3-4/28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im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các bạn (số nhiều)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các bạn!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men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hậu tố số nhiều (sau đại từ/danh từ chỉ người)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zàijiàn!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bạn học ơi, tạm biệt!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9372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5-6/28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tôi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jiào Chén Tiānzhōng.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tên là Trần Thiên Trung.</a:t>
            </a:r>
          </a:p>
        </p:txBody>
      </p:sp>
      <p:pic>
        <p:nvPicPr>
          <p:cNvPr id="8" name="Picture 7" descr="daj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mọi người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mọi người!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9372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7-8/28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lao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2055200"/>
            <a:ext cx="2286000" cy="1398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giáo viên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老师，再见！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zàijiàn!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Tạm biệt thầy/cô!</a:t>
            </a:r>
          </a:p>
        </p:txBody>
      </p:sp>
      <p:pic>
        <p:nvPicPr>
          <p:cNvPr id="9" name="Picture 8" descr="wanglao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(riêng) cô/thầy Vương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王老师，你好！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lǎoshī, nǐ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cô/thầy Vương!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7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6771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9-10/28 · 称呼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ues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xuésheng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học sinh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xuésheng.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học sinh.</a:t>
            </a:r>
          </a:p>
        </p:txBody>
      </p:sp>
      <p:pic>
        <p:nvPicPr>
          <p:cNvPr id="9" name="Picture 8" descr="tongx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zàijiàn!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bạn học ơi, tạm biệt!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8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1364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11-12/28 · 打招呼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ih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xin chào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AI小语，你好！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AI Xiǎoyǔ, nǐ hǎo!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AI Tiểu Ngữ!</a:t>
            </a:r>
          </a:p>
        </p:txBody>
      </p:sp>
      <p:pic>
        <p:nvPicPr>
          <p:cNvPr id="9" name="Picture 8" descr="ha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tốt, khỏe, ổn (tính từ)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我很好。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hěn hǎo.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khỏe/ổn.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9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5861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13/28 · 打招呼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zaij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128985"/>
            <a:ext cx="3108960" cy="20737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再见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zàijiàn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tạm biệt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老师，再见！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Lǎoshī, zàijiàn!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Tạm biệt thầy/cô!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Tóngxuémen, zàijiàn!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Tạm biệt các bạn học!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8606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14-15/28 · 感谢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iex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cảm 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Cảm ơn!</a:t>
            </a:r>
          </a:p>
        </p:txBody>
      </p:sp>
      <p:pic>
        <p:nvPicPr>
          <p:cNvPr id="9" name="Picture 8" descr="bukeq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kèqi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có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kèqi!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Không có gì đâu!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8606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16-17/28 · 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duibuq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0755"/>
            <a:ext cx="2286000" cy="1527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duìbuqǐ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xin lỗi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Duìbuqǐ!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Xin lỗi!</a:t>
            </a:r>
          </a:p>
        </p:txBody>
      </p:sp>
      <p:pic>
        <p:nvPicPr>
          <p:cNvPr id="9" name="Picture 8" descr="meiguanx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guānxi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sao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没关系！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guānxi!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Không sao đâu!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2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3102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18/28 · 道歉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meish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00444"/>
            <a:ext cx="3108960" cy="23308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没事儿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méishìr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sao, không có gì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没事儿！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Méishìr!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Không sao!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没事儿，没事儿！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Méishìr, méishìr!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Không sao đâu, không sao đâu! (nói lặp trong khẩu ngữ)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So với 没关系 (slide trước): 没事儿 chỉ dùng với bạn bè thân — không chắc thì cứ dùng 没关系, luôn đúng!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1364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19-20/28 · 问名字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qingw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91971"/>
            <a:ext cx="2286000" cy="1524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xin hỏi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请问，你叫什么名字？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Qǐngwèn, nǐ jiào shénme míngzi?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Xin hỏi, bạn tên là gì?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tên là, gọi là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jiào Chén Tiānzhōng.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tên là Trần Thiên Trung.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1364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21-22/28 · 问名字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什么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shénme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gì, cái gì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jiào shénme?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tên là gì?</a:t>
            </a:r>
          </a:p>
        </p:txBody>
      </p:sp>
      <p:pic>
        <p:nvPicPr>
          <p:cNvPr id="8" name="Picture 7" descr="ming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名字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míngzi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你叫什么名字？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jiào shénme míngzi?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tên là gì?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80440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23-24/28 · 是/不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我是白家月。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Bái Jiāyuè.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là Bạch Gia Nguyệt.</a:t>
            </a:r>
          </a:p>
        </p:txBody>
      </p:sp>
      <p:pic>
        <p:nvPicPr>
          <p:cNvPr id="8" name="Picture 7" descr="b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bù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không, chẳng (phó từ phủ định)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我不是安妮。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bú shì Ānnī.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không phải là Annie.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8606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25-26/28 · 认识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ren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83" y="1947698"/>
            <a:ext cx="2286000" cy="16133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rènshi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quen biết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认识你我也很高兴。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Rènshi nǐ wǒ yě hěn gāoxìng.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Quen biết bạn tôi cũng rất vui.</a:t>
            </a:r>
          </a:p>
        </p:txBody>
      </p:sp>
      <p:pic>
        <p:nvPicPr>
          <p:cNvPr id="9" name="Picture 8" descr="gaox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610" y="1991971"/>
            <a:ext cx="2286000" cy="152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4007104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gāoxìng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vui, mừng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555996"/>
            <a:ext cx="5272887" cy="9362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很高兴认识你。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 gāoxìng rènshi nǐ.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Rất vui được quen biết bạn.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7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68606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27-28/28 · 认识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rất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很高兴认识你。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 gāoxìng rènshi nǐ.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Rất vui được quen biết bạn.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611376"/>
            <a:ext cx="5272887" cy="14025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也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yě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cũng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160268"/>
            <a:ext cx="5272887" cy="33319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我也是学生。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yě shì xuésheng.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cũng là học sinh.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420522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AI小语，你好！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AI Xiǎoyǔ, nǐ hǎo!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35671" y="2763520"/>
            <a:ext cx="3707384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王老师，你好！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Wáng lǎoshī, nǐ hǎo!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</a:t>
            </a:r>
          </a:p>
        </p:txBody>
      </p:sp>
      <p:pic>
        <p:nvPicPr>
          <p:cNvPr id="10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953512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Dàjiā hǎo!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3687" y="2763520"/>
            <a:ext cx="357936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学生们: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老师，您好！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nín hǎo!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</a:t>
            </a:r>
          </a:p>
        </p:txBody>
      </p:sp>
      <p:pic>
        <p:nvPicPr>
          <p:cNvPr id="10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76860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hǎo!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3687" y="2763520"/>
            <a:ext cx="357936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学生们: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你好，小语！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hǎo, Xiǎoyǔ!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</a:t>
            </a:r>
          </a:p>
        </p:txBody>
      </p:sp>
      <p:pic>
        <p:nvPicPr>
          <p:cNvPr id="10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3a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264058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学生们: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74455" y="2763520"/>
            <a:ext cx="2768600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 kèqi!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</a:t>
            </a:r>
          </a:p>
        </p:txBody>
      </p:sp>
      <p:pic>
        <p:nvPicPr>
          <p:cNvPr id="10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3b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892296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zàijiàn!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3687" y="2763520"/>
            <a:ext cx="357936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学生们: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老师，再见！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zàijiàn!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学</a:t>
            </a:r>
          </a:p>
        </p:txBody>
      </p:sp>
      <p:pic>
        <p:nvPicPr>
          <p:cNvPr id="10" name="slide2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4831080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王一飞: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请问，你叫什么名字？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Qǐngwèn, nǐ jiào shénme míngzi?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3687" y="2763520"/>
            <a:ext cx="3579368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jiào Chén Tiānzhōng.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pic>
        <p:nvPicPr>
          <p:cNvPr id="10" name="slide2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3181096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你好，安妮！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hǎo, Ānnī!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703" y="2631749"/>
            <a:ext cx="3451352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你好，陈天中！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hǎo, Chén Tiānzhōng!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51397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423" y="3652122"/>
            <a:ext cx="4802632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我不是安妮，我是白家月。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bú shì Ānnī, wǒ shì Bái Jiāyuè.</a:t>
            </a:r>
          </a:p>
        </p:txBody>
      </p:sp>
      <p:sp>
        <p:nvSpPr>
          <p:cNvPr id="11" name="Oval 10"/>
          <p:cNvSpPr/>
          <p:nvPr/>
        </p:nvSpPr>
        <p:spPr>
          <a:xfrm>
            <a:off x="11399093" y="3534347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72495"/>
            <a:ext cx="2640584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陈天中: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Duìbuqǐ!</a:t>
            </a:r>
          </a:p>
        </p:txBody>
      </p:sp>
      <p:sp>
        <p:nvSpPr>
          <p:cNvPr id="13" name="Oval 12"/>
          <p:cNvSpPr/>
          <p:nvPr/>
        </p:nvSpPr>
        <p:spPr>
          <a:xfrm>
            <a:off x="371977" y="4554720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2471" y="5692868"/>
            <a:ext cx="2640584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guānxi!</a:t>
            </a:r>
          </a:p>
        </p:txBody>
      </p:sp>
      <p:sp>
        <p:nvSpPr>
          <p:cNvPr id="15" name="Oval 14"/>
          <p:cNvSpPr/>
          <p:nvPr/>
        </p:nvSpPr>
        <p:spPr>
          <a:xfrm>
            <a:off x="11399093" y="557509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6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4020312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你好！我叫李文。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 Wǒ jiào Lǐ Wén.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24903" y="2763520"/>
            <a:ext cx="4518152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你好！我叫白家月。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 Wǒ jiào Bái Jiāyuè.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645745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15664"/>
            <a:ext cx="3707384" cy="10058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李文: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很高兴认识你。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Hěn gāoxìng rènshi nǐ.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797889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24903" y="5067808"/>
            <a:ext cx="4518152" cy="100584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认识你我也很高兴。</a:t>
            </a:r>
          </a:p>
          <a:p>
            <a:pPr algn="l"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Rènshi nǐ wǒ yě hěn gāoxìng.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4950033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4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敬辞“您” + 后缀“们”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10384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您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kính ngữ (ngôi 2, trang trọng) — khác </a:t>
            </a: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(thông thường)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310384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老师，您好！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Lǎoshī, nín hǎo!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Con chào thầy/cô ạ! (kính trọng)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你好！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hǎo!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bạn! (thân mật, ngang hàng)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78072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7865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们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= hậu tố số nhiều, gắn sau đại từ/danh từ chỉ người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397865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你们好！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Nǐmen hǎo!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Chào các bạn!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同学们，再见！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Tóngxuémen, zàijiàn!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Các bạn học ơi, tạm biệt!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3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 chỉ dùng cho 1 người đáng kính — KHÔNG có "您们"! Số nhiều lịch sự vẫn dùng 你们。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汉语的基本语序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7629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ngữ + Vị ngữ + Tân ngữ (S + V + 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287629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我叫陈天中。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jiào Chén Tiānzhōng.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Tôi(S) tên là(V) Trần Thiên Trung(O).</a:t>
            </a:r>
          </a:p>
          <a:p>
            <a:pPr>
              <a:spcBef>
                <a:spcPts val="800"/>
              </a:spcBef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我是白家月。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shì Bái Jiāyuè.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Tôi(S) là(V) Bạch Gia Nguyệt(O).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43984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44568"/>
            <a:ext cx="4437766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+ động từ = phủ định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4544568"/>
            <a:ext cx="6400617" cy="682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我不是安妮。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bú shì Ānnī.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không phải là Annie.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自我介绍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自我介绍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大家好！我叫……。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很高兴认识大家！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谢谢，再见！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 · 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配对复习 (1/4) · 称呼</a:t>
            </a:r>
          </a:p>
        </p:txBody>
      </p:sp>
      <p:pic>
        <p:nvPicPr>
          <p:cNvPr id="6" name="Picture 5" descr="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nim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daj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95" y="3287098"/>
            <a:ext cx="2224363" cy="14836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laosh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692" y="3287098"/>
            <a:ext cx="2425523" cy="1483698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wanglaosh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Wáng lǎoshī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nǐ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老师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lǎoshī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nǐmen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大家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dàjiā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 · 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配对复习 (2/4) · 称呼/打招呼</a:t>
            </a:r>
          </a:p>
        </p:txBody>
      </p:sp>
      <p:pic>
        <p:nvPicPr>
          <p:cNvPr id="6" name="Picture 5" descr="xuesh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tongx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nih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95" y="3287098"/>
            <a:ext cx="2224363" cy="14836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ha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zaiji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hǎo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学生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xuésheng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再见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zàijiàn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同学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tóngxué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你好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nǐ hǎo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 · 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配对复习 (3/4) · 感谢/道歉/问名字</a:t>
            </a:r>
          </a:p>
        </p:txBody>
      </p:sp>
      <p:pic>
        <p:nvPicPr>
          <p:cNvPr id="6" name="Picture 5" descr="xiex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bukeq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duibuq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066" y="3287098"/>
            <a:ext cx="2220821" cy="14836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meiguanx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pic>
        <p:nvPicPr>
          <p:cNvPr id="14" name="Picture 13" descr="qingwe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没关系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méi guānxi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xièxie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qǐngwèn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对不起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duìbuqǐ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E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不客气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bú kèqi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62096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 · 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配对复习 (4/4) · 问名字/是不/认识</a:t>
            </a:r>
          </a:p>
        </p:txBody>
      </p:sp>
      <p:pic>
        <p:nvPicPr>
          <p:cNvPr id="6" name="Picture 5" descr="ming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8" name="Picture 7" descr="b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0410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</a:t>
            </a:r>
          </a:p>
        </p:txBody>
      </p:sp>
      <p:pic>
        <p:nvPicPr>
          <p:cNvPr id="10" name="Picture 9" descr="rensh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46985"/>
            <a:ext cx="2943673" cy="207751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2" name="Picture 11" descr="gaox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3994"/>
            <a:ext cx="2943673" cy="196349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认识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rènshi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名字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míngzi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高兴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gāoxìng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13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bù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