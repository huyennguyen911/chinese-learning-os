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29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3"/><Relationship Id="rId3" Type="http://schemas.openxmlformats.org/officeDocument/2006/relationships/video" Target="../media/media4.mp3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3"/><Relationship Id="rId3" Type="http://schemas.openxmlformats.org/officeDocument/2006/relationships/video" Target="../media/media5.mp3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microsoft.com/office/2007/relationships/media" Target="../media/media6.mp3"/><Relationship Id="rId5" Type="http://schemas.openxmlformats.org/officeDocument/2006/relationships/video" Target="../media/media6.mp3"/><Relationship Id="rId6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microsoft.com/office/2007/relationships/media" Target="../media/media7.mp3"/><Relationship Id="rId5" Type="http://schemas.openxmlformats.org/officeDocument/2006/relationships/video" Target="../media/media7.mp3"/><Relationship Id="rId6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microsoft.com/office/2007/relationships/media" Target="../media/media8.mp3"/><Relationship Id="rId5" Type="http://schemas.openxmlformats.org/officeDocument/2006/relationships/video" Target="../media/media8.mp3"/><Relationship Id="rId6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microsoft.com/office/2007/relationships/media" Target="../media/media9.mp3"/><Relationship Id="rId5" Type="http://schemas.openxmlformats.org/officeDocument/2006/relationships/video" Target="../media/media9.mp3"/><Relationship Id="rId6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microsoft.com/office/2007/relationships/media" Target="../media/media11.mp3"/><Relationship Id="rId5" Type="http://schemas.openxmlformats.org/officeDocument/2006/relationships/video" Target="../media/media11.mp3"/><Relationship Id="rId6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3"/><Relationship Id="rId3" Type="http://schemas.openxmlformats.org/officeDocument/2006/relationships/video" Target="../media/media12.mp3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3"/><Relationship Id="rId3" Type="http://schemas.openxmlformats.org/officeDocument/2006/relationships/video" Target="../media/media21.mp3"/><Relationship Id="rId4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3"/><Relationship Id="rId3" Type="http://schemas.openxmlformats.org/officeDocument/2006/relationships/video" Target="../media/media22.mp3"/><Relationship Id="rId4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3.mp3"/><Relationship Id="rId3" Type="http://schemas.openxmlformats.org/officeDocument/2006/relationships/video" Target="../media/media23.mp3"/><Relationship Id="rId4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24.mp3"/><Relationship Id="rId4" Type="http://schemas.openxmlformats.org/officeDocument/2006/relationships/video" Target="../media/media24.mp3"/><Relationship Id="rId5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1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microsoft.com/office/2007/relationships/media" Target="../media/media25.mp3"/><Relationship Id="rId5" Type="http://schemas.openxmlformats.org/officeDocument/2006/relationships/video" Target="../media/media25.mp3"/><Relationship Id="rId6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microsoft.com/office/2007/relationships/media" Target="../media/media26.mp3"/><Relationship Id="rId5" Type="http://schemas.openxmlformats.org/officeDocument/2006/relationships/video" Target="../media/media26.mp3"/><Relationship Id="rId6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microsoft.com/office/2007/relationships/media" Target="../media/media27.mp3"/><Relationship Id="rId5" Type="http://schemas.openxmlformats.org/officeDocument/2006/relationships/video" Target="../media/media27.mp3"/><Relationship Id="rId6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Relationship Id="rId4" Type="http://schemas.microsoft.com/office/2007/relationships/media" Target="../media/media28.mp3"/><Relationship Id="rId5" Type="http://schemas.openxmlformats.org/officeDocument/2006/relationships/video" Target="../media/media28.mp3"/><Relationship Id="rId6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Relationship Id="rId5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microsoft.com/office/2007/relationships/media" Target="../media/media29.mp3"/><Relationship Id="rId4" Type="http://schemas.openxmlformats.org/officeDocument/2006/relationships/video" Target="../media/media29.mp3"/><Relationship Id="rId5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我有两个孩子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Tôi có hai con</a:t>
            </a:r>
          </a:p>
          <a:p>
            <a:pPr algn="l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HSK1 · Buổi 4</a:t>
            </a:r>
          </a:p>
        </p:txBody>
      </p:sp>
      <p:pic>
        <p:nvPicPr>
          <p:cNvPr id="4" name="Picture 3" descr="family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934686"/>
            <a:ext cx="4480560" cy="2988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Nói được nhà mình có mấy người: 你家有几口人？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Hỏi/đáp có anh chị em, con cái bằng 有/没有.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tuổi đúng cách: trẻ em dùng 几岁, người lớn dùng 多大.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Phân biệt 二 và 两 khi nói số, và đọc đúng biến điệu của 一.</a:t>
            </a:r>
          </a:p>
        </p:txBody>
      </p:sp>
      <p:pic>
        <p:nvPicPr>
          <p:cNvPr id="7" name="Picture 6" descr="icon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948688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手势数字 0-10 — Ra dấu số bằng 1 bàn tay</a:t>
            </a:r>
          </a:p>
        </p:txBody>
      </p:sp>
      <p:pic>
        <p:nvPicPr>
          <p:cNvPr id="6" name="Picture 5" descr="so-t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740" y="2050288"/>
            <a:ext cx="5662214" cy="4021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81344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5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0 = 零 (líng, không ra dấu). Từ 1-10, người Trung Quốc chỉ dùng 1 tay để ra dấu (khác kiểu đếm ngón tay thường) — thử làm theo tay trong ảnh rồi đọc to số đó.</a:t>
            </a:r>
          </a:p>
        </p:txBody>
      </p:sp>
      <p:pic>
        <p:nvPicPr>
          <p:cNvPr id="8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十几 / 几十 — Nhìn lưới là ghép được số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0292"/>
          <a:ext cx="11094410" cy="4441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291"/>
                <a:gridCol w="1310363"/>
                <a:gridCol w="873575"/>
                <a:gridCol w="2620727"/>
                <a:gridCol w="2620727"/>
                <a:gridCol w="2620727"/>
              </a:tblGrid>
              <a:tr h="403813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1-10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11-20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21-30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31-40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40381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十一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二十一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三十一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0381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èr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十二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二十二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三十二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0381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sān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十三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二十三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三十三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0381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二十四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三十四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0381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二十五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三十五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0381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liù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二十六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三十六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0381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二十七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三十七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0381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二十八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三十八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0381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九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jiǔ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十九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二十九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三十九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0381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四十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Cùng 1 hàng (vd 五) lặp lại ở mọi cột chục — chỉ đổi số chục đứng trước 十. Hàng cuối (十) chính là bản thân số chục: 二十=20, 三十=30, 四十=40. 10 chỉ nói 十, KHÔNG nói 一十.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百 / 千 — Tách theo hàng để đọc số lớn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771648"/>
          <a:ext cx="11094411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584"/>
                <a:gridCol w="824584"/>
                <a:gridCol w="824584"/>
                <a:gridCol w="824584"/>
                <a:gridCol w="6296830"/>
                <a:gridCol w="1499245"/>
              </a:tblGrid>
              <a:tr h="749808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千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百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十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个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数字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一百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二百零八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208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一千五百二十八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1528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slide0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Đọc từ hàng lớn xuống hàng nhỏ, hàng nào có số 0 thì đọc 零 (không bỏ qua) — vd 208 có 0 ở hàng chục nên đọc 二百零八, không phải 二百八.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算一算，写一写 — Tính và viết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Từ cần dùng: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十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(shí)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六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(liù)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三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(sān)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二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(èr)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七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(qī)</a:t>
            </a: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·  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几</a:t>
            </a: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(jǐ)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11094415" cy="4313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Tính phép cộng rồi đọc to bằng tiếng Trung (câu 1-3); viết số Ả Rập thành chữ Hán (câu 4-6). Nhìn bảng pinyin bên dưới nếu chưa nhớ cách đọc.</a:t>
            </a:r>
          </a:p>
          <a:p>
            <a:pPr>
              <a:spcBef>
                <a:spcPts val="238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1. 十 + 六 = ？</a:t>
            </a:r>
          </a:p>
          <a:p>
            <a:pPr>
              <a:spcBef>
                <a:spcPts val="238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2. 三十 + 二 = ？</a:t>
            </a:r>
          </a:p>
          <a:p>
            <a:pPr>
              <a:spcBef>
                <a:spcPts val="238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3. 七十 = 几个十？</a:t>
            </a:r>
          </a:p>
          <a:p>
            <a:pPr>
              <a:spcBef>
                <a:spcPts val="238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4.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4. 36 viết chữ Hán là: ___</a:t>
            </a:r>
          </a:p>
          <a:p>
            <a:pPr>
              <a:spcBef>
                <a:spcPts val="238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5.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5. 58 viết chữ Hán là: ___</a:t>
            </a:r>
          </a:p>
          <a:p>
            <a:pPr>
              <a:spcBef>
                <a:spcPts val="238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6.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6. 99 viết chữ Hán là: 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第一部分 · 课本生词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1-2/21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y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0154"/>
            <a:ext cx="2575407" cy="1717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yǒu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我有一个妹妹。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yí ge mèimei.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một em gái.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没有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méiyǒu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có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我没有哥哥。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méiyǒu gēge.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không có anh trai.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3-4/21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多少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duōshao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bao nhiêu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她有多少个学生？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yǒu duōshao ge xuésheng?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ấy có bao nhiêu học sinh?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几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mấy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你家有几口人？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jiā yǒu jǐ kǒu rén?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bạn có mấy người?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0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5-6/21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个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cái (lượng từ chung)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她有二十个学生。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yǒu èrshí ge xuésheng.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ấy có hai mươi học sinh.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口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kǒu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lượng từ đếm người trong nhà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我家有四口人。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yǒu sì kǒu rén.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mình có bốn người.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1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3917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7-8/21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bab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74404"/>
            <a:ext cx="2575407" cy="14493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爸爸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bàba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我爸爸很忙。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bàba hěn máng.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 mình rất bận.</a:t>
            </a:r>
          </a:p>
        </p:txBody>
      </p:sp>
      <p:pic>
        <p:nvPicPr>
          <p:cNvPr id="9" name="Picture 8" descr="mam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040154"/>
            <a:ext cx="2575407" cy="1717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我妈妈是老师。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māma shì lǎoshī.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 mình là giáo viên.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1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5751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9-10/21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ge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0154"/>
            <a:ext cx="2575407" cy="1717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哥哥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gēge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anh trai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我有两个哥哥。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liǎng ge gēge.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hai anh trai.</a:t>
            </a:r>
          </a:p>
        </p:txBody>
      </p:sp>
      <p:pic>
        <p:nvPicPr>
          <p:cNvPr id="9" name="Picture 8" descr="meime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1933673"/>
            <a:ext cx="2575407" cy="19308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妹妹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mèimei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em gái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我妹妹五岁。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mèimei wǔ suì.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Em gái mình 5 tuổi.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2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11-12/21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er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38784"/>
            <a:ext cx="2575407" cy="17205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儿子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érzi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con trai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这是您儿子吗？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shì nín érzi ma?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Đây là con trai của cô/chú ạ?</a:t>
            </a:r>
          </a:p>
        </p:txBody>
      </p:sp>
      <p:pic>
        <p:nvPicPr>
          <p:cNvPr id="9" name="Picture 8" descr="n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040154"/>
            <a:ext cx="2575407" cy="1717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女儿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nǚ'ér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con gái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您女儿多大？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Nín nǚ'ér duō dà?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gái của cô/chú bao nhiêu tuổi?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3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13-14/21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j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3673"/>
            <a:ext cx="2575407" cy="19308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nhà, gia đình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我家很大。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hěn dà.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mình rất lớn.</a:t>
            </a:r>
          </a:p>
        </p:txBody>
      </p:sp>
      <p:pic>
        <p:nvPicPr>
          <p:cNvPr id="9" name="Picture 8" descr="haiz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040154"/>
            <a:ext cx="2575407" cy="1717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孩子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con cái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我有两个孩子。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liǎng ge háizi.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hai con.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4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15-16/21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爸爸、妈妈和我。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Bàba, māma hé wǒ.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Bố, mẹ và mình.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呢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…thì sao?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我有两个哥哥，你呢？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liǎng ge gēge, nǐ ne?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hai anh trai, còn bạn thì sao?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1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17-18/21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s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0154"/>
            <a:ext cx="2575407" cy="1717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suì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tuổi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他今年五岁。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jīnnián wǔ suì.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Năm nay em ấy 5 tuổi.</a:t>
            </a:r>
          </a:p>
        </p:txBody>
      </p:sp>
      <p:pic>
        <p:nvPicPr>
          <p:cNvPr id="9" name="Picture 8" descr="jinni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040154"/>
            <a:ext cx="2575407" cy="1717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jīnnián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năm nay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她今年十二岁。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jīnnián shí'èr suì.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Năm nay chị ấy 12 tuổi.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6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19-20/21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duō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(hỏi mức độ) bao nhiêu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你女儿多大？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nǚ'ér duō dà?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gái bạn bao nhiêu tuổi?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(tuổi) lớn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你儿子多大？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érzi duō dà?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trai bạn bao nhiêu tuổi?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多 + 大 ghép lại thành 多大 = câu hỏi tuổi dùng cho người từ 10 tuổi trở lên (trẻ dưới 10 tuổi hỏi bằng 几岁).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21/21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ta_n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55799"/>
            <a:ext cx="3870655" cy="25818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93615" y="1611376"/>
            <a:ext cx="210312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anh ấy, nó (nam)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53935" y="1611376"/>
            <a:ext cx="438912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他是我哥哥。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shì wǒ gēge.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Anh ấy là anh trai của mình.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他今年五岁。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 jīnnián wǔ suì.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Năm nay cậu ấy 5 tuổi.</a:t>
            </a:r>
          </a:p>
        </p:txBody>
      </p:sp>
      <p:pic>
        <p:nvPicPr>
          <p:cNvPr id="9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他 (tā) chỉ NAM/con trai. 她 (tā) chỉ NỮ/con gái (đã học ở Buổi 3). Hai chữ đọc GIỐNG HỆT NHAU, chỉ khác mặt chữ (亻người vs 女 nữ) — nghe không phân biệt được, phải nhìn chữ viết hoặc dựa vào ngữ cảnh.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081528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一飞忙吗？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Yīfēi máng ma?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9543" y="2763520"/>
            <a:ext cx="2953512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她很忙。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hěn máng.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15664"/>
            <a:ext cx="4020312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刘明: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她有多少个学生？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yǒu duōshao ge xuésheng?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79788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37831" y="5067808"/>
            <a:ext cx="4205224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她有二十个学生。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yǒu èrshí ge xuésheng.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495003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14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4831080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我有两个哥哥，你呢？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liǎng ge gēge, nǐ ne?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3687" y="2763520"/>
            <a:ext cx="3579368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我没有哥哥。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méiyǒu gēge.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15664"/>
            <a:ext cx="3892296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你家有几口人？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jiā yǒu jǐ kǒu rén?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79788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3615" y="5067808"/>
            <a:ext cx="694944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我家有四口人，爸爸、妈妈、妹妹和我。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yǒu sì kǒu rén, bàba, māma, mèimei hé wǒ.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495003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pic>
        <p:nvPicPr>
          <p:cNvPr id="14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081528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这是您儿子吗？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shì nín érzi ma?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2935" y="2458010"/>
            <a:ext cx="6040120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是的。我有两个孩子，一个儿子，一个女儿。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de. Wǒ yǒu liǎng ge háizi, yí ge érzi, yí ge nǚ'ér.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34023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04644"/>
            <a:ext cx="2853944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您儿子几岁？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Nín érzi jǐ suì?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18686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89111" y="4151278"/>
            <a:ext cx="2853944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他今年五岁。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jīnnián wǔ suì.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403350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97912"/>
            <a:ext cx="2853944" cy="7391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杨同乐: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您女儿多大？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Nín nǚ'ér duō dà?</a:t>
            </a:r>
          </a:p>
        </p:txBody>
      </p:sp>
      <p:sp>
        <p:nvSpPr>
          <p:cNvPr id="15" name="Oval 14"/>
          <p:cNvSpPr/>
          <p:nvPr/>
        </p:nvSpPr>
        <p:spPr>
          <a:xfrm>
            <a:off x="371977" y="4880137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89111" y="5844546"/>
            <a:ext cx="2853944" cy="7391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她今年十二。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jīnnián shí'èr.</a:t>
            </a:r>
          </a:p>
        </p:txBody>
      </p:sp>
      <p:sp>
        <p:nvSpPr>
          <p:cNvPr id="17" name="Oval 16"/>
          <p:cNvSpPr/>
          <p:nvPr/>
        </p:nvSpPr>
        <p:spPr>
          <a:xfrm>
            <a:off x="11399093" y="5726771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18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“有”字句</a:t>
            </a:r>
          </a:p>
        </p:txBody>
      </p:sp>
      <p:pic>
        <p:nvPicPr>
          <p:cNvPr id="6" name="Picture 5" descr="you_zij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442464"/>
            <a:ext cx="4297680" cy="28712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702560"/>
            <a:ext cx="2572390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有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= CÓ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7062" y="2702560"/>
            <a:ext cx="3602553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我有一个妹妹。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yí ge mèimei.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một em gái.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我有两个孩子。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liǎng ge háizi.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hai con.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70248"/>
            <a:ext cx="643097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70832"/>
            <a:ext cx="2572390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/ 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没有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= KHÔNG CÓ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7062" y="4370832"/>
            <a:ext cx="3602553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我没有哥哥。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méiyǒu gēge.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không có anh trai.</a:t>
            </a:r>
          </a:p>
        </p:txBody>
      </p:sp>
      <p:pic>
        <p:nvPicPr>
          <p:cNvPr id="12" name="slide2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nói “不有” ❌ — phủ định của 有 luôn là 没 hoặc 没有.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“一”的变调 — Đọc đúng “一”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82949"/>
            <a:ext cx="4437766" cy="829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一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đứng một mình / đếm số → đọc yī (thanh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1682949"/>
            <a:ext cx="6400617" cy="829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一、二、三……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yī, èr, sān……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một, hai, ba…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2344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2683"/>
            <a:ext cx="4437766" cy="12616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一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+ từ vốn thanh 4 (kể cả đọc nhẹ gốc thanh 4) → đọc yí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2692683"/>
            <a:ext cx="6400617" cy="126168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一个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yí ge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cái</a:t>
            </a:r>
          </a:p>
          <a:p>
            <a:pPr>
              <a:spcBef>
                <a:spcPts val="718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一岁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yí suì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tuổi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44705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35044"/>
            <a:ext cx="4437766" cy="1938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一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+ từ thanh 1/2/3 → đọc yì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2438" y="4135044"/>
            <a:ext cx="6400617" cy="1938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一天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yì tiān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ngày</a:t>
            </a:r>
          </a:p>
          <a:p>
            <a:pPr>
              <a:spcBef>
                <a:spcPts val="718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一年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yì nián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năm</a:t>
            </a:r>
          </a:p>
          <a:p>
            <a:pPr>
              <a:spcBef>
                <a:spcPts val="718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一本</a:t>
            </a:r>
          </a:p>
          <a:p>
            <a:pPr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yì běn</a:t>
            </a:r>
          </a:p>
          <a:p>
            <a:pPr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một quyển</a:t>
            </a:r>
          </a:p>
        </p:txBody>
      </p:sp>
      <p:pic>
        <p:nvPicPr>
          <p:cNvPr id="14" name="slide2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đọc 一个 là “yī ge” — luôn đổi thành “yí ge” vì 个 vốn là thanh 4.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二 vs 两 — Khi nào đổi số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44520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二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(èr) khi đếm số/số thứ tự, 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两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(liǎng) khi đứng trước lượng từ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3144520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十二、二十二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shí'èr, èrshí'èr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12, 22 (dùng 二)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两个人、两口人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liǎng ge rén, liǎng kǒu rén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hai người (dùng 两 vì có lượng từ)</a:t>
            </a:r>
          </a:p>
        </p:txBody>
      </p:sp>
      <p:pic>
        <p:nvPicPr>
          <p:cNvPr id="8" name="slide2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nói “二个人” ❌ — đứng trước lượng từ luôn đổi 二 thành 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语气助词“呢” — Hỏi lại cho gọn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18256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A……, B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呢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? = A thế này, còn B thì sao?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3318256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我有两个哥哥，你呢？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yǒu liǎng ge gēge, nǐ ne?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có 2 anh trai, còn bạn thì sao?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我是越南人，你呢？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Yuènán rén, nǐ ne?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là người Việt Nam, còn bạn?</a:t>
            </a:r>
          </a:p>
        </p:txBody>
      </p:sp>
      <p:pic>
        <p:nvPicPr>
          <p:cNvPr id="8" name="slide2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名量词和名量结构 — Đếm người, đếm đồ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6208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 + Lượng từ + Danh từ — không được bỏ lượng từ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2426208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四口人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sì kǒu rén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bốn người (trong nhà)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两个哥哥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liǎng ge gēge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hai anh trai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93896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094480"/>
            <a:ext cx="4437766" cy="123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口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chỉ dùng để đếm NGƯỜI TRONG NHÀ. Đếm chung dùng 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个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4094480"/>
            <a:ext cx="6400617" cy="1235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我家有五口人。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yǒu wǔ kǒu rén.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mình có năm người.</a:t>
            </a:r>
          </a:p>
        </p:txBody>
      </p:sp>
      <p:pic>
        <p:nvPicPr>
          <p:cNvPr id="11" name="slide2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Chưa chắc dùng lượng từ nào thì dùng 个 — riêng đếm người trong nhà luôn dùng 口.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第二部分 · 生词拓展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家谱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家谱 — 爷爷奶奶 · 叔叔阿姨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19191" cy="840722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buNone/>
            </a:pPr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本家（爸爸这边）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568865"/>
          <a:ext cx="5419191" cy="3269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222"/>
                <a:gridCol w="1289630"/>
                <a:gridCol w="2937339"/>
              </a:tblGrid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爷爷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yéye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ông nội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奶奶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nǎinai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 nội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姑姑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gūgu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cô (chị/em gái của bố)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叔叔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shūshu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chú (em trai của bố)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婶婶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shěnshen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thím (vợ của chú)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23863" y="1611376"/>
            <a:ext cx="5419191" cy="840722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buNone/>
            </a:pPr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外家（妈妈这边）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23863" y="2568865"/>
          <a:ext cx="5419191" cy="3923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222"/>
                <a:gridCol w="1289630"/>
                <a:gridCol w="2937339"/>
              </a:tblGrid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外公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wàigōng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ông ngoại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外婆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wàipó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 ngoại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阿姨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āyí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dì (chị/em gái của mẹ)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舅舅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jiùjiu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cậu (anh/em trai của mẹ)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舅妈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jiùmā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mợ (vợ của cậu)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53895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姨夫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yífu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dượng (chồng của dì)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slide2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家谱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家谱 — 弟弟 · 侄子侄女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19191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buNone/>
            </a:pPr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同辈（跟我一样大）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623616"/>
          <a:ext cx="5419191" cy="691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222"/>
                <a:gridCol w="1192222"/>
                <a:gridCol w="3034747"/>
              </a:tblGrid>
              <a:tr h="691286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弟弟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dìdi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em trai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23863" y="1611376"/>
            <a:ext cx="5419191" cy="888796"/>
          </a:xfrm>
          <a:prstGeom prst="round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buNone/>
            </a:pPr>
            <a:r>
              <a:rPr sz="30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晚辈（比我小一辈）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23863" y="2623616"/>
          <a:ext cx="5419191" cy="1382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222"/>
                <a:gridCol w="1192222"/>
                <a:gridCol w="3034747"/>
              </a:tblGrid>
              <a:tr h="691286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侄子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zhízi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cháu trai (con của anh/em trai)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1286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20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侄女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 i="1">
                          <a:solidFill>
                            <a:srgbClr val="8E2B20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zhínǚ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cháu gái (con của anh/em trai)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slide2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761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量词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b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64034"/>
            <a:ext cx="3870655" cy="25653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93615" y="1611376"/>
            <a:ext cx="210312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本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běn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lượng từ đếm sách, vở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53935" y="1611376"/>
            <a:ext cx="438912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一本书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yì běn shū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một quyển sách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两本书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liǎng běn shū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hai quyển sách</a:t>
            </a:r>
          </a:p>
        </p:txBody>
      </p:sp>
      <p:pic>
        <p:nvPicPr>
          <p:cNvPr id="9" name="slide3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(1/3) · 家人</a:t>
            </a:r>
          </a:p>
        </p:txBody>
      </p:sp>
      <p:pic>
        <p:nvPicPr>
          <p:cNvPr id="6" name="Picture 5" descr="yey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5" y="1611376"/>
            <a:ext cx="2224363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nain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72" y="1611376"/>
            <a:ext cx="1960763" cy="148369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waigo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81" y="3287098"/>
            <a:ext cx="2182591" cy="148369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waip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272" y="3287098"/>
            <a:ext cx="2224363" cy="1483697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4" name="Picture 13" descr="gugu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36" y="4962820"/>
            <a:ext cx="2231481" cy="1483698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外婆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wàipó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爷爷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yéye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姑姑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gūgu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奶奶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nǎinai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E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外公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wàigōng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(2/3) · 家人</a:t>
            </a:r>
          </a:p>
        </p:txBody>
      </p:sp>
      <p:pic>
        <p:nvPicPr>
          <p:cNvPr id="6" name="Picture 5" descr="ay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18" y="1611376"/>
            <a:ext cx="2227917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shush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865" y="1611376"/>
            <a:ext cx="1657176" cy="148369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jiujiu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453" y="3287098"/>
            <a:ext cx="1858046" cy="148369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shenshe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272" y="3287098"/>
            <a:ext cx="2224363" cy="1483697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4" name="Picture 13" descr="jium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95" y="4962820"/>
            <a:ext cx="2224363" cy="148369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舅妈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jiùmā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阿姨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āyí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婶婶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shěnshen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叔叔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shūshu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E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舅舅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jiùjiu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(3/3) · 家人</a:t>
            </a:r>
          </a:p>
        </p:txBody>
      </p:sp>
      <p:pic>
        <p:nvPicPr>
          <p:cNvPr id="6" name="Picture 5" descr="yif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5" y="1611376"/>
            <a:ext cx="2224363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did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272" y="1611376"/>
            <a:ext cx="2224363" cy="148369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zhiz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605" y="3287098"/>
            <a:ext cx="2081742" cy="148369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zhinv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925" y="3287098"/>
            <a:ext cx="2235057" cy="1483698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4" name="Picture 13" descr="be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154" y="4962820"/>
            <a:ext cx="2238645" cy="1483698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侄女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zhínǚ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姨夫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yífu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本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běn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弟弟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dìdi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E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侄子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zhízi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861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1-2/8 · 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yish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0154"/>
            <a:ext cx="2575407" cy="1717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yīshēng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bác sĩ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我爸爸是医生。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bàba shì yīshēng.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 mình là bác sĩ.</a:t>
            </a:r>
          </a:p>
        </p:txBody>
      </p:sp>
      <p:pic>
        <p:nvPicPr>
          <p:cNvPr id="9" name="Picture 8" descr="hu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040154"/>
            <a:ext cx="2575407" cy="1717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护士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hùshi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y tá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我妈妈是护士。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māma shì hùshi.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 mình là y tá.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4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861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3-4/8 · 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jingc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0154"/>
            <a:ext cx="2575407" cy="1717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警察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jǐngchá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công 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我叔叔是警察。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shūshu shì jǐngchá.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 mình là công an.</a:t>
            </a:r>
          </a:p>
        </p:txBody>
      </p:sp>
      <p:pic>
        <p:nvPicPr>
          <p:cNvPr id="9" name="Picture 8" descr="sij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1884525"/>
            <a:ext cx="2575407" cy="20291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司机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sījī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tài xế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我舅舅是司机。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jiùjiu shì sījī.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mình là tài xế.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5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861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5-6/8 · 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chu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0154"/>
            <a:ext cx="2575407" cy="1717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厨师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chúshī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đầu bếp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我姑姑是厨师。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gūgu shì chúshī.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Cô mình là đầu bếp.</a:t>
            </a:r>
          </a:p>
        </p:txBody>
      </p:sp>
      <p:pic>
        <p:nvPicPr>
          <p:cNvPr id="9" name="Picture 8" descr="nongm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040154"/>
            <a:ext cx="2575407" cy="1717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农民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nóngmín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nông dân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我外公是农民。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wàigōng shì nóngmín.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Ông ngoại mình là nông dân.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6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78619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7-8/8 · 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zhiy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0154"/>
            <a:ext cx="2575407" cy="1717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52647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职员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zhíyuán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nhân viên văn phòng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647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我姨夫是职员。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yífu shì zhíyuán.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Dượng mình là nhân viên văn phòng.</a:t>
            </a:r>
          </a:p>
        </p:txBody>
      </p:sp>
      <p:pic>
        <p:nvPicPr>
          <p:cNvPr id="9" name="Picture 8" descr="gongwuyu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7" y="2042894"/>
            <a:ext cx="2575407" cy="17123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174" y="1611376"/>
            <a:ext cx="2468880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公务员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gōngwùyuán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công chức nhà nước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4174" y="3160268"/>
            <a:ext cx="2468880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我舅舅是公务员。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jiùjiu shì gōngwùyuán.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Cậu mình là công chức nhà nước.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7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(1/2) · 职业</a:t>
            </a:r>
          </a:p>
        </p:txBody>
      </p:sp>
      <p:pic>
        <p:nvPicPr>
          <p:cNvPr id="6" name="Picture 5" descr="yish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0410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hu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90410"/>
            <a:ext cx="2943673" cy="196349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jingch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sij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617" y="4126111"/>
            <a:ext cx="2943673" cy="2319257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护士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hùshi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司机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sījī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医生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yīshēng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警察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jǐngchá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(2/2) · 职业</a:t>
            </a:r>
          </a:p>
        </p:txBody>
      </p:sp>
      <p:pic>
        <p:nvPicPr>
          <p:cNvPr id="6" name="Picture 5" descr="chu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0410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nongm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90410"/>
            <a:ext cx="2943673" cy="196349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zhiyu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gongwuyu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617" y="4307125"/>
            <a:ext cx="2943673" cy="1957229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公务员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gōngwùyuán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厨师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chúshī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职员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zhíyuán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农民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nóngmín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我的家</a:t>
            </a:r>
          </a:p>
        </p:txBody>
      </p:sp>
      <p:pic>
        <p:nvPicPr>
          <p:cNvPr id="6" name="Picture 5" descr="wodej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975" y="3075929"/>
            <a:ext cx="2926079" cy="19517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611376"/>
            <a:ext cx="780257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我来介绍一下我的家。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lái jièshào yíxià wǒ de jiā.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xin giới thiệu về gia đình mình.</a:t>
            </a:r>
          </a:p>
          <a:p>
            <a:pPr>
              <a:spcBef>
                <a:spcPts val="1054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我家有五口人：爷爷、爸爸、妈妈、弟弟和我。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jiā yǒu wǔ kǒu rén: yéye, bàba, māma, dìdi hé wǒ.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Nhà mình có 5 người: ông nội, bố, mẹ, em trai và mình.</a:t>
            </a:r>
          </a:p>
          <a:p>
            <a:pPr>
              <a:spcBef>
                <a:spcPts val="1054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我爷爷今年七十岁。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yéye jīnnián qīshí suì.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Ông nội mình năm nay 70 tuổi.</a:t>
            </a:r>
          </a:p>
          <a:p>
            <a:pPr>
              <a:spcBef>
                <a:spcPts val="1054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④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我爸爸是医生，我妈妈是老师。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bàba shì yīshēng, wǒ māma shì lǎoshī.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Bố mình là bác sĩ, mẹ mình là giáo viên.</a:t>
            </a:r>
          </a:p>
          <a:p>
            <a:pPr>
              <a:spcBef>
                <a:spcPts val="1054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⑤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我弟弟五岁，他很可爱。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dìdi wǔ suì, tā hěn kě'ài.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Em trai mình 5 tuổi, em ấy rất đáng yêu.</a:t>
            </a:r>
          </a:p>
          <a:p>
            <a:pPr>
              <a:spcBef>
                <a:spcPts val="1054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⑥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我今年十岁，我是小学生。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jīnnián shí suì, wǒ shì xiǎoxuéshēng.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năm nay 10 tuổi, mình là học sinh tiểu học.</a:t>
            </a:r>
          </a:p>
          <a:p>
            <a:pPr>
              <a:spcBef>
                <a:spcPts val="1054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⑦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我很爱我的家人。</a:t>
            </a:r>
          </a:p>
          <a:p>
            <a:pPr>
              <a:spcBef>
                <a:spcPts val="75"/>
              </a:spcBef>
              <a:buNone/>
            </a:pPr>
            <a:r>
              <a:rPr sz="10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hěn ài wǒ de jiārén.</a:t>
            </a:r>
          </a:p>
          <a:p>
            <a:pPr>
              <a:spcBef>
                <a:spcPts val="75"/>
              </a:spcBef>
              <a:buNone/>
            </a:pPr>
            <a:r>
              <a:rPr sz="10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rất yêu gia đình của mình.</a:t>
            </a:r>
          </a:p>
        </p:txBody>
      </p:sp>
      <p:pic>
        <p:nvPicPr>
          <p:cNvPr id="8" name="slide4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该你了！介绍你的家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Thay các thông tin dưới đây bằng gia đình thật của em, rồi nói to thành 1 đoạn văn giống bài mẫu.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我家有 ___ 口人：___。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(Điền số người và tên các thành viên trong nhà em)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 ___ 是 ___。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(Chọn 1 người trong nhà + nghề nghiệp của người đó)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 ___ 岁，我是 ___。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(Điền tuổi và "em là học sinh tiểu học" hoặc nghề của em)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