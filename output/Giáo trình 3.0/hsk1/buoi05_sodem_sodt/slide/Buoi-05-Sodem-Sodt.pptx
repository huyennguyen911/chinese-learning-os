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media1.mp3" ContentType="audio/mpeg"/>
  <Override PartName="/ppt/media/media10.mp3" ContentType="audio/mpeg"/>
  <Override PartName="/ppt/media/media11.mp3" ContentType="audio/mpeg"/>
  <Override PartName="/ppt/media/media12.mp3" ContentType="audio/mpeg"/>
  <Override PartName="/ppt/media/media13.mp3" ContentType="audio/mpeg"/>
  <Override PartName="/ppt/media/media14.mp3" ContentType="audio/mpeg"/>
  <Override PartName="/ppt/media/media15.mp3" ContentType="audio/mpeg"/>
  <Override PartName="/ppt/media/media16.mp3" ContentType="audio/mpeg"/>
  <Override PartName="/ppt/media/media17.mp3" ContentType="audio/mpeg"/>
  <Override PartName="/ppt/media/media18.mp3" ContentType="audio/mpeg"/>
  <Override PartName="/ppt/media/media19.mp3" ContentType="audio/mpeg"/>
  <Override PartName="/ppt/media/media2.mp3" ContentType="audio/mpeg"/>
  <Override PartName="/ppt/media/media20.mp3" ContentType="audio/mpeg"/>
  <Override PartName="/ppt/media/media3.mp3" ContentType="audio/mpeg"/>
  <Override PartName="/ppt/media/media4.mp3" ContentType="audio/mpeg"/>
  <Override PartName="/ppt/media/media5.mp3" ContentType="audio/mpeg"/>
  <Override PartName="/ppt/media/media6.mp3" ContentType="audio/mpeg"/>
  <Override PartName="/ppt/media/media7.mp3" ContentType="audio/mpeg"/>
  <Override PartName="/ppt/media/media8.mp3" ContentType="audio/mpeg"/>
  <Override PartName="/ppt/media/media9.mp3" ContentType="audio/mpeg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microsoft.com/office/2007/relationships/media" Target="../media/media1.mp3"/><Relationship Id="rId4" Type="http://schemas.openxmlformats.org/officeDocument/2006/relationships/video" Target="../media/media1.mp3"/><Relationship Id="rId5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2.mp3"/><Relationship Id="rId3" Type="http://schemas.openxmlformats.org/officeDocument/2006/relationships/video" Target="../media/media2.mp3"/><Relationship Id="rId4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3.mp3"/><Relationship Id="rId3" Type="http://schemas.openxmlformats.org/officeDocument/2006/relationships/video" Target="../media/media3.mp3"/><Relationship Id="rId4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4.mp3"/><Relationship Id="rId3" Type="http://schemas.openxmlformats.org/officeDocument/2006/relationships/video" Target="../media/media4.mp3"/><Relationship Id="rId4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microsoft.com/office/2007/relationships/media" Target="../media/media5.mp3"/><Relationship Id="rId4" Type="http://schemas.openxmlformats.org/officeDocument/2006/relationships/video" Target="../media/media5.mp3"/><Relationship Id="rId5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6.mp3"/><Relationship Id="rId3" Type="http://schemas.openxmlformats.org/officeDocument/2006/relationships/video" Target="../media/media6.mp3"/><Relationship Id="rId4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microsoft.com/office/2007/relationships/media" Target="../media/media7.mp3"/><Relationship Id="rId4" Type="http://schemas.openxmlformats.org/officeDocument/2006/relationships/video" Target="../media/media7.mp3"/><Relationship Id="rId5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microsoft.com/office/2007/relationships/media" Target="../media/media8.mp3"/><Relationship Id="rId4" Type="http://schemas.openxmlformats.org/officeDocument/2006/relationships/video" Target="../media/media8.mp3"/><Relationship Id="rId5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microsoft.com/office/2007/relationships/media" Target="../media/media9.mp3"/><Relationship Id="rId4" Type="http://schemas.openxmlformats.org/officeDocument/2006/relationships/video" Target="../media/media9.mp3"/><Relationship Id="rId5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0.mp3"/><Relationship Id="rId3" Type="http://schemas.openxmlformats.org/officeDocument/2006/relationships/video" Target="../media/media10.mp3"/><Relationship Id="rId4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microsoft.com/office/2007/relationships/media" Target="../media/media11.mp3"/><Relationship Id="rId4" Type="http://schemas.openxmlformats.org/officeDocument/2006/relationships/video" Target="../media/media11.mp3"/><Relationship Id="rId5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microsoft.com/office/2007/relationships/media" Target="../media/media12.mp3"/><Relationship Id="rId4" Type="http://schemas.openxmlformats.org/officeDocument/2006/relationships/video" Target="../media/media12.mp3"/><Relationship Id="rId5" Type="http://schemas.openxmlformats.org/officeDocument/2006/relationships/image" Target="../media/image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3.mp3"/><Relationship Id="rId3" Type="http://schemas.openxmlformats.org/officeDocument/2006/relationships/video" Target="../media/media13.mp3"/><Relationship Id="rId4" Type="http://schemas.openxmlformats.org/officeDocument/2006/relationships/image" Target="../media/image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4.mp3"/><Relationship Id="rId3" Type="http://schemas.openxmlformats.org/officeDocument/2006/relationships/video" Target="../media/media14.mp3"/><Relationship Id="rId4" Type="http://schemas.openxmlformats.org/officeDocument/2006/relationships/image" Target="../media/image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5.mp3"/><Relationship Id="rId3" Type="http://schemas.openxmlformats.org/officeDocument/2006/relationships/video" Target="../media/media15.mp3"/><Relationship Id="rId4" Type="http://schemas.openxmlformats.org/officeDocument/2006/relationships/image" Target="../media/image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6.mp3"/><Relationship Id="rId3" Type="http://schemas.openxmlformats.org/officeDocument/2006/relationships/video" Target="../media/media16.mp3"/><Relationship Id="rId4" Type="http://schemas.openxmlformats.org/officeDocument/2006/relationships/image" Target="../media/image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7.mp3"/><Relationship Id="rId3" Type="http://schemas.openxmlformats.org/officeDocument/2006/relationships/video" Target="../media/media17.mp3"/><Relationship Id="rId4" Type="http://schemas.openxmlformats.org/officeDocument/2006/relationships/image" Target="../media/image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8.mp3"/><Relationship Id="rId3" Type="http://schemas.openxmlformats.org/officeDocument/2006/relationships/video" Target="../media/media18.mp3"/><Relationship Id="rId4" Type="http://schemas.openxmlformats.org/officeDocument/2006/relationships/image" Target="../media/image3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9.mp3"/><Relationship Id="rId3" Type="http://schemas.openxmlformats.org/officeDocument/2006/relationships/video" Target="../media/media19.mp3"/><Relationship Id="rId4" Type="http://schemas.openxmlformats.org/officeDocument/2006/relationships/image" Target="../media/image3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20.mp3"/><Relationship Id="rId3" Type="http://schemas.openxmlformats.org/officeDocument/2006/relationships/video" Target="../media/media20.mp3"/><Relationship Id="rId4" Type="http://schemas.openxmlformats.org/officeDocument/2006/relationships/image" Target="../media/image3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4.jpg"/><Relationship Id="rId4" Type="http://schemas.openxmlformats.org/officeDocument/2006/relationships/image" Target="../media/image5.jpg"/><Relationship Id="rId5" Type="http://schemas.openxmlformats.org/officeDocument/2006/relationships/image" Target="../media/image7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jpg"/><Relationship Id="rId4" Type="http://schemas.openxmlformats.org/officeDocument/2006/relationships/image" Target="../media/image6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920240"/>
            <a:ext cx="6675120" cy="3017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buNone/>
            </a:pPr>
            <a:r>
              <a:rPr sz="44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你的手机号是多少？</a:t>
            </a:r>
          </a:p>
          <a:p>
            <a:pPr algn="l">
              <a:spcBef>
                <a:spcPts val="1000"/>
              </a:spcBef>
              <a:buNone/>
            </a:pPr>
            <a:r>
              <a:rPr sz="2000" b="0" i="0">
                <a:solidFill>
                  <a:srgbClr val="F7E4E1"/>
                </a:solidFill>
                <a:latin typeface="Calibri"/>
                <a:ea typeface="Microsoft YaHei"/>
                <a:cs typeface="Microsoft YaHei"/>
              </a:rPr>
              <a:t>Số điện thoại của bạn là bao nhiêu?</a:t>
            </a:r>
          </a:p>
          <a:p>
            <a:pPr algn="l">
              <a:spcBef>
                <a:spcPts val="600"/>
              </a:spcBef>
              <a:buNone/>
            </a:pPr>
            <a:r>
              <a:rPr sz="1400" b="0" i="0">
                <a:solidFill>
                  <a:srgbClr val="F7E4E1"/>
                </a:solidFill>
                <a:latin typeface="Calibri"/>
                <a:ea typeface="Microsoft YaHei"/>
                <a:cs typeface="Microsoft YaHei"/>
              </a:rPr>
              <a:t>HSK1 · Buổi 5</a:t>
            </a:r>
          </a:p>
        </p:txBody>
      </p:sp>
      <p:pic>
        <p:nvPicPr>
          <p:cNvPr id="4" name="Picture 3" descr="shouj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6815" y="1463040"/>
            <a:ext cx="3931920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目标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今天学什么？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11376"/>
            <a:ext cx="6522415" cy="48808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2159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1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Hỏi và cho số điện thoại: 你的手机号是多少？</a:t>
            </a:r>
          </a:p>
          <a:p>
            <a:pPr>
              <a:spcBef>
                <a:spcPts val="2159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1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Nói được dự định bằng 想: 我想去超市买东西。</a:t>
            </a:r>
          </a:p>
          <a:p>
            <a:pPr>
              <a:spcBef>
                <a:spcPts val="2159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1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Ghép 2 động từ liên tiếp trong 1 câu (连动句): đi đâu để làm gì, đi bằng gì.</a:t>
            </a:r>
          </a:p>
          <a:p>
            <a:pPr>
              <a:spcBef>
                <a:spcPts val="2159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1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Hỏi cách thức bằng 怎么: 我们怎么去？</a:t>
            </a:r>
          </a:p>
          <a:p>
            <a:pPr>
              <a:spcBef>
                <a:spcPts val="2159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1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Phân biệt 几 và 多少, đọc đúng số điện thoại (đổi 一 thành 幺).</a:t>
            </a:r>
          </a:p>
        </p:txBody>
      </p:sp>
      <p:pic>
        <p:nvPicPr>
          <p:cNvPr id="7" name="Picture 6" descr="icon_targ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6815" y="1948688"/>
            <a:ext cx="4206240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377440"/>
            <a:ext cx="11094415" cy="2103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第一部分 · 课本生词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639173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 1-2/22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/>
            </a:r>
          </a:p>
        </p:txBody>
      </p:sp>
      <p:pic>
        <p:nvPicPr>
          <p:cNvPr id="6" name="Picture 5" descr="shouj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11376"/>
            <a:ext cx="2575407" cy="257540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352647" y="1611376"/>
            <a:ext cx="2468880" cy="14025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4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手机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shǒujī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điện thoại di động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52647" y="3160268"/>
            <a:ext cx="2468880" cy="33319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17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你的手机号是多少？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Nǐ de shǒujī hào shì duōshao?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Số điện thoại di động của bạn là bao nhiêu?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70167" y="1611376"/>
            <a:ext cx="5272887" cy="14025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4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电话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diànhuà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điện thoại, cuộc gọi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70167" y="3160268"/>
            <a:ext cx="5272887" cy="33319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17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我打电话给你。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Wǒ dǎ diànhuà gěi nǐ.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Tôi gọi điện cho bạn.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5847" y="1611376"/>
            <a:ext cx="13716" cy="4880864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slide04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2"/>
                </p:tgtEl>
              </p:cMediaNode>
            </p:video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402486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 3/22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11376"/>
            <a:ext cx="4659654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54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号</a:t>
            </a:r>
          </a:p>
          <a:p>
            <a:pPr algn="ctr">
              <a:spcBef>
                <a:spcPts val="600"/>
              </a:spcBef>
              <a:buNone/>
            </a:pPr>
            <a:r>
              <a:rPr sz="22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hào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số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5494" y="1611376"/>
            <a:ext cx="5977561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你的手机号是多少？</a:t>
            </a:r>
          </a:p>
          <a:p>
            <a:pPr>
              <a:spcBef>
                <a:spcPts val="200"/>
              </a:spcBef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   Nǐ de shǒujī hào shì duōshao?</a:t>
            </a:r>
          </a:p>
          <a:p>
            <a:pPr>
              <a:spcBef>
                <a:spcPts val="1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  Số điện thoại di động của bạn là bao nhiêu?</a:t>
            </a:r>
          </a:p>
          <a:p>
            <a:pPr>
              <a:spcBef>
                <a:spcPts val="22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今天几号？</a:t>
            </a:r>
          </a:p>
          <a:p>
            <a:pPr>
              <a:spcBef>
                <a:spcPts val="200"/>
              </a:spcBef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   Jīntiān jǐ hào?</a:t>
            </a:r>
          </a:p>
          <a:p>
            <a:pPr>
              <a:spcBef>
                <a:spcPts val="1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  Hôm nay ngày mấy?</a:t>
            </a:r>
          </a:p>
        </p:txBody>
      </p:sp>
      <p:pic>
        <p:nvPicPr>
          <p:cNvPr id="8" name="slide05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  <p:sp>
        <p:nvSpPr>
          <p:cNvPr id="9" name="TextBox 8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1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号 dùng cho cả SỐ ĐIỆN THOẠI và NGÀY THÁNG — ngày dùng 几号 (số nhỏ, dự đoán được), điện thoại dùng 多少 (số dài, không đoán trước).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639173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 4-5/22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11376"/>
            <a:ext cx="5272887" cy="14025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4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明天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míngtiān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ngày mai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160268"/>
            <a:ext cx="5272887" cy="33319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17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明天你去哪儿？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Míngtiān nǐ qù nǎr?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Mai bạn đi đâu?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70167" y="1611376"/>
            <a:ext cx="5272887" cy="14025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4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去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qù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đi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70167" y="3160268"/>
            <a:ext cx="5272887" cy="33319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17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我想去超市。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Wǒ xiǎng qù chāoshì.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Tôi muốn đi siêu thị.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95847" y="1611376"/>
            <a:ext cx="13716" cy="4880864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slide06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1"/>
                </p:tgtEl>
              </p:cMediaNode>
            </p:video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639173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 6-7/22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11376"/>
            <a:ext cx="5272887" cy="14025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4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哪儿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nǎr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đâu, ở đâu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160268"/>
            <a:ext cx="5272887" cy="33319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17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你去哪儿？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Nǐ qù nǎr?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Bạn đi đâu?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70167" y="1611376"/>
            <a:ext cx="5272887" cy="14025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4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想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xiǎng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muốn, định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70167" y="3160268"/>
            <a:ext cx="5272887" cy="33319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17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我想买东西。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Wǒ xiǎng mǎi dōngxi.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Tôi muốn mua đồ.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95847" y="1611376"/>
            <a:ext cx="13716" cy="4880864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slide07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  <p:sp>
        <p:nvSpPr>
          <p:cNvPr id="12" name="TextBox 11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1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想 ở Buổi 3 nghĩa là "nhớ" (我们很想你 = chúng mình rất nhớ bạn). Ở đây 想 + động từ nghĩa là "muốn/định" — 2 cách dùng khác nhau của cùng 1 chữ, phân biệt bằng NGỮ CẢNH đứng sau nó.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1"/>
                </p:tgtEl>
              </p:cMediaNode>
            </p:video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639173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 8-9/22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/>
            </a:r>
          </a:p>
        </p:txBody>
      </p:sp>
      <p:pic>
        <p:nvPicPr>
          <p:cNvPr id="6" name="Picture 5" descr="chaosh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11376"/>
            <a:ext cx="2575407" cy="257540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352647" y="1611376"/>
            <a:ext cx="2468880" cy="14025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4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超市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chāoshì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siêu thị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52647" y="3160268"/>
            <a:ext cx="2468880" cy="33319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17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超市在哪儿？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Chāoshì zài nǎr?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Siêu thị ở đâu?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70167" y="1611376"/>
            <a:ext cx="5272887" cy="14025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4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买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mǎi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mua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70167" y="3160268"/>
            <a:ext cx="5272887" cy="33319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17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你想买什么？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Nǐ xiǎng mǎi shénme?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Bạn muốn mua gì?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5847" y="1611376"/>
            <a:ext cx="13716" cy="4880864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slide08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2"/>
                </p:tgtEl>
              </p:cMediaNode>
            </p:video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875861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 10-11/22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11376"/>
            <a:ext cx="5272887" cy="14025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4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东西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dōngxi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đồ, thứ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160268"/>
            <a:ext cx="5272887" cy="33319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17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我想买些东西。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Wǒ xiǎng mǎi xiē dōngxi.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Tôi muốn mua ít đồ.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70167" y="1611376"/>
            <a:ext cx="5272887" cy="14025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4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些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xiē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một số, vài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70167" y="3160268"/>
            <a:ext cx="5272887" cy="33319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17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我想买些牛奶。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Wǒ xiǎng mǎi xiē niúnǎi.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Tôi muốn mua ít sữa.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95847" y="1611376"/>
            <a:ext cx="13716" cy="4880864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slide09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  <p:sp>
        <p:nvSpPr>
          <p:cNvPr id="12" name="TextBox 11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1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些 là lượng từ KHÔNG XÁC ĐỊNH số lượng (một ít/vài) — đứng trước danh từ, không cần số đếm phía trước như 个/口.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1"/>
                </p:tgtEl>
              </p:cMediaNode>
            </p:video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52083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 12/22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/>
            </a:r>
          </a:p>
        </p:txBody>
      </p:sp>
      <p:pic>
        <p:nvPicPr>
          <p:cNvPr id="6" name="Picture 5" descr="niuna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11376"/>
            <a:ext cx="3870655" cy="387065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693615" y="1611376"/>
            <a:ext cx="2103120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54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牛奶</a:t>
            </a:r>
          </a:p>
          <a:p>
            <a:pPr algn="ctr">
              <a:spcBef>
                <a:spcPts val="600"/>
              </a:spcBef>
              <a:buNone/>
            </a:pPr>
            <a:r>
              <a:rPr sz="22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niúnǎi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sữa bò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53935" y="1611376"/>
            <a:ext cx="4389120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我想买些牛奶。</a:t>
            </a:r>
          </a:p>
          <a:p>
            <a:pPr>
              <a:spcBef>
                <a:spcPts val="200"/>
              </a:spcBef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   Wǒ xiǎng mǎi xiē niúnǎi.</a:t>
            </a:r>
          </a:p>
          <a:p>
            <a:pPr>
              <a:spcBef>
                <a:spcPts val="1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  Tôi muốn mua ít sữa.</a:t>
            </a:r>
          </a:p>
          <a:p>
            <a:pPr>
              <a:spcBef>
                <a:spcPts val="22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我每天喝牛奶。</a:t>
            </a:r>
          </a:p>
          <a:p>
            <a:pPr>
              <a:spcBef>
                <a:spcPts val="200"/>
              </a:spcBef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   Wǒ měitiān hē niúnǎi.</a:t>
            </a:r>
          </a:p>
          <a:p>
            <a:pPr>
              <a:spcBef>
                <a:spcPts val="1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  Tôi uống sữa mỗi ngày.</a:t>
            </a:r>
          </a:p>
        </p:txBody>
      </p:sp>
      <p:pic>
        <p:nvPicPr>
          <p:cNvPr id="9" name="slide10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875861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 13-14/22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11376"/>
            <a:ext cx="5272887" cy="14025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4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吃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chī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ăn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160268"/>
            <a:ext cx="5272887" cy="33319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17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你想吃什么？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Nǐ xiǎng chī shénme?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Bạn muốn ăn gì?</a:t>
            </a:r>
          </a:p>
        </p:txBody>
      </p:sp>
      <p:pic>
        <p:nvPicPr>
          <p:cNvPr id="8" name="Picture 7" descr="wanfa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0167" y="2040154"/>
            <a:ext cx="2575407" cy="171785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174174" y="1611376"/>
            <a:ext cx="2468880" cy="14025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4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晚饭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wǎnfàn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cơm tối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74174" y="3160268"/>
            <a:ext cx="2468880" cy="33319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17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我们去吃晚饭。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Wǒmen qù chī wǎnfàn.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Chúng ta đi ăn cơm tối.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5847" y="1611376"/>
            <a:ext cx="13716" cy="4880864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slide11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2"/>
                </p:tgtEl>
              </p:cMediaNode>
            </p:video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875861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 15-16/22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11376"/>
            <a:ext cx="5272887" cy="14025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4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那边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nàbiān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đằng kia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160268"/>
            <a:ext cx="5272887" cy="33319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17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那边的包子非常好吃。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Nàbiān de bāozi fēicháng hǎochī.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Bánh bao đằng kia rất ngon.</a:t>
            </a:r>
          </a:p>
        </p:txBody>
      </p:sp>
      <p:pic>
        <p:nvPicPr>
          <p:cNvPr id="8" name="Picture 7" descr="baoz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0167" y="2045633"/>
            <a:ext cx="2575407" cy="170689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174174" y="1611376"/>
            <a:ext cx="2468880" cy="14025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4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包子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bāozi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bánh bao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74174" y="3160268"/>
            <a:ext cx="2468880" cy="33319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17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我想吃包子。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Wǒ xiǎng chī bāozi.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Tôi muốn ăn bánh bao.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5847" y="1611376"/>
            <a:ext cx="13716" cy="4880864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slide12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2"/>
                </p:tgtEl>
              </p:cMediaNode>
            </p:video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875861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 17-18/22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11376"/>
            <a:ext cx="5272887" cy="14025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4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非常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fēicháng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rất, vô cùng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160268"/>
            <a:ext cx="5272887" cy="33319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17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这个非常好吃。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Zhège fēicháng hǎochī.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Cái này ngon vô cùng.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70167" y="1611376"/>
            <a:ext cx="5272887" cy="14025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4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好吃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hǎochī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ngon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70167" y="3160268"/>
            <a:ext cx="5272887" cy="33319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17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包子非常好吃。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Bāozi fēicháng hǎochī.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Bánh bao rất ngon.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95847" y="1611376"/>
            <a:ext cx="13716" cy="4880864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slide13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  <p:sp>
        <p:nvSpPr>
          <p:cNvPr id="12" name="TextBox 11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1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好吃 đọc "hǎochī" — chữ 好 ở đây đọc hǎo (tốt/ngon), KHÔNG đọc hào (nhầm với 号 vừa học).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1"/>
                </p:tgtEl>
              </p:cMediaNode>
            </p:video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875861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 19-20/22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/>
            </a:r>
          </a:p>
        </p:txBody>
      </p:sp>
      <p:pic>
        <p:nvPicPr>
          <p:cNvPr id="6" name="Picture 5" descr="mifa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11376"/>
            <a:ext cx="2575407" cy="257540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352647" y="1611376"/>
            <a:ext cx="2468880" cy="14025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4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米饭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mǐfàn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cơm (gạo)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52647" y="3160268"/>
            <a:ext cx="2468880" cy="33319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17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我想吃米饭。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Wǒ xiǎng chī mǐfàn.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Tôi muốn ăn cơm.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70167" y="1611376"/>
            <a:ext cx="5272887" cy="14025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4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怎么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zěnme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thế nào, làm sao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70167" y="3160268"/>
            <a:ext cx="5272887" cy="33319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17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我们怎么去？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Wǒmen zěnme qù?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Chúng ta đi bằng cách nào?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5847" y="1611376"/>
            <a:ext cx="13716" cy="4880864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slide14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2"/>
                </p:tgtEl>
              </p:cMediaNode>
            </p:video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875861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 21-22/22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11376"/>
            <a:ext cx="5272887" cy="14025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4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坐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zuò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ngồi, đi (bằng xe)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160268"/>
            <a:ext cx="5272887" cy="33319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17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我们坐出租车去。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Wǒmen zuò chūzūchē qù.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Chúng ta đi taxi.</a:t>
            </a:r>
          </a:p>
        </p:txBody>
      </p:sp>
      <p:pic>
        <p:nvPicPr>
          <p:cNvPr id="8" name="Picture 7" descr="chuzuch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0167" y="2040154"/>
            <a:ext cx="2575407" cy="171785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174174" y="1611376"/>
            <a:ext cx="2468880" cy="14025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4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出租车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chūzūchē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taxi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74174" y="3160268"/>
            <a:ext cx="2468880" cy="33319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17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坐出租车去饭店。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Zuò chūzūchē qù fàndiàn.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Đi taxi đến nhà hàng.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5847" y="1611376"/>
            <a:ext cx="13716" cy="4880864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slide15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2"/>
                </p:tgtEl>
              </p:cMediaNode>
            </p:video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会话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会话 1 · 问手机号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11376"/>
            <a:ext cx="5432907" cy="365760"/>
          </a:xfrm>
          <a:prstGeom prst="roundRect">
            <a:avLst/>
          </a:prstGeom>
          <a:solidFill>
            <a:srgbClr val="F7E4E1"/>
          </a:solidFill>
          <a:ln w="9525">
            <a:solidFill>
              <a:srgbClr val="8E2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buNone/>
            </a:pPr>
            <a:r>
              <a:rPr sz="14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🙂 李文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0147" y="1611376"/>
            <a:ext cx="5432907" cy="365760"/>
          </a:xfrm>
          <a:prstGeom prst="roundRect">
            <a:avLst/>
          </a:prstGeom>
          <a:solidFill>
            <a:srgbClr val="E4EEF7"/>
          </a:solidFill>
          <a:ln w="9525">
            <a:solidFill>
              <a:srgbClr val="8E2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buNone/>
            </a:pPr>
            <a:r>
              <a:rPr sz="14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🙂 白家月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68576"/>
            <a:ext cx="5432907" cy="676656"/>
          </a:xfrm>
          <a:prstGeom prst="roundRect">
            <a:avLst/>
          </a:prstGeom>
          <a:solidFill>
            <a:srgbClr val="F7E4E1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 tIns="38100" bIns="38100"/>
          <a:lstStyle/>
          <a:p>
            <a:pPr algn="l">
              <a:buNone/>
            </a:pPr>
            <a:r>
              <a:rPr sz="16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1. </a:t>
            </a:r>
            <a:r>
              <a:rPr sz="1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家月，你的手机号是多少？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Jiāyuè, nǐ de shǒujī hào shì duōshao?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0147" y="2836672"/>
            <a:ext cx="5432907" cy="950976"/>
          </a:xfrm>
          <a:prstGeom prst="roundRect">
            <a:avLst/>
          </a:prstGeom>
          <a:solidFill>
            <a:srgbClr val="E4EE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 tIns="38100" bIns="38100"/>
          <a:lstStyle/>
          <a:p>
            <a:pPr algn="l">
              <a:buNone/>
            </a:pPr>
            <a:r>
              <a:rPr sz="16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2. </a:t>
            </a:r>
            <a:r>
              <a:rPr sz="1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我的手机号是 +33 601493190。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Wǒ de shǒujī hào shì líng líng sān sān liù líng yāo sì jiǔ sān yāo jiǔ líng.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879088"/>
            <a:ext cx="5432907" cy="1225296"/>
          </a:xfrm>
          <a:prstGeom prst="roundRect">
            <a:avLst/>
          </a:prstGeom>
          <a:solidFill>
            <a:srgbClr val="F7E4E1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 tIns="38100" bIns="38100"/>
          <a:lstStyle/>
          <a:p>
            <a:pPr algn="l">
              <a:buNone/>
            </a:pPr>
            <a:r>
              <a:rPr sz="16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3. </a:t>
            </a:r>
            <a:r>
              <a:rPr sz="1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我的手机号是 +86 13552721160。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Wǒ de shǒujī hào shì líng líng bā liù yāo sān wǔ wǔ èr qī èr yāo yāo liù líng.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0147" y="5195824"/>
            <a:ext cx="5432907" cy="676656"/>
          </a:xfrm>
          <a:prstGeom prst="roundRect">
            <a:avLst/>
          </a:prstGeom>
          <a:solidFill>
            <a:srgbClr val="E4EE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 tIns="38100" bIns="38100"/>
          <a:lstStyle/>
          <a:p>
            <a:pPr algn="l">
              <a:buNone/>
            </a:pPr>
            <a:r>
              <a:rPr sz="16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4. </a:t>
            </a:r>
            <a:r>
              <a:rPr sz="1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好的。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Hǎo de.</a:t>
            </a:r>
          </a:p>
        </p:txBody>
      </p:sp>
      <p:pic>
        <p:nvPicPr>
          <p:cNvPr id="12" name="slide16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2"/>
                </p:tgtEl>
              </p:cMediaNode>
            </p:video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会话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会话 2 · 去超市买东西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11376"/>
            <a:ext cx="5432907" cy="365760"/>
          </a:xfrm>
          <a:prstGeom prst="roundRect">
            <a:avLst/>
          </a:prstGeom>
          <a:solidFill>
            <a:srgbClr val="F7E4E1"/>
          </a:solidFill>
          <a:ln w="9525">
            <a:solidFill>
              <a:srgbClr val="8E2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buNone/>
            </a:pPr>
            <a:r>
              <a:rPr sz="14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🙂 陈天中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0147" y="1611376"/>
            <a:ext cx="5432907" cy="365760"/>
          </a:xfrm>
          <a:prstGeom prst="roundRect">
            <a:avLst/>
          </a:prstGeom>
          <a:solidFill>
            <a:srgbClr val="E4EEF7"/>
          </a:solidFill>
          <a:ln w="9525">
            <a:solidFill>
              <a:srgbClr val="8E2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buNone/>
            </a:pPr>
            <a:r>
              <a:rPr sz="14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🙂 白家月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68576"/>
            <a:ext cx="5432907" cy="676656"/>
          </a:xfrm>
          <a:prstGeom prst="roundRect">
            <a:avLst/>
          </a:prstGeom>
          <a:solidFill>
            <a:srgbClr val="F7E4E1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 tIns="38100" bIns="38100"/>
          <a:lstStyle/>
          <a:p>
            <a:pPr algn="l">
              <a:buNone/>
            </a:pPr>
            <a:r>
              <a:rPr sz="16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1. </a:t>
            </a:r>
            <a:r>
              <a:rPr sz="1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家月，明天你去哪儿？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Jiāyuè, míngtiān nǐ qù nǎr?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0147" y="2836672"/>
            <a:ext cx="5432907" cy="676656"/>
          </a:xfrm>
          <a:prstGeom prst="roundRect">
            <a:avLst/>
          </a:prstGeom>
          <a:solidFill>
            <a:srgbClr val="E4EE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 tIns="38100" bIns="38100"/>
          <a:lstStyle/>
          <a:p>
            <a:pPr algn="l">
              <a:buNone/>
            </a:pPr>
            <a:r>
              <a:rPr sz="16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2. </a:t>
            </a:r>
            <a:r>
              <a:rPr sz="1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我想去超市买东西。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Wǒ xiǎng qù chāoshì mǎi dōngxi.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604768"/>
            <a:ext cx="5432907" cy="676656"/>
          </a:xfrm>
          <a:prstGeom prst="roundRect">
            <a:avLst/>
          </a:prstGeom>
          <a:solidFill>
            <a:srgbClr val="F7E4E1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 tIns="38100" bIns="38100"/>
          <a:lstStyle/>
          <a:p>
            <a:pPr algn="l">
              <a:buNone/>
            </a:pPr>
            <a:r>
              <a:rPr sz="16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3. </a:t>
            </a:r>
            <a:r>
              <a:rPr sz="1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你去超市买什么？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Nǐ qù chāoshì mǎi shénme?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0147" y="4372864"/>
            <a:ext cx="5432907" cy="676656"/>
          </a:xfrm>
          <a:prstGeom prst="roundRect">
            <a:avLst/>
          </a:prstGeom>
          <a:solidFill>
            <a:srgbClr val="E4EE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 tIns="38100" bIns="38100"/>
          <a:lstStyle/>
          <a:p>
            <a:pPr algn="l">
              <a:buNone/>
            </a:pPr>
            <a:r>
              <a:rPr sz="16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4. </a:t>
            </a:r>
            <a:r>
              <a:rPr sz="1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我想买些牛奶。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Wǒ xiǎng mǎi xiē niúnǎi.</a:t>
            </a:r>
          </a:p>
        </p:txBody>
      </p:sp>
      <p:pic>
        <p:nvPicPr>
          <p:cNvPr id="12" name="slide17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2"/>
                </p:tgtEl>
              </p:cMediaNode>
            </p:video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会话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会话 3 · 一家人吃晚饭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11376"/>
            <a:ext cx="2602153" cy="365760"/>
          </a:xfrm>
          <a:prstGeom prst="roundRect">
            <a:avLst/>
          </a:prstGeom>
          <a:solidFill>
            <a:srgbClr val="F7E4E1"/>
          </a:solidFill>
          <a:ln w="9525">
            <a:solidFill>
              <a:srgbClr val="8E2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buNone/>
            </a:pPr>
            <a:r>
              <a:rPr sz="14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🙂 王一雪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79393" y="1611376"/>
            <a:ext cx="2602153" cy="365760"/>
          </a:xfrm>
          <a:prstGeom prst="roundRect">
            <a:avLst/>
          </a:prstGeom>
          <a:solidFill>
            <a:srgbClr val="E4EEF7"/>
          </a:solidFill>
          <a:ln w="9525">
            <a:solidFill>
              <a:srgbClr val="8E2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buNone/>
            </a:pPr>
            <a:r>
              <a:rPr sz="14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🙂 刘明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0146" y="1611376"/>
            <a:ext cx="2602153" cy="365760"/>
          </a:xfrm>
          <a:prstGeom prst="roundRect">
            <a:avLst/>
          </a:prstGeom>
          <a:solidFill>
            <a:srgbClr val="FBF0D9"/>
          </a:solidFill>
          <a:ln w="9525">
            <a:solidFill>
              <a:srgbClr val="8E2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buNone/>
            </a:pPr>
            <a:r>
              <a:rPr sz="14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🙂 刘小雪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40899" y="1611376"/>
            <a:ext cx="2602153" cy="365760"/>
          </a:xfrm>
          <a:prstGeom prst="roundRect">
            <a:avLst/>
          </a:prstGeom>
          <a:solidFill>
            <a:srgbClr val="E7F3E8"/>
          </a:solidFill>
          <a:ln w="9525">
            <a:solidFill>
              <a:srgbClr val="8E2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buNone/>
            </a:pPr>
            <a:r>
              <a:rPr sz="14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🙂 刘小明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068576"/>
            <a:ext cx="2602153" cy="897661"/>
          </a:xfrm>
          <a:prstGeom prst="roundRect">
            <a:avLst/>
          </a:prstGeom>
          <a:solidFill>
            <a:srgbClr val="F7E4E1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 tIns="38100" bIns="38100"/>
          <a:lstStyle/>
          <a:p>
            <a:pPr algn="l">
              <a:buNone/>
            </a:pPr>
            <a:r>
              <a:rPr sz="1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1. </a:t>
            </a:r>
            <a:r>
              <a:rPr sz="1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星期天我们去哪儿吃晚饭？</a:t>
            </a:r>
          </a:p>
          <a:p>
            <a:pPr algn="l">
              <a:buNone/>
            </a:pPr>
            <a:r>
              <a:rPr sz="9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Xīngqītiān wǒmen qù nǎr chī wǎnfàn?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79393" y="3033226"/>
            <a:ext cx="2602153" cy="495723"/>
          </a:xfrm>
          <a:prstGeom prst="roundRect">
            <a:avLst/>
          </a:prstGeom>
          <a:solidFill>
            <a:srgbClr val="E4EE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 tIns="38100" bIns="38100"/>
          <a:lstStyle/>
          <a:p>
            <a:pPr algn="l">
              <a:buNone/>
            </a:pPr>
            <a:r>
              <a:rPr sz="1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2. </a:t>
            </a:r>
            <a:r>
              <a:rPr sz="1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我还想去西安饭店。</a:t>
            </a:r>
          </a:p>
          <a:p>
            <a:pPr algn="l">
              <a:buNone/>
            </a:pPr>
            <a:r>
              <a:rPr sz="9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Wǒ hái xiǎng qù Xī'ān Fàndiàn.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0146" y="3595938"/>
            <a:ext cx="2602153" cy="897661"/>
          </a:xfrm>
          <a:prstGeom prst="roundRect">
            <a:avLst/>
          </a:prstGeom>
          <a:solidFill>
            <a:srgbClr val="FBF0D9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 tIns="38100" bIns="38100"/>
          <a:lstStyle/>
          <a:p>
            <a:pPr algn="l">
              <a:buNone/>
            </a:pPr>
            <a:r>
              <a:rPr sz="1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3. </a:t>
            </a:r>
            <a:r>
              <a:rPr sz="1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那边的包子非常好吃，我想吃包子。</a:t>
            </a:r>
          </a:p>
          <a:p>
            <a:pPr algn="l">
              <a:buNone/>
            </a:pPr>
            <a:r>
              <a:rPr sz="9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Nàbiān de bāozi fēicháng hǎochī, wǒ xiǎng chī bāozi.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40899" y="4560588"/>
            <a:ext cx="2602153" cy="897661"/>
          </a:xfrm>
          <a:prstGeom prst="roundRect">
            <a:avLst/>
          </a:prstGeom>
          <a:solidFill>
            <a:srgbClr val="E7F3E8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 tIns="38100" bIns="38100"/>
          <a:lstStyle/>
          <a:p>
            <a:pPr algn="l">
              <a:buNone/>
            </a:pPr>
            <a:r>
              <a:rPr sz="1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4. </a:t>
            </a:r>
            <a:r>
              <a:rPr sz="1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妈妈，我想吃米饭，不想吃包子。</a:t>
            </a:r>
          </a:p>
          <a:p>
            <a:pPr algn="l">
              <a:buNone/>
            </a:pPr>
            <a:r>
              <a:rPr sz="9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Māma, wǒ xiǎng chī mǐfàn, bù xiǎng chī bāozi.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5525238"/>
            <a:ext cx="2602153" cy="495723"/>
          </a:xfrm>
          <a:prstGeom prst="roundRect">
            <a:avLst/>
          </a:prstGeom>
          <a:solidFill>
            <a:srgbClr val="F7E4E1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 tIns="38100" bIns="38100"/>
          <a:lstStyle/>
          <a:p>
            <a:pPr algn="l">
              <a:buNone/>
            </a:pPr>
            <a:r>
              <a:rPr sz="1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5. </a:t>
            </a:r>
            <a:r>
              <a:rPr sz="1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好的。我们怎么去？</a:t>
            </a:r>
          </a:p>
          <a:p>
            <a:pPr algn="l">
              <a:buNone/>
            </a:pPr>
            <a:r>
              <a:rPr sz="9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Hǎo de. Wǒmen zěnme qù?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79393" y="6087950"/>
            <a:ext cx="2602153" cy="495723"/>
          </a:xfrm>
          <a:prstGeom prst="roundRect">
            <a:avLst/>
          </a:prstGeom>
          <a:solidFill>
            <a:srgbClr val="E4EE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 tIns="38100" bIns="38100"/>
          <a:lstStyle/>
          <a:p>
            <a:pPr algn="l">
              <a:buNone/>
            </a:pPr>
            <a:r>
              <a:rPr sz="1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6. </a:t>
            </a:r>
            <a:r>
              <a:rPr sz="1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坐出租车去。</a:t>
            </a:r>
          </a:p>
          <a:p>
            <a:pPr algn="l">
              <a:buNone/>
            </a:pPr>
            <a:r>
              <a:rPr sz="9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Zuò chūzūchē qù.</a:t>
            </a:r>
          </a:p>
        </p:txBody>
      </p:sp>
      <p:pic>
        <p:nvPicPr>
          <p:cNvPr id="16" name="slide18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6"/>
                </p:tgtEl>
              </p:cMediaNode>
            </p:video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语法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能愿动词“想” — Muốn / định làm gì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144520"/>
            <a:ext cx="4437766" cy="14671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9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想</a:t>
            </a:r>
            <a:r>
              <a:rPr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 + động từ = muốn/định làm việc gì đó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42438" y="3144520"/>
            <a:ext cx="6400617" cy="14671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我想去超市买东西。</a:t>
            </a:r>
          </a:p>
          <a:p>
            <a:pPr>
              <a:buNone/>
            </a:pPr>
            <a:r>
              <a:rPr sz="12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Wǒ xiǎng qù chāoshì mǎi dōngxi.</a:t>
            </a:r>
          </a:p>
          <a:p>
            <a:pPr>
              <a:buNone/>
            </a:pPr>
            <a:r>
              <a:rPr sz="12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Tôi muốn đi siêu thị mua đồ.</a:t>
            </a:r>
          </a:p>
          <a:p>
            <a:pPr>
              <a:spcBef>
                <a:spcPts val="800"/>
              </a:spcBef>
              <a:buNone/>
            </a:pPr>
            <a:r>
              <a:rPr sz="1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我想吃包子。</a:t>
            </a:r>
          </a:p>
          <a:p>
            <a:pPr>
              <a:buNone/>
            </a:pPr>
            <a:r>
              <a:rPr sz="12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Wǒ xiǎng chī bāozi.</a:t>
            </a:r>
          </a:p>
          <a:p>
            <a:pPr>
              <a:buNone/>
            </a:pPr>
            <a:r>
              <a:rPr sz="12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Tôi muốn ăn bánh bao.</a:t>
            </a:r>
          </a:p>
        </p:txBody>
      </p:sp>
      <p:pic>
        <p:nvPicPr>
          <p:cNvPr id="8" name="slide19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  <p:sp>
        <p:nvSpPr>
          <p:cNvPr id="9" name="TextBox 8"/>
          <p:cNvSpPr txBox="1"/>
          <p:nvPr/>
        </p:nvSpPr>
        <p:spPr>
          <a:xfrm>
            <a:off x="548640" y="6144768"/>
            <a:ext cx="11094415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3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🔑 Mẹo ghi nhớ: </a:t>
            </a:r>
            <a:r>
              <a:rPr sz="13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想 luôn đứng NGAY TRƯỚC động từ, không đứng 1 mình cuối câu như tiếng Việt "tôi muốn" — phải nói rõ muốn LÀM GÌ.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1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想 ở Buổi 3 (我们很想你) nghĩa là "nhớ". Ở đây 想 đứng trước 1 động từ khác thì nghĩa là "muốn/định" — phân biệt bằng việc có động từ theo sau hay không.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77596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语法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10810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连动句(1) — Nối 2 động từ trong 1 câu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529840"/>
            <a:ext cx="4437766" cy="14671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Biểu thị MỤC ĐÍCH: đi đâu ĐỂ làm gì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42438" y="2529840"/>
            <a:ext cx="6400617" cy="14671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我想去超市买东西。</a:t>
            </a:r>
          </a:p>
          <a:p>
            <a:pPr>
              <a:buNone/>
            </a:pPr>
            <a:r>
              <a:rPr sz="12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Wǒ xiǎng qù chāoshì mǎi dōngxi.</a:t>
            </a:r>
          </a:p>
          <a:p>
            <a:pPr>
              <a:buNone/>
            </a:pPr>
            <a:r>
              <a:rPr sz="12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Tôi muốn đi siêu thị (để) mua đồ.</a:t>
            </a:r>
          </a:p>
          <a:p>
            <a:pPr>
              <a:spcBef>
                <a:spcPts val="800"/>
              </a:spcBef>
              <a:buNone/>
            </a:pPr>
            <a:r>
              <a:rPr sz="1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我们去西安饭店吃晚饭。</a:t>
            </a:r>
          </a:p>
          <a:p>
            <a:pPr>
              <a:buNone/>
            </a:pPr>
            <a:r>
              <a:rPr sz="12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Wǒmen qù Xī'ān Fàndiàn chī wǎnfàn.</a:t>
            </a:r>
          </a:p>
          <a:p>
            <a:pPr>
              <a:buNone/>
            </a:pPr>
            <a:r>
              <a:rPr sz="12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Chúng tôi đi Nhà hàng Tây An (để) ăn cơm tối.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4097528"/>
            <a:ext cx="11094415" cy="10972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4198112"/>
            <a:ext cx="4437766" cy="14671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Biểu thị PHƯƠNG THỨC: đi bằng cách gì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42438" y="4198112"/>
            <a:ext cx="6400617" cy="14671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我们坐出租车去西安饭店。</a:t>
            </a:r>
          </a:p>
          <a:p>
            <a:pPr>
              <a:buNone/>
            </a:pPr>
            <a:r>
              <a:rPr sz="12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Wǒmen zuò chūzūchē qù Xī'ān Fàndiàn.</a:t>
            </a:r>
          </a:p>
          <a:p>
            <a:pPr>
              <a:buNone/>
            </a:pPr>
            <a:r>
              <a:rPr sz="12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Chúng tôi đi taxi tới Nhà hàng Tây An.</a:t>
            </a:r>
          </a:p>
          <a:p>
            <a:pPr>
              <a:spcBef>
                <a:spcPts val="800"/>
              </a:spcBef>
              <a:buNone/>
            </a:pPr>
            <a:r>
              <a:rPr sz="1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坐出租车去。</a:t>
            </a:r>
          </a:p>
          <a:p>
            <a:pPr>
              <a:buNone/>
            </a:pPr>
            <a:r>
              <a:rPr sz="12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Zuò chūzūchē qù.</a:t>
            </a:r>
          </a:p>
          <a:p>
            <a:pPr>
              <a:buNone/>
            </a:pPr>
            <a:r>
              <a:rPr sz="12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Đi bằng taxi.</a:t>
            </a:r>
          </a:p>
        </p:txBody>
      </p:sp>
      <p:pic>
        <p:nvPicPr>
          <p:cNvPr id="11" name="slide20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  <p:sp>
        <p:nvSpPr>
          <p:cNvPr id="12" name="TextBox 11"/>
          <p:cNvSpPr txBox="1"/>
          <p:nvPr/>
        </p:nvSpPr>
        <p:spPr>
          <a:xfrm>
            <a:off x="548640" y="6473952"/>
            <a:ext cx="11094415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3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🔑 Mẹo ghi nhớ: </a:t>
            </a:r>
            <a:r>
              <a:rPr sz="13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Không cần thêm "và"/"để" giữa 2 động từ như tiếng Việt — 2 động từ cứ nối liền nhau theo đúng thứ tự hành động thật (làm cái nào trước, nói cái đó trước).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1"/>
                </p:tgtEl>
              </p:cMediaNode>
            </p:video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语法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疑问代词“怎么” — Hỏi cách thức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144520"/>
            <a:ext cx="4437766" cy="14671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9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怎么</a:t>
            </a:r>
            <a:r>
              <a:rPr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 đứng TRƯỚC động từ, hỏi cách thức/phương thức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42438" y="3144520"/>
            <a:ext cx="6400617" cy="14671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我们怎么去？</a:t>
            </a:r>
          </a:p>
          <a:p>
            <a:pPr>
              <a:buNone/>
            </a:pPr>
            <a:r>
              <a:rPr sz="12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Wǒmen zěnme qù?</a:t>
            </a:r>
          </a:p>
          <a:p>
            <a:pPr>
              <a:buNone/>
            </a:pPr>
            <a:r>
              <a:rPr sz="12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Chúng ta đi bằng cách nào?</a:t>
            </a:r>
          </a:p>
          <a:p>
            <a:pPr>
              <a:spcBef>
                <a:spcPts val="800"/>
              </a:spcBef>
              <a:buNone/>
            </a:pPr>
            <a:r>
              <a:rPr sz="1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你怎么去超市？</a:t>
            </a:r>
          </a:p>
          <a:p>
            <a:pPr>
              <a:buNone/>
            </a:pPr>
            <a:r>
              <a:rPr sz="12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Nǐ zěnme qù chāoshì?</a:t>
            </a:r>
          </a:p>
          <a:p>
            <a:pPr>
              <a:buNone/>
            </a:pPr>
            <a:r>
              <a:rPr sz="12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Bạn đi siêu thị bằng cách nào?</a:t>
            </a:r>
          </a:p>
        </p:txBody>
      </p:sp>
      <p:pic>
        <p:nvPicPr>
          <p:cNvPr id="8" name="slide21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  <p:sp>
        <p:nvSpPr>
          <p:cNvPr id="9" name="TextBox 8"/>
          <p:cNvSpPr txBox="1"/>
          <p:nvPr/>
        </p:nvSpPr>
        <p:spPr>
          <a:xfrm>
            <a:off x="548640" y="6473952"/>
            <a:ext cx="11094415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3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🔑 Mẹo ghi nhớ: </a:t>
            </a:r>
            <a:r>
              <a:rPr sz="13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Trả lời câu hỏi 怎么 thường dùng cấu trúc 坐 + phương tiện, ví dụ 坐出租车/坐公共汽车.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</p:childTnLst>
        </p:cTn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77596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2076135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练习 · 选词填空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10810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选词填空 — Điền từ đúng vào chỗ trống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50288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15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Từ cần dùng:  </a:t>
            </a:r>
            <a:r>
              <a:rPr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多少</a:t>
            </a: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(duōshao)</a:t>
            </a: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·   </a:t>
            </a:r>
            <a:r>
              <a:rPr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买</a:t>
            </a: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(mǎi)</a:t>
            </a: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·   </a:t>
            </a:r>
            <a:r>
              <a:rPr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米饭</a:t>
            </a: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(mǐfàn)</a:t>
            </a: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·   </a:t>
            </a:r>
            <a:r>
              <a:rPr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坐</a:t>
            </a: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(zuò)</a:t>
            </a: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·   </a:t>
            </a:r>
            <a:r>
              <a:rPr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去</a:t>
            </a: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(qù)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17216"/>
            <a:ext cx="11094415" cy="38750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sz="13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Chọn 1 từ trong khung điền vào mỗi câu (nguyên đề trong sách, trang 041).</a:t>
            </a:r>
          </a:p>
          <a:p>
            <a:pPr>
              <a:spcBef>
                <a:spcPts val="2131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1. </a:t>
            </a:r>
            <a:r>
              <a:rPr sz="1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1. 我想___超市___牛奶。</a:t>
            </a:r>
          </a:p>
          <a:p>
            <a:pPr>
              <a:spcBef>
                <a:spcPts val="327"/>
              </a:spcBef>
              <a:buNone/>
            </a:pPr>
            <a:r>
              <a:rPr sz="13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   </a:t>
            </a:r>
            <a:r>
              <a:rPr sz="13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Wǒ xiǎng ___ chāoshì ___ niúnǎi.</a:t>
            </a:r>
          </a:p>
          <a:p>
            <a:pPr>
              <a:spcBef>
                <a:spcPts val="2131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2. </a:t>
            </a:r>
            <a:r>
              <a:rPr sz="1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2. 我们___出租车去西安饭店吃晚饭。</a:t>
            </a:r>
          </a:p>
          <a:p>
            <a:pPr>
              <a:spcBef>
                <a:spcPts val="327"/>
              </a:spcBef>
              <a:buNone/>
            </a:pPr>
            <a:r>
              <a:rPr sz="13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   </a:t>
            </a:r>
            <a:r>
              <a:rPr sz="13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Wǒmen ___ chūzūchē qù Xī'ān Fàndiàn chī wǎnfàn.</a:t>
            </a:r>
          </a:p>
          <a:p>
            <a:pPr>
              <a:spcBef>
                <a:spcPts val="2131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3. </a:t>
            </a:r>
            <a:r>
              <a:rPr sz="1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3. 妈妈：你想吃什么？孩子：我想吃___。</a:t>
            </a:r>
          </a:p>
          <a:p>
            <a:pPr>
              <a:spcBef>
                <a:spcPts val="327"/>
              </a:spcBef>
              <a:buNone/>
            </a:pPr>
            <a:r>
              <a:rPr sz="13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   </a:t>
            </a:r>
            <a:r>
              <a:rPr sz="13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Māma: Nǐ xiǎng chī shénme? Háizi: Wǒ xiǎng chī ___.</a:t>
            </a:r>
          </a:p>
          <a:p>
            <a:pPr>
              <a:spcBef>
                <a:spcPts val="2131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4. </a:t>
            </a:r>
            <a:r>
              <a:rPr sz="1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4. 老师：你的手机号是___？</a:t>
            </a:r>
          </a:p>
          <a:p>
            <a:pPr>
              <a:spcBef>
                <a:spcPts val="327"/>
              </a:spcBef>
              <a:buNone/>
            </a:pPr>
            <a:r>
              <a:rPr sz="13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   </a:t>
            </a:r>
            <a:r>
              <a:rPr sz="13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Lǎoshī: Nǐ de shǒujī hào shì ___?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377440"/>
            <a:ext cx="11094415" cy="2103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第二部分 · 生词拓展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77596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语法拓展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10810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几 vs 多少 — Khi nào dùng từ nào?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452624"/>
            <a:ext cx="4437766" cy="154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9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几</a:t>
            </a:r>
            <a:r>
              <a:rPr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 = hỏi SỐ NHỎ, dự đoán được (thường &lt; 10), BẮT BUỘC có lượng từ theo sau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42438" y="2452624"/>
            <a:ext cx="6400617" cy="154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你家有几口人？</a:t>
            </a:r>
          </a:p>
          <a:p>
            <a:pPr>
              <a:buNone/>
            </a:pPr>
            <a:r>
              <a:rPr sz="12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Nǐ jiā yǒu jǐ kǒu rén?</a:t>
            </a:r>
          </a:p>
          <a:p>
            <a:pPr>
              <a:buNone/>
            </a:pPr>
            <a:r>
              <a:rPr sz="12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Nhà bạn có mấy người? (đã học Buổi 4)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4097528"/>
            <a:ext cx="11094415" cy="10972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4198112"/>
            <a:ext cx="4437766" cy="154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9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多少</a:t>
            </a:r>
            <a:r>
              <a:rPr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 = hỏi SỐ BẤT KỲ, không đoán trước được (số lớn/dài), KHÔNG bắt buộc lượng từ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42438" y="4198112"/>
            <a:ext cx="6400617" cy="154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你的手机号是多少？</a:t>
            </a:r>
          </a:p>
          <a:p>
            <a:pPr>
              <a:buNone/>
            </a:pPr>
            <a:r>
              <a:rPr sz="12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Nǐ de shǒujī hào shì duōshao?</a:t>
            </a:r>
          </a:p>
          <a:p>
            <a:pPr>
              <a:buNone/>
            </a:pPr>
            <a:r>
              <a:rPr sz="12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Số điện thoại của bạn là bao nhiêu?</a:t>
            </a:r>
          </a:p>
          <a:p>
            <a:pPr>
              <a:spcBef>
                <a:spcPts val="800"/>
              </a:spcBef>
              <a:buNone/>
            </a:pPr>
            <a:r>
              <a:rPr sz="1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苹果多少钱一斤？</a:t>
            </a:r>
          </a:p>
          <a:p>
            <a:pPr>
              <a:buNone/>
            </a:pPr>
            <a:r>
              <a:rPr sz="12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Píngguǒ duōshao qián yì jīn?</a:t>
            </a:r>
          </a:p>
          <a:p>
            <a:pPr>
              <a:buNone/>
            </a:pPr>
            <a:r>
              <a:rPr sz="12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Táo bao nhiêu tiền một cân?</a:t>
            </a:r>
          </a:p>
        </p:txBody>
      </p:sp>
      <p:pic>
        <p:nvPicPr>
          <p:cNvPr id="11" name="slide24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  <p:sp>
        <p:nvSpPr>
          <p:cNvPr id="12" name="TextBox 11"/>
          <p:cNvSpPr txBox="1"/>
          <p:nvPr/>
        </p:nvSpPr>
        <p:spPr>
          <a:xfrm>
            <a:off x="548640" y="6473952"/>
            <a:ext cx="11094415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3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🔑 Mẹo ghi nhớ: </a:t>
            </a:r>
            <a:r>
              <a:rPr sz="13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Hỏi số điện thoại / giá tiền / số lớn → luôn dùng 多少, không dùng 几.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1"/>
                </p:tgtEl>
              </p:cMediaNode>
            </p:video>
          </p:childTnLst>
        </p:cTn>
      </p:par>
    </p:tn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77596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语法拓展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10810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读电话号码 — Đọc rời từng chữ số, 1 luôn đọc 幺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2344257"/>
          <a:ext cx="11094413" cy="38540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1271"/>
                <a:gridCol w="3837690"/>
                <a:gridCol w="4535452"/>
              </a:tblGrid>
              <a:tr h="749808"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号码（汉字读法）</a:t>
                      </a:r>
                    </a:p>
                  </a:txBody>
                  <a:tcPr anchor="ctr" marL="127000" marR="101600" marT="38100" marB="38100">
                    <a:solidFill>
                      <a:srgbClr val="8E2B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Pinyin</a:t>
                      </a:r>
                    </a:p>
                  </a:txBody>
                  <a:tcPr anchor="ctr" marL="127000" marR="101600" marT="38100" marB="38100">
                    <a:solidFill>
                      <a:srgbClr val="8E2B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Ghi chú</a:t>
                      </a:r>
                    </a:p>
                  </a:txBody>
                  <a:tcPr anchor="ctr" marL="127000" marR="101600" marT="38100" marB="38100">
                    <a:solidFill>
                      <a:srgbClr val="8E2B20"/>
                    </a:solidFill>
                  </a:tcPr>
                </a:tc>
              </a:tr>
              <a:tr h="1034735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零九幺·二三四·五六七八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líng jiǔ yāo · èr sān sì · wǔ liù qī bā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Số điện thoại Việt Nam quen thuộc (0912-345-678)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1034735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零二八·三八二二·幺二三四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líng èr bā · sān bā èr èr · yāo èr sān sì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Số bàn công ty/trường học (028-3822-1234)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  <a:tr h="1034735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三三六零幺四九三幺九零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sān sān liù líng yāo sì jiǔ sān yāo jiǔ líng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Số của 白家月 trong 会话1 (+33 601493190) — chú ý 2 chữ 幺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7" name="slide25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  <p:sp>
        <p:nvSpPr>
          <p:cNvPr id="8" name="TextBox 7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1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Số điện thoại đọc RỜI TỪNG CHỮ SỐ (không đọc theo hàng chục/trăm như số thường). Chữ số 1 luôn đọc 幺 (yāo), KHÔNG đọc 一 (yī) — để không nghe nhầm với số 7 (七 qī) khi nói nhanh qua điện thoại. Số 0 đọc 零 (líng).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</p:childTnLst>
        </p:cTn>
      </p:par>
    </p:tnLst>
  </p:timing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77596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语法拓展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10810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Ôn nhanh: số 0-100 (đã học Buổi 4)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50288"/>
            <a:ext cx="11094415" cy="44419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0-10: 零一二三四五六七八九十</a:t>
            </a:r>
          </a:p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11-99: (số chục) + (số đơn vị), ví dụ 十五 (15) · 二十三 (23) · 九十九 (99)</a:t>
            </a:r>
          </a:p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100: 一百 — chú ý: đây là số ĐẾM thường nên 一 vẫn đọc yī, KHÁC với số điện thoại (đọc rời từng chữ, 1 = 幺)</a:t>
            </a:r>
          </a:p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✏️ Luyện tập</a:t>
            </a:r>
          </a:p>
          <a:p>
            <a:pPr>
              <a:spcBef>
                <a:spcPts val="400"/>
              </a:spcBef>
              <a:buNone/>
            </a:pPr>
            <a:r>
              <a:rPr sz="17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   </a:t>
            </a:r>
            <a:r>
              <a:rPr sz="17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Đọc to số điện thoại của em cho cô nghe — nhớ đọc RỜI TỪNG SỐ và đổi 1 thành 幺!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游戏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配对游戏 (1/2) · 生词拓展</a:t>
            </a:r>
          </a:p>
        </p:txBody>
      </p:sp>
      <p:pic>
        <p:nvPicPr>
          <p:cNvPr id="6" name="Picture 5" descr="shouj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696" y="1611376"/>
            <a:ext cx="2321560" cy="2321560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548640" y="1611376"/>
            <a:ext cx="329184" cy="329184"/>
          </a:xfrm>
          <a:prstGeom prst="ellipse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buNone/>
            </a:pPr>
            <a:r>
              <a:rPr sz="15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1</a:t>
            </a:r>
          </a:p>
        </p:txBody>
      </p:sp>
      <p:pic>
        <p:nvPicPr>
          <p:cNvPr id="8" name="Picture 7" descr="chaoshi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9673" y="1611376"/>
            <a:ext cx="2321560" cy="2321560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3638617" y="1611376"/>
            <a:ext cx="329184" cy="329184"/>
          </a:xfrm>
          <a:prstGeom prst="ellipse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buNone/>
            </a:pPr>
            <a:r>
              <a:rPr sz="15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2</a:t>
            </a:r>
          </a:p>
        </p:txBody>
      </p:sp>
      <p:pic>
        <p:nvPicPr>
          <p:cNvPr id="10" name="Picture 9" descr="niunai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696" y="4124960"/>
            <a:ext cx="2321560" cy="2321560"/>
          </a:xfrm>
          <a:prstGeom prst="rect">
            <a:avLst/>
          </a:prstGeom>
        </p:spPr>
      </p:pic>
      <p:sp>
        <p:nvSpPr>
          <p:cNvPr id="11" name="Oval 10"/>
          <p:cNvSpPr/>
          <p:nvPr/>
        </p:nvSpPr>
        <p:spPr>
          <a:xfrm>
            <a:off x="548640" y="4124960"/>
            <a:ext cx="329184" cy="329184"/>
          </a:xfrm>
          <a:prstGeom prst="ellipse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buNone/>
            </a:pPr>
            <a:r>
              <a:rPr sz="15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3</a:t>
            </a:r>
          </a:p>
        </p:txBody>
      </p:sp>
      <p:pic>
        <p:nvPicPr>
          <p:cNvPr id="12" name="Picture 11" descr="baozi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38617" y="4310257"/>
            <a:ext cx="2943673" cy="1950966"/>
          </a:xfrm>
          <a:prstGeom prst="rect">
            <a:avLst/>
          </a:prstGeom>
        </p:spPr>
      </p:pic>
      <p:sp>
        <p:nvSpPr>
          <p:cNvPr id="13" name="Oval 12"/>
          <p:cNvSpPr/>
          <p:nvPr/>
        </p:nvSpPr>
        <p:spPr>
          <a:xfrm>
            <a:off x="3638617" y="4124960"/>
            <a:ext cx="329184" cy="329184"/>
          </a:xfrm>
          <a:prstGeom prst="ellipse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buNone/>
            </a:pPr>
            <a:r>
              <a:rPr sz="15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02330" y="1611376"/>
            <a:ext cx="4740725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A 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牛奶</a:t>
            </a:r>
            <a:r>
              <a:rPr sz="13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niúnǎi</a:t>
            </a:r>
          </a:p>
          <a:p>
            <a:pPr>
              <a:spcBef>
                <a:spcPts val="14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B 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手机</a:t>
            </a:r>
            <a:r>
              <a:rPr sz="13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shǒujī</a:t>
            </a:r>
          </a:p>
          <a:p>
            <a:pPr>
              <a:spcBef>
                <a:spcPts val="14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C 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包子</a:t>
            </a:r>
            <a:r>
              <a:rPr sz="13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bāozi</a:t>
            </a:r>
          </a:p>
          <a:p>
            <a:pPr>
              <a:spcBef>
                <a:spcPts val="14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D 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超市</a:t>
            </a:r>
            <a:r>
              <a:rPr sz="13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chāoshì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游戏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配对游戏 (2/2) · 生词拓展</a:t>
            </a:r>
          </a:p>
        </p:txBody>
      </p:sp>
      <p:pic>
        <p:nvPicPr>
          <p:cNvPr id="6" name="Picture 5" descr="mifa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696" y="1611376"/>
            <a:ext cx="2321560" cy="2321560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548640" y="1611376"/>
            <a:ext cx="329184" cy="329184"/>
          </a:xfrm>
          <a:prstGeom prst="ellipse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buNone/>
            </a:pPr>
            <a:r>
              <a:rPr sz="15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1</a:t>
            </a:r>
          </a:p>
        </p:txBody>
      </p:sp>
      <p:pic>
        <p:nvPicPr>
          <p:cNvPr id="8" name="Picture 7" descr="chuzuch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8617" y="1790410"/>
            <a:ext cx="2943673" cy="1963492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3638617" y="1611376"/>
            <a:ext cx="329184" cy="329184"/>
          </a:xfrm>
          <a:prstGeom prst="ellipse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buNone/>
            </a:pPr>
            <a:r>
              <a:rPr sz="15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2</a:t>
            </a:r>
          </a:p>
        </p:txBody>
      </p:sp>
      <p:pic>
        <p:nvPicPr>
          <p:cNvPr id="10" name="Picture 9" descr="wanfan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303994"/>
            <a:ext cx="2943673" cy="1963492"/>
          </a:xfrm>
          <a:prstGeom prst="rect">
            <a:avLst/>
          </a:prstGeom>
        </p:spPr>
      </p:pic>
      <p:sp>
        <p:nvSpPr>
          <p:cNvPr id="11" name="Oval 10"/>
          <p:cNvSpPr/>
          <p:nvPr/>
        </p:nvSpPr>
        <p:spPr>
          <a:xfrm>
            <a:off x="548640" y="4124960"/>
            <a:ext cx="329184" cy="329184"/>
          </a:xfrm>
          <a:prstGeom prst="ellipse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buNone/>
            </a:pPr>
            <a:r>
              <a:rPr sz="15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02330" y="1611376"/>
            <a:ext cx="4740725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A 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晚饭</a:t>
            </a:r>
            <a:r>
              <a:rPr sz="13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wǎnfàn</a:t>
            </a:r>
          </a:p>
          <a:p>
            <a:pPr>
              <a:spcBef>
                <a:spcPts val="14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B 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米饭</a:t>
            </a:r>
            <a:r>
              <a:rPr sz="13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mǐfàn</a:t>
            </a:r>
          </a:p>
          <a:p>
            <a:pPr>
              <a:spcBef>
                <a:spcPts val="14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C 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出租车</a:t>
            </a:r>
            <a:r>
              <a:rPr sz="13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chūzūchē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