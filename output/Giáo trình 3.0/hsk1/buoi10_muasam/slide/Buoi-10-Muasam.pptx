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10.mp3" ContentType="audio/mpeg"/>
  <Override PartName="/ppt/media/media11.mp3" ContentType="audio/mpeg"/>
  <Override PartName="/ppt/media/media12.mp3" ContentType="audio/mpeg"/>
  <Override PartName="/ppt/media/media13.mp3" ContentType="audio/mpeg"/>
  <Override PartName="/ppt/media/media14.mp3" ContentType="audio/mpeg"/>
  <Override PartName="/ppt/media/media15.mp3" ContentType="audio/mpeg"/>
  <Override PartName="/ppt/media/media16.mp3" ContentType="audio/mpeg"/>
  <Override PartName="/ppt/media/media17.mp3" ContentType="audio/mpeg"/>
  <Override PartName="/ppt/media/media18.mp3" ContentType="audio/mpeg"/>
  <Override PartName="/ppt/media/media19.mp3" ContentType="audio/mpeg"/>
  <Override PartName="/ppt/media/media2.mp3" ContentType="audio/mpeg"/>
  <Override PartName="/ppt/media/media20.mp3" ContentType="audio/mpeg"/>
  <Override PartName="/ppt/media/media21.mp3" ContentType="audio/mpeg"/>
  <Override PartName="/ppt/media/media22.mp3" ContentType="audio/mpeg"/>
  <Override PartName="/ppt/media/media23.mp3" ContentType="audio/mpeg"/>
  <Override PartName="/ppt/media/media24.mp3" ContentType="audio/mpeg"/>
  <Override PartName="/ppt/media/media25.mp3" ContentType="audio/mpeg"/>
  <Override PartName="/ppt/media/media3.mp3" ContentType="audio/mpeg"/>
  <Override PartName="/ppt/media/media4.mp3" ContentType="audio/mpeg"/>
  <Override PartName="/ppt/media/media5.mp3" ContentType="audio/mpeg"/>
  <Override PartName="/ppt/media/media6.mp3" ContentType="audio/mpeg"/>
  <Override PartName="/ppt/media/media7.mp3" ContentType="audio/mpeg"/>
  <Override PartName="/ppt/media/media8.mp3" ContentType="audio/mpeg"/>
  <Override PartName="/ppt/media/media9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microsoft.com/office/2007/relationships/media" Target="../media/media1.mp3"/><Relationship Id="rId4" Type="http://schemas.openxmlformats.org/officeDocument/2006/relationships/video" Target="../media/media1.mp3"/><Relationship Id="rId5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.mp3"/><Relationship Id="rId3" Type="http://schemas.openxmlformats.org/officeDocument/2006/relationships/video" Target="../media/media2.mp3"/><Relationship Id="rId4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3.mp3"/><Relationship Id="rId4" Type="http://schemas.openxmlformats.org/officeDocument/2006/relationships/video" Target="../media/media3.mp3"/><Relationship Id="rId5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microsoft.com/office/2007/relationships/media" Target="../media/media4.mp3"/><Relationship Id="rId4" Type="http://schemas.openxmlformats.org/officeDocument/2006/relationships/video" Target="../media/media4.mp3"/><Relationship Id="rId5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5.mp3"/><Relationship Id="rId4" Type="http://schemas.openxmlformats.org/officeDocument/2006/relationships/video" Target="../media/media5.mp3"/><Relationship Id="rId5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microsoft.com/office/2007/relationships/media" Target="../media/media6.mp3"/><Relationship Id="rId4" Type="http://schemas.openxmlformats.org/officeDocument/2006/relationships/video" Target="../media/media6.mp3"/><Relationship Id="rId5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microsoft.com/office/2007/relationships/media" Target="../media/media7.mp3"/><Relationship Id="rId4" Type="http://schemas.openxmlformats.org/officeDocument/2006/relationships/video" Target="../media/media7.mp3"/><Relationship Id="rId5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microsoft.com/office/2007/relationships/media" Target="../media/media8.mp3"/><Relationship Id="rId5" Type="http://schemas.openxmlformats.org/officeDocument/2006/relationships/video" Target="../media/media8.mp3"/><Relationship Id="rId6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jpg"/><Relationship Id="rId4" Type="http://schemas.microsoft.com/office/2007/relationships/media" Target="../media/media9.mp3"/><Relationship Id="rId5" Type="http://schemas.openxmlformats.org/officeDocument/2006/relationships/video" Target="../media/media9.mp3"/><Relationship Id="rId6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microsoft.com/office/2007/relationships/media" Target="../media/media10.mp3"/><Relationship Id="rId4" Type="http://schemas.openxmlformats.org/officeDocument/2006/relationships/video" Target="../media/media10.mp3"/><Relationship Id="rId5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microsoft.com/office/2007/relationships/media" Target="../media/media11.mp3"/><Relationship Id="rId4" Type="http://schemas.openxmlformats.org/officeDocument/2006/relationships/video" Target="../media/media11.mp3"/><Relationship Id="rId5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microsoft.com/office/2007/relationships/media" Target="../media/media12.mp3"/><Relationship Id="rId4" Type="http://schemas.openxmlformats.org/officeDocument/2006/relationships/video" Target="../media/media12.mp3"/><Relationship Id="rId5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microsoft.com/office/2007/relationships/media" Target="../media/media13.mp3"/><Relationship Id="rId4" Type="http://schemas.openxmlformats.org/officeDocument/2006/relationships/video" Target="../media/media13.mp3"/><Relationship Id="rId5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microsoft.com/office/2007/relationships/media" Target="../media/media14.mp3"/><Relationship Id="rId4" Type="http://schemas.openxmlformats.org/officeDocument/2006/relationships/video" Target="../media/media14.mp3"/><Relationship Id="rId5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microsoft.com/office/2007/relationships/media" Target="../media/media15.mp3"/><Relationship Id="rId4" Type="http://schemas.openxmlformats.org/officeDocument/2006/relationships/video" Target="../media/media15.mp3"/><Relationship Id="rId5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6.mp3"/><Relationship Id="rId3" Type="http://schemas.openxmlformats.org/officeDocument/2006/relationships/video" Target="../media/media16.mp3"/><Relationship Id="rId4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7.mp3"/><Relationship Id="rId3" Type="http://schemas.openxmlformats.org/officeDocument/2006/relationships/video" Target="../media/media17.mp3"/><Relationship Id="rId4" Type="http://schemas.openxmlformats.org/officeDocument/2006/relationships/image" Target="../media/image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18.mp3"/><Relationship Id="rId3" Type="http://schemas.openxmlformats.org/officeDocument/2006/relationships/video" Target="../media/media18.mp3"/><Relationship Id="rId4" Type="http://schemas.openxmlformats.org/officeDocument/2006/relationships/image" Target="../media/image2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microsoft.com/office/2007/relationships/media" Target="../media/media19.mp3"/><Relationship Id="rId5" Type="http://schemas.openxmlformats.org/officeDocument/2006/relationships/video" Target="../media/media19.mp3"/><Relationship Id="rId6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image" Target="../media/image19.jpg"/><Relationship Id="rId4" Type="http://schemas.microsoft.com/office/2007/relationships/media" Target="../media/media20.mp3"/><Relationship Id="rId5" Type="http://schemas.openxmlformats.org/officeDocument/2006/relationships/video" Target="../media/media20.mp3"/><Relationship Id="rId6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1.mp3"/><Relationship Id="rId3" Type="http://schemas.openxmlformats.org/officeDocument/2006/relationships/video" Target="../media/media21.mp3"/><Relationship Id="rId4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image" Target="../media/image21.jpg"/><Relationship Id="rId4" Type="http://schemas.microsoft.com/office/2007/relationships/media" Target="../media/media22.mp3"/><Relationship Id="rId5" Type="http://schemas.openxmlformats.org/officeDocument/2006/relationships/video" Target="../media/media22.mp3"/><Relationship Id="rId6" Type="http://schemas.openxmlformats.org/officeDocument/2006/relationships/image" Target="../media/image2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microsoft.com/office/2007/relationships/media" Target="../media/media23.mp3"/><Relationship Id="rId3" Type="http://schemas.openxmlformats.org/officeDocument/2006/relationships/video" Target="../media/media23.mp3"/><Relationship Id="rId4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microsoft.com/office/2007/relationships/media" Target="../media/media24.mp3"/><Relationship Id="rId5" Type="http://schemas.openxmlformats.org/officeDocument/2006/relationships/video" Target="../media/media24.mp3"/><Relationship Id="rId6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Relationship Id="rId3" Type="http://schemas.openxmlformats.org/officeDocument/2006/relationships/image" Target="../media/image25.jpg"/><Relationship Id="rId4" Type="http://schemas.microsoft.com/office/2007/relationships/media" Target="../media/media25.mp3"/><Relationship Id="rId5" Type="http://schemas.openxmlformats.org/officeDocument/2006/relationships/video" Target="../media/media25.mp3"/><Relationship Id="rId6" Type="http://schemas.openxmlformats.org/officeDocument/2006/relationships/image" Target="../media/image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image" Target="../media/image17.jpg"/><Relationship Id="rId4" Type="http://schemas.openxmlformats.org/officeDocument/2006/relationships/image" Target="../media/image18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Relationship Id="rId3" Type="http://schemas.openxmlformats.org/officeDocument/2006/relationships/image" Target="../media/image23.jpg"/><Relationship Id="rId4" Type="http://schemas.openxmlformats.org/officeDocument/2006/relationships/image" Target="../media/image24.jpg"/><Relationship Id="rId5" Type="http://schemas.openxmlformats.org/officeDocument/2006/relationships/image" Target="../media/image2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920240"/>
            <a:ext cx="11094415" cy="3017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44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这儿的苹果真便宜！</a:t>
            </a:r>
          </a:p>
          <a:p>
            <a:pPr algn="ctr">
              <a:spcBef>
                <a:spcPts val="1000"/>
              </a:spcBef>
              <a:buNone/>
            </a:pPr>
            <a:r>
              <a:rPr sz="2000" b="0" i="0">
                <a:solidFill>
                  <a:srgbClr val="F7E4E1"/>
                </a:solidFill>
                <a:latin typeface="Calibri"/>
              </a:rPr>
              <a:t>Táo ở đây rẻ thật!</a:t>
            </a:r>
          </a:p>
          <a:p>
            <a:pPr algn="ctr">
              <a:spcBef>
                <a:spcPts val="600"/>
              </a:spcBef>
              <a:buNone/>
            </a:pPr>
            <a:r>
              <a:rPr sz="1400" b="0" i="0">
                <a:solidFill>
                  <a:srgbClr val="F7E4E1"/>
                </a:solidFill>
                <a:latin typeface="Calibri"/>
              </a:rPr>
              <a:t>HSK1 · Buổi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今天学什么？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và trả lời giá tiền: 多少钱？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Đọc đúng số tiền theo thứ tự 块→毛→分.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Dùng câu tính từ làm vị ngữ để khen/chê đồ vật (真便宜！很贵。)</a:t>
            </a:r>
          </a:p>
          <a:p>
            <a:pPr>
              <a:spcBef>
                <a:spcPts val="2600"/>
              </a:spcBef>
              <a:buNone/>
            </a:pPr>
            <a:r>
              <a:rPr sz="22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Hỏi ý kiến bằng 怎么样, nhận biết tiền Trung Quốc thật (人民币).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第一部分 · 课本生词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钱 · 块 — Tiền &amp; đơn vị tiền</a:t>
            </a:r>
          </a:p>
        </p:txBody>
      </p:sp>
      <p:pic>
        <p:nvPicPr>
          <p:cNvPr id="6" name="Picture 5" descr="q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2315"/>
            <a:ext cx="3258986" cy="2173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36226" y="2422315"/>
            <a:ext cx="32918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钱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qián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tiền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6226" y="4353223"/>
            <a:ext cx="329184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这是多少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钱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shì duōshao qián?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Đây là bao nhiêu tiền?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6706" y="2582926"/>
            <a:ext cx="37663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块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kuài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đồng (đơn vị tiền)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6706" y="4513834"/>
            <a:ext cx="3766348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这条裤子五十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块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钱。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tiáo kùzi wǔshí kuài qián.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Cái quần này năm mươi đồng.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2386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0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这些 · 那些 — Những cái này &amp; những cái đó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02382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这些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zhèxiē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những cái này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33290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这些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多少钱？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Zhèxiē duōshao qián?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Những cái này bao nhiêu tiền?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70167" y="2802382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那些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nàxiē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những cái đó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0167" y="4733290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那些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十块钱一个。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Nàxiē shí kuài qián yí gè.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Những cái đó mười đồng một cái.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5847" y="2050288"/>
            <a:ext cx="13716" cy="444195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slide05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杯子 · 这边 — Cái cốc &amp; bên này</a:t>
            </a:r>
          </a:p>
        </p:txBody>
      </p:sp>
      <p:pic>
        <p:nvPicPr>
          <p:cNvPr id="6" name="Picture 5" descr="bei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2315"/>
            <a:ext cx="3258986" cy="2173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36226" y="2422315"/>
            <a:ext cx="32918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杯子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bēizi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cái cốc/ly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6226" y="4353223"/>
            <a:ext cx="329184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请问，有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杯子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吗？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Qǐngwèn, yǒu bēizi ma?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Xin hỏi, có cốc không?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6706" y="2582926"/>
            <a:ext cx="37663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这边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zhèbian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bên này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6706" y="4513834"/>
            <a:ext cx="3766348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杯子在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这边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Bēizi zài zhèbian.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Cốc ở bên này.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2386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0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售货员 — Nhân viên bán hàng</a:t>
            </a:r>
          </a:p>
        </p:txBody>
      </p:sp>
      <p:pic>
        <p:nvPicPr>
          <p:cNvPr id="6" name="Picture 5" descr="shouhuoyu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5747" y="2091771"/>
            <a:ext cx="2885440" cy="19246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633976"/>
            <a:ext cx="4659654" cy="18582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售货员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shòuhuòyuán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nhân viên bán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售货员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说，杯子在这边。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Shòuhuòyuán shuō, bēizi zài zhèbian.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Nhân viên bán hàng nói, cốc ở bên này.</a:t>
            </a:r>
          </a:p>
        </p:txBody>
      </p:sp>
      <p:pic>
        <p:nvPicPr>
          <p:cNvPr id="9" name="slide0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这儿 · 水果 — Ở đây &amp; hoa quả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82926"/>
            <a:ext cx="37663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zhèr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ở đây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13834"/>
            <a:ext cx="3766348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这儿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的水果真不少！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Zhèr de shuǐguǒ zhēn bù shǎo!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Hoa quả ở đây thật nhiều!</a:t>
            </a:r>
          </a:p>
        </p:txBody>
      </p:sp>
      <p:pic>
        <p:nvPicPr>
          <p:cNvPr id="8" name="Picture 7" descr="shuigu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628" y="2422315"/>
            <a:ext cx="3258986" cy="21738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51214" y="2422315"/>
            <a:ext cx="32918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水果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shuǐguǒ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hoa quả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1214" y="4353223"/>
            <a:ext cx="329184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您想买什么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水果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Nín xiǎng mǎi shénme shuǐguǒ?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Bạn muốn mua hoa quả gì?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9308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0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斤 · 苹果 — Cân &amp; táo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82926"/>
            <a:ext cx="37663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斤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jīn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cân (~500g)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13834"/>
            <a:ext cx="3766348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我想买两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斤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香蕉。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Wǒ xiǎng mǎi liǎng jīn xiāngjiāo.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Tôi muốn mua hai cân chuối.</a:t>
            </a:r>
          </a:p>
        </p:txBody>
      </p:sp>
      <p:pic>
        <p:nvPicPr>
          <p:cNvPr id="8" name="Picture 7" descr="pinggu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628" y="2422315"/>
            <a:ext cx="3258986" cy="24432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51214" y="2422315"/>
            <a:ext cx="32918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苹果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píngguǒ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táo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1214" y="4353223"/>
            <a:ext cx="329184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苹果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三块五一斤。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Píngguǒ sān kuài wǔ yì jīn.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Táo ba đồng năm một cân.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9308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09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少 · 便宜 — Ít &amp; rẻ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1006"/>
            <a:ext cx="37663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少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shǎo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ít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91914"/>
            <a:ext cx="3766348" cy="1451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这儿的水果真不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少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Zhèr de shuǐguǒ zhēn bù shǎo!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Hoa quả ở đây thật không ít (thật nhiều)!</a:t>
            </a:r>
          </a:p>
        </p:txBody>
      </p:sp>
      <p:pic>
        <p:nvPicPr>
          <p:cNvPr id="8" name="Picture 7" descr="piany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628" y="2422315"/>
            <a:ext cx="3258986" cy="21738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51214" y="2422315"/>
            <a:ext cx="32918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便宜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piányi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rẻ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1214" y="4353223"/>
            <a:ext cx="329184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这儿的苹果真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便宜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Zhèr de píngguǒ zhēn piányi!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Táo ở đây rẻ thật!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9308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10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衣服 · 穿 — Quần áo &amp; mặc</a:t>
            </a:r>
          </a:p>
        </p:txBody>
      </p:sp>
      <p:pic>
        <p:nvPicPr>
          <p:cNvPr id="6" name="Picture 5" descr="yif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97" y="1916613"/>
            <a:ext cx="1833372" cy="12228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衣服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yīfu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quần áo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衣服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真好看。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jiàn yīfu zhēn hǎokàn.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Bộ quần áo này đẹp thật.</a:t>
            </a:r>
          </a:p>
        </p:txBody>
      </p:sp>
      <p:pic>
        <p:nvPicPr>
          <p:cNvPr id="9" name="Picture 8" descr="chu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24" y="1916613"/>
            <a:ext cx="1833372" cy="12228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穿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chuān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mặc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小雪能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穿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，买一件吧。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Xiǎoxuě néng chuān, mǎi yí jiàn ba.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Bé Tuyết mặc vừa, mua một bộ đi.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1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女 · 男 — Nữ &amp; Nam</a:t>
            </a:r>
          </a:p>
        </p:txBody>
      </p:sp>
      <p:pic>
        <p:nvPicPr>
          <p:cNvPr id="6" name="Picture 5" descr="n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97" y="1840812"/>
            <a:ext cx="1833372" cy="1374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女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nǚ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这些是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女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孩子穿的衣服。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Zhèxiē shì nǚ háizi chuān de yīfu.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Đây là quần áo con gái mặc.</a:t>
            </a:r>
          </a:p>
        </p:txBody>
      </p:sp>
      <p:pic>
        <p:nvPicPr>
          <p:cNvPr id="9" name="Picture 8" descr="nan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24" y="1916613"/>
            <a:ext cx="1833372" cy="12228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男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nán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男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孩子的衣服在那儿。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Nán háizi de yīfu zài nàr.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Quần áo con trai ở đằng kia.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12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4" name="TextBox 13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女 chính là chữ trong 女儿 (con gái) mình học ở Buổi 4 đó!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件 · 元 — Lượng từ áo quần &amp; đồng tiền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02382"/>
            <a:ext cx="37663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件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jiàn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lượng từ (bộ/chiếc quần áo)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733290"/>
            <a:ext cx="3766348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件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一百元。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jiàn yìbǎi yuán.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Cái này một trăm đồng.</a:t>
            </a:r>
          </a:p>
        </p:txBody>
      </p:sp>
      <p:pic>
        <p:nvPicPr>
          <p:cNvPr id="8" name="Picture 7" descr="yuan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628" y="2641771"/>
            <a:ext cx="3258986" cy="217381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51214" y="2641771"/>
            <a:ext cx="32918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元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yuán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đồng (nguyên)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1214" y="4572679"/>
            <a:ext cx="329184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这件一百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元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，怎么样？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jiàn yìbǎi yuán, zěnmeyàng?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Cái này một trăm đồng, thế nào?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9308" y="2050288"/>
            <a:ext cx="13716" cy="444195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13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13" name="TextBox 12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元 và 块 giống nhau, đều là 'đồng' — 元 dùng khi VIẾT, 块 dùng khi NÓI.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怎么样 · 贵 — Thế nào &amp; đắt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82926"/>
            <a:ext cx="37663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怎么样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zěnmeyàng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thế nào, ra sao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13834"/>
            <a:ext cx="3766348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这件一百元，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怎么样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jiàn yìbǎi yuán, zěnmeyàng?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Cái này một trăm đồng, thế nào?</a:t>
            </a:r>
          </a:p>
        </p:txBody>
      </p:sp>
      <p:pic>
        <p:nvPicPr>
          <p:cNvPr id="8" name="Picture 7" descr="gu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3628" y="2422315"/>
            <a:ext cx="3258986" cy="233812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51214" y="2422315"/>
            <a:ext cx="32918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贵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guì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đắt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51214" y="4353223"/>
            <a:ext cx="3291840" cy="1451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这件衣服好看，也不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贵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jiàn yīfu hǎokàn, yě bú guì.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Bộ quần áo này đẹp, cũng không đắt.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89308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14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商店 · 那儿 — Cửa hàng &amp; ở đó</a:t>
            </a:r>
          </a:p>
        </p:txBody>
      </p:sp>
      <p:pic>
        <p:nvPicPr>
          <p:cNvPr id="6" name="Picture 5" descr="shangdi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2315"/>
            <a:ext cx="3258986" cy="217381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036226" y="2422315"/>
            <a:ext cx="3291840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商店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shāngdiàn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cửa hàng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36226" y="4353223"/>
            <a:ext cx="3291840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这家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商店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衣服真多！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jiā shāngdiàn yīfu zhēn duō!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Cửa hàng này quần áo thật nhiều!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76706" y="2582926"/>
            <a:ext cx="3766348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那儿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nàr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ở đó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76706" y="4513834"/>
            <a:ext cx="3766348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男孩子的衣服在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那儿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Nán háizi de yīfu zài nàr.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Quần áo con trai ở đằng kia.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2386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slide15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2"/>
                </p:tgtEl>
              </p:cMediaNode>
            </p:video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课文1 · 买杯子 — Mua cốc</a:t>
            </a:r>
          </a:p>
        </p:txBody>
      </p:sp>
      <p:pic>
        <p:nvPicPr>
          <p:cNvPr id="6" name="Picture 5" descr="bei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770967"/>
            <a:ext cx="3840480" cy="25616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11376"/>
            <a:ext cx="3721608" cy="89080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请问，有杯子吗？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Qǐngwèn, yǒu bēizi ma?</a:t>
            </a:r>
          </a:p>
        </p:txBody>
      </p:sp>
      <p:sp>
        <p:nvSpPr>
          <p:cNvPr id="8" name="Oval 7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715207" y="2631749"/>
            <a:ext cx="3721608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售货员: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有，杯子在这边。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Yǒu, bēizi zài zhèbian.</a:t>
            </a:r>
          </a:p>
        </p:txBody>
      </p:sp>
      <p:sp>
        <p:nvSpPr>
          <p:cNvPr id="10" name="Oval 9"/>
          <p:cNvSpPr/>
          <p:nvPr/>
        </p:nvSpPr>
        <p:spPr>
          <a:xfrm>
            <a:off x="7192853" y="2513974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2122"/>
            <a:ext cx="3181096" cy="89080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多少钱一个？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Duōshao qián yí gè?</a:t>
            </a:r>
          </a:p>
        </p:txBody>
      </p:sp>
      <p:sp>
        <p:nvSpPr>
          <p:cNvPr id="12" name="Oval 11"/>
          <p:cNvSpPr/>
          <p:nvPr/>
        </p:nvSpPr>
        <p:spPr>
          <a:xfrm>
            <a:off x="371977" y="353434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553159" y="4672495"/>
            <a:ext cx="5883656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售货员: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这些五块钱一个，那些十块钱一个。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Zhèxiē wǔ kuài qián yí gè, nàxiē shí kuài qián yí gè.</a:t>
            </a:r>
          </a:p>
        </p:txBody>
      </p:sp>
      <p:sp>
        <p:nvSpPr>
          <p:cNvPr id="14" name="Oval 13"/>
          <p:cNvSpPr/>
          <p:nvPr/>
        </p:nvSpPr>
        <p:spPr>
          <a:xfrm>
            <a:off x="7192853" y="4554720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92868"/>
            <a:ext cx="3181096" cy="89080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我买这个吧。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Wǒ mǎi zhège ba.</a:t>
            </a:r>
          </a:p>
        </p:txBody>
      </p:sp>
      <p:sp>
        <p:nvSpPr>
          <p:cNvPr id="16" name="Oval 15"/>
          <p:cNvSpPr/>
          <p:nvPr/>
        </p:nvSpPr>
        <p:spPr>
          <a:xfrm>
            <a:off x="371977" y="557509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7" name="slide16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课文2 · 买苹果 — Mua táo</a:t>
            </a:r>
          </a:p>
        </p:txBody>
      </p:sp>
      <p:pic>
        <p:nvPicPr>
          <p:cNvPr id="6" name="Picture 5" descr="shuigu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770967"/>
            <a:ext cx="3840480" cy="25616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1611376"/>
            <a:ext cx="3991864" cy="89080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这儿的水果真不少！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Zhèr de shuǐguǒ zhēn bù shǎo!</a:t>
            </a:r>
          </a:p>
        </p:txBody>
      </p:sp>
      <p:sp>
        <p:nvSpPr>
          <p:cNvPr id="8" name="Oval 7"/>
          <p:cNvSpPr/>
          <p:nvPr/>
        </p:nvSpPr>
        <p:spPr>
          <a:xfrm>
            <a:off x="371977" y="1493601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5719" y="2631749"/>
            <a:ext cx="3181096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售货员: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您想买什么？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Nín xiǎng mǎi shénme?</a:t>
            </a:r>
          </a:p>
        </p:txBody>
      </p:sp>
      <p:sp>
        <p:nvSpPr>
          <p:cNvPr id="10" name="Oval 9"/>
          <p:cNvSpPr/>
          <p:nvPr/>
        </p:nvSpPr>
        <p:spPr>
          <a:xfrm>
            <a:off x="7192853" y="2513974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652122"/>
            <a:ext cx="3721608" cy="89080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我想买两斤苹果。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Wǒ xiǎng mǎi liǎng jīn píngguǒ.</a:t>
            </a:r>
          </a:p>
        </p:txBody>
      </p:sp>
      <p:sp>
        <p:nvSpPr>
          <p:cNvPr id="12" name="Oval 11"/>
          <p:cNvSpPr/>
          <p:nvPr/>
        </p:nvSpPr>
        <p:spPr>
          <a:xfrm>
            <a:off x="371977" y="3534347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2391" y="4672495"/>
            <a:ext cx="6694424" cy="890802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售货员: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苹果三块五一斤。这些七块二，七块钱吧。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Píngguǒ sān kuài wǔ yì jīn. Zhèxiē qī kuài èr, qī kuài qián ba.</a:t>
            </a:r>
          </a:p>
        </p:txBody>
      </p:sp>
      <p:sp>
        <p:nvSpPr>
          <p:cNvPr id="14" name="Oval 13"/>
          <p:cNvSpPr/>
          <p:nvPr/>
        </p:nvSpPr>
        <p:spPr>
          <a:xfrm>
            <a:off x="7192853" y="4554720"/>
            <a:ext cx="420624" cy="420624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售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692868"/>
            <a:ext cx="4802632" cy="890802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19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好的，这儿的苹果真便宜！</a:t>
            </a:r>
          </a:p>
          <a:p>
            <a:pPr algn="l">
              <a:buNone/>
            </a:pPr>
            <a:r>
              <a:rPr sz="1200" b="0" i="1">
                <a:solidFill>
                  <a:srgbClr val="8E2B20"/>
                </a:solidFill>
                <a:latin typeface="Calibri"/>
              </a:rPr>
              <a:t>Hǎo de, zhèr de píngguǒ zhēn piányi!</a:t>
            </a:r>
          </a:p>
        </p:txBody>
      </p:sp>
      <p:sp>
        <p:nvSpPr>
          <p:cNvPr id="16" name="Oval 15"/>
          <p:cNvSpPr/>
          <p:nvPr/>
        </p:nvSpPr>
        <p:spPr>
          <a:xfrm>
            <a:off x="371977" y="5575093"/>
            <a:ext cx="420624" cy="420624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pic>
        <p:nvPicPr>
          <p:cNvPr id="17" name="slide17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课文3 · 买衣服 — Mua quần áo cho con</a:t>
            </a:r>
          </a:p>
        </p:txBody>
      </p:sp>
      <p:pic>
        <p:nvPicPr>
          <p:cNvPr id="6" name="Picture 5" descr="yifu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2575" y="2990423"/>
            <a:ext cx="3840480" cy="256168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48640" y="2050288"/>
            <a:ext cx="5694680" cy="639323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这家商店衣服真多！这件一百元，怎么样？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Zhè jiā shāngdiàn yīfu zhēn duō! Zhè jiàn yìbǎi yuán, zěnmeyàng?</a:t>
            </a:r>
          </a:p>
        </p:txBody>
      </p:sp>
      <p:sp>
        <p:nvSpPr>
          <p:cNvPr id="8" name="Oval 7"/>
          <p:cNvSpPr/>
          <p:nvPr/>
        </p:nvSpPr>
        <p:spPr>
          <a:xfrm>
            <a:off x="382160" y="1939301"/>
            <a:ext cx="396380" cy="396380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97095" y="2782603"/>
            <a:ext cx="2839720" cy="63932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刘明: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好看，也不贵。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Hǎokàn, yě bú guì.</a:t>
            </a:r>
          </a:p>
        </p:txBody>
      </p:sp>
      <p:sp>
        <p:nvSpPr>
          <p:cNvPr id="10" name="Oval 9"/>
          <p:cNvSpPr/>
          <p:nvPr/>
        </p:nvSpPr>
        <p:spPr>
          <a:xfrm>
            <a:off x="7206914" y="2671616"/>
            <a:ext cx="396380" cy="39638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514918"/>
            <a:ext cx="3622040" cy="639323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小雪能穿，买一件吧。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Xiǎoxuě néng chuān, mǎi yí jiàn ba.</a:t>
            </a:r>
          </a:p>
        </p:txBody>
      </p:sp>
      <p:sp>
        <p:nvSpPr>
          <p:cNvPr id="12" name="Oval 11"/>
          <p:cNvSpPr/>
          <p:nvPr/>
        </p:nvSpPr>
        <p:spPr>
          <a:xfrm>
            <a:off x="382160" y="3403931"/>
            <a:ext cx="396380" cy="396380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70375" y="4247233"/>
            <a:ext cx="3266440" cy="63932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刘明: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好的。小明能穿吗？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Hǎo de. Xiǎomíng néng chuān ma?</a:t>
            </a:r>
          </a:p>
        </p:txBody>
      </p:sp>
      <p:sp>
        <p:nvSpPr>
          <p:cNvPr id="14" name="Oval 13"/>
          <p:cNvSpPr/>
          <p:nvPr/>
        </p:nvSpPr>
        <p:spPr>
          <a:xfrm>
            <a:off x="7206914" y="4136246"/>
            <a:ext cx="396380" cy="39638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979548"/>
            <a:ext cx="6609080" cy="639323"/>
          </a:xfrm>
          <a:prstGeom prst="roundRect">
            <a:avLst/>
          </a:prstGeom>
          <a:solidFill>
            <a:srgbClr val="F4F5F7"/>
          </a:solidFill>
          <a:ln w="6350">
            <a:solidFill>
              <a:srgbClr val="6B768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王一雪: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不能。这些是女孩子穿的衣服，男孩子的衣服在那儿。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Bù néng. Zhèxiē shì nǚ háizi chuān de yīfu, nán háizi de yīfu zài nàr.</a:t>
            </a:r>
          </a:p>
        </p:txBody>
      </p:sp>
      <p:sp>
        <p:nvSpPr>
          <p:cNvPr id="16" name="Oval 15"/>
          <p:cNvSpPr/>
          <p:nvPr/>
        </p:nvSpPr>
        <p:spPr>
          <a:xfrm>
            <a:off x="382160" y="4868561"/>
            <a:ext cx="396380" cy="396380"/>
          </a:xfrm>
          <a:prstGeom prst="ellipse">
            <a:avLst/>
          </a:prstGeom>
          <a:solidFill>
            <a:srgbClr val="2980B9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50535" y="5711863"/>
            <a:ext cx="1986280" cy="639323"/>
          </a:xfrm>
          <a:prstGeom prst="roundRect">
            <a:avLst/>
          </a:prstGeom>
          <a:solidFill>
            <a:srgbClr val="F7E4E1"/>
          </a:solidFill>
          <a:ln w="6350">
            <a:solidFill>
              <a:srgbClr val="8E2B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52400" tIns="63500" bIns="63500"/>
          <a:lstStyle/>
          <a:p>
            <a:pPr algn="l">
              <a:buNone/>
            </a:pPr>
            <a:r>
              <a:rPr sz="1100" b="1" i="0">
                <a:solidFill>
                  <a:srgbClr val="8E2B20"/>
                </a:solidFill>
                <a:latin typeface="Calibri"/>
              </a:rPr>
              <a:t>刘明: </a:t>
            </a:r>
            <a:r>
              <a:rPr sz="15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好的。</a:t>
            </a:r>
          </a:p>
          <a:p>
            <a:pPr algn="l">
              <a:buNone/>
            </a:pPr>
            <a:r>
              <a:rPr sz="1100" b="0" i="1">
                <a:solidFill>
                  <a:srgbClr val="8E2B20"/>
                </a:solidFill>
                <a:latin typeface="Calibri"/>
              </a:rPr>
              <a:t>Hǎo de.</a:t>
            </a:r>
          </a:p>
        </p:txBody>
      </p:sp>
      <p:sp>
        <p:nvSpPr>
          <p:cNvPr id="18" name="Oval 17"/>
          <p:cNvSpPr/>
          <p:nvPr/>
        </p:nvSpPr>
        <p:spPr>
          <a:xfrm>
            <a:off x="7206914" y="5600876"/>
            <a:ext cx="396380" cy="396380"/>
          </a:xfrm>
          <a:prstGeom prst="ellipse">
            <a:avLst/>
          </a:prstGeom>
          <a:solidFill>
            <a:srgbClr val="27AE6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buNone/>
            </a:pPr>
            <a:r>
              <a:rPr sz="13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刘</a:t>
            </a:r>
          </a:p>
        </p:txBody>
      </p:sp>
      <p:pic>
        <p:nvPicPr>
          <p:cNvPr id="19" name="slide18.mp3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钱数的表达 — Cách đọc số tiền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11377"/>
          <a:ext cx="11094413" cy="48808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12283"/>
                <a:gridCol w="3328324"/>
                <a:gridCol w="4853806"/>
              </a:tblGrid>
              <a:tr h="697266"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 lang="zh-CN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Viết số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 lang="zh-CN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Viết chữ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>
                        <a:buNone/>
                      </a:pPr>
                      <a:r>
                        <a:rPr sz="1500" b="1" i="0" lang="zh-CN">
                          <a:solidFill>
                            <a:srgbClr val="FFFFFF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Đọc thế nào</a:t>
                      </a:r>
                    </a:p>
                  </a:txBody>
                  <a:tcPr anchor="ctr" marL="127000" marR="101600" marT="38100" marB="38100">
                    <a:solidFill>
                      <a:srgbClr val="8E2B20"/>
                    </a:solidFill>
                  </a:tcPr>
                </a:tc>
              </a:tr>
              <a:tr h="69726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0.02元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两分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liǎng fēn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9726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0.2元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两毛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liǎng máo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726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3元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三块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sān kuài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9726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3.2元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三块二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sān kuài èr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  <a:tr h="69726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6.02元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六块零两分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liù kuài líng liǎng fēn</a:t>
                      </a:r>
                    </a:p>
                  </a:txBody>
                  <a:tcPr anchor="ctr" marL="127000" marR="101600" marT="38100" marB="38100">
                    <a:solidFill>
                      <a:srgbClr val="FFFFFF"/>
                    </a:solidFill>
                  </a:tcPr>
                </a:tc>
              </a:tr>
              <a:tr h="697266"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1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202.2元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 lang="zh-CN">
                          <a:solidFill>
                            <a:srgbClr val="1F2933"/>
                          </a:solidFill>
                          <a:latin typeface="Calibri"/>
                          <a:ea typeface="Microsoft YaHei"/>
                          <a:cs typeface="Microsoft YaHei"/>
                        </a:rPr>
                        <a:t>二百零二块两毛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buNone/>
                      </a:pPr>
                      <a:r>
                        <a:rPr sz="1500" b="0" i="0">
                          <a:solidFill>
                            <a:srgbClr val="1F2933"/>
                          </a:solidFill>
                          <a:latin typeface="Calibri"/>
                        </a:rPr>
                        <a:t>èrbǎi líng èr kuài liǎng máo</a:t>
                      </a:r>
                    </a:p>
                  </a:txBody>
                  <a:tcPr anchor="ctr" marL="127000" marR="101600" marT="38100" marB="38100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pic>
        <p:nvPicPr>
          <p:cNvPr id="7" name="slide1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  <p:sp>
        <p:nvSpPr>
          <p:cNvPr id="8" name="TextBox 7"/>
          <p:cNvSpPr txBox="1"/>
          <p:nvPr/>
        </p:nvSpPr>
        <p:spPr>
          <a:xfrm>
            <a:off x="548640" y="6492240"/>
            <a:ext cx="11094415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1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📖 元/块 lớn nhất (giống 'đồng'). 角/毛 nhỏ hơn 10 lần (giống 'hào'). 分 nhỏ nhất (giống 'xu'). Đọc từ lớn xuống nhỏ: 块 → 毛 → 分.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形容词谓语句 — Tính từ làm vị ngữ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11094415" cy="48808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700" b="1" i="0">
                <a:solidFill>
                  <a:srgbClr val="1F2933"/>
                </a:solidFill>
                <a:latin typeface="Calibri"/>
              </a:rPr>
              <a:t>Tính từ có thể đứng ngay sau chủ ngữ để làm vị ngữ, KHÔNG cần chữ </a:t>
            </a:r>
            <a:r>
              <a:rPr sz="17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是</a:t>
            </a:r>
            <a:r>
              <a:rPr sz="1700" b="1" i="0">
                <a:solidFill>
                  <a:srgbClr val="1F2933"/>
                </a:solidFill>
                <a:latin typeface="Calibri"/>
              </a:rPr>
              <a:t> ở giữa. Có thể thêm </a:t>
            </a:r>
            <a:r>
              <a:rPr sz="17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真</a:t>
            </a:r>
            <a:r>
              <a:rPr sz="1700" b="1" i="0">
                <a:solidFill>
                  <a:srgbClr val="1F2933"/>
                </a:solidFill>
                <a:latin typeface="Calibri"/>
              </a:rPr>
              <a:t>/</a:t>
            </a:r>
            <a:r>
              <a:rPr sz="17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很</a:t>
            </a:r>
            <a:r>
              <a:rPr sz="1700" b="1" i="0">
                <a:solidFill>
                  <a:srgbClr val="1F2933"/>
                </a:solidFill>
                <a:latin typeface="Calibri"/>
              </a:rPr>
              <a:t>/</a:t>
            </a:r>
            <a:r>
              <a:rPr sz="17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不</a:t>
            </a:r>
            <a:r>
              <a:rPr sz="1700" b="1" i="0">
                <a:solidFill>
                  <a:srgbClr val="1F2933"/>
                </a:solidFill>
                <a:latin typeface="Calibri"/>
              </a:rPr>
              <a:t> phía trước.</a:t>
            </a:r>
          </a:p>
          <a:p>
            <a:pPr>
              <a:spcBef>
                <a:spcPts val="1737"/>
              </a:spcBef>
              <a:buNone/>
            </a:pP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这儿的水果真</a:t>
            </a:r>
            <a:r>
              <a:rPr sz="22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不少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！</a:t>
            </a:r>
          </a:p>
          <a:p>
            <a:pPr>
              <a:spcBef>
                <a:spcPts val="26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</a:rPr>
              <a:t>Zhèr de shuǐguǒ zhēn bù shǎo!</a:t>
            </a:r>
          </a:p>
          <a:p>
            <a:pPr>
              <a:spcBef>
                <a:spcPts val="26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</a:rPr>
              <a:t>Hoa quả ở đây thật nhiều!</a:t>
            </a:r>
          </a:p>
          <a:p>
            <a:pPr>
              <a:spcBef>
                <a:spcPts val="1737"/>
              </a:spcBef>
              <a:buNone/>
            </a:pP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我的房间</a:t>
            </a:r>
            <a:r>
              <a:rPr sz="22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不大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6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</a:rPr>
              <a:t>Wǒ de fángjiān bú dà.</a:t>
            </a:r>
          </a:p>
          <a:p>
            <a:pPr>
              <a:spcBef>
                <a:spcPts val="26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</a:rPr>
              <a:t>Phòng của tôi không to.</a:t>
            </a:r>
          </a:p>
          <a:p>
            <a:pPr>
              <a:spcBef>
                <a:spcPts val="1737"/>
              </a:spcBef>
              <a:buNone/>
            </a:pP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那个苹果</a:t>
            </a:r>
            <a:r>
              <a:rPr sz="22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好吃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>
              <a:spcBef>
                <a:spcPts val="260"/>
              </a:spcBef>
              <a:buNone/>
            </a:pPr>
            <a:r>
              <a:rPr sz="1300" b="0" i="1">
                <a:solidFill>
                  <a:srgbClr val="8E2B20"/>
                </a:solidFill>
                <a:latin typeface="Calibri"/>
              </a:rPr>
              <a:t>Nàge píngguǒ hǎochī.</a:t>
            </a:r>
          </a:p>
          <a:p>
            <a:pPr>
              <a:spcBef>
                <a:spcPts val="260"/>
              </a:spcBef>
              <a:buNone/>
            </a:pPr>
            <a:r>
              <a:rPr sz="1300" b="0" i="0">
                <a:solidFill>
                  <a:srgbClr val="6B7683"/>
                </a:solidFill>
                <a:latin typeface="Calibri"/>
              </a:rPr>
              <a:t>Quả táo đó ngon.</a:t>
            </a:r>
          </a:p>
          <a:p>
            <a:pPr>
              <a:spcBef>
                <a:spcPts val="1302"/>
              </a:spcBef>
              <a:buNone/>
            </a:pPr>
            <a:r>
              <a:rPr sz="13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• Câu tiếng Việt mình hay nói kiểu 'phòng TÔI KHÔNG TO' — tiếng Trung giống y như vậy, không cần chữ 是 (là) ở giữa đâu!</a:t>
            </a:r>
          </a:p>
        </p:txBody>
      </p:sp>
      <p:pic>
        <p:nvPicPr>
          <p:cNvPr id="7" name="slide20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语法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疑问代词“怎么样” — Hỏi ý kiến 'thế nào'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4419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buNone/>
            </a:pPr>
            <a:r>
              <a:rPr sz="1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怎么样</a:t>
            </a:r>
            <a:r>
              <a:rPr sz="1800" b="1" i="0">
                <a:solidFill>
                  <a:srgbClr val="1F2933"/>
                </a:solidFill>
                <a:latin typeface="Calibri"/>
              </a:rPr>
              <a:t> dùng để hỏi Ý KIẾN hoặc TÌNH TRẠNG của một thứ. Đặt ngay sau đồ vật muốn hỏi: …</a:t>
            </a:r>
            <a:r>
              <a:rPr sz="18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怎么样？</a:t>
            </a:r>
          </a:p>
          <a:p>
            <a:pPr>
              <a:spcBef>
                <a:spcPts val="1891"/>
              </a:spcBef>
              <a:buNone/>
            </a:pPr>
            <a:r>
              <a:rPr sz="2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这个杯子</a:t>
            </a:r>
            <a:r>
              <a:rPr sz="24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怎么样</a:t>
            </a:r>
            <a:r>
              <a:rPr sz="2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？我很喜欢，也不贵。</a:t>
            </a:r>
          </a:p>
          <a:p>
            <a:pPr>
              <a:spcBef>
                <a:spcPts val="283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Zhège bēizi zěnmeyàng? Wǒ hěn xǐhuan, yě bú guì.</a:t>
            </a:r>
          </a:p>
          <a:p>
            <a:pPr>
              <a:spcBef>
                <a:spcPts val="283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Cái cốc này thế nào? Tôi rất thích, cũng không đắt.</a:t>
            </a:r>
          </a:p>
          <a:p>
            <a:pPr>
              <a:spcBef>
                <a:spcPts val="1891"/>
              </a:spcBef>
              <a:buNone/>
            </a:pPr>
            <a:r>
              <a:rPr sz="2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这本书</a:t>
            </a:r>
            <a:r>
              <a:rPr sz="24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怎么样</a:t>
            </a:r>
            <a:r>
              <a:rPr sz="2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？很好看。</a:t>
            </a:r>
          </a:p>
          <a:p>
            <a:pPr>
              <a:spcBef>
                <a:spcPts val="283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Zhè běn shū zěnmeyàng? Hěn hǎokàn.</a:t>
            </a:r>
          </a:p>
          <a:p>
            <a:pPr>
              <a:spcBef>
                <a:spcPts val="283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Quyển sách này thế nào? Rất hay.</a:t>
            </a:r>
          </a:p>
          <a:p>
            <a:pPr>
              <a:spcBef>
                <a:spcPts val="1891"/>
              </a:spcBef>
              <a:buNone/>
            </a:pPr>
            <a:r>
              <a:rPr sz="2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这个菜</a:t>
            </a:r>
            <a:r>
              <a:rPr sz="24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怎么样</a:t>
            </a:r>
            <a:r>
              <a:rPr sz="2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？不太好吃，我不喜欢。</a:t>
            </a:r>
          </a:p>
          <a:p>
            <a:pPr>
              <a:spcBef>
                <a:spcPts val="283"/>
              </a:spcBef>
              <a:buNone/>
            </a:pPr>
            <a:r>
              <a:rPr sz="1400" b="0" i="1">
                <a:solidFill>
                  <a:srgbClr val="8E2B20"/>
                </a:solidFill>
                <a:latin typeface="Calibri"/>
              </a:rPr>
              <a:t>Zhège cài zěnmeyàng? Bú tài hǎochī, wǒ bù xǐhuan.</a:t>
            </a:r>
          </a:p>
          <a:p>
            <a:pPr>
              <a:spcBef>
                <a:spcPts val="283"/>
              </a:spcBef>
              <a:buNone/>
            </a:pPr>
            <a:r>
              <a:rPr sz="1400" b="0" i="0">
                <a:solidFill>
                  <a:srgbClr val="6B7683"/>
                </a:solidFill>
                <a:latin typeface="Calibri"/>
              </a:rPr>
              <a:t>Món này thế nào? Không ngon lắm, tôi không thích.</a:t>
            </a:r>
          </a:p>
        </p:txBody>
      </p:sp>
      <p:pic>
        <p:nvPicPr>
          <p:cNvPr id="7" name="slide21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常见错误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Lỗi hay gặp khi nói về giá tiền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50288"/>
            <a:ext cx="11094415" cy="409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2459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Quên lượng từ khi nói giá</a:t>
            </a:r>
          </a:p>
          <a:p>
            <a:pPr>
              <a:spcBef>
                <a:spcPts val="378"/>
              </a:spcBef>
              <a:buNone/>
            </a:pPr>
            <a:r>
              <a:rPr sz="1600" b="0" i="0">
                <a:solidFill>
                  <a:srgbClr val="1F2933"/>
                </a:solidFill>
                <a:latin typeface="Calibri"/>
              </a:rPr>
              <a:t>   </a:t>
            </a:r>
            <a:r>
              <a:rPr sz="16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Nói '苹果三块' (thiếu 一斤) là chưa đủ — phải nói đủ '苹果三块钱一斤' (táo BA ĐỒNG MỘT CÂN), không được bỏ đơn vị cân/cái.</a:t>
            </a:r>
          </a:p>
          <a:p>
            <a:pPr>
              <a:spcBef>
                <a:spcPts val="2459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Nhầm thứ tự đọc số tiền</a:t>
            </a:r>
          </a:p>
          <a:p>
            <a:pPr>
              <a:spcBef>
                <a:spcPts val="378"/>
              </a:spcBef>
              <a:buNone/>
            </a:pPr>
            <a:r>
              <a:rPr sz="1600" b="0" i="0">
                <a:solidFill>
                  <a:srgbClr val="1F2933"/>
                </a:solidFill>
                <a:latin typeface="Calibri"/>
              </a:rPr>
              <a:t>   </a:t>
            </a:r>
            <a:r>
              <a:rPr sz="16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3.2元 phải đọc 'ba khối HAI' (三块二) — đơn vị LỚN (块) đọc trước, không đảo ngược thành 'hai khối ba'.</a:t>
            </a:r>
          </a:p>
          <a:p>
            <a:pPr>
              <a:spcBef>
                <a:spcPts val="2459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Lẫn 怎么样 với 多少钱</a:t>
            </a:r>
          </a:p>
          <a:p>
            <a:pPr>
              <a:spcBef>
                <a:spcPts val="378"/>
              </a:spcBef>
              <a:buNone/>
            </a:pPr>
            <a:r>
              <a:rPr sz="1600" b="0" i="0">
                <a:solidFill>
                  <a:srgbClr val="1F2933"/>
                </a:solidFill>
                <a:latin typeface="Calibri"/>
              </a:rPr>
              <a:t>   </a:t>
            </a:r>
            <a:r>
              <a:rPr sz="16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怎么样 hỏi Ý KIẾN ('thế nào', đẹp/ngon/thích không) — 多少钱 mới hỏi GIÁ ('bao nhiêu tiền'). Hai câu này KHÔNG dùng thay nhau được.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1300" b="1" i="0">
                <a:solidFill>
                  <a:srgbClr val="8E2B20"/>
                </a:solidFill>
                <a:latin typeface="Calibri"/>
              </a:rPr>
              <a:t>🔑 Mẹo ghi nhớ: </a:t>
            </a:r>
            <a:r>
              <a:rPr sz="1300" b="0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Thấy muốn hỏi SỐ TIỀN → dùng 多少钱？ Thấy muốn hỏi Ý KIẾN (đẹp không, thích không) → dùng …怎么样？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小知识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认识人民币 — Nhận biết tiền Trung Quốc</a:t>
            </a:r>
          </a:p>
        </p:txBody>
      </p:sp>
      <p:pic>
        <p:nvPicPr>
          <p:cNvPr id="6" name="Picture 5" descr="renminb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455" y="2050288"/>
            <a:ext cx="6028785" cy="4021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181344"/>
            <a:ext cx="11094415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1500" b="0" i="1" lang="zh-CN">
                <a:solidFill>
                  <a:srgbClr val="6B7683"/>
                </a:solidFill>
                <a:latin typeface="Calibri"/>
                <a:ea typeface="Microsoft YaHei"/>
                <a:cs typeface="Microsoft YaHei"/>
              </a:rPr>
              <a:t>Đây là tờ 1元 (một đồng) — mặt trước có chân dung, mặt sau là cảnh đẹp. Tiền giấy Trung Quốc có nhiều mệnh giá: 1, 5, 10, 20, 50, 100元.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第二部分 · 生词拓展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裤子 · 裙子 — Quần &amp; váy</a:t>
            </a:r>
          </a:p>
        </p:txBody>
      </p:sp>
      <p:pic>
        <p:nvPicPr>
          <p:cNvPr id="6" name="Picture 5" descr="ku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97" y="1916613"/>
            <a:ext cx="1833372" cy="12228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裤子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kùzi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quần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这条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裤子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怎么样？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tiáo kùzi zěnmeyàng?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Cái quần này thế nào?</a:t>
            </a:r>
          </a:p>
        </p:txBody>
      </p:sp>
      <p:pic>
        <p:nvPicPr>
          <p:cNvPr id="9" name="Picture 8" descr="qunz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24" y="1914663"/>
            <a:ext cx="1833372" cy="12267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裙子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qúnzi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váy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这条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裙子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很好看。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tiáo qúnzi hěn hǎokàn.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Cái váy này rất đẹp.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25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衬衫 · 帽子 — Áo sơ mi &amp; mũ</a:t>
            </a:r>
          </a:p>
        </p:txBody>
      </p:sp>
      <p:pic>
        <p:nvPicPr>
          <p:cNvPr id="6" name="Picture 5" descr="chensha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97" y="1916613"/>
            <a:ext cx="1833372" cy="12228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衬衫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chènshān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áo sơ 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这件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衬衫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不贵。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jiàn chènshān bú guì.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Cái áo sơ mi này không đắt.</a:t>
            </a:r>
          </a:p>
        </p:txBody>
      </p:sp>
      <p:pic>
        <p:nvPicPr>
          <p:cNvPr id="9" name="Picture 8" descr="maoz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24" y="1915638"/>
            <a:ext cx="1833372" cy="12248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帽子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màozi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mũ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这顶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帽子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真便宜！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dǐng màozi zhēn piányi!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Cái mũ này rẻ thật!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26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条 — Lượng từ cho quần/váy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条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tiáo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lượng từ (cho quần, váy — vật dài)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条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裤子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yì tiáo kùzi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một cái quần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条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裙子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yì tiáo qúnzi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một cái váy</a:t>
            </a:r>
          </a:p>
        </p:txBody>
      </p:sp>
      <p:pic>
        <p:nvPicPr>
          <p:cNvPr id="8" name="slide27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鞋子 · 袜子 — Giày &amp; tất</a:t>
            </a:r>
          </a:p>
        </p:txBody>
      </p:sp>
      <p:pic>
        <p:nvPicPr>
          <p:cNvPr id="6" name="Picture 5" descr="xie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97" y="1916613"/>
            <a:ext cx="1833372" cy="12228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鞋子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xiézi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giày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这双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鞋子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真好看。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shuāng xiézi zhēn hǎokàn.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Đôi giày này đẹp thật.</a:t>
            </a:r>
          </a:p>
        </p:txBody>
      </p:sp>
      <p:pic>
        <p:nvPicPr>
          <p:cNvPr id="9" name="Picture 8" descr="waz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24" y="1916613"/>
            <a:ext cx="1833372" cy="12228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袜子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wàzi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tất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这双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袜子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多少钱？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 shuāng wàzi duōshao qián?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Đôi tất này bao nhiêu tiền?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28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双 — Lượng từ đôi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11376"/>
            <a:ext cx="4659654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54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双</a:t>
            </a:r>
          </a:p>
          <a:p>
            <a:pPr algn="ctr">
              <a:spcBef>
                <a:spcPts val="6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shuāng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đôi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5494" y="1611376"/>
            <a:ext cx="5977561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双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鞋子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yì shuāng xiézi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một đôi giày</a:t>
            </a:r>
          </a:p>
          <a:p>
            <a:pPr>
              <a:spcBef>
                <a:spcPts val="2600"/>
              </a:spcBef>
              <a:buNone/>
            </a:pPr>
            <a:r>
              <a:rPr sz="2000" b="1" i="0">
                <a:solidFill>
                  <a:srgbClr val="8E2B20"/>
                </a:solidFill>
                <a:latin typeface="Calibri"/>
              </a:rPr>
              <a:t>•  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一</a:t>
            </a:r>
            <a:r>
              <a:rPr sz="23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双</a:t>
            </a:r>
            <a:r>
              <a:rPr sz="23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袜子</a:t>
            </a:r>
          </a:p>
          <a:p>
            <a:pPr>
              <a:spcBef>
                <a:spcPts val="300"/>
              </a:spcBef>
              <a:buNone/>
            </a:pPr>
            <a:r>
              <a:rPr sz="1600" b="0" i="1">
                <a:solidFill>
                  <a:srgbClr val="8E2B20"/>
                </a:solidFill>
                <a:latin typeface="Calibri"/>
              </a:rPr>
              <a:t>     yì shuāng wàzi</a:t>
            </a:r>
          </a:p>
          <a:p>
            <a:pPr>
              <a:spcBef>
                <a:spcPts val="200"/>
              </a:spcBef>
              <a:buNone/>
            </a:pPr>
            <a:r>
              <a:rPr sz="1600" b="0" i="0">
                <a:solidFill>
                  <a:srgbClr val="6B7683"/>
                </a:solidFill>
                <a:latin typeface="Calibri"/>
              </a:rPr>
              <a:t>     một đôi tất</a:t>
            </a:r>
          </a:p>
        </p:txBody>
      </p:sp>
      <p:pic>
        <p:nvPicPr>
          <p:cNvPr id="8" name="slide29.mp3">
            <a:hlinkClick r:id="" action="ppaction://media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香蕉 · 橙子 — Chuối &amp; cam</a:t>
            </a:r>
          </a:p>
        </p:txBody>
      </p:sp>
      <p:pic>
        <p:nvPicPr>
          <p:cNvPr id="6" name="Picture 5" descr="xiangji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97" y="1916613"/>
            <a:ext cx="1833372" cy="12228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香蕉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xiāngjiāo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chuối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妈妈买了三根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香蕉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Māma mǎile sān gēn xiāngjiāo.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Mẹ mua ba quả chuối.</a:t>
            </a:r>
          </a:p>
        </p:txBody>
      </p:sp>
      <p:pic>
        <p:nvPicPr>
          <p:cNvPr id="9" name="Picture 8" descr="chengz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24" y="1917588"/>
            <a:ext cx="1833372" cy="122094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橙子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chéngzi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cam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橙子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三块钱一斤。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Chéngzi sān kuài qián yì jīn.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Cam ba đồng một cân.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0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生词拓展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西瓜 · 葡萄 — Dưa hấu &amp; nho</a:t>
            </a:r>
          </a:p>
        </p:txBody>
      </p:sp>
      <p:pic>
        <p:nvPicPr>
          <p:cNvPr id="6" name="Picture 5" descr="xigua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8397" y="1916613"/>
            <a:ext cx="1833372" cy="122289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西瓜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xīguā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dưa hấu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这个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西瓜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真便宜！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Zhège xīguā zhēn piányi!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Quả dưa hấu này rẻ thật!</a:t>
            </a:r>
          </a:p>
        </p:txBody>
      </p:sp>
      <p:pic>
        <p:nvPicPr>
          <p:cNvPr id="9" name="Picture 8" descr="putao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9924" y="1916613"/>
            <a:ext cx="1833372" cy="122289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70167" y="3554476"/>
            <a:ext cx="5272887" cy="17297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50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葡萄</a:t>
            </a:r>
          </a:p>
          <a:p>
            <a:pPr algn="ctr">
              <a:spcBef>
                <a:spcPts val="500"/>
              </a:spcBef>
              <a:buNone/>
            </a:pPr>
            <a:r>
              <a:rPr sz="2200" b="0" i="1">
                <a:solidFill>
                  <a:srgbClr val="8E2B20"/>
                </a:solidFill>
                <a:latin typeface="Calibri"/>
              </a:rPr>
              <a:t>pútao</a:t>
            </a:r>
          </a:p>
          <a:p>
            <a:pPr algn="ctr">
              <a:spcBef>
                <a:spcPts val="400"/>
              </a:spcBef>
              <a:buNone/>
            </a:pPr>
            <a:r>
              <a:rPr sz="1800" b="0" i="0">
                <a:solidFill>
                  <a:srgbClr val="1F2933"/>
                </a:solidFill>
                <a:latin typeface="Calibri"/>
              </a:rPr>
              <a:t>nho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70167" y="5485384"/>
            <a:ext cx="5272887" cy="12080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buNone/>
            </a:pP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这些</a:t>
            </a:r>
            <a:r>
              <a:rPr sz="21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葡萄</a:t>
            </a:r>
            <a:r>
              <a:rPr sz="21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怎么样？很好吃。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1">
                <a:solidFill>
                  <a:srgbClr val="8E2B20"/>
                </a:solidFill>
                <a:latin typeface="Calibri"/>
              </a:rPr>
              <a:t>Zhèxiē pútao zěnmeyàng? Hěn hǎochī.</a:t>
            </a:r>
          </a:p>
          <a:p>
            <a:pPr algn="ctr">
              <a:spcBef>
                <a:spcPts val="300"/>
              </a:spcBef>
              <a:buNone/>
            </a:pPr>
            <a:r>
              <a:rPr sz="1500" b="0" i="0">
                <a:solidFill>
                  <a:srgbClr val="6B7683"/>
                </a:solidFill>
                <a:latin typeface="Calibri"/>
              </a:rPr>
              <a:t>Chỗ nho này thế nào? Rất ngon.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95847" y="1611376"/>
            <a:ext cx="13716" cy="48808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slide31.mp3">
            <a:hlinkClick r:id="" action="ppaction://media"/>
          </p:cNvPr>
          <p:cNvPicPr>
            <a:picLocks noChangeAspect="1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11076127" y="320040"/>
            <a:ext cx="566928" cy="566928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3"/>
                </p:tgtEl>
              </p:cMediaNode>
            </p:video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衣服 — Nối ảnh với từ</a:t>
            </a:r>
          </a:p>
        </p:txBody>
      </p:sp>
      <p:pic>
        <p:nvPicPr>
          <p:cNvPr id="6" name="Picture 5" descr="ku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qunz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87278"/>
            <a:ext cx="2943673" cy="1969755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chenshan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衬衫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chènshān · áo sơ mi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裤子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kùzi · quần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裙子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qúnzi · váy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775968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108102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帽子・鞋袜 — Nối ảnh với từ</a:t>
            </a:r>
          </a:p>
        </p:txBody>
      </p:sp>
      <p:pic>
        <p:nvPicPr>
          <p:cNvPr id="6" name="Picture 5" descr="maozi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118028"/>
            <a:ext cx="2943673" cy="196662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205028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xiez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2119594"/>
            <a:ext cx="2943673" cy="1963492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2050288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wazi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413722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34441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02330" y="2050288"/>
            <a:ext cx="4740725" cy="44419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袜子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wàzi · tất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帽子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màozi · mũ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鞋子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xiézi · giày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37056"/>
          </a:xfrm>
          <a:prstGeom prst="rect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"/>
            <a:ext cx="1371600" cy="384048"/>
          </a:xfrm>
          <a:prstGeom prst="roundRect">
            <a:avLst/>
          </a:prstGeom>
          <a:solidFill>
            <a:srgbClr val="5F160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tIns="25400" bIns="25400"/>
          <a:lstStyle/>
          <a:p>
            <a:pPr algn="ctr">
              <a:buNone/>
            </a:pPr>
            <a:r>
              <a:rPr sz="16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游戏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66928"/>
            <a:ext cx="11094415" cy="6421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buNone/>
            </a:pPr>
            <a:r>
              <a:rPr sz="2700" b="1" i="0" lang="zh-CN">
                <a:solidFill>
                  <a:srgbClr val="FFFFFF"/>
                </a:solidFill>
                <a:latin typeface="Calibri"/>
                <a:ea typeface="Microsoft YaHei"/>
                <a:cs typeface="Microsoft YaHei"/>
              </a:rPr>
              <a:t>配对游戏 · 水果 — Nối ảnh với từ</a:t>
            </a:r>
          </a:p>
        </p:txBody>
      </p:sp>
      <p:pic>
        <p:nvPicPr>
          <p:cNvPr id="6" name="Picture 5" descr="xiangjia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790410"/>
            <a:ext cx="2943673" cy="1963492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48640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pic>
        <p:nvPicPr>
          <p:cNvPr id="8" name="Picture 7" descr="chengzi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38617" y="1791976"/>
            <a:ext cx="2943673" cy="1960360"/>
          </a:xfrm>
          <a:prstGeom prst="rect">
            <a:avLst/>
          </a:prstGeom>
        </p:spPr>
      </p:pic>
      <p:sp>
        <p:nvSpPr>
          <p:cNvPr id="9" name="Oval 8"/>
          <p:cNvSpPr/>
          <p:nvPr/>
        </p:nvSpPr>
        <p:spPr>
          <a:xfrm>
            <a:off x="3638617" y="1611376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pic>
        <p:nvPicPr>
          <p:cNvPr id="10" name="Picture 9" descr="xigu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4303994"/>
            <a:ext cx="2943673" cy="1963492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548640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2" name="Picture 11" descr="putao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38617" y="4303994"/>
            <a:ext cx="2943673" cy="1963492"/>
          </a:xfrm>
          <a:prstGeom prst="rect">
            <a:avLst/>
          </a:prstGeom>
        </p:spPr>
      </p:pic>
      <p:sp>
        <p:nvSpPr>
          <p:cNvPr id="13" name="Oval 12"/>
          <p:cNvSpPr/>
          <p:nvPr/>
        </p:nvSpPr>
        <p:spPr>
          <a:xfrm>
            <a:off x="3638617" y="4124960"/>
            <a:ext cx="329184" cy="329184"/>
          </a:xfrm>
          <a:prstGeom prst="ellipse">
            <a:avLst/>
          </a:prstGeom>
          <a:solidFill>
            <a:srgbClr val="8E2B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buNone/>
            </a:pPr>
            <a:r>
              <a:rPr sz="15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2330" y="1611376"/>
            <a:ext cx="4740725" cy="4880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A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西瓜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xīguā · dưa hấu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B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葡萄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pútao · nho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C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香蕉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xiāngjiāo · chuối</a:t>
            </a:r>
          </a:p>
          <a:p>
            <a:pPr>
              <a:spcBef>
                <a:spcPts val="1400"/>
              </a:spcBef>
              <a:buNone/>
            </a:pPr>
            <a:r>
              <a:rPr sz="1800" b="1" i="0">
                <a:solidFill>
                  <a:srgbClr val="8E2B20"/>
                </a:solidFill>
                <a:latin typeface="Calibri"/>
              </a:rPr>
              <a:t>D  </a:t>
            </a:r>
            <a:r>
              <a:rPr sz="2200" b="1" i="0" lang="zh-CN">
                <a:solidFill>
                  <a:srgbClr val="1F2933"/>
                </a:solidFill>
                <a:latin typeface="Calibri"/>
                <a:ea typeface="Microsoft YaHei"/>
                <a:cs typeface="Microsoft YaHei"/>
              </a:rPr>
              <a:t>橙子</a:t>
            </a:r>
            <a:r>
              <a:rPr sz="1300" b="0" i="1">
                <a:solidFill>
                  <a:srgbClr val="6B7683"/>
                </a:solidFill>
                <a:latin typeface="Calibri"/>
              </a:rPr>
              <a:t>  chéngzi · cam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377440"/>
            <a:ext cx="11094415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buNone/>
            </a:pPr>
            <a:r>
              <a:rPr sz="3600" b="1" i="0" lang="zh-CN">
                <a:solidFill>
                  <a:srgbClr val="8E2B20"/>
                </a:solidFill>
                <a:latin typeface="Calibri"/>
                <a:ea typeface="Microsoft YaHei"/>
                <a:cs typeface="Microsoft YaHei"/>
              </a:rPr>
              <a:t>谢谢！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