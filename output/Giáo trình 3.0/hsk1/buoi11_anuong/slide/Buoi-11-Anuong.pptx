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media1.mp3" ContentType="audio/mpeg"/>
  <Override PartName="/ppt/media/media10.mp3" ContentType="audio/mpeg"/>
  <Override PartName="/ppt/media/media11.mp3" ContentType="audio/mpeg"/>
  <Override PartName="/ppt/media/media12.mp3" ContentType="audio/mpeg"/>
  <Override PartName="/ppt/media/media13.mp3" ContentType="audio/mpeg"/>
  <Override PartName="/ppt/media/media14.mp3" ContentType="audio/mpeg"/>
  <Override PartName="/ppt/media/media15.mp3" ContentType="audio/mpeg"/>
  <Override PartName="/ppt/media/media16.mp3" ContentType="audio/mpeg"/>
  <Override PartName="/ppt/media/media17.mp3" ContentType="audio/mpeg"/>
  <Override PartName="/ppt/media/media18.mp3" ContentType="audio/mpeg"/>
  <Override PartName="/ppt/media/media19.mp3" ContentType="audio/mpeg"/>
  <Override PartName="/ppt/media/media2.mp3" ContentType="audio/mpeg"/>
  <Override PartName="/ppt/media/media20.mp3" ContentType="audio/mpeg"/>
  <Override PartName="/ppt/media/media21.mp3" ContentType="audio/mpeg"/>
  <Override PartName="/ppt/media/media22.mp3" ContentType="audio/mpeg"/>
  <Override PartName="/ppt/media/media23.mp3" ContentType="audio/mpeg"/>
  <Override PartName="/ppt/media/media24.mp3" ContentType="audio/mpeg"/>
  <Override PartName="/ppt/media/media25.mp3" ContentType="audio/mpeg"/>
  <Override PartName="/ppt/media/media3.mp3" ContentType="audio/mpeg"/>
  <Override PartName="/ppt/media/media4.mp3" ContentType="audio/mpeg"/>
  <Override PartName="/ppt/media/media5.mp3" ContentType="audio/mpeg"/>
  <Override PartName="/ppt/media/media6.mp3" ContentType="audio/mpeg"/>
  <Override PartName="/ppt/media/media7.mp3" ContentType="audio/mpeg"/>
  <Override PartName="/ppt/media/media8.mp3" ContentType="audio/mpeg"/>
  <Override PartName="/ppt/media/media9.mp3" ContentType="audio/mpeg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microsoft.com/office/2007/relationships/media" Target="../media/media1.mp3"/><Relationship Id="rId4" Type="http://schemas.openxmlformats.org/officeDocument/2006/relationships/video" Target="../media/media1.mp3"/><Relationship Id="rId5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microsoft.com/office/2007/relationships/media" Target="../media/media2.mp3"/><Relationship Id="rId4" Type="http://schemas.openxmlformats.org/officeDocument/2006/relationships/video" Target="../media/media2.mp3"/><Relationship Id="rId5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microsoft.com/office/2007/relationships/media" Target="../media/media3.mp3"/><Relationship Id="rId4" Type="http://schemas.openxmlformats.org/officeDocument/2006/relationships/video" Target="../media/media3.mp3"/><Relationship Id="rId5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microsoft.com/office/2007/relationships/media" Target="../media/media4.mp3"/><Relationship Id="rId4" Type="http://schemas.openxmlformats.org/officeDocument/2006/relationships/video" Target="../media/media4.mp3"/><Relationship Id="rId5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5.mp3"/><Relationship Id="rId3" Type="http://schemas.openxmlformats.org/officeDocument/2006/relationships/video" Target="../media/media5.mp3"/><Relationship Id="rId4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microsoft.com/office/2007/relationships/media" Target="../media/media6.mp3"/><Relationship Id="rId4" Type="http://schemas.openxmlformats.org/officeDocument/2006/relationships/video" Target="../media/media6.mp3"/><Relationship Id="rId5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microsoft.com/office/2007/relationships/media" Target="../media/media7.mp3"/><Relationship Id="rId4" Type="http://schemas.openxmlformats.org/officeDocument/2006/relationships/video" Target="../media/media7.mp3"/><Relationship Id="rId5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microsoft.com/office/2007/relationships/media" Target="../media/media8.mp3"/><Relationship Id="rId4" Type="http://schemas.openxmlformats.org/officeDocument/2006/relationships/video" Target="../media/media8.mp3"/><Relationship Id="rId5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9.mp3"/><Relationship Id="rId3" Type="http://schemas.openxmlformats.org/officeDocument/2006/relationships/video" Target="../media/media9.mp3"/><Relationship Id="rId4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0.mp3"/><Relationship Id="rId3" Type="http://schemas.openxmlformats.org/officeDocument/2006/relationships/video" Target="../media/media10.mp3"/><Relationship Id="rId4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microsoft.com/office/2007/relationships/media" Target="../media/media11.mp3"/><Relationship Id="rId4" Type="http://schemas.openxmlformats.org/officeDocument/2006/relationships/video" Target="../media/media11.mp3"/><Relationship Id="rId5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microsoft.com/office/2007/relationships/media" Target="../media/media12.mp3"/><Relationship Id="rId4" Type="http://schemas.openxmlformats.org/officeDocument/2006/relationships/video" Target="../media/media12.mp3"/><Relationship Id="rId5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microsoft.com/office/2007/relationships/media" Target="../media/media13.mp3"/><Relationship Id="rId4" Type="http://schemas.openxmlformats.org/officeDocument/2006/relationships/video" Target="../media/media13.mp3"/><Relationship Id="rId5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microsoft.com/office/2007/relationships/media" Target="../media/media14.mp3"/><Relationship Id="rId4" Type="http://schemas.openxmlformats.org/officeDocument/2006/relationships/video" Target="../media/media14.mp3"/><Relationship Id="rId5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microsoft.com/office/2007/relationships/media" Target="../media/media15.mp3"/><Relationship Id="rId4" Type="http://schemas.openxmlformats.org/officeDocument/2006/relationships/video" Target="../media/media15.mp3"/><Relationship Id="rId5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microsoft.com/office/2007/relationships/media" Target="../media/media16.mp3"/><Relationship Id="rId4" Type="http://schemas.openxmlformats.org/officeDocument/2006/relationships/video" Target="../media/media16.mp3"/><Relationship Id="rId5" Type="http://schemas.openxmlformats.org/officeDocument/2006/relationships/image" Target="../media/image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Relationship Id="rId3" Type="http://schemas.microsoft.com/office/2007/relationships/media" Target="../media/media17.mp3"/><Relationship Id="rId4" Type="http://schemas.openxmlformats.org/officeDocument/2006/relationships/video" Target="../media/media17.mp3"/><Relationship Id="rId5" Type="http://schemas.openxmlformats.org/officeDocument/2006/relationships/image" Target="../media/image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microsoft.com/office/2007/relationships/media" Target="../media/media18.mp3"/><Relationship Id="rId4" Type="http://schemas.openxmlformats.org/officeDocument/2006/relationships/video" Target="../media/media18.mp3"/><Relationship Id="rId5" Type="http://schemas.openxmlformats.org/officeDocument/2006/relationships/image" Target="../media/image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microsoft.com/office/2007/relationships/media" Target="../media/media19.mp3"/><Relationship Id="rId4" Type="http://schemas.openxmlformats.org/officeDocument/2006/relationships/video" Target="../media/media19.mp3"/><Relationship Id="rId5" Type="http://schemas.openxmlformats.org/officeDocument/2006/relationships/image" Target="../media/image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microsoft.com/office/2007/relationships/media" Target="../media/media20.mp3"/><Relationship Id="rId4" Type="http://schemas.openxmlformats.org/officeDocument/2006/relationships/video" Target="../media/media20.mp3"/><Relationship Id="rId5" Type="http://schemas.openxmlformats.org/officeDocument/2006/relationships/image" Target="../media/image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microsoft.com/office/2007/relationships/media" Target="../media/media21.mp3"/><Relationship Id="rId4" Type="http://schemas.openxmlformats.org/officeDocument/2006/relationships/video" Target="../media/media21.mp3"/><Relationship Id="rId5" Type="http://schemas.openxmlformats.org/officeDocument/2006/relationships/image" Target="../media/image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22.mp3"/><Relationship Id="rId3" Type="http://schemas.openxmlformats.org/officeDocument/2006/relationships/video" Target="../media/media22.mp3"/><Relationship Id="rId4" Type="http://schemas.openxmlformats.org/officeDocument/2006/relationships/image" Target="../media/image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23.mp3"/><Relationship Id="rId3" Type="http://schemas.openxmlformats.org/officeDocument/2006/relationships/video" Target="../media/media23.mp3"/><Relationship Id="rId4" Type="http://schemas.openxmlformats.org/officeDocument/2006/relationships/image" Target="../media/image2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24.mp3"/><Relationship Id="rId3" Type="http://schemas.openxmlformats.org/officeDocument/2006/relationships/video" Target="../media/media24.mp3"/><Relationship Id="rId4" Type="http://schemas.openxmlformats.org/officeDocument/2006/relationships/image" Target="../media/image2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25.mp3"/><Relationship Id="rId3" Type="http://schemas.openxmlformats.org/officeDocument/2006/relationships/video" Target="../media/media25.mp3"/><Relationship Id="rId4" Type="http://schemas.openxmlformats.org/officeDocument/2006/relationships/image" Target="../media/image2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20.jpg"/><Relationship Id="rId4" Type="http://schemas.openxmlformats.org/officeDocument/2006/relationships/image" Target="../media/image21.jpg"/><Relationship Id="rId5" Type="http://schemas.openxmlformats.org/officeDocument/2006/relationships/image" Target="../media/image22.jpg"/><Relationship Id="rId6" Type="http://schemas.openxmlformats.org/officeDocument/2006/relationships/image" Target="../media/image23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0.jpg"/><Relationship Id="rId4" Type="http://schemas.openxmlformats.org/officeDocument/2006/relationships/image" Target="../media/image11.jpg"/><Relationship Id="rId5" Type="http://schemas.openxmlformats.org/officeDocument/2006/relationships/image" Target="../media/image12.jpg"/><Relationship Id="rId6" Type="http://schemas.openxmlformats.org/officeDocument/2006/relationships/image" Target="../media/image13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jpg"/><Relationship Id="rId4" Type="http://schemas.openxmlformats.org/officeDocument/2006/relationships/image" Target="../media/image16.jpg"/><Relationship Id="rId5" Type="http://schemas.openxmlformats.org/officeDocument/2006/relationships/image" Target="../media/image17.jpg"/><Relationship Id="rId6" Type="http://schemas.openxmlformats.org/officeDocument/2006/relationships/image" Target="../media/image18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920240"/>
            <a:ext cx="11094415" cy="3017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4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请给我一杯茶</a:t>
            </a:r>
          </a:p>
          <a:p>
            <a:pPr algn="ctr">
              <a:spcBef>
                <a:spcPts val="1000"/>
              </a:spcBef>
              <a:buNone/>
            </a:pPr>
            <a:r>
              <a:rPr sz="2000" b="0" i="0">
                <a:solidFill>
                  <a:srgbClr val="F7E4E1"/>
                </a:solidFill>
                <a:latin typeface="Calibri"/>
              </a:rPr>
              <a:t>Ăn uống &amp; gọi món</a:t>
            </a:r>
          </a:p>
          <a:p>
            <a:pPr algn="ctr">
              <a:spcBef>
                <a:spcPts val="600"/>
              </a:spcBef>
              <a:buNone/>
            </a:pPr>
            <a:r>
              <a:rPr sz="1400" b="0" i="0">
                <a:solidFill>
                  <a:srgbClr val="F7E4E1"/>
                </a:solidFill>
                <a:latin typeface="Calibri"/>
              </a:rPr>
              <a:t>HSK1 · Buổi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目标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今天学什么？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11094415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</a:rPr>
              <a:t>•  </a:t>
            </a:r>
            <a:r>
              <a:rPr sz="22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Dùng 可以 để xin phép/nói khả năng làm gì.</a:t>
            </a:r>
          </a:p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</a:rPr>
              <a:t>•  </a:t>
            </a:r>
            <a:r>
              <a:rPr sz="22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Dùng 动词+一下 khi làm/thử một việc trong chốc lát.</a:t>
            </a:r>
          </a:p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</a:rPr>
              <a:t>•  </a:t>
            </a:r>
            <a:r>
              <a:rPr sz="22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Nói câu 2 tân ngữ với 给 (đưa cho ai cái gì) và 问 (hỏi ai điều gì).</a:t>
            </a:r>
          </a:p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</a:rPr>
              <a:t>•  </a:t>
            </a:r>
            <a:r>
              <a:rPr sz="22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Gọi món/đặt đồ ăn uống trong quán, nhà hàng.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377440"/>
            <a:ext cx="11094415" cy="2103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生词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再 · 问题 · 打电话</a:t>
            </a:r>
          </a:p>
        </p:txBody>
      </p:sp>
      <p:pic>
        <p:nvPicPr>
          <p:cNvPr id="6" name="Picture 5" descr="daidianhu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1" y="2867775"/>
            <a:ext cx="3550210" cy="236806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64612" y="1611376"/>
            <a:ext cx="7178443" cy="1273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sz="28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我可以</a:t>
            </a:r>
            <a:r>
              <a:rPr sz="28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再</a:t>
            </a:r>
            <a:r>
              <a:rPr sz="28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打电话</a:t>
            </a:r>
            <a:r>
              <a:rPr sz="28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问一个</a:t>
            </a:r>
            <a:r>
              <a:rPr sz="28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问题</a:t>
            </a:r>
            <a:r>
              <a:rPr sz="28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吗？</a:t>
            </a:r>
          </a:p>
          <a:p>
            <a:pPr>
              <a:spcBef>
                <a:spcPts val="600"/>
              </a:spcBef>
              <a:buNone/>
            </a:pPr>
            <a:r>
              <a:rPr sz="1600" b="0" i="1">
                <a:solidFill>
                  <a:srgbClr val="8E2B20"/>
                </a:solidFill>
                <a:latin typeface="Calibri"/>
              </a:rPr>
              <a:t>Wǒ kěyǐ zài dǎ diànhuà wèn yí ge wèntí ma?</a:t>
            </a:r>
          </a:p>
          <a:p>
            <a:pPr>
              <a:spcBef>
                <a:spcPts val="4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</a:rPr>
              <a:t>Mình có thể gọi điện lại hỏi thêm một câu được không?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64612" y="3158744"/>
            <a:ext cx="2301374" cy="3333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再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</a:rPr>
              <a:t>zài</a:t>
            </a:r>
          </a:p>
          <a:p>
            <a:pPr algn="ctr">
              <a:spcBef>
                <a:spcPts val="300"/>
              </a:spcBef>
              <a:buNone/>
            </a:pPr>
            <a:r>
              <a:rPr sz="1300" b="0" i="0">
                <a:solidFill>
                  <a:srgbClr val="1F2933"/>
                </a:solidFill>
                <a:latin typeface="Calibri"/>
              </a:rPr>
              <a:t>lại, một lần nữa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03146" y="3158744"/>
            <a:ext cx="2301374" cy="3333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问题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</a:rPr>
              <a:t>wèntí</a:t>
            </a:r>
          </a:p>
          <a:p>
            <a:pPr algn="ctr">
              <a:spcBef>
                <a:spcPts val="300"/>
              </a:spcBef>
              <a:buNone/>
            </a:pPr>
            <a:r>
              <a:rPr sz="1300" b="0" i="0">
                <a:solidFill>
                  <a:srgbClr val="1F2933"/>
                </a:solidFill>
                <a:latin typeface="Calibri"/>
              </a:rPr>
              <a:t>câu hỏi, vấn đề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41680" y="3158744"/>
            <a:ext cx="2301374" cy="3333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28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打电话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</a:rPr>
              <a:t>dǎ diànhuà</a:t>
            </a:r>
          </a:p>
          <a:p>
            <a:pPr algn="ctr">
              <a:spcBef>
                <a:spcPts val="300"/>
              </a:spcBef>
              <a:buNone/>
            </a:pPr>
            <a:r>
              <a:rPr sz="1300" b="0" i="0">
                <a:solidFill>
                  <a:srgbClr val="1F2933"/>
                </a:solidFill>
                <a:latin typeface="Calibri"/>
              </a:rPr>
              <a:t>gọi điện thoại</a:t>
            </a:r>
          </a:p>
        </p:txBody>
      </p:sp>
      <p:pic>
        <p:nvPicPr>
          <p:cNvPr id="11" name="slide04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1"/>
                </p:tgtEl>
              </p:cMediaNode>
            </p:video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卖 — bán</a:t>
            </a:r>
          </a:p>
        </p:txBody>
      </p:sp>
      <p:pic>
        <p:nvPicPr>
          <p:cNvPr id="6" name="Picture 5" descr="ma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514485"/>
            <a:ext cx="4602175" cy="307464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25135" y="1611376"/>
            <a:ext cx="1920240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54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卖</a:t>
            </a:r>
          </a:p>
          <a:p>
            <a:pPr algn="ctr">
              <a:spcBef>
                <a:spcPts val="600"/>
              </a:spcBef>
              <a:buNone/>
            </a:pPr>
            <a:r>
              <a:rPr sz="2200" b="0" i="1">
                <a:solidFill>
                  <a:srgbClr val="8E2B20"/>
                </a:solidFill>
                <a:latin typeface="Calibri"/>
              </a:rPr>
              <a:t>mài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0">
                <a:solidFill>
                  <a:srgbClr val="1F2933"/>
                </a:solidFill>
                <a:latin typeface="Calibri"/>
              </a:rPr>
              <a:t>bán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02575" y="1611376"/>
            <a:ext cx="3840480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000" b="1" i="0">
                <a:solidFill>
                  <a:srgbClr val="8E2B20"/>
                </a:solidFill>
                <a:latin typeface="Calibri"/>
              </a:rPr>
              <a:t>•  </a:t>
            </a:r>
            <a:r>
              <a:rPr sz="23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这个商店</a:t>
            </a:r>
            <a:r>
              <a:rPr sz="23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卖</a:t>
            </a:r>
            <a:r>
              <a:rPr sz="23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不</a:t>
            </a:r>
            <a:r>
              <a:rPr sz="23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卖</a:t>
            </a:r>
            <a:r>
              <a:rPr sz="23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手机？</a:t>
            </a:r>
          </a:p>
          <a:p>
            <a:pPr>
              <a:spcBef>
                <a:spcPts val="300"/>
              </a:spcBef>
              <a:buNone/>
            </a:pPr>
            <a:r>
              <a:rPr sz="1600" b="0" i="1">
                <a:solidFill>
                  <a:srgbClr val="8E2B20"/>
                </a:solidFill>
                <a:latin typeface="Calibri"/>
              </a:rPr>
              <a:t>     Zhège shāngdiàn mài bu mài shǒujī?</a:t>
            </a:r>
          </a:p>
          <a:p>
            <a:pPr>
              <a:spcBef>
                <a:spcPts val="200"/>
              </a:spcBef>
              <a:buNone/>
            </a:pPr>
            <a:r>
              <a:rPr sz="1600" b="0" i="0">
                <a:solidFill>
                  <a:srgbClr val="6B7683"/>
                </a:solidFill>
                <a:latin typeface="Calibri"/>
              </a:rPr>
              <a:t>     Cửa hàng này có bán điện thoại không?</a:t>
            </a:r>
          </a:p>
        </p:txBody>
      </p:sp>
      <p:pic>
        <p:nvPicPr>
          <p:cNvPr id="9" name="slide05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买 — mua</a:t>
            </a:r>
          </a:p>
        </p:txBody>
      </p:sp>
      <p:pic>
        <p:nvPicPr>
          <p:cNvPr id="6" name="Picture 5" descr="maibu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516933"/>
            <a:ext cx="4602175" cy="30697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25135" y="1611376"/>
            <a:ext cx="1920240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54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买</a:t>
            </a:r>
          </a:p>
          <a:p>
            <a:pPr algn="ctr">
              <a:spcBef>
                <a:spcPts val="600"/>
              </a:spcBef>
              <a:buNone/>
            </a:pPr>
            <a:r>
              <a:rPr sz="2200" b="0" i="1">
                <a:solidFill>
                  <a:srgbClr val="8E2B20"/>
                </a:solidFill>
                <a:latin typeface="Calibri"/>
              </a:rPr>
              <a:t>mǎi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0">
                <a:solidFill>
                  <a:srgbClr val="1F2933"/>
                </a:solidFill>
                <a:latin typeface="Calibri"/>
              </a:rPr>
              <a:t>mua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02575" y="1611376"/>
            <a:ext cx="3840480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000" b="1" i="0">
                <a:solidFill>
                  <a:srgbClr val="8E2B20"/>
                </a:solidFill>
                <a:latin typeface="Calibri"/>
              </a:rPr>
              <a:t>•  </a:t>
            </a:r>
            <a:r>
              <a:rPr sz="23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我想</a:t>
            </a:r>
            <a:r>
              <a:rPr sz="23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买</a:t>
            </a:r>
            <a:r>
              <a:rPr sz="23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一个新手机。</a:t>
            </a:r>
          </a:p>
          <a:p>
            <a:pPr>
              <a:spcBef>
                <a:spcPts val="300"/>
              </a:spcBef>
              <a:buNone/>
            </a:pPr>
            <a:r>
              <a:rPr sz="1600" b="0" i="1">
                <a:solidFill>
                  <a:srgbClr val="8E2B20"/>
                </a:solidFill>
                <a:latin typeface="Calibri"/>
              </a:rPr>
              <a:t>     Wǒ xiǎng mǎi yí ge xīn shǒujī.</a:t>
            </a:r>
          </a:p>
          <a:p>
            <a:pPr>
              <a:spcBef>
                <a:spcPts val="200"/>
              </a:spcBef>
              <a:buNone/>
            </a:pPr>
            <a:r>
              <a:rPr sz="1600" b="0" i="0">
                <a:solidFill>
                  <a:srgbClr val="6B7683"/>
                </a:solidFill>
                <a:latin typeface="Calibri"/>
              </a:rPr>
              <a:t>     Tôi muốn mua một cái điện thoại mới.</a:t>
            </a:r>
          </a:p>
        </p:txBody>
      </p:sp>
      <p:pic>
        <p:nvPicPr>
          <p:cNvPr id="9" name="slide06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服务员 · 女士 · 先生</a:t>
            </a:r>
          </a:p>
        </p:txBody>
      </p:sp>
      <p:pic>
        <p:nvPicPr>
          <p:cNvPr id="6" name="Picture 5" descr="fuwuyua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1" y="2867775"/>
            <a:ext cx="3550210" cy="236806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64612" y="1611376"/>
            <a:ext cx="7178443" cy="1273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sz="28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服务员</a:t>
            </a:r>
            <a:r>
              <a:rPr sz="28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对</a:t>
            </a:r>
            <a:r>
              <a:rPr sz="28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女士</a:t>
            </a:r>
            <a:r>
              <a:rPr sz="28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和</a:t>
            </a:r>
            <a:r>
              <a:rPr sz="28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先生</a:t>
            </a:r>
            <a:r>
              <a:rPr sz="28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说："请坐！"</a:t>
            </a:r>
          </a:p>
          <a:p>
            <a:pPr>
              <a:spcBef>
                <a:spcPts val="600"/>
              </a:spcBef>
              <a:buNone/>
            </a:pPr>
            <a:r>
              <a:rPr sz="1600" b="0" i="1">
                <a:solidFill>
                  <a:srgbClr val="8E2B20"/>
                </a:solidFill>
                <a:latin typeface="Calibri"/>
              </a:rPr>
              <a:t>Fúwùyuán duì nǚshì hé xiānsheng shuō: "Qǐng zuò!"</a:t>
            </a:r>
          </a:p>
          <a:p>
            <a:pPr>
              <a:spcBef>
                <a:spcPts val="4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</a:rPr>
              <a:t>Nhân viên phục vụ nói với quý bà và quý ông: "Mời ngồi!"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64612" y="3158744"/>
            <a:ext cx="2301374" cy="3333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28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服务员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</a:rPr>
              <a:t>fúwùyuán</a:t>
            </a:r>
          </a:p>
          <a:p>
            <a:pPr algn="ctr">
              <a:spcBef>
                <a:spcPts val="300"/>
              </a:spcBef>
              <a:buNone/>
            </a:pPr>
            <a:r>
              <a:rPr sz="1300" b="0" i="0">
                <a:solidFill>
                  <a:srgbClr val="1F2933"/>
                </a:solidFill>
                <a:latin typeface="Calibri"/>
              </a:rPr>
              <a:t>nhân viên phục vụ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03146" y="3158744"/>
            <a:ext cx="2301374" cy="3333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女士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</a:rPr>
              <a:t>nǚshì</a:t>
            </a:r>
          </a:p>
          <a:p>
            <a:pPr algn="ctr">
              <a:spcBef>
                <a:spcPts val="300"/>
              </a:spcBef>
              <a:buNone/>
            </a:pPr>
            <a:r>
              <a:rPr sz="1300" b="0" i="0">
                <a:solidFill>
                  <a:srgbClr val="1F2933"/>
                </a:solidFill>
                <a:latin typeface="Calibri"/>
              </a:rPr>
              <a:t>quý bà, cô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41680" y="3158744"/>
            <a:ext cx="2301374" cy="3333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先生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</a:rPr>
              <a:t>xiānsheng</a:t>
            </a:r>
          </a:p>
          <a:p>
            <a:pPr algn="ctr">
              <a:spcBef>
                <a:spcPts val="300"/>
              </a:spcBef>
              <a:buNone/>
            </a:pPr>
            <a:r>
              <a:rPr sz="1300" b="0" i="0">
                <a:solidFill>
                  <a:srgbClr val="1F2933"/>
                </a:solidFill>
                <a:latin typeface="Calibri"/>
              </a:rPr>
              <a:t>quý ông, anh</a:t>
            </a:r>
          </a:p>
        </p:txBody>
      </p:sp>
      <p:pic>
        <p:nvPicPr>
          <p:cNvPr id="11" name="slide07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1"/>
                </p:tgtEl>
              </p:cMediaNode>
            </p:video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请 · 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82926"/>
            <a:ext cx="5272887" cy="17297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5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请</a:t>
            </a:r>
          </a:p>
          <a:p>
            <a:pPr algn="ctr">
              <a:spcBef>
                <a:spcPts val="500"/>
              </a:spcBef>
              <a:buNone/>
            </a:pPr>
            <a:r>
              <a:rPr sz="2200" b="0" i="1">
                <a:solidFill>
                  <a:srgbClr val="8E2B20"/>
                </a:solidFill>
                <a:latin typeface="Calibri"/>
              </a:rPr>
              <a:t>qǐng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0">
                <a:solidFill>
                  <a:srgbClr val="1F2933"/>
                </a:solidFill>
                <a:latin typeface="Calibri"/>
              </a:rPr>
              <a:t>mời, xin mời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513834"/>
            <a:ext cx="5272887" cy="12080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21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服务员</a:t>
            </a:r>
            <a:r>
              <a:rPr sz="21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请</a:t>
            </a:r>
            <a:r>
              <a:rPr sz="21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我们坐下。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</a:rPr>
              <a:t>Fúwùyuán qǐng wǒmen zuòxià.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6B7683"/>
                </a:solidFill>
                <a:latin typeface="Calibri"/>
              </a:rPr>
              <a:t>Nhân viên phục vụ mời chúng tôi ngồi xuống.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70167" y="2582926"/>
            <a:ext cx="5272887" cy="17297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5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坐</a:t>
            </a:r>
          </a:p>
          <a:p>
            <a:pPr algn="ctr">
              <a:spcBef>
                <a:spcPts val="500"/>
              </a:spcBef>
              <a:buNone/>
            </a:pPr>
            <a:r>
              <a:rPr sz="2200" b="0" i="1">
                <a:solidFill>
                  <a:srgbClr val="8E2B20"/>
                </a:solidFill>
                <a:latin typeface="Calibri"/>
              </a:rPr>
              <a:t>zuò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0">
                <a:solidFill>
                  <a:srgbClr val="1F2933"/>
                </a:solidFill>
                <a:latin typeface="Calibri"/>
              </a:rPr>
              <a:t>ngồi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70167" y="4513834"/>
            <a:ext cx="5272887" cy="12080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21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我想</a:t>
            </a:r>
            <a:r>
              <a:rPr sz="21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坐</a:t>
            </a:r>
            <a:r>
              <a:rPr sz="21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在窗户旁边。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</a:rPr>
              <a:t>Wǒ xiǎng zuò zài chuānghu pángbiān.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6B7683"/>
                </a:solidFill>
                <a:latin typeface="Calibri"/>
              </a:rPr>
              <a:t>Tôi muốn ngồi cạnh cửa sổ.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95847" y="1611376"/>
            <a:ext cx="13716" cy="4880864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slide08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1"/>
                </p:tgtEl>
              </p:cMediaNode>
            </p:video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早饭 · 面包 · 鸡蛋</a:t>
            </a:r>
          </a:p>
        </p:txBody>
      </p:sp>
      <p:pic>
        <p:nvPicPr>
          <p:cNvPr id="6" name="Picture 5" descr="zaofa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1" y="2867775"/>
            <a:ext cx="3550210" cy="236806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464612" y="1611376"/>
            <a:ext cx="7178443" cy="1273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sz="28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我还没吃</a:t>
            </a:r>
            <a:r>
              <a:rPr sz="28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早饭</a:t>
            </a:r>
            <a:r>
              <a:rPr sz="28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，我要这个</a:t>
            </a:r>
            <a:r>
              <a:rPr sz="28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面包</a:t>
            </a:r>
            <a:r>
              <a:rPr sz="28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和</a:t>
            </a:r>
            <a:r>
              <a:rPr sz="28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鸡蛋</a:t>
            </a:r>
            <a:r>
              <a:rPr sz="28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。</a:t>
            </a:r>
          </a:p>
          <a:p>
            <a:pPr>
              <a:spcBef>
                <a:spcPts val="600"/>
              </a:spcBef>
              <a:buNone/>
            </a:pPr>
            <a:r>
              <a:rPr sz="1600" b="0" i="1">
                <a:solidFill>
                  <a:srgbClr val="8E2B20"/>
                </a:solidFill>
                <a:latin typeface="Calibri"/>
              </a:rPr>
              <a:t>Wǒ hái méi chī zǎofàn, wǒ yào zhège miànbāo hé jīdàn.</a:t>
            </a:r>
          </a:p>
          <a:p>
            <a:pPr>
              <a:spcBef>
                <a:spcPts val="400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</a:rPr>
              <a:t>Tôi vẫn chưa ăn sáng, tôi muốn cái bánh mì và trứng này.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64612" y="3158744"/>
            <a:ext cx="2301374" cy="3333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早饭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</a:rPr>
              <a:t>zǎofàn</a:t>
            </a:r>
          </a:p>
          <a:p>
            <a:pPr algn="ctr">
              <a:spcBef>
                <a:spcPts val="300"/>
              </a:spcBef>
              <a:buNone/>
            </a:pPr>
            <a:r>
              <a:rPr sz="1300" b="0" i="0">
                <a:solidFill>
                  <a:srgbClr val="1F2933"/>
                </a:solidFill>
                <a:latin typeface="Calibri"/>
              </a:rPr>
              <a:t>bữa sáng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03146" y="3158744"/>
            <a:ext cx="2301374" cy="3333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面包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</a:rPr>
              <a:t>miànbāo</a:t>
            </a:r>
          </a:p>
          <a:p>
            <a:pPr algn="ctr">
              <a:spcBef>
                <a:spcPts val="300"/>
              </a:spcBef>
              <a:buNone/>
            </a:pPr>
            <a:r>
              <a:rPr sz="1300" b="0" i="0">
                <a:solidFill>
                  <a:srgbClr val="1F2933"/>
                </a:solidFill>
                <a:latin typeface="Calibri"/>
              </a:rPr>
              <a:t>bánh mì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41680" y="3158744"/>
            <a:ext cx="2301374" cy="3333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鸡蛋</a:t>
            </a:r>
          </a:p>
          <a:p>
            <a:pPr algn="ctr">
              <a:spcBef>
                <a:spcPts val="6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</a:rPr>
              <a:t>jīdàn</a:t>
            </a:r>
          </a:p>
          <a:p>
            <a:pPr algn="ctr">
              <a:spcBef>
                <a:spcPts val="300"/>
              </a:spcBef>
              <a:buNone/>
            </a:pPr>
            <a:r>
              <a:rPr sz="1300" b="0" i="0">
                <a:solidFill>
                  <a:srgbClr val="1F2933"/>
                </a:solidFill>
                <a:latin typeface="Calibri"/>
              </a:rPr>
              <a:t>trứng gà</a:t>
            </a:r>
          </a:p>
        </p:txBody>
      </p:sp>
      <p:pic>
        <p:nvPicPr>
          <p:cNvPr id="11" name="slide09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1"/>
                </p:tgtEl>
              </p:cMediaNode>
            </p:video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杯 — cốc (lượng từ)</a:t>
            </a:r>
          </a:p>
        </p:txBody>
      </p:sp>
      <p:pic>
        <p:nvPicPr>
          <p:cNvPr id="6" name="Picture 5" descr="be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514485"/>
            <a:ext cx="4602175" cy="307464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25135" y="1611376"/>
            <a:ext cx="1920240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54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杯</a:t>
            </a:r>
          </a:p>
          <a:p>
            <a:pPr algn="ctr">
              <a:spcBef>
                <a:spcPts val="600"/>
              </a:spcBef>
              <a:buNone/>
            </a:pPr>
            <a:r>
              <a:rPr sz="2200" b="0" i="1">
                <a:solidFill>
                  <a:srgbClr val="8E2B20"/>
                </a:solidFill>
                <a:latin typeface="Calibri"/>
              </a:rPr>
              <a:t>bēi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0">
                <a:solidFill>
                  <a:srgbClr val="1F2933"/>
                </a:solidFill>
                <a:latin typeface="Calibri"/>
              </a:rPr>
              <a:t>cốc (lượng từ)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02575" y="1611376"/>
            <a:ext cx="3840480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000" b="1" i="0">
                <a:solidFill>
                  <a:srgbClr val="8E2B20"/>
                </a:solidFill>
                <a:latin typeface="Calibri"/>
              </a:rPr>
              <a:t>•  </a:t>
            </a:r>
            <a:r>
              <a:rPr sz="23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我想要一</a:t>
            </a:r>
            <a:r>
              <a:rPr sz="23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杯</a:t>
            </a:r>
            <a:r>
              <a:rPr sz="23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牛奶。</a:t>
            </a:r>
          </a:p>
          <a:p>
            <a:pPr>
              <a:spcBef>
                <a:spcPts val="300"/>
              </a:spcBef>
              <a:buNone/>
            </a:pPr>
            <a:r>
              <a:rPr sz="1600" b="0" i="1">
                <a:solidFill>
                  <a:srgbClr val="8E2B20"/>
                </a:solidFill>
                <a:latin typeface="Calibri"/>
              </a:rPr>
              <a:t>     Wǒ xiǎng yào yì bēi niúnǎi.</a:t>
            </a:r>
          </a:p>
          <a:p>
            <a:pPr>
              <a:spcBef>
                <a:spcPts val="200"/>
              </a:spcBef>
              <a:buNone/>
            </a:pPr>
            <a:r>
              <a:rPr sz="1600" b="0" i="0">
                <a:solidFill>
                  <a:srgbClr val="6B7683"/>
                </a:solidFill>
                <a:latin typeface="Calibri"/>
              </a:rPr>
              <a:t>     Tôi muốn một cốc sữa.</a:t>
            </a:r>
          </a:p>
        </p:txBody>
      </p:sp>
      <p:pic>
        <p:nvPicPr>
          <p:cNvPr id="9" name="slide10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茶 — trà</a:t>
            </a:r>
          </a:p>
        </p:txBody>
      </p:sp>
      <p:pic>
        <p:nvPicPr>
          <p:cNvPr id="6" name="Picture 5" descr="ch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720114"/>
            <a:ext cx="4602175" cy="266338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25135" y="1611376"/>
            <a:ext cx="1920240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54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茶</a:t>
            </a:r>
          </a:p>
          <a:p>
            <a:pPr algn="ctr">
              <a:spcBef>
                <a:spcPts val="600"/>
              </a:spcBef>
              <a:buNone/>
            </a:pPr>
            <a:r>
              <a:rPr sz="2200" b="0" i="1">
                <a:solidFill>
                  <a:srgbClr val="8E2B20"/>
                </a:solidFill>
                <a:latin typeface="Calibri"/>
              </a:rPr>
              <a:t>chá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0">
                <a:solidFill>
                  <a:srgbClr val="1F2933"/>
                </a:solidFill>
                <a:latin typeface="Calibri"/>
              </a:rPr>
              <a:t>trà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02575" y="1611376"/>
            <a:ext cx="3840480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000" b="1" i="0">
                <a:solidFill>
                  <a:srgbClr val="8E2B20"/>
                </a:solidFill>
                <a:latin typeface="Calibri"/>
              </a:rPr>
              <a:t>•  </a:t>
            </a:r>
            <a:r>
              <a:rPr sz="23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我想喝一杯</a:t>
            </a:r>
            <a:r>
              <a:rPr sz="23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茶</a:t>
            </a:r>
            <a:r>
              <a:rPr sz="23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。</a:t>
            </a:r>
          </a:p>
          <a:p>
            <a:pPr>
              <a:spcBef>
                <a:spcPts val="300"/>
              </a:spcBef>
              <a:buNone/>
            </a:pPr>
            <a:r>
              <a:rPr sz="1600" b="0" i="1">
                <a:solidFill>
                  <a:srgbClr val="8E2B20"/>
                </a:solidFill>
                <a:latin typeface="Calibri"/>
              </a:rPr>
              <a:t>     Wǒ xiǎng hē yì bēi chá.</a:t>
            </a:r>
          </a:p>
          <a:p>
            <a:pPr>
              <a:spcBef>
                <a:spcPts val="200"/>
              </a:spcBef>
              <a:buNone/>
            </a:pPr>
            <a:r>
              <a:rPr sz="1600" b="0" i="0">
                <a:solidFill>
                  <a:srgbClr val="6B7683"/>
                </a:solidFill>
                <a:latin typeface="Calibri"/>
              </a:rPr>
              <a:t>     Tôi muốn uống một cốc trà.</a:t>
            </a:r>
          </a:p>
        </p:txBody>
      </p:sp>
      <p:pic>
        <p:nvPicPr>
          <p:cNvPr id="9" name="slide11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要 · 这个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82926"/>
            <a:ext cx="5272887" cy="17297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5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要</a:t>
            </a:r>
          </a:p>
          <a:p>
            <a:pPr algn="ctr">
              <a:spcBef>
                <a:spcPts val="500"/>
              </a:spcBef>
              <a:buNone/>
            </a:pPr>
            <a:r>
              <a:rPr sz="2200" b="0" i="1">
                <a:solidFill>
                  <a:srgbClr val="8E2B20"/>
                </a:solidFill>
                <a:latin typeface="Calibri"/>
              </a:rPr>
              <a:t>yào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0">
                <a:solidFill>
                  <a:srgbClr val="1F2933"/>
                </a:solidFill>
                <a:latin typeface="Calibri"/>
              </a:rPr>
              <a:t>muốn, gọi (món)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513834"/>
            <a:ext cx="5272887" cy="12080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21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</a:t>
            </a:r>
            <a:r>
              <a:rPr sz="21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要</a:t>
            </a:r>
            <a:r>
              <a:rPr sz="21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一斤饺子。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</a:rPr>
              <a:t>Wǒ yào yì jīn jiǎozi.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6B7683"/>
                </a:solidFill>
                <a:latin typeface="Calibri"/>
              </a:rPr>
              <a:t>Tôi muốn một cân sủi cảo.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70167" y="2582926"/>
            <a:ext cx="5272887" cy="17297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5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这个</a:t>
            </a:r>
          </a:p>
          <a:p>
            <a:pPr algn="ctr">
              <a:spcBef>
                <a:spcPts val="500"/>
              </a:spcBef>
              <a:buNone/>
            </a:pPr>
            <a:r>
              <a:rPr sz="2200" b="0" i="1">
                <a:solidFill>
                  <a:srgbClr val="8E2B20"/>
                </a:solidFill>
                <a:latin typeface="Calibri"/>
              </a:rPr>
              <a:t>zhège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0">
                <a:solidFill>
                  <a:srgbClr val="1F2933"/>
                </a:solidFill>
                <a:latin typeface="Calibri"/>
              </a:rPr>
              <a:t>cái này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70167" y="4513834"/>
            <a:ext cx="5272887" cy="12080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21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我要</a:t>
            </a:r>
            <a:r>
              <a:rPr sz="21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这个</a:t>
            </a:r>
            <a:r>
              <a:rPr sz="21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面包。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</a:rPr>
              <a:t>Wǒ yào zhège miànbāo.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6B7683"/>
                </a:solidFill>
                <a:latin typeface="Calibri"/>
              </a:rPr>
              <a:t>Tôi muốn cái bánh mì này.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95847" y="1611376"/>
            <a:ext cx="13716" cy="4880864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slide12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1"/>
                </p:tgtEl>
              </p:cMediaNode>
            </p:video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一半 — Một nửa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4659654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54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一半</a:t>
            </a:r>
          </a:p>
          <a:p>
            <a:pPr algn="ctr">
              <a:spcBef>
                <a:spcPts val="600"/>
              </a:spcBef>
              <a:buNone/>
            </a:pPr>
            <a:r>
              <a:rPr sz="2200" b="0" i="1">
                <a:solidFill>
                  <a:srgbClr val="8E2B20"/>
                </a:solidFill>
                <a:latin typeface="Calibri"/>
              </a:rPr>
              <a:t>yíbàn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0">
                <a:solidFill>
                  <a:srgbClr val="1F2933"/>
                </a:solidFill>
                <a:latin typeface="Calibri"/>
              </a:rPr>
              <a:t>một nửa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5494" y="1611376"/>
            <a:ext cx="5977561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000" b="1" i="0">
                <a:solidFill>
                  <a:srgbClr val="8E2B20"/>
                </a:solidFill>
                <a:latin typeface="Calibri"/>
              </a:rPr>
              <a:t>•  </a:t>
            </a:r>
            <a:r>
              <a:rPr sz="23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四十个太多了，我要</a:t>
            </a:r>
            <a:r>
              <a:rPr sz="23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一半</a:t>
            </a:r>
            <a:r>
              <a:rPr sz="23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吧。</a:t>
            </a:r>
          </a:p>
          <a:p>
            <a:pPr>
              <a:spcBef>
                <a:spcPts val="300"/>
              </a:spcBef>
              <a:buNone/>
            </a:pPr>
            <a:r>
              <a:rPr sz="1600" b="0" i="1">
                <a:solidFill>
                  <a:srgbClr val="8E2B20"/>
                </a:solidFill>
                <a:latin typeface="Calibri"/>
              </a:rPr>
              <a:t>     Sìshí ge tài duō le, wǒ yào yíbàn ba.</a:t>
            </a:r>
          </a:p>
          <a:p>
            <a:pPr>
              <a:spcBef>
                <a:spcPts val="200"/>
              </a:spcBef>
              <a:buNone/>
            </a:pPr>
            <a:r>
              <a:rPr sz="1600" b="0" i="0">
                <a:solidFill>
                  <a:srgbClr val="6B7683"/>
                </a:solidFill>
                <a:latin typeface="Calibri"/>
              </a:rPr>
              <a:t>     40 cái nhiều quá, cho tôi một nửa thôi.</a:t>
            </a:r>
          </a:p>
        </p:txBody>
      </p:sp>
      <p:pic>
        <p:nvPicPr>
          <p:cNvPr id="8" name="slide13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生词拓展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春卷 — nem cuốn</a:t>
            </a:r>
          </a:p>
        </p:txBody>
      </p:sp>
      <p:pic>
        <p:nvPicPr>
          <p:cNvPr id="6" name="Picture 5" descr="chunjua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516933"/>
            <a:ext cx="4602175" cy="30697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25135" y="1611376"/>
            <a:ext cx="1920240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54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春卷</a:t>
            </a:r>
          </a:p>
          <a:p>
            <a:pPr algn="ctr">
              <a:spcBef>
                <a:spcPts val="600"/>
              </a:spcBef>
              <a:buNone/>
            </a:pPr>
            <a:r>
              <a:rPr sz="2200" b="0" i="1">
                <a:solidFill>
                  <a:srgbClr val="8E2B20"/>
                </a:solidFill>
                <a:latin typeface="Calibri"/>
              </a:rPr>
              <a:t>chūnjuǎn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0">
                <a:solidFill>
                  <a:srgbClr val="1F2933"/>
                </a:solidFill>
                <a:latin typeface="Calibri"/>
              </a:rPr>
              <a:t>nem cuốn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02575" y="1611376"/>
            <a:ext cx="3840480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000" b="1" i="0">
                <a:solidFill>
                  <a:srgbClr val="8E2B20"/>
                </a:solidFill>
                <a:latin typeface="Calibri"/>
              </a:rPr>
              <a:t>•  </a:t>
            </a:r>
            <a:r>
              <a:rPr sz="23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我很喜欢吃</a:t>
            </a:r>
            <a:r>
              <a:rPr sz="23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春卷</a:t>
            </a:r>
            <a:r>
              <a:rPr sz="23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。</a:t>
            </a:r>
          </a:p>
          <a:p>
            <a:pPr>
              <a:spcBef>
                <a:spcPts val="300"/>
              </a:spcBef>
              <a:buNone/>
            </a:pPr>
            <a:r>
              <a:rPr sz="1600" b="0" i="1">
                <a:solidFill>
                  <a:srgbClr val="8E2B20"/>
                </a:solidFill>
                <a:latin typeface="Calibri"/>
              </a:rPr>
              <a:t>     Wǒ hěn xǐhuan chī chūnjuǎn.</a:t>
            </a:r>
          </a:p>
          <a:p>
            <a:pPr>
              <a:spcBef>
                <a:spcPts val="200"/>
              </a:spcBef>
              <a:buNone/>
            </a:pPr>
            <a:r>
              <a:rPr sz="1600" b="0" i="0">
                <a:solidFill>
                  <a:srgbClr val="6B7683"/>
                </a:solidFill>
                <a:latin typeface="Calibri"/>
              </a:rPr>
              <a:t>     Tôi rất thích ăn nem cuốn.</a:t>
            </a:r>
          </a:p>
        </p:txBody>
      </p:sp>
      <p:pic>
        <p:nvPicPr>
          <p:cNvPr id="9" name="slide14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生词拓展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粥 — cháo</a:t>
            </a:r>
          </a:p>
        </p:txBody>
      </p:sp>
      <p:pic>
        <p:nvPicPr>
          <p:cNvPr id="6" name="Picture 5" descr="zhou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516933"/>
            <a:ext cx="4602175" cy="30697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25135" y="1611376"/>
            <a:ext cx="1920240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54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粥</a:t>
            </a:r>
          </a:p>
          <a:p>
            <a:pPr algn="ctr">
              <a:spcBef>
                <a:spcPts val="600"/>
              </a:spcBef>
              <a:buNone/>
            </a:pPr>
            <a:r>
              <a:rPr sz="2200" b="0" i="1">
                <a:solidFill>
                  <a:srgbClr val="8E2B20"/>
                </a:solidFill>
                <a:latin typeface="Calibri"/>
              </a:rPr>
              <a:t>zhōu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0">
                <a:solidFill>
                  <a:srgbClr val="1F2933"/>
                </a:solidFill>
                <a:latin typeface="Calibri"/>
              </a:rPr>
              <a:t>cháo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02575" y="1611376"/>
            <a:ext cx="3840480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000" b="1" i="0">
                <a:solidFill>
                  <a:srgbClr val="8E2B20"/>
                </a:solidFill>
                <a:latin typeface="Calibri"/>
              </a:rPr>
              <a:t>•  </a:t>
            </a:r>
            <a:r>
              <a:rPr sz="23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我早上喜欢喝</a:t>
            </a:r>
            <a:r>
              <a:rPr sz="23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粥</a:t>
            </a:r>
            <a:r>
              <a:rPr sz="23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。</a:t>
            </a:r>
          </a:p>
          <a:p>
            <a:pPr>
              <a:spcBef>
                <a:spcPts val="300"/>
              </a:spcBef>
              <a:buNone/>
            </a:pPr>
            <a:r>
              <a:rPr sz="1600" b="0" i="1">
                <a:solidFill>
                  <a:srgbClr val="8E2B20"/>
                </a:solidFill>
                <a:latin typeface="Calibri"/>
              </a:rPr>
              <a:t>     Wǒ zǎoshang xǐhuan hē zhōu.</a:t>
            </a:r>
          </a:p>
          <a:p>
            <a:pPr>
              <a:spcBef>
                <a:spcPts val="200"/>
              </a:spcBef>
              <a:buNone/>
            </a:pPr>
            <a:r>
              <a:rPr sz="1600" b="0" i="0">
                <a:solidFill>
                  <a:srgbClr val="6B7683"/>
                </a:solidFill>
                <a:latin typeface="Calibri"/>
              </a:rPr>
              <a:t>     Buổi sáng tôi thích ăn cháo.</a:t>
            </a:r>
          </a:p>
        </p:txBody>
      </p:sp>
      <p:pic>
        <p:nvPicPr>
          <p:cNvPr id="9" name="slide15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生词拓展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炒饭 — cơm rang</a:t>
            </a:r>
          </a:p>
        </p:txBody>
      </p:sp>
      <p:pic>
        <p:nvPicPr>
          <p:cNvPr id="6" name="Picture 5" descr="chaofa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516933"/>
            <a:ext cx="4602175" cy="30697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25135" y="1611376"/>
            <a:ext cx="1920240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54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炒饭</a:t>
            </a:r>
          </a:p>
          <a:p>
            <a:pPr algn="ctr">
              <a:spcBef>
                <a:spcPts val="600"/>
              </a:spcBef>
              <a:buNone/>
            </a:pPr>
            <a:r>
              <a:rPr sz="2200" b="0" i="1">
                <a:solidFill>
                  <a:srgbClr val="8E2B20"/>
                </a:solidFill>
                <a:latin typeface="Calibri"/>
              </a:rPr>
              <a:t>chǎofàn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0">
                <a:solidFill>
                  <a:srgbClr val="1F2933"/>
                </a:solidFill>
                <a:latin typeface="Calibri"/>
              </a:rPr>
              <a:t>cơm rang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02575" y="1611376"/>
            <a:ext cx="3840480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000" b="1" i="0">
                <a:solidFill>
                  <a:srgbClr val="8E2B20"/>
                </a:solidFill>
                <a:latin typeface="Calibri"/>
              </a:rPr>
              <a:t>•  </a:t>
            </a:r>
            <a:r>
              <a:rPr sz="23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我要一份</a:t>
            </a:r>
            <a:r>
              <a:rPr sz="23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炒饭</a:t>
            </a:r>
            <a:r>
              <a:rPr sz="23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。</a:t>
            </a:r>
          </a:p>
          <a:p>
            <a:pPr>
              <a:spcBef>
                <a:spcPts val="300"/>
              </a:spcBef>
              <a:buNone/>
            </a:pPr>
            <a:r>
              <a:rPr sz="1600" b="0" i="1">
                <a:solidFill>
                  <a:srgbClr val="8E2B20"/>
                </a:solidFill>
                <a:latin typeface="Calibri"/>
              </a:rPr>
              <a:t>     Wǒ yào yí fèn chǎofàn.</a:t>
            </a:r>
          </a:p>
          <a:p>
            <a:pPr>
              <a:spcBef>
                <a:spcPts val="200"/>
              </a:spcBef>
              <a:buNone/>
            </a:pPr>
            <a:r>
              <a:rPr sz="1600" b="0" i="0">
                <a:solidFill>
                  <a:srgbClr val="6B7683"/>
                </a:solidFill>
                <a:latin typeface="Calibri"/>
              </a:rPr>
              <a:t>     Tôi muốn một phần cơm rang.</a:t>
            </a:r>
          </a:p>
        </p:txBody>
      </p:sp>
      <p:pic>
        <p:nvPicPr>
          <p:cNvPr id="9" name="slide16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生词拓展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汤 — canh, súp</a:t>
            </a:r>
          </a:p>
        </p:txBody>
      </p:sp>
      <p:pic>
        <p:nvPicPr>
          <p:cNvPr id="6" name="Picture 5" descr="ta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326655"/>
            <a:ext cx="4602175" cy="345030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25135" y="1611376"/>
            <a:ext cx="1920240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54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汤</a:t>
            </a:r>
          </a:p>
          <a:p>
            <a:pPr algn="ctr">
              <a:spcBef>
                <a:spcPts val="600"/>
              </a:spcBef>
              <a:buNone/>
            </a:pPr>
            <a:r>
              <a:rPr sz="2200" b="0" i="1">
                <a:solidFill>
                  <a:srgbClr val="8E2B20"/>
                </a:solidFill>
                <a:latin typeface="Calibri"/>
              </a:rPr>
              <a:t>tāng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0">
                <a:solidFill>
                  <a:srgbClr val="1F2933"/>
                </a:solidFill>
                <a:latin typeface="Calibri"/>
              </a:rPr>
              <a:t>canh, súp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02575" y="1611376"/>
            <a:ext cx="3840480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000" b="1" i="0">
                <a:solidFill>
                  <a:srgbClr val="8E2B20"/>
                </a:solidFill>
                <a:latin typeface="Calibri"/>
              </a:rPr>
              <a:t>•  </a:t>
            </a:r>
            <a:r>
              <a:rPr sz="23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这个</a:t>
            </a:r>
            <a:r>
              <a:rPr sz="23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汤</a:t>
            </a:r>
            <a:r>
              <a:rPr sz="23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真好喝。</a:t>
            </a:r>
          </a:p>
          <a:p>
            <a:pPr>
              <a:spcBef>
                <a:spcPts val="300"/>
              </a:spcBef>
              <a:buNone/>
            </a:pPr>
            <a:r>
              <a:rPr sz="1600" b="0" i="1">
                <a:solidFill>
                  <a:srgbClr val="8E2B20"/>
                </a:solidFill>
                <a:latin typeface="Calibri"/>
              </a:rPr>
              <a:t>     Zhège tāng zhēn hǎohē.</a:t>
            </a:r>
          </a:p>
          <a:p>
            <a:pPr>
              <a:spcBef>
                <a:spcPts val="200"/>
              </a:spcBef>
              <a:buNone/>
            </a:pPr>
            <a:r>
              <a:rPr sz="1600" b="0" i="0">
                <a:solidFill>
                  <a:srgbClr val="6B7683"/>
                </a:solidFill>
                <a:latin typeface="Calibri"/>
              </a:rPr>
              <a:t>     Canh này ngon thật.</a:t>
            </a:r>
          </a:p>
        </p:txBody>
      </p:sp>
      <p:pic>
        <p:nvPicPr>
          <p:cNvPr id="9" name="slide17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生词拓展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咖啡 — cà phê</a:t>
            </a:r>
          </a:p>
        </p:txBody>
      </p:sp>
      <p:pic>
        <p:nvPicPr>
          <p:cNvPr id="6" name="Picture 5" descr="kafe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516933"/>
            <a:ext cx="4602175" cy="30697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25135" y="1611376"/>
            <a:ext cx="1920240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54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咖啡</a:t>
            </a:r>
          </a:p>
          <a:p>
            <a:pPr algn="ctr">
              <a:spcBef>
                <a:spcPts val="600"/>
              </a:spcBef>
              <a:buNone/>
            </a:pPr>
            <a:r>
              <a:rPr sz="2200" b="0" i="1">
                <a:solidFill>
                  <a:srgbClr val="8E2B20"/>
                </a:solidFill>
                <a:latin typeface="Calibri"/>
              </a:rPr>
              <a:t>kāfēi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0">
                <a:solidFill>
                  <a:srgbClr val="1F2933"/>
                </a:solidFill>
                <a:latin typeface="Calibri"/>
              </a:rPr>
              <a:t>cà phê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02575" y="1611376"/>
            <a:ext cx="3840480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000" b="1" i="0">
                <a:solidFill>
                  <a:srgbClr val="8E2B20"/>
                </a:solidFill>
                <a:latin typeface="Calibri"/>
              </a:rPr>
              <a:t>•  </a:t>
            </a:r>
            <a:r>
              <a:rPr sz="23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我每天喝一杯</a:t>
            </a:r>
            <a:r>
              <a:rPr sz="23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咖啡</a:t>
            </a:r>
            <a:r>
              <a:rPr sz="23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。</a:t>
            </a:r>
          </a:p>
          <a:p>
            <a:pPr>
              <a:spcBef>
                <a:spcPts val="300"/>
              </a:spcBef>
              <a:buNone/>
            </a:pPr>
            <a:r>
              <a:rPr sz="1600" b="0" i="1">
                <a:solidFill>
                  <a:srgbClr val="8E2B20"/>
                </a:solidFill>
                <a:latin typeface="Calibri"/>
              </a:rPr>
              <a:t>     Wǒ měitiān hē yì bēi kāfēi.</a:t>
            </a:r>
          </a:p>
          <a:p>
            <a:pPr>
              <a:spcBef>
                <a:spcPts val="200"/>
              </a:spcBef>
              <a:buNone/>
            </a:pPr>
            <a:r>
              <a:rPr sz="1600" b="0" i="0">
                <a:solidFill>
                  <a:srgbClr val="6B7683"/>
                </a:solidFill>
                <a:latin typeface="Calibri"/>
              </a:rPr>
              <a:t>     Mỗi ngày tôi uống một cốc cà phê.</a:t>
            </a:r>
          </a:p>
        </p:txBody>
      </p:sp>
      <p:pic>
        <p:nvPicPr>
          <p:cNvPr id="9" name="slide18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生词拓展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奶茶 — trà sữa</a:t>
            </a:r>
          </a:p>
        </p:txBody>
      </p:sp>
      <p:pic>
        <p:nvPicPr>
          <p:cNvPr id="6" name="Picture 5" descr="naich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516933"/>
            <a:ext cx="4602175" cy="30697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25135" y="1611376"/>
            <a:ext cx="1920240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54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奶茶</a:t>
            </a:r>
          </a:p>
          <a:p>
            <a:pPr algn="ctr">
              <a:spcBef>
                <a:spcPts val="600"/>
              </a:spcBef>
              <a:buNone/>
            </a:pPr>
            <a:r>
              <a:rPr sz="2200" b="0" i="1">
                <a:solidFill>
                  <a:srgbClr val="8E2B20"/>
                </a:solidFill>
                <a:latin typeface="Calibri"/>
              </a:rPr>
              <a:t>nǎichá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0">
                <a:solidFill>
                  <a:srgbClr val="1F2933"/>
                </a:solidFill>
                <a:latin typeface="Calibri"/>
              </a:rPr>
              <a:t>trà sữa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02575" y="1611376"/>
            <a:ext cx="3840480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000" b="1" i="0">
                <a:solidFill>
                  <a:srgbClr val="8E2B20"/>
                </a:solidFill>
                <a:latin typeface="Calibri"/>
              </a:rPr>
              <a:t>•  </a:t>
            </a:r>
            <a:r>
              <a:rPr sz="23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你喝</a:t>
            </a:r>
            <a:r>
              <a:rPr sz="23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奶茶</a:t>
            </a:r>
            <a:r>
              <a:rPr sz="23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吗？</a:t>
            </a:r>
          </a:p>
          <a:p>
            <a:pPr>
              <a:spcBef>
                <a:spcPts val="300"/>
              </a:spcBef>
              <a:buNone/>
            </a:pPr>
            <a:r>
              <a:rPr sz="1600" b="0" i="1">
                <a:solidFill>
                  <a:srgbClr val="8E2B20"/>
                </a:solidFill>
                <a:latin typeface="Calibri"/>
              </a:rPr>
              <a:t>     Nǐ hē nǎichá ma?</a:t>
            </a:r>
          </a:p>
          <a:p>
            <a:pPr>
              <a:spcBef>
                <a:spcPts val="200"/>
              </a:spcBef>
              <a:buNone/>
            </a:pPr>
            <a:r>
              <a:rPr sz="1600" b="0" i="0">
                <a:solidFill>
                  <a:srgbClr val="6B7683"/>
                </a:solidFill>
                <a:latin typeface="Calibri"/>
              </a:rPr>
              <a:t>     Bạn uống trà sữa không?</a:t>
            </a:r>
          </a:p>
        </p:txBody>
      </p:sp>
      <p:pic>
        <p:nvPicPr>
          <p:cNvPr id="9" name="slide19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生词拓展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汽水 — nước ngọt có ga</a:t>
            </a:r>
          </a:p>
        </p:txBody>
      </p:sp>
      <p:pic>
        <p:nvPicPr>
          <p:cNvPr id="6" name="Picture 5" descr="qishu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516933"/>
            <a:ext cx="4602175" cy="30697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25135" y="1611376"/>
            <a:ext cx="1920240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54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汽水</a:t>
            </a:r>
          </a:p>
          <a:p>
            <a:pPr algn="ctr">
              <a:spcBef>
                <a:spcPts val="600"/>
              </a:spcBef>
              <a:buNone/>
            </a:pPr>
            <a:r>
              <a:rPr sz="2200" b="0" i="1">
                <a:solidFill>
                  <a:srgbClr val="8E2B20"/>
                </a:solidFill>
                <a:latin typeface="Calibri"/>
              </a:rPr>
              <a:t>qìshuǐ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0">
                <a:solidFill>
                  <a:srgbClr val="1F2933"/>
                </a:solidFill>
                <a:latin typeface="Calibri"/>
              </a:rPr>
              <a:t>nước ngọt có ga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02575" y="1611376"/>
            <a:ext cx="3840480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000" b="1" i="0">
                <a:solidFill>
                  <a:srgbClr val="8E2B20"/>
                </a:solidFill>
                <a:latin typeface="Calibri"/>
              </a:rPr>
              <a:t>•  </a:t>
            </a:r>
            <a:r>
              <a:rPr sz="23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我想喝一瓶</a:t>
            </a:r>
            <a:r>
              <a:rPr sz="23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汽水</a:t>
            </a:r>
            <a:r>
              <a:rPr sz="23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。</a:t>
            </a:r>
          </a:p>
          <a:p>
            <a:pPr>
              <a:spcBef>
                <a:spcPts val="300"/>
              </a:spcBef>
              <a:buNone/>
            </a:pPr>
            <a:r>
              <a:rPr sz="1600" b="0" i="1">
                <a:solidFill>
                  <a:srgbClr val="8E2B20"/>
                </a:solidFill>
                <a:latin typeface="Calibri"/>
              </a:rPr>
              <a:t>     Wǒ xiǎng hē yì píng qìshuǐ.</a:t>
            </a:r>
          </a:p>
          <a:p>
            <a:pPr>
              <a:spcBef>
                <a:spcPts val="200"/>
              </a:spcBef>
              <a:buNone/>
            </a:pPr>
            <a:r>
              <a:rPr sz="1600" b="0" i="0">
                <a:solidFill>
                  <a:srgbClr val="6B7683"/>
                </a:solidFill>
                <a:latin typeface="Calibri"/>
              </a:rPr>
              <a:t>     Tôi muốn uống một chai nước ngọt.</a:t>
            </a:r>
          </a:p>
        </p:txBody>
      </p:sp>
      <p:pic>
        <p:nvPicPr>
          <p:cNvPr id="9" name="slide20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生词拓展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果汁 — nước ép trái cây</a:t>
            </a:r>
          </a:p>
        </p:txBody>
      </p:sp>
      <p:pic>
        <p:nvPicPr>
          <p:cNvPr id="6" name="Picture 5" descr="guozh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516933"/>
            <a:ext cx="4602175" cy="30697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25135" y="1611376"/>
            <a:ext cx="1920240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54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果汁</a:t>
            </a:r>
          </a:p>
          <a:p>
            <a:pPr algn="ctr">
              <a:spcBef>
                <a:spcPts val="600"/>
              </a:spcBef>
              <a:buNone/>
            </a:pPr>
            <a:r>
              <a:rPr sz="2200" b="0" i="1">
                <a:solidFill>
                  <a:srgbClr val="8E2B20"/>
                </a:solidFill>
                <a:latin typeface="Calibri"/>
              </a:rPr>
              <a:t>guǒzhī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0">
                <a:solidFill>
                  <a:srgbClr val="1F2933"/>
                </a:solidFill>
                <a:latin typeface="Calibri"/>
              </a:rPr>
              <a:t>nước ép trái cây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02575" y="1611376"/>
            <a:ext cx="3840480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000" b="1" i="0">
                <a:solidFill>
                  <a:srgbClr val="8E2B20"/>
                </a:solidFill>
                <a:latin typeface="Calibri"/>
              </a:rPr>
              <a:t>•  </a:t>
            </a:r>
            <a:r>
              <a:rPr sz="23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这个</a:t>
            </a:r>
            <a:r>
              <a:rPr sz="23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果汁</a:t>
            </a:r>
            <a:r>
              <a:rPr sz="23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很好喝。</a:t>
            </a:r>
          </a:p>
          <a:p>
            <a:pPr>
              <a:spcBef>
                <a:spcPts val="300"/>
              </a:spcBef>
              <a:buNone/>
            </a:pPr>
            <a:r>
              <a:rPr sz="1600" b="0" i="1">
                <a:solidFill>
                  <a:srgbClr val="8E2B20"/>
                </a:solidFill>
                <a:latin typeface="Calibri"/>
              </a:rPr>
              <a:t>     Zhège guǒzhī hěn hǎohē.</a:t>
            </a:r>
          </a:p>
          <a:p>
            <a:pPr>
              <a:spcBef>
                <a:spcPts val="200"/>
              </a:spcBef>
              <a:buNone/>
            </a:pPr>
            <a:r>
              <a:rPr sz="1600" b="0" i="0">
                <a:solidFill>
                  <a:srgbClr val="6B7683"/>
                </a:solidFill>
                <a:latin typeface="Calibri"/>
              </a:rPr>
              <a:t>     Nước ép này ngon lắm.</a:t>
            </a:r>
          </a:p>
        </p:txBody>
      </p:sp>
      <p:pic>
        <p:nvPicPr>
          <p:cNvPr id="9" name="slide21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生词拓展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瓶 — chai (lượng từ)</a:t>
            </a:r>
          </a:p>
        </p:txBody>
      </p:sp>
      <p:pic>
        <p:nvPicPr>
          <p:cNvPr id="6" name="Picture 5" descr="pi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516933"/>
            <a:ext cx="4602175" cy="30697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25135" y="1611376"/>
            <a:ext cx="1920240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54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瓶</a:t>
            </a:r>
          </a:p>
          <a:p>
            <a:pPr algn="ctr">
              <a:spcBef>
                <a:spcPts val="600"/>
              </a:spcBef>
              <a:buNone/>
            </a:pPr>
            <a:r>
              <a:rPr sz="2200" b="0" i="1">
                <a:solidFill>
                  <a:srgbClr val="8E2B20"/>
                </a:solidFill>
                <a:latin typeface="Calibri"/>
              </a:rPr>
              <a:t>píng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0">
                <a:solidFill>
                  <a:srgbClr val="1F2933"/>
                </a:solidFill>
                <a:latin typeface="Calibri"/>
              </a:rPr>
              <a:t>chai (lượng từ)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02575" y="1611376"/>
            <a:ext cx="3840480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000" b="1" i="0">
                <a:solidFill>
                  <a:srgbClr val="8E2B20"/>
                </a:solidFill>
                <a:latin typeface="Calibri"/>
              </a:rPr>
              <a:t>•  </a:t>
            </a:r>
            <a:r>
              <a:rPr sz="23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我要一</a:t>
            </a:r>
            <a:r>
              <a:rPr sz="23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瓶</a:t>
            </a:r>
            <a:r>
              <a:rPr sz="23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水。</a:t>
            </a:r>
          </a:p>
          <a:p>
            <a:pPr>
              <a:spcBef>
                <a:spcPts val="300"/>
              </a:spcBef>
              <a:buNone/>
            </a:pPr>
            <a:r>
              <a:rPr sz="1600" b="0" i="1">
                <a:solidFill>
                  <a:srgbClr val="8E2B20"/>
                </a:solidFill>
                <a:latin typeface="Calibri"/>
              </a:rPr>
              <a:t>     Wǒ yào yì píng shuǐ.</a:t>
            </a:r>
          </a:p>
          <a:p>
            <a:pPr>
              <a:spcBef>
                <a:spcPts val="200"/>
              </a:spcBef>
              <a:buNone/>
            </a:pPr>
            <a:r>
              <a:rPr sz="1600" b="0" i="0">
                <a:solidFill>
                  <a:srgbClr val="6B7683"/>
                </a:solidFill>
                <a:latin typeface="Calibri"/>
              </a:rPr>
              <a:t>     Tôi muốn một chai nước.</a:t>
            </a:r>
          </a:p>
        </p:txBody>
      </p:sp>
      <p:pic>
        <p:nvPicPr>
          <p:cNvPr id="9" name="slide22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生词拓展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碗 — bát, tô (lượng từ)</a:t>
            </a:r>
          </a:p>
        </p:txBody>
      </p:sp>
      <p:pic>
        <p:nvPicPr>
          <p:cNvPr id="6" name="Picture 5" descr="wa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531621"/>
            <a:ext cx="4602175" cy="304037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25135" y="1611376"/>
            <a:ext cx="1920240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54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碗</a:t>
            </a:r>
          </a:p>
          <a:p>
            <a:pPr algn="ctr">
              <a:spcBef>
                <a:spcPts val="600"/>
              </a:spcBef>
              <a:buNone/>
            </a:pPr>
            <a:r>
              <a:rPr sz="2200" b="0" i="1">
                <a:solidFill>
                  <a:srgbClr val="8E2B20"/>
                </a:solidFill>
                <a:latin typeface="Calibri"/>
              </a:rPr>
              <a:t>wǎn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0">
                <a:solidFill>
                  <a:srgbClr val="1F2933"/>
                </a:solidFill>
                <a:latin typeface="Calibri"/>
              </a:rPr>
              <a:t>bát, tô (lượng từ)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02575" y="1611376"/>
            <a:ext cx="3840480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000" b="1" i="0">
                <a:solidFill>
                  <a:srgbClr val="8E2B20"/>
                </a:solidFill>
                <a:latin typeface="Calibri"/>
              </a:rPr>
              <a:t>•  </a:t>
            </a:r>
            <a:r>
              <a:rPr sz="23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我要一</a:t>
            </a:r>
            <a:r>
              <a:rPr sz="23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碗</a:t>
            </a:r>
            <a:r>
              <a:rPr sz="23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米饭。</a:t>
            </a:r>
          </a:p>
          <a:p>
            <a:pPr>
              <a:spcBef>
                <a:spcPts val="300"/>
              </a:spcBef>
              <a:buNone/>
            </a:pPr>
            <a:r>
              <a:rPr sz="1600" b="0" i="1">
                <a:solidFill>
                  <a:srgbClr val="8E2B20"/>
                </a:solidFill>
                <a:latin typeface="Calibri"/>
              </a:rPr>
              <a:t>     Wǒ yào yì wǎn mǐfàn.</a:t>
            </a:r>
          </a:p>
          <a:p>
            <a:pPr>
              <a:spcBef>
                <a:spcPts val="200"/>
              </a:spcBef>
              <a:buNone/>
            </a:pPr>
            <a:r>
              <a:rPr sz="1600" b="0" i="0">
                <a:solidFill>
                  <a:srgbClr val="6B7683"/>
                </a:solidFill>
                <a:latin typeface="Calibri"/>
              </a:rPr>
              <a:t>     Tôi muốn một bát cơm.</a:t>
            </a:r>
          </a:p>
        </p:txBody>
      </p:sp>
      <p:pic>
        <p:nvPicPr>
          <p:cNvPr id="9" name="slide23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生词拓展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份 — Phần, suất</a:t>
            </a:r>
          </a:p>
        </p:txBody>
      </p:sp>
      <p:pic>
        <p:nvPicPr>
          <p:cNvPr id="6" name="Picture 5" descr="fe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516933"/>
            <a:ext cx="4602175" cy="30697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25135" y="1611376"/>
            <a:ext cx="1920240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54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份</a:t>
            </a:r>
          </a:p>
          <a:p>
            <a:pPr algn="ctr">
              <a:spcBef>
                <a:spcPts val="600"/>
              </a:spcBef>
              <a:buNone/>
            </a:pPr>
            <a:r>
              <a:rPr sz="2200" b="0" i="1">
                <a:solidFill>
                  <a:srgbClr val="8E2B20"/>
                </a:solidFill>
                <a:latin typeface="Calibri"/>
              </a:rPr>
              <a:t>fèn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0">
                <a:solidFill>
                  <a:srgbClr val="1F2933"/>
                </a:solidFill>
                <a:latin typeface="Calibri"/>
              </a:rPr>
              <a:t>phần, suất (lượng từ)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02575" y="1611376"/>
            <a:ext cx="3840480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000" b="1" i="0">
                <a:solidFill>
                  <a:srgbClr val="8E2B20"/>
                </a:solidFill>
                <a:latin typeface="Calibri"/>
              </a:rPr>
              <a:t>•  </a:t>
            </a:r>
            <a:r>
              <a:rPr sz="23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我们要两</a:t>
            </a:r>
            <a:r>
              <a:rPr sz="23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份</a:t>
            </a:r>
            <a:r>
              <a:rPr sz="23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米饭。</a:t>
            </a:r>
          </a:p>
          <a:p>
            <a:pPr>
              <a:spcBef>
                <a:spcPts val="300"/>
              </a:spcBef>
              <a:buNone/>
            </a:pPr>
            <a:r>
              <a:rPr sz="1600" b="0" i="1">
                <a:solidFill>
                  <a:srgbClr val="8E2B20"/>
                </a:solidFill>
                <a:latin typeface="Calibri"/>
              </a:rPr>
              <a:t>     Wǒmen yào liǎng fèn mǐfàn.</a:t>
            </a:r>
          </a:p>
          <a:p>
            <a:pPr>
              <a:spcBef>
                <a:spcPts val="200"/>
              </a:spcBef>
              <a:buNone/>
            </a:pPr>
            <a:r>
              <a:rPr sz="1600" b="0" i="0">
                <a:solidFill>
                  <a:srgbClr val="6B7683"/>
                </a:solidFill>
                <a:latin typeface="Calibri"/>
              </a:rPr>
              <a:t>     Chúng tôi muốn hai phần cơm.</a:t>
            </a:r>
          </a:p>
          <a:p>
            <a:pPr>
              <a:spcBef>
                <a:spcPts val="2600"/>
              </a:spcBef>
              <a:buNone/>
            </a:pPr>
            <a:r>
              <a:rPr sz="2000" b="1" i="0">
                <a:solidFill>
                  <a:srgbClr val="8E2B20"/>
                </a:solidFill>
                <a:latin typeface="Calibri"/>
              </a:rPr>
              <a:t>•  </a:t>
            </a:r>
            <a:r>
              <a:rPr sz="23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一</a:t>
            </a:r>
            <a:r>
              <a:rPr sz="23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份</a:t>
            </a:r>
            <a:r>
              <a:rPr sz="23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炒饭十块钱。</a:t>
            </a:r>
          </a:p>
          <a:p>
            <a:pPr>
              <a:spcBef>
                <a:spcPts val="300"/>
              </a:spcBef>
              <a:buNone/>
            </a:pPr>
            <a:r>
              <a:rPr sz="1600" b="0" i="1">
                <a:solidFill>
                  <a:srgbClr val="8E2B20"/>
                </a:solidFill>
                <a:latin typeface="Calibri"/>
              </a:rPr>
              <a:t>     Yí fèn chǎofàn shí kuài qián.</a:t>
            </a:r>
          </a:p>
          <a:p>
            <a:pPr>
              <a:spcBef>
                <a:spcPts val="200"/>
              </a:spcBef>
              <a:buNone/>
            </a:pPr>
            <a:r>
              <a:rPr sz="1600" b="0" i="0">
                <a:solidFill>
                  <a:srgbClr val="6B7683"/>
                </a:solidFill>
                <a:latin typeface="Calibri"/>
              </a:rPr>
              <a:t>     Một phần cơm rang mười tệ.</a:t>
            </a:r>
          </a:p>
        </p:txBody>
      </p:sp>
      <p:pic>
        <p:nvPicPr>
          <p:cNvPr id="9" name="slide24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会话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课文1 · 再问一个问题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11376"/>
            <a:ext cx="5432907" cy="365760"/>
          </a:xfrm>
          <a:prstGeom prst="roundRect">
            <a:avLst/>
          </a:prstGeom>
          <a:solidFill>
            <a:srgbClr val="F7E4E1"/>
          </a:solidFill>
          <a:ln w="9525">
            <a:solidFill>
              <a:srgbClr val="8E2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buNone/>
            </a:pPr>
            <a:r>
              <a:rPr sz="14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🙂 白家月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0147" y="1611376"/>
            <a:ext cx="5432907" cy="365760"/>
          </a:xfrm>
          <a:prstGeom prst="roundRect">
            <a:avLst/>
          </a:prstGeom>
          <a:solidFill>
            <a:srgbClr val="E4EEF7"/>
          </a:solidFill>
          <a:ln w="9525">
            <a:solidFill>
              <a:srgbClr val="8E2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buNone/>
            </a:pPr>
            <a:r>
              <a:rPr sz="14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🙂 王一飞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68576"/>
            <a:ext cx="5432907" cy="676656"/>
          </a:xfrm>
          <a:prstGeom prst="roundRect">
            <a:avLst/>
          </a:prstGeom>
          <a:solidFill>
            <a:srgbClr val="F7E4E1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 tIns="38100" bIns="38100"/>
          <a:lstStyle/>
          <a:p>
            <a:pPr algn="l">
              <a:buNone/>
            </a:pPr>
            <a:r>
              <a:rPr sz="1600" b="1" i="0">
                <a:solidFill>
                  <a:srgbClr val="8E2B20"/>
                </a:solidFill>
                <a:latin typeface="Calibri"/>
              </a:rPr>
              <a:t>1. </a:t>
            </a:r>
            <a:r>
              <a:rPr sz="16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王老师，我可以再问您一个问题吗？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</a:rPr>
              <a:t>Wáng lǎoshī, wǒ kěyǐ zài wèn nín yí ge wèntí ma?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0147" y="2836672"/>
            <a:ext cx="5432907" cy="676656"/>
          </a:xfrm>
          <a:prstGeom prst="roundRect">
            <a:avLst/>
          </a:prstGeom>
          <a:solidFill>
            <a:srgbClr val="E4EE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 tIns="38100" bIns="38100"/>
          <a:lstStyle/>
          <a:p>
            <a:pPr algn="l">
              <a:buNone/>
            </a:pPr>
            <a:r>
              <a:rPr sz="1600" b="1" i="0">
                <a:solidFill>
                  <a:srgbClr val="8E2B20"/>
                </a:solidFill>
                <a:latin typeface="Calibri"/>
              </a:rPr>
              <a:t>2. </a:t>
            </a:r>
            <a:r>
              <a:rPr sz="16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可以。你有什么问题？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</a:rPr>
              <a:t>Kěyǐ. Nǐ yǒu shénme wèntí?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604768"/>
            <a:ext cx="5432907" cy="676656"/>
          </a:xfrm>
          <a:prstGeom prst="roundRect">
            <a:avLst/>
          </a:prstGeom>
          <a:solidFill>
            <a:srgbClr val="F7E4E1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 tIns="38100" bIns="38100"/>
          <a:lstStyle/>
          <a:p>
            <a:pPr algn="l">
              <a:buNone/>
            </a:pPr>
            <a:r>
              <a:rPr sz="1600" b="1" i="0">
                <a:solidFill>
                  <a:srgbClr val="8E2B20"/>
                </a:solidFill>
                <a:latin typeface="Calibri"/>
              </a:rPr>
              <a:t>3. </a:t>
            </a:r>
            <a:r>
              <a:rPr sz="16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那个小店卖不卖手机？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</a:rPr>
              <a:t>Nàge xiǎodiàn mài bu mài shǒujī?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0147" y="4372864"/>
            <a:ext cx="5432907" cy="676656"/>
          </a:xfrm>
          <a:prstGeom prst="roundRect">
            <a:avLst/>
          </a:prstGeom>
          <a:solidFill>
            <a:srgbClr val="E4EE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 tIns="38100" bIns="38100"/>
          <a:lstStyle/>
          <a:p>
            <a:pPr algn="l">
              <a:buNone/>
            </a:pPr>
            <a:r>
              <a:rPr sz="1600" b="1" i="0">
                <a:solidFill>
                  <a:srgbClr val="8E2B20"/>
                </a:solidFill>
                <a:latin typeface="Calibri"/>
              </a:rPr>
              <a:t>4. </a:t>
            </a:r>
            <a:r>
              <a:rPr sz="16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我不知道。你可以打电话问一下。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</a:rPr>
              <a:t>Wǒ bù zhīdào. Nǐ kěyǐ dǎ diànhuà wèn yíxià.</a:t>
            </a:r>
          </a:p>
        </p:txBody>
      </p:sp>
      <p:pic>
        <p:nvPicPr>
          <p:cNvPr id="12" name="slide25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2"/>
                </p:tgtEl>
              </p:cMediaNode>
            </p:video>
          </p:childTnLst>
        </p:cTn>
      </p:par>
    </p:tnLst>
  </p:timing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会话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课文2 · 咖啡馆点早餐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11376"/>
            <a:ext cx="5432907" cy="365760"/>
          </a:xfrm>
          <a:prstGeom prst="roundRect">
            <a:avLst/>
          </a:prstGeom>
          <a:solidFill>
            <a:srgbClr val="F7E4E1"/>
          </a:solidFill>
          <a:ln w="9525">
            <a:solidFill>
              <a:srgbClr val="8E2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buNone/>
            </a:pPr>
            <a:r>
              <a:rPr sz="14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🙂 服务员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0147" y="1611376"/>
            <a:ext cx="5432907" cy="365760"/>
          </a:xfrm>
          <a:prstGeom prst="roundRect">
            <a:avLst/>
          </a:prstGeom>
          <a:solidFill>
            <a:srgbClr val="E4EEF7"/>
          </a:solidFill>
          <a:ln w="9525">
            <a:solidFill>
              <a:srgbClr val="8E2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buNone/>
            </a:pPr>
            <a:r>
              <a:rPr sz="14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🙂 王一雪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68576"/>
            <a:ext cx="5432907" cy="676656"/>
          </a:xfrm>
          <a:prstGeom prst="roundRect">
            <a:avLst/>
          </a:prstGeom>
          <a:solidFill>
            <a:srgbClr val="F7E4E1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 tIns="38100" bIns="38100"/>
          <a:lstStyle/>
          <a:p>
            <a:pPr algn="l">
              <a:buNone/>
            </a:pPr>
            <a:r>
              <a:rPr sz="1600" b="1" i="0">
                <a:solidFill>
                  <a:srgbClr val="8E2B20"/>
                </a:solidFill>
                <a:latin typeface="Calibri"/>
              </a:rPr>
              <a:t>1. </a:t>
            </a:r>
            <a:r>
              <a:rPr sz="16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女士，请坐！您喝什么？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</a:rPr>
              <a:t>Nǚshì, qǐng zuò! Nín hē shénme?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0147" y="2836672"/>
            <a:ext cx="5432907" cy="676656"/>
          </a:xfrm>
          <a:prstGeom prst="roundRect">
            <a:avLst/>
          </a:prstGeom>
          <a:solidFill>
            <a:srgbClr val="E4EE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 tIns="38100" bIns="38100"/>
          <a:lstStyle/>
          <a:p>
            <a:pPr algn="l">
              <a:buNone/>
            </a:pPr>
            <a:r>
              <a:rPr sz="1600" b="1" i="0">
                <a:solidFill>
                  <a:srgbClr val="8E2B20"/>
                </a:solidFill>
                <a:latin typeface="Calibri"/>
              </a:rPr>
              <a:t>2. </a:t>
            </a:r>
            <a:r>
              <a:rPr sz="16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我看一下。请给我一杯牛奶。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</a:rPr>
              <a:t>Wǒ kàn yíxià. Qǐng gěi wǒ yì bēi niúnǎi.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604768"/>
            <a:ext cx="5432907" cy="676656"/>
          </a:xfrm>
          <a:prstGeom prst="roundRect">
            <a:avLst/>
          </a:prstGeom>
          <a:solidFill>
            <a:srgbClr val="F7E4E1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 tIns="38100" bIns="38100"/>
          <a:lstStyle/>
          <a:p>
            <a:pPr algn="l">
              <a:buNone/>
            </a:pPr>
            <a:r>
              <a:rPr sz="1600" b="1" i="0">
                <a:solidFill>
                  <a:srgbClr val="8E2B20"/>
                </a:solidFill>
                <a:latin typeface="Calibri"/>
              </a:rPr>
              <a:t>3. </a:t>
            </a:r>
            <a:r>
              <a:rPr sz="16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好的。您还要什么？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</a:rPr>
              <a:t>Hǎo de. Nín hái yào shénme?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0147" y="4372864"/>
            <a:ext cx="5432907" cy="676656"/>
          </a:xfrm>
          <a:prstGeom prst="roundRect">
            <a:avLst/>
          </a:prstGeom>
          <a:solidFill>
            <a:srgbClr val="E4EE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 tIns="38100" bIns="38100"/>
          <a:lstStyle/>
          <a:p>
            <a:pPr algn="l">
              <a:buNone/>
            </a:pPr>
            <a:r>
              <a:rPr sz="1600" b="1" i="0">
                <a:solidFill>
                  <a:srgbClr val="8E2B20"/>
                </a:solidFill>
                <a:latin typeface="Calibri"/>
              </a:rPr>
              <a:t>4. </a:t>
            </a:r>
            <a:r>
              <a:rPr sz="16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我还没吃早饭，再要这个面包和鸡蛋吧。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</a:rPr>
              <a:t>Wǒ hái méi chī zǎofàn, zài yào zhège miànbāo hé jīdàn ba.</a:t>
            </a:r>
          </a:p>
        </p:txBody>
      </p:sp>
      <p:pic>
        <p:nvPicPr>
          <p:cNvPr id="12" name="slide26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2"/>
                </p:tgtEl>
              </p:cMediaNode>
            </p:video>
          </p:childTnLst>
        </p:cTn>
      </p:par>
    </p:tnLst>
  </p:timing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会话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课文3 · 餐馆点餐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11376"/>
            <a:ext cx="5432907" cy="365760"/>
          </a:xfrm>
          <a:prstGeom prst="roundRect">
            <a:avLst/>
          </a:prstGeom>
          <a:solidFill>
            <a:srgbClr val="F7E4E1"/>
          </a:solidFill>
          <a:ln w="9525">
            <a:solidFill>
              <a:srgbClr val="8E2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buNone/>
            </a:pPr>
            <a:r>
              <a:rPr sz="14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🙂 服务员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0147" y="1611376"/>
            <a:ext cx="5432907" cy="365760"/>
          </a:xfrm>
          <a:prstGeom prst="roundRect">
            <a:avLst/>
          </a:prstGeom>
          <a:solidFill>
            <a:srgbClr val="E4EEF7"/>
          </a:solidFill>
          <a:ln w="9525">
            <a:solidFill>
              <a:srgbClr val="8E2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buNone/>
            </a:pPr>
            <a:r>
              <a:rPr sz="14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🙂 刘明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68576"/>
            <a:ext cx="5432907" cy="676350"/>
          </a:xfrm>
          <a:prstGeom prst="roundRect">
            <a:avLst/>
          </a:prstGeom>
          <a:solidFill>
            <a:srgbClr val="F7E4E1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 tIns="38100" bIns="38100"/>
          <a:lstStyle/>
          <a:p>
            <a:pPr algn="l">
              <a:buNone/>
            </a:pPr>
            <a:r>
              <a:rPr sz="1500" b="1" i="0">
                <a:solidFill>
                  <a:srgbClr val="8E2B20"/>
                </a:solidFill>
                <a:latin typeface="Calibri"/>
              </a:rPr>
              <a:t>1. </a:t>
            </a:r>
            <a:r>
              <a:rPr sz="15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先生，请坐！您要什么？</a:t>
            </a:r>
          </a:p>
          <a:p>
            <a:pPr algn="l">
              <a:buNone/>
            </a:pPr>
            <a:r>
              <a:rPr sz="1000" b="0" i="1">
                <a:solidFill>
                  <a:srgbClr val="8E2B20"/>
                </a:solidFill>
                <a:latin typeface="Calibri"/>
              </a:rPr>
              <a:t>Xiānsheng, qǐng zuò! Nín yào shénme?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0147" y="2836324"/>
            <a:ext cx="5432907" cy="676350"/>
          </a:xfrm>
          <a:prstGeom prst="roundRect">
            <a:avLst/>
          </a:prstGeom>
          <a:solidFill>
            <a:srgbClr val="E4EE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 tIns="38100" bIns="38100"/>
          <a:lstStyle/>
          <a:p>
            <a:pPr algn="l">
              <a:buNone/>
            </a:pPr>
            <a:r>
              <a:rPr sz="1500" b="1" i="0">
                <a:solidFill>
                  <a:srgbClr val="8E2B20"/>
                </a:solidFill>
                <a:latin typeface="Calibri"/>
              </a:rPr>
              <a:t>2. </a:t>
            </a:r>
            <a:r>
              <a:rPr sz="15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我要一斤饺子。</a:t>
            </a:r>
          </a:p>
          <a:p>
            <a:pPr algn="l">
              <a:buNone/>
            </a:pPr>
            <a:r>
              <a:rPr sz="1000" b="0" i="1">
                <a:solidFill>
                  <a:srgbClr val="8E2B20"/>
                </a:solidFill>
                <a:latin typeface="Calibri"/>
              </a:rPr>
              <a:t>Wǒ yào yì jīn jiǎozi.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604072"/>
            <a:ext cx="5432907" cy="676350"/>
          </a:xfrm>
          <a:prstGeom prst="roundRect">
            <a:avLst/>
          </a:prstGeom>
          <a:solidFill>
            <a:srgbClr val="F7E4E1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 tIns="38100" bIns="38100"/>
          <a:lstStyle/>
          <a:p>
            <a:pPr algn="l">
              <a:buNone/>
            </a:pPr>
            <a:r>
              <a:rPr sz="1500" b="1" i="0">
                <a:solidFill>
                  <a:srgbClr val="8E2B20"/>
                </a:solidFill>
                <a:latin typeface="Calibri"/>
              </a:rPr>
              <a:t>3. </a:t>
            </a:r>
            <a:r>
              <a:rPr sz="15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好的。一斤饺子四十个。</a:t>
            </a:r>
          </a:p>
          <a:p>
            <a:pPr algn="l">
              <a:buNone/>
            </a:pPr>
            <a:r>
              <a:rPr sz="1000" b="0" i="1">
                <a:solidFill>
                  <a:srgbClr val="8E2B20"/>
                </a:solidFill>
                <a:latin typeface="Calibri"/>
              </a:rPr>
              <a:t>Hǎo de. Yì jīn jiǎozi sìshí ge.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0147" y="4371820"/>
            <a:ext cx="5432907" cy="676350"/>
          </a:xfrm>
          <a:prstGeom prst="roundRect">
            <a:avLst/>
          </a:prstGeom>
          <a:solidFill>
            <a:srgbClr val="E4EE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 tIns="38100" bIns="38100"/>
          <a:lstStyle/>
          <a:p>
            <a:pPr algn="l">
              <a:buNone/>
            </a:pPr>
            <a:r>
              <a:rPr sz="1500" b="1" i="0">
                <a:solidFill>
                  <a:srgbClr val="8E2B20"/>
                </a:solidFill>
                <a:latin typeface="Calibri"/>
              </a:rPr>
              <a:t>4. </a:t>
            </a:r>
            <a:r>
              <a:rPr sz="15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四十个太多了，我要一半吧。</a:t>
            </a:r>
          </a:p>
          <a:p>
            <a:pPr algn="l">
              <a:buNone/>
            </a:pPr>
            <a:r>
              <a:rPr sz="1000" b="0" i="1">
                <a:solidFill>
                  <a:srgbClr val="8E2B20"/>
                </a:solidFill>
                <a:latin typeface="Calibri"/>
              </a:rPr>
              <a:t>Sìshí ge tài duō le, wǒ yào yíbàn ba.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139568"/>
            <a:ext cx="5432907" cy="676350"/>
          </a:xfrm>
          <a:prstGeom prst="roundRect">
            <a:avLst/>
          </a:prstGeom>
          <a:solidFill>
            <a:srgbClr val="F7E4E1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 tIns="38100" bIns="38100"/>
          <a:lstStyle/>
          <a:p>
            <a:pPr algn="l">
              <a:buNone/>
            </a:pPr>
            <a:r>
              <a:rPr sz="1500" b="1" i="0">
                <a:solidFill>
                  <a:srgbClr val="8E2B20"/>
                </a:solidFill>
                <a:latin typeface="Calibri"/>
              </a:rPr>
              <a:t>5. </a:t>
            </a:r>
            <a:r>
              <a:rPr sz="15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半斤20个。您想喝什么？</a:t>
            </a:r>
          </a:p>
          <a:p>
            <a:pPr algn="l">
              <a:buNone/>
            </a:pPr>
            <a:r>
              <a:rPr sz="1000" b="0" i="1">
                <a:solidFill>
                  <a:srgbClr val="8E2B20"/>
                </a:solidFill>
                <a:latin typeface="Calibri"/>
              </a:rPr>
              <a:t>Bàn jīn èrshí ge. Nín xiǎng hē shénme?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0147" y="5907316"/>
            <a:ext cx="5432907" cy="676350"/>
          </a:xfrm>
          <a:prstGeom prst="roundRect">
            <a:avLst/>
          </a:prstGeom>
          <a:solidFill>
            <a:srgbClr val="E4EE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76200" tIns="38100" bIns="38100"/>
          <a:lstStyle/>
          <a:p>
            <a:pPr algn="l">
              <a:buNone/>
            </a:pPr>
            <a:r>
              <a:rPr sz="1500" b="1" i="0">
                <a:solidFill>
                  <a:srgbClr val="8E2B20"/>
                </a:solidFill>
                <a:latin typeface="Calibri"/>
              </a:rPr>
              <a:t>6. </a:t>
            </a:r>
            <a:r>
              <a:rPr sz="15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请给我一杯茶吧。</a:t>
            </a:r>
          </a:p>
          <a:p>
            <a:pPr algn="l">
              <a:buNone/>
            </a:pPr>
            <a:r>
              <a:rPr sz="1000" b="0" i="1">
                <a:solidFill>
                  <a:srgbClr val="8E2B20"/>
                </a:solidFill>
                <a:latin typeface="Calibri"/>
              </a:rPr>
              <a:t>Qǐng gěi wǒ yì bēi chá ba.</a:t>
            </a:r>
          </a:p>
        </p:txBody>
      </p:sp>
      <p:pic>
        <p:nvPicPr>
          <p:cNvPr id="14" name="slide27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4"/>
                </p:tgtEl>
              </p:cMediaNode>
            </p:video>
          </p:childTnLst>
        </p:cTn>
      </p:par>
    </p:tnLst>
  </p:timing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语法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可以 · 一下 · 双宾语句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49984"/>
            <a:ext cx="4437766" cy="14671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9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能愿动词「可以」</a:t>
            </a:r>
            <a:r>
              <a:rPr sz="1900" b="1" i="0">
                <a:solidFill>
                  <a:srgbClr val="1F2933"/>
                </a:solidFill>
                <a:latin typeface="Calibri"/>
              </a:rPr>
              <a:t>— Xin phép / khả năng làm gì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42438" y="1649984"/>
            <a:ext cx="6400617" cy="14671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8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我可以再问您一个问题吗？</a:t>
            </a:r>
          </a:p>
          <a:p>
            <a:pPr>
              <a:buNone/>
            </a:pPr>
            <a:r>
              <a:rPr sz="1200" b="0" i="1">
                <a:solidFill>
                  <a:srgbClr val="8E2B20"/>
                </a:solidFill>
                <a:latin typeface="Calibri"/>
              </a:rPr>
              <a:t>Wǒ kěyǐ zài wèn nín yí ge wèntí ma?</a:t>
            </a:r>
          </a:p>
          <a:p>
            <a:pPr>
              <a:buNone/>
            </a:pPr>
            <a:r>
              <a:rPr sz="1200" b="0" i="0">
                <a:solidFill>
                  <a:srgbClr val="6B7683"/>
                </a:solidFill>
                <a:latin typeface="Calibri"/>
              </a:rPr>
              <a:t>Con có thể hỏi cô thêm một câu được không?</a:t>
            </a:r>
          </a:p>
          <a:p>
            <a:pPr>
              <a:spcBef>
                <a:spcPts val="800"/>
              </a:spcBef>
              <a:buNone/>
            </a:pPr>
            <a:r>
              <a:rPr sz="18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你可以打电话问一下。</a:t>
            </a:r>
          </a:p>
          <a:p>
            <a:pPr>
              <a:buNone/>
            </a:pPr>
            <a:r>
              <a:rPr sz="1200" b="0" i="1">
                <a:solidFill>
                  <a:srgbClr val="8E2B20"/>
                </a:solidFill>
                <a:latin typeface="Calibri"/>
              </a:rPr>
              <a:t>Nǐ kěyǐ dǎ diànhuà wèn yíxià.</a:t>
            </a:r>
          </a:p>
          <a:p>
            <a:pPr>
              <a:buNone/>
            </a:pPr>
            <a:r>
              <a:rPr sz="1200" b="0" i="0">
                <a:solidFill>
                  <a:srgbClr val="6B7683"/>
                </a:solidFill>
                <a:latin typeface="Calibri"/>
              </a:rPr>
              <a:t>Bạn có thể gọi điện hỏi thử.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217672"/>
            <a:ext cx="11094415" cy="10972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3318256"/>
            <a:ext cx="4437766" cy="14671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9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「动词</a:t>
            </a:r>
            <a:r>
              <a:rPr sz="1900" b="1" i="0">
                <a:solidFill>
                  <a:srgbClr val="1F2933"/>
                </a:solidFill>
                <a:latin typeface="Calibri"/>
              </a:rPr>
              <a:t>+</a:t>
            </a:r>
            <a:r>
              <a:rPr sz="19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一下」结构</a:t>
            </a:r>
            <a:r>
              <a:rPr sz="1900" b="1" i="0">
                <a:solidFill>
                  <a:srgbClr val="1F2933"/>
                </a:solidFill>
                <a:latin typeface="Calibri"/>
              </a:rPr>
              <a:t> — Làm một chút, thử xem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42438" y="3318256"/>
            <a:ext cx="6400617" cy="14671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8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你可以打电话问一下。</a:t>
            </a:r>
          </a:p>
          <a:p>
            <a:pPr>
              <a:buNone/>
            </a:pPr>
            <a:r>
              <a:rPr sz="1200" b="0" i="1">
                <a:solidFill>
                  <a:srgbClr val="8E2B20"/>
                </a:solidFill>
                <a:latin typeface="Calibri"/>
              </a:rPr>
              <a:t>Nǐ kěyǐ dǎ diànhuà wèn yíxià.</a:t>
            </a:r>
          </a:p>
          <a:p>
            <a:pPr>
              <a:buNone/>
            </a:pPr>
            <a:r>
              <a:rPr sz="1200" b="0" i="0">
                <a:solidFill>
                  <a:srgbClr val="6B7683"/>
                </a:solidFill>
                <a:latin typeface="Calibri"/>
              </a:rPr>
              <a:t>Bạn có thể gọi điện hỏi thử.</a:t>
            </a:r>
          </a:p>
          <a:p>
            <a:pPr>
              <a:spcBef>
                <a:spcPts val="800"/>
              </a:spcBef>
              <a:buNone/>
            </a:pPr>
            <a:r>
              <a:rPr sz="18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我看一下菜单，然后要一杯牛奶。</a:t>
            </a:r>
          </a:p>
          <a:p>
            <a:pPr>
              <a:buNone/>
            </a:pPr>
            <a:r>
              <a:rPr sz="1200" b="0" i="1">
                <a:solidFill>
                  <a:srgbClr val="8E2B20"/>
                </a:solidFill>
                <a:latin typeface="Calibri"/>
              </a:rPr>
              <a:t>Wǒ kàn yíxià càidān, ránhòu yào yì bēi niúnǎi.</a:t>
            </a:r>
          </a:p>
          <a:p>
            <a:pPr>
              <a:buNone/>
            </a:pPr>
            <a:r>
              <a:rPr sz="1200" b="0" i="0">
                <a:solidFill>
                  <a:srgbClr val="6B7683"/>
                </a:solidFill>
                <a:latin typeface="Calibri"/>
              </a:rPr>
              <a:t>Tôi xem thực đơn một chút, rồi gọi một cốc sữa.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885944"/>
            <a:ext cx="11094415" cy="10972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4986528"/>
            <a:ext cx="4437766" cy="14671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9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双宾语句</a:t>
            </a:r>
            <a:r>
              <a:rPr sz="1900" b="1" i="0">
                <a:solidFill>
                  <a:srgbClr val="1F2933"/>
                </a:solidFill>
                <a:latin typeface="Calibri"/>
              </a:rPr>
              <a:t>(1) — Một động từ, hai tân ngữ (</a:t>
            </a:r>
            <a:r>
              <a:rPr sz="19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给</a:t>
            </a:r>
            <a:r>
              <a:rPr sz="1900" b="1" i="0">
                <a:solidFill>
                  <a:srgbClr val="1F2933"/>
                </a:solidFill>
                <a:latin typeface="Calibri"/>
              </a:rPr>
              <a:t>/</a:t>
            </a:r>
            <a:r>
              <a:rPr sz="19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问</a:t>
            </a:r>
            <a:r>
              <a:rPr sz="1900" b="1" i="0">
                <a:solidFill>
                  <a:srgbClr val="1F2933"/>
                </a:solidFill>
                <a:latin typeface="Calibri"/>
              </a:rPr>
              <a:t>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42438" y="4986528"/>
            <a:ext cx="6400617" cy="14671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8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服务员给我一杯茶。</a:t>
            </a:r>
          </a:p>
          <a:p>
            <a:pPr>
              <a:buNone/>
            </a:pPr>
            <a:r>
              <a:rPr sz="1200" b="0" i="1">
                <a:solidFill>
                  <a:srgbClr val="8E2B20"/>
                </a:solidFill>
                <a:latin typeface="Calibri"/>
              </a:rPr>
              <a:t>Fúwùyuán gěi wǒ yì bēi chá.</a:t>
            </a:r>
          </a:p>
          <a:p>
            <a:pPr>
              <a:buNone/>
            </a:pPr>
            <a:r>
              <a:rPr sz="1200" b="0" i="0">
                <a:solidFill>
                  <a:srgbClr val="6B7683"/>
                </a:solidFill>
                <a:latin typeface="Calibri"/>
              </a:rPr>
              <a:t>Nhân viên phục vụ đưa cho tôi một cốc trà.</a:t>
            </a:r>
          </a:p>
          <a:p>
            <a:pPr>
              <a:spcBef>
                <a:spcPts val="800"/>
              </a:spcBef>
              <a:buNone/>
            </a:pPr>
            <a:r>
              <a:rPr sz="18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白家月问老师一个问题。</a:t>
            </a:r>
          </a:p>
          <a:p>
            <a:pPr>
              <a:buNone/>
            </a:pPr>
            <a:r>
              <a:rPr sz="1200" b="0" i="1">
                <a:solidFill>
                  <a:srgbClr val="8E2B20"/>
                </a:solidFill>
                <a:latin typeface="Calibri"/>
              </a:rPr>
              <a:t>Bái Jiāyuè wèn lǎoshī yí ge wèntí.</a:t>
            </a:r>
          </a:p>
          <a:p>
            <a:pPr>
              <a:buNone/>
            </a:pPr>
            <a:r>
              <a:rPr sz="1200" b="0" i="0">
                <a:solidFill>
                  <a:srgbClr val="6B7683"/>
                </a:solidFill>
                <a:latin typeface="Calibri"/>
              </a:rPr>
              <a:t>Bạch Gia Duyệt hỏi cô giáo một câu hỏi.</a:t>
            </a:r>
          </a:p>
        </p:txBody>
      </p:sp>
      <p:pic>
        <p:nvPicPr>
          <p:cNvPr id="14" name="slide28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4"/>
                </p:tgtEl>
              </p:cMediaNode>
            </p:video>
          </p:childTnLst>
        </p:cTn>
      </p:par>
    </p:tnLst>
  </p:timing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练习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综合练习 · 选词填空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1500" b="1" i="0">
                <a:solidFill>
                  <a:srgbClr val="8E2B20"/>
                </a:solidFill>
                <a:latin typeface="Calibri"/>
              </a:rPr>
              <a:t>Từ cần dùng:  </a:t>
            </a:r>
            <a:r>
              <a:rPr sz="19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一下</a:t>
            </a:r>
            <a:r>
              <a:rPr sz="1400" b="0" i="1">
                <a:solidFill>
                  <a:srgbClr val="8E2B20"/>
                </a:solidFill>
                <a:latin typeface="Calibri"/>
              </a:rPr>
              <a:t> (yíxià)</a:t>
            </a:r>
            <a:r>
              <a:rPr sz="1500" b="0" i="0">
                <a:solidFill>
                  <a:srgbClr val="6B7683"/>
                </a:solidFill>
                <a:latin typeface="Calibri"/>
              </a:rPr>
              <a:t>   ·   </a:t>
            </a:r>
            <a:r>
              <a:rPr sz="19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可以</a:t>
            </a:r>
            <a:r>
              <a:rPr sz="1400" b="0" i="1">
                <a:solidFill>
                  <a:srgbClr val="8E2B20"/>
                </a:solidFill>
                <a:latin typeface="Calibri"/>
              </a:rPr>
              <a:t> (kěyǐ)</a:t>
            </a:r>
            <a:r>
              <a:rPr sz="1500" b="0" i="0">
                <a:solidFill>
                  <a:srgbClr val="6B7683"/>
                </a:solidFill>
                <a:latin typeface="Calibri"/>
              </a:rPr>
              <a:t>   ·   </a:t>
            </a:r>
            <a:r>
              <a:rPr sz="19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给</a:t>
            </a:r>
            <a:r>
              <a:rPr sz="1400" b="0" i="1">
                <a:solidFill>
                  <a:srgbClr val="8E2B20"/>
                </a:solidFill>
                <a:latin typeface="Calibri"/>
              </a:rPr>
              <a:t> (gěi)</a:t>
            </a:r>
            <a:r>
              <a:rPr sz="1500" b="0" i="0">
                <a:solidFill>
                  <a:srgbClr val="6B7683"/>
                </a:solidFill>
                <a:latin typeface="Calibri"/>
              </a:rPr>
              <a:t>   ·   </a:t>
            </a:r>
            <a:r>
              <a:rPr sz="19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问题</a:t>
            </a:r>
            <a:r>
              <a:rPr sz="1400" b="0" i="1">
                <a:solidFill>
                  <a:srgbClr val="8E2B20"/>
                </a:solidFill>
                <a:latin typeface="Calibri"/>
              </a:rPr>
              <a:t> (wèntí)</a:t>
            </a:r>
            <a:r>
              <a:rPr sz="1500" b="0" i="0">
                <a:solidFill>
                  <a:srgbClr val="6B7683"/>
                </a:solidFill>
                <a:latin typeface="Calibri"/>
              </a:rPr>
              <a:t>   ·   </a:t>
            </a:r>
            <a:r>
              <a:rPr sz="19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要</a:t>
            </a:r>
            <a:r>
              <a:rPr sz="1400" b="0" i="1">
                <a:solidFill>
                  <a:srgbClr val="8E2B20"/>
                </a:solidFill>
                <a:latin typeface="Calibri"/>
              </a:rPr>
              <a:t> (yào)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78304"/>
            <a:ext cx="11094415" cy="43139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600" b="0" i="1">
                <a:solidFill>
                  <a:srgbClr val="8E2B20"/>
                </a:solidFill>
                <a:latin typeface="Calibri"/>
              </a:rPr>
              <a:t>选词填空。Chọn từ điền vào chỗ trống.</a:t>
            </a:r>
          </a:p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</a:rPr>
              <a:t>1. </a:t>
            </a:r>
            <a:r>
              <a:rPr sz="22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请___我一杯热水。</a:t>
            </a:r>
          </a:p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</a:rPr>
              <a:t>2. </a:t>
            </a:r>
            <a:r>
              <a:rPr sz="22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我们___一斤饺子。</a:t>
            </a:r>
          </a:p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</a:rPr>
              <a:t>3. </a:t>
            </a:r>
            <a:r>
              <a:rPr sz="22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A：我___坐这儿吗？ B：没___，请坐。</a:t>
            </a:r>
          </a:p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</a:rPr>
              <a:t>4. </a:t>
            </a:r>
            <a:r>
              <a:rPr sz="22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A：这个商店卖不卖手机？ B：你可以去问___。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游戏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配对游戏 · 餐厅里的人和早餐</a:t>
            </a:r>
          </a:p>
        </p:txBody>
      </p:sp>
      <p:pic>
        <p:nvPicPr>
          <p:cNvPr id="6" name="Picture 5" descr="fuwuyua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8295" y="1611376"/>
            <a:ext cx="2224363" cy="1483697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548640" y="1611376"/>
            <a:ext cx="329184" cy="329184"/>
          </a:xfrm>
          <a:prstGeom prst="ellipse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buNone/>
            </a:pPr>
            <a:r>
              <a:rPr sz="15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pic>
        <p:nvPicPr>
          <p:cNvPr id="8" name="Picture 7" descr="nushi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8272" y="1611376"/>
            <a:ext cx="2224363" cy="1483697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3638617" y="1611376"/>
            <a:ext cx="329184" cy="329184"/>
          </a:xfrm>
          <a:prstGeom prst="ellipse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buNone/>
            </a:pPr>
            <a:r>
              <a:rPr sz="15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pic>
        <p:nvPicPr>
          <p:cNvPr id="10" name="Picture 9" descr="xiansheng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1888" y="3287098"/>
            <a:ext cx="1657176" cy="1483698"/>
          </a:xfrm>
          <a:prstGeom prst="rect">
            <a:avLst/>
          </a:prstGeom>
        </p:spPr>
      </p:pic>
      <p:sp>
        <p:nvSpPr>
          <p:cNvPr id="11" name="Oval 10"/>
          <p:cNvSpPr/>
          <p:nvPr/>
        </p:nvSpPr>
        <p:spPr>
          <a:xfrm>
            <a:off x="548640" y="3287098"/>
            <a:ext cx="329184" cy="329184"/>
          </a:xfrm>
          <a:prstGeom prst="ellipse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buNone/>
            </a:pPr>
            <a:r>
              <a:rPr sz="15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pic>
        <p:nvPicPr>
          <p:cNvPr id="12" name="Picture 11" descr="mianbao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98272" y="3287098"/>
            <a:ext cx="2224363" cy="1483697"/>
          </a:xfrm>
          <a:prstGeom prst="rect">
            <a:avLst/>
          </a:prstGeom>
        </p:spPr>
      </p:pic>
      <p:sp>
        <p:nvSpPr>
          <p:cNvPr id="13" name="Oval 12"/>
          <p:cNvSpPr/>
          <p:nvPr/>
        </p:nvSpPr>
        <p:spPr>
          <a:xfrm>
            <a:off x="3638617" y="3287098"/>
            <a:ext cx="329184" cy="329184"/>
          </a:xfrm>
          <a:prstGeom prst="ellipse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buNone/>
            </a:pPr>
            <a:r>
              <a:rPr sz="15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pic>
        <p:nvPicPr>
          <p:cNvPr id="14" name="Picture 13" descr="jidan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5204" y="4962820"/>
            <a:ext cx="1490545" cy="1483698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548640" y="4962820"/>
            <a:ext cx="329184" cy="329184"/>
          </a:xfrm>
          <a:prstGeom prst="ellipse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buNone/>
            </a:pPr>
            <a:r>
              <a:rPr sz="15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2330" y="1611376"/>
            <a:ext cx="4740725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</a:rPr>
              <a:t>A  </a:t>
            </a:r>
            <a:r>
              <a:rPr sz="22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先生</a:t>
            </a:r>
            <a:r>
              <a:rPr sz="1300" b="0" i="1">
                <a:solidFill>
                  <a:srgbClr val="6B7683"/>
                </a:solidFill>
                <a:latin typeface="Calibri"/>
              </a:rPr>
              <a:t>  xiānsheng</a:t>
            </a:r>
          </a:p>
          <a:p>
            <a:pPr>
              <a:spcBef>
                <a:spcPts val="14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</a:rPr>
              <a:t>B  </a:t>
            </a:r>
            <a:r>
              <a:rPr sz="22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服务员</a:t>
            </a:r>
            <a:r>
              <a:rPr sz="1300" b="0" i="1">
                <a:solidFill>
                  <a:srgbClr val="6B7683"/>
                </a:solidFill>
                <a:latin typeface="Calibri"/>
              </a:rPr>
              <a:t>  fúwùyuán</a:t>
            </a:r>
          </a:p>
          <a:p>
            <a:pPr>
              <a:spcBef>
                <a:spcPts val="14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</a:rPr>
              <a:t>C  </a:t>
            </a:r>
            <a:r>
              <a:rPr sz="22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鸡蛋</a:t>
            </a:r>
            <a:r>
              <a:rPr sz="1300" b="0" i="1">
                <a:solidFill>
                  <a:srgbClr val="6B7683"/>
                </a:solidFill>
                <a:latin typeface="Calibri"/>
              </a:rPr>
              <a:t>  jīdàn</a:t>
            </a:r>
          </a:p>
          <a:p>
            <a:pPr>
              <a:spcBef>
                <a:spcPts val="14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</a:rPr>
              <a:t>D  </a:t>
            </a:r>
            <a:r>
              <a:rPr sz="22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女士</a:t>
            </a:r>
            <a:r>
              <a:rPr sz="1300" b="0" i="1">
                <a:solidFill>
                  <a:srgbClr val="6B7683"/>
                </a:solidFill>
                <a:latin typeface="Calibri"/>
              </a:rPr>
              <a:t>  nǚshì</a:t>
            </a:r>
          </a:p>
          <a:p>
            <a:pPr>
              <a:spcBef>
                <a:spcPts val="14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</a:rPr>
              <a:t>E  </a:t>
            </a:r>
            <a:r>
              <a:rPr sz="22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面包</a:t>
            </a:r>
            <a:r>
              <a:rPr sz="1300" b="0" i="1">
                <a:solidFill>
                  <a:srgbClr val="6B7683"/>
                </a:solidFill>
                <a:latin typeface="Calibri"/>
              </a:rPr>
              <a:t>  miànbāo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游戏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配对游戏 · 点心与正餐</a:t>
            </a:r>
          </a:p>
        </p:txBody>
      </p:sp>
      <p:pic>
        <p:nvPicPr>
          <p:cNvPr id="6" name="Picture 5" descr="chunjua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8295" y="1611376"/>
            <a:ext cx="2224363" cy="1483697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548640" y="1611376"/>
            <a:ext cx="329184" cy="329184"/>
          </a:xfrm>
          <a:prstGeom prst="ellipse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buNone/>
            </a:pPr>
            <a:r>
              <a:rPr sz="15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pic>
        <p:nvPicPr>
          <p:cNvPr id="8" name="Picture 7" descr="zhou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8272" y="1611376"/>
            <a:ext cx="2224363" cy="1483697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3638617" y="1611376"/>
            <a:ext cx="329184" cy="329184"/>
          </a:xfrm>
          <a:prstGeom prst="ellipse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buNone/>
            </a:pPr>
            <a:r>
              <a:rPr sz="15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pic>
        <p:nvPicPr>
          <p:cNvPr id="10" name="Picture 9" descr="chaofan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8295" y="3287098"/>
            <a:ext cx="2224363" cy="1483697"/>
          </a:xfrm>
          <a:prstGeom prst="rect">
            <a:avLst/>
          </a:prstGeom>
        </p:spPr>
      </p:pic>
      <p:sp>
        <p:nvSpPr>
          <p:cNvPr id="11" name="Oval 10"/>
          <p:cNvSpPr/>
          <p:nvPr/>
        </p:nvSpPr>
        <p:spPr>
          <a:xfrm>
            <a:off x="548640" y="3287098"/>
            <a:ext cx="329184" cy="329184"/>
          </a:xfrm>
          <a:prstGeom prst="ellipse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buNone/>
            </a:pPr>
            <a:r>
              <a:rPr sz="15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pic>
        <p:nvPicPr>
          <p:cNvPr id="12" name="Picture 11" descr="tang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20941" y="3287098"/>
            <a:ext cx="1979024" cy="1483698"/>
          </a:xfrm>
          <a:prstGeom prst="rect">
            <a:avLst/>
          </a:prstGeom>
        </p:spPr>
      </p:pic>
      <p:sp>
        <p:nvSpPr>
          <p:cNvPr id="13" name="Oval 12"/>
          <p:cNvSpPr/>
          <p:nvPr/>
        </p:nvSpPr>
        <p:spPr>
          <a:xfrm>
            <a:off x="3638617" y="3287098"/>
            <a:ext cx="329184" cy="329184"/>
          </a:xfrm>
          <a:prstGeom prst="ellipse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buNone/>
            </a:pPr>
            <a:r>
              <a:rPr sz="15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pic>
        <p:nvPicPr>
          <p:cNvPr id="14" name="Picture 13" descr="kafei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8295" y="4962820"/>
            <a:ext cx="2224363" cy="148369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548640" y="4962820"/>
            <a:ext cx="329184" cy="329184"/>
          </a:xfrm>
          <a:prstGeom prst="ellipse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buNone/>
            </a:pPr>
            <a:r>
              <a:rPr sz="15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2330" y="1611376"/>
            <a:ext cx="4740725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</a:rPr>
              <a:t>A  </a:t>
            </a:r>
            <a:r>
              <a:rPr sz="22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汤</a:t>
            </a:r>
            <a:r>
              <a:rPr sz="1300" b="0" i="1">
                <a:solidFill>
                  <a:srgbClr val="6B7683"/>
                </a:solidFill>
                <a:latin typeface="Calibri"/>
              </a:rPr>
              <a:t>  tāng</a:t>
            </a:r>
          </a:p>
          <a:p>
            <a:pPr>
              <a:spcBef>
                <a:spcPts val="14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</a:rPr>
              <a:t>B  </a:t>
            </a:r>
            <a:r>
              <a:rPr sz="22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春卷</a:t>
            </a:r>
            <a:r>
              <a:rPr sz="1300" b="0" i="1">
                <a:solidFill>
                  <a:srgbClr val="6B7683"/>
                </a:solidFill>
                <a:latin typeface="Calibri"/>
              </a:rPr>
              <a:t>  chūnjuǎn</a:t>
            </a:r>
          </a:p>
          <a:p>
            <a:pPr>
              <a:spcBef>
                <a:spcPts val="14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</a:rPr>
              <a:t>C  </a:t>
            </a:r>
            <a:r>
              <a:rPr sz="22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咖啡</a:t>
            </a:r>
            <a:r>
              <a:rPr sz="1300" b="0" i="1">
                <a:solidFill>
                  <a:srgbClr val="6B7683"/>
                </a:solidFill>
                <a:latin typeface="Calibri"/>
              </a:rPr>
              <a:t>  kāfēi</a:t>
            </a:r>
          </a:p>
          <a:p>
            <a:pPr>
              <a:spcBef>
                <a:spcPts val="14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</a:rPr>
              <a:t>D  </a:t>
            </a:r>
            <a:r>
              <a:rPr sz="22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粥</a:t>
            </a:r>
            <a:r>
              <a:rPr sz="1300" b="0" i="1">
                <a:solidFill>
                  <a:srgbClr val="6B7683"/>
                </a:solidFill>
                <a:latin typeface="Calibri"/>
              </a:rPr>
              <a:t>  zhōu</a:t>
            </a:r>
          </a:p>
          <a:p>
            <a:pPr>
              <a:spcBef>
                <a:spcPts val="14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</a:rPr>
              <a:t>E  </a:t>
            </a:r>
            <a:r>
              <a:rPr sz="22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炒饭</a:t>
            </a:r>
            <a:r>
              <a:rPr sz="1300" b="0" i="1">
                <a:solidFill>
                  <a:srgbClr val="6B7683"/>
                </a:solidFill>
                <a:latin typeface="Calibri"/>
              </a:rPr>
              <a:t>  chǎofàn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游戏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配对游戏 · 饮料与量词</a:t>
            </a:r>
          </a:p>
        </p:txBody>
      </p:sp>
      <p:pic>
        <p:nvPicPr>
          <p:cNvPr id="6" name="Picture 5" descr="naich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8295" y="1611376"/>
            <a:ext cx="2224363" cy="1483697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548640" y="1611376"/>
            <a:ext cx="329184" cy="329184"/>
          </a:xfrm>
          <a:prstGeom prst="ellipse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buNone/>
            </a:pPr>
            <a:r>
              <a:rPr sz="15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pic>
        <p:nvPicPr>
          <p:cNvPr id="8" name="Picture 7" descr="qishui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8272" y="1611376"/>
            <a:ext cx="2224363" cy="1483697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3638617" y="1611376"/>
            <a:ext cx="329184" cy="329184"/>
          </a:xfrm>
          <a:prstGeom prst="ellipse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buNone/>
            </a:pPr>
            <a:r>
              <a:rPr sz="15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pic>
        <p:nvPicPr>
          <p:cNvPr id="10" name="Picture 9" descr="guozhi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8295" y="3287098"/>
            <a:ext cx="2224363" cy="1483697"/>
          </a:xfrm>
          <a:prstGeom prst="rect">
            <a:avLst/>
          </a:prstGeom>
        </p:spPr>
      </p:pic>
      <p:sp>
        <p:nvSpPr>
          <p:cNvPr id="11" name="Oval 10"/>
          <p:cNvSpPr/>
          <p:nvPr/>
        </p:nvSpPr>
        <p:spPr>
          <a:xfrm>
            <a:off x="548640" y="3287098"/>
            <a:ext cx="329184" cy="329184"/>
          </a:xfrm>
          <a:prstGeom prst="ellipse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buNone/>
            </a:pPr>
            <a:r>
              <a:rPr sz="15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pic>
        <p:nvPicPr>
          <p:cNvPr id="12" name="Picture 11" descr="ping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98272" y="3287098"/>
            <a:ext cx="2224363" cy="1483697"/>
          </a:xfrm>
          <a:prstGeom prst="rect">
            <a:avLst/>
          </a:prstGeom>
        </p:spPr>
      </p:pic>
      <p:sp>
        <p:nvSpPr>
          <p:cNvPr id="13" name="Oval 12"/>
          <p:cNvSpPr/>
          <p:nvPr/>
        </p:nvSpPr>
        <p:spPr>
          <a:xfrm>
            <a:off x="3638617" y="3287098"/>
            <a:ext cx="329184" cy="329184"/>
          </a:xfrm>
          <a:prstGeom prst="ellipse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buNone/>
            </a:pPr>
            <a:r>
              <a:rPr sz="15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pic>
        <p:nvPicPr>
          <p:cNvPr id="14" name="Picture 13" descr="wan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7549" y="4962820"/>
            <a:ext cx="2245855" cy="1483698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548640" y="4962820"/>
            <a:ext cx="329184" cy="329184"/>
          </a:xfrm>
          <a:prstGeom prst="ellipse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buNone/>
            </a:pPr>
            <a:r>
              <a:rPr sz="15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2330" y="1611376"/>
            <a:ext cx="4740725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</a:rPr>
              <a:t>A  </a:t>
            </a:r>
            <a:r>
              <a:rPr sz="22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碗</a:t>
            </a:r>
            <a:r>
              <a:rPr sz="1300" b="0" i="1">
                <a:solidFill>
                  <a:srgbClr val="6B7683"/>
                </a:solidFill>
                <a:latin typeface="Calibri"/>
              </a:rPr>
              <a:t>  wǎn</a:t>
            </a:r>
          </a:p>
          <a:p>
            <a:pPr>
              <a:spcBef>
                <a:spcPts val="14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</a:rPr>
              <a:t>B  </a:t>
            </a:r>
            <a:r>
              <a:rPr sz="22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奶茶</a:t>
            </a:r>
            <a:r>
              <a:rPr sz="1300" b="0" i="1">
                <a:solidFill>
                  <a:srgbClr val="6B7683"/>
                </a:solidFill>
                <a:latin typeface="Calibri"/>
              </a:rPr>
              <a:t>  nǎichá</a:t>
            </a:r>
          </a:p>
          <a:p>
            <a:pPr>
              <a:spcBef>
                <a:spcPts val="14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</a:rPr>
              <a:t>C  </a:t>
            </a:r>
            <a:r>
              <a:rPr sz="22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瓶</a:t>
            </a:r>
            <a:r>
              <a:rPr sz="1300" b="0" i="1">
                <a:solidFill>
                  <a:srgbClr val="6B7683"/>
                </a:solidFill>
                <a:latin typeface="Calibri"/>
              </a:rPr>
              <a:t>  píng</a:t>
            </a:r>
          </a:p>
          <a:p>
            <a:pPr>
              <a:spcBef>
                <a:spcPts val="14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</a:rPr>
              <a:t>D  </a:t>
            </a:r>
            <a:r>
              <a:rPr sz="22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果汁</a:t>
            </a:r>
            <a:r>
              <a:rPr sz="1300" b="0" i="1">
                <a:solidFill>
                  <a:srgbClr val="6B7683"/>
                </a:solidFill>
                <a:latin typeface="Calibri"/>
              </a:rPr>
              <a:t>  guǒzhī</a:t>
            </a:r>
          </a:p>
          <a:p>
            <a:pPr>
              <a:spcBef>
                <a:spcPts val="14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</a:rPr>
              <a:t>E  </a:t>
            </a:r>
            <a:r>
              <a:rPr sz="22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汽水</a:t>
            </a:r>
            <a:r>
              <a:rPr sz="1300" b="0" i="1">
                <a:solidFill>
                  <a:srgbClr val="6B7683"/>
                </a:solidFill>
                <a:latin typeface="Calibri"/>
              </a:rPr>
              <a:t>  qìshuǐ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