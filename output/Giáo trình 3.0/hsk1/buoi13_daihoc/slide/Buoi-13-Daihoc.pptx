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3"/><Relationship Id="rId3" Type="http://schemas.openxmlformats.org/officeDocument/2006/relationships/video" Target="../media/media23.mp3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3"/><Relationship Id="rId3" Type="http://schemas.openxmlformats.org/officeDocument/2006/relationships/video" Target="../media/media24.mp3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9.jpg"/><Relationship Id="rId5" Type="http://schemas.openxmlformats.org/officeDocument/2006/relationships/image" Target="../media/image5.jpg"/><Relationship Id="rId6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我读大学呢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</a:rPr>
              <a:t>Wǒ dú dàxué ne · Tôi đang học đại học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</a:rPr>
              <a:t>Buổi 13 · HSK1 3.0 · Đại học &amp; đang làm · 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buổi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dùng được 3 cách nói "đang làm gì"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đặt được câu hỏi chính phản (正反问): x+不/没+x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Nắm được cách dùng năng nguyện động từ 要 (muốn, định làm)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Tìm nhà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shih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6726"/>
            <a:ext cx="4602175" cy="3050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时候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shíhou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(khoảng) thời gian, lúc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知道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zhīdào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biết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知道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他什么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时候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来公司吗？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zhīdào tā shénme shíhou lái gōngsī ma?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có biết khi nào anh ấy đến công ty không?</a:t>
            </a:r>
          </a:p>
        </p:txBody>
      </p:sp>
      <p:pic>
        <p:nvPicPr>
          <p:cNvPr id="10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fand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找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zhǎo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饭店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fàndiàn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李文正在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找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饭店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Lǐ Wén zhèngzài zhǎo fàndiàn.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Lý Văn đang tìm nhà hàng.</a:t>
            </a:r>
          </a:p>
        </p:txBody>
      </p:sp>
      <p:pic>
        <p:nvPicPr>
          <p:cNvPr id="10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a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nàlǐ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chỗ đó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nǎlǐ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chỗ nào, đâu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饭店在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哪里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？我看见了，饭店在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那里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Fàndiàn zài nǎlǐ? Wǒ kànjiàn le, fàndiàn zài nàlǐ.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Nhà hàng ở đâu? Tôi thấy rồi, nhà hàng ở chỗ đó.</a:t>
            </a:r>
          </a:p>
        </p:txBody>
      </p:sp>
      <p:pic>
        <p:nvPicPr>
          <p:cNvPr id="10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那里/哪里 giống nghĩa 那儿/哪儿 đã học (Buổi 06/10) — chỉ khác vẻ ngoài (里 thay vì 儿), dùng thay thế được cho nhau.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kai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开车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kāichē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lái 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开车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开车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？我没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开车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，坐车呢。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kāichē méi kāichē? Wǒ méi kāichē, zuò chē ne.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có lái xe không? Mình không lái xe, mình đang đi xe (khác).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车 (xe) đã học ở Buổi 01 — hôm nay ghép lại thành 开车 (lái xe).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6757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Đang làm gì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duz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正在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zhèngzài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正在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看书。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Tā zhèngzài kàn shū.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Anh ấy đang đọc sách.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duz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đang (phó từ tiếp diễn)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在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看书呢。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Tā zài kàn shū ne.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Anh ấy đang đọc sách đấy.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 đã học Buổi 07+08 với nghĩa "ở, tại" (giới từ) — hôm nay là NGHĨA KHÁC: đứng trước động từ để nói "đang làm gì".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dax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7658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读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dú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học, theo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33660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5135" y="49662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dàxué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đại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读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大学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，是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医的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大学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生，每天都很忙。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zài dú dàxué, shì xué yī de dàxuéshēng, měitiān dōu hěn máng.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đang học đại học, là sinh viên học ngành y, mỗi ngày đều rất bận.</a:t>
            </a:r>
          </a:p>
        </p:txBody>
      </p:sp>
      <p:pic>
        <p:nvPicPr>
          <p:cNvPr id="11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y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y (ngành 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我学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医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，以后想当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医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xué yī, yǐhòu xiǎng dāng yīshēng.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học ngành y, sau này muốn làm bác sĩ.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医 không nằm trong 300 từ chính thức HSK1 — chỉ là chữ gốc trong 学医 (sách dạy riêng để hiểu câu), không tính là 1 mục từ vựng độc lập.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592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Em trai chưa dậy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qichu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56834"/>
            <a:ext cx="4602175" cy="2589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起床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qǐchuáng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ngủ dậy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弟弟还没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起床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，还在睡觉呢。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Dìdi hái méi qǐchuáng, hái zài shuìjiào ne.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trai vẫn chưa dậy, vẫn đang ngủ.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弟弟 (em trai, Buổi 04) và 睡觉 (ngủ, Buổi 12) đã học — hôm nay chỉ ôn lại qua ví dụ, không dạy lại.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sh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睡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shuì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ngủ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他很晚才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睡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Tā hěn wǎn cái shuì.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Anh ấy ngủ rất muộn mới ngủ.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wen_shu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问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wèn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hỏi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shuō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nói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问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我明天做什么，我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说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我要去学校。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Māma wèn wǒ míngtiān zuò shénme, wǒ shuō wǒ yào qù xuéxiào.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Mẹ hỏi tôi ngày mai làm gì, tôi nói tôi định đi học.</a:t>
            </a:r>
          </a:p>
        </p:txBody>
      </p:sp>
      <p:pic>
        <p:nvPicPr>
          <p:cNvPr id="10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1776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Ôn chữ, nghĩa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duì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đối với, hướng về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他说得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对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Tā shuō de duì.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Anh ấy nói đúng.</a:t>
            </a:r>
          </a:p>
        </p:txBody>
      </p:sp>
      <p:pic>
        <p:nvPicPr>
          <p:cNvPr id="8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对 đã học Buổi 03 nghĩa "đúng" — hôm nay là NGHĨA/CÁCH DÙNG MỞ RỘNG khác (giới từ "đối với").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要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muốn, định (làm gì)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要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去大学上课。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yào qù dàxué shàngkè.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định đi học ở trường đại học.</a:t>
            </a:r>
          </a:p>
        </p:txBody>
      </p:sp>
      <p:pic>
        <p:nvPicPr>
          <p:cNvPr id="8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要 đã học Buổi 11 nghĩa "muốn, gọi món" — hôm nay mở rộng thêm nghĩa "định làm".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xiaopengy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27432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小朋友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xiǎopéngyou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em nhỏ, bạn nhỏ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535" y="1611376"/>
            <a:ext cx="30175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小朋友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生病了，妈妈要带他去医院。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 xiǎopéngyou shēngbìng le, māma yào dài tā qù yīyuàn.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nhỏ này bị ốm rồi, mẹ định đưa em đi bệnh viện.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3102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Đi làm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gong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来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lái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đến, tới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公司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gōngsī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công 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他每天几点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来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公司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上班？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Tā měitiān jǐ diǎn lái gōngsī shàngbān?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Anh ấy mỗi ngày mấy giờ đến công ty làm việc?</a:t>
            </a:r>
          </a:p>
        </p:txBody>
      </p:sp>
      <p:pic>
        <p:nvPicPr>
          <p:cNvPr id="10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年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nián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năm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我姐姐今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年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上大学了。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jiějie jīnnián shàng dàxué le.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Chị tôi năm nay vào đại học rồi.</a:t>
            </a:r>
          </a:p>
        </p:txBody>
      </p:sp>
      <p:pic>
        <p:nvPicPr>
          <p:cNvPr id="8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w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wǎn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muộn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现在很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晚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了，我们该睡觉了。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Xiànzài hěn wǎn le, wǒmen gāi shuìjiào le.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Bây giờ muộn rồi, chúng ta nên đi ngủ thôi.</a:t>
            </a:r>
          </a:p>
        </p:txBody>
      </p:sp>
      <p:pic>
        <p:nvPicPr>
          <p:cNvPr id="9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mei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没事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méishì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không sao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你不要担心，他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没事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búyào dānxīn, tā méishì.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đừng lo, anh ấy không sao.</a:t>
            </a:r>
          </a:p>
        </p:txBody>
      </p:sp>
      <p:pic>
        <p:nvPicPr>
          <p:cNvPr id="9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没事 gần giống 没事儿 đã học ở Buổi 02 — 2 cách nói cùng nghĩa "không sao", dùng thay nhau được.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 · 找饭店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639572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王一飞: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喂，李文，你什么时候能到饭店？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Wèi, Lǐ Wén, nǐ shénme shíhou néng dào fàndiàn?</a:t>
            </a:r>
          </a:p>
        </p:txBody>
      </p:sp>
      <p:sp>
        <p:nvSpPr>
          <p:cNvPr id="6" name="Oval 5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93615" y="2633472"/>
            <a:ext cx="694944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李文: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还不知道，正在找呢。它是不是在超市后边？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Hái bù zhīdào, zhèngzài zhǎo ne. Tā shì bu shì zài chāoshì hòubian?</a:t>
            </a:r>
          </a:p>
        </p:txBody>
      </p:sp>
      <p:sp>
        <p:nvSpPr>
          <p:cNvPr id="8" name="Oval 7"/>
          <p:cNvSpPr/>
          <p:nvPr/>
        </p:nvSpPr>
        <p:spPr>
          <a:xfrm>
            <a:off x="11399093" y="251569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85616"/>
            <a:ext cx="483108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王一飞: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是的。你开车没开车？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Shì de. Nǐ kāichē méi kāichē?</a:t>
            </a:r>
          </a:p>
        </p:txBody>
      </p:sp>
      <p:sp>
        <p:nvSpPr>
          <p:cNvPr id="10" name="Oval 9"/>
          <p:cNvSpPr/>
          <p:nvPr/>
        </p:nvSpPr>
        <p:spPr>
          <a:xfrm>
            <a:off x="371977" y="366784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9815" y="4937760"/>
            <a:ext cx="433324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李文: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我没开车，坐车呢。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Wǒ méi kāichē, zuò chē ne.</a:t>
            </a:r>
          </a:p>
        </p:txBody>
      </p:sp>
      <p:sp>
        <p:nvSpPr>
          <p:cNvPr id="12" name="Oval 11"/>
          <p:cNvSpPr/>
          <p:nvPr/>
        </p:nvSpPr>
        <p:spPr>
          <a:xfrm>
            <a:off x="11399093" y="481998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pic>
        <p:nvPicPr>
          <p:cNvPr id="13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 · 学医很忙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420522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王一飞: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你还在读大学吗？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Nǐ hái zài dú dàxué ma?</a:t>
            </a:r>
          </a:p>
        </p:txBody>
      </p:sp>
      <p:sp>
        <p:nvSpPr>
          <p:cNvPr id="6" name="Oval 5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5175" y="2633472"/>
            <a:ext cx="589788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李文: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对，我读大学呢，还是大学生。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Duì, wǒ dú dàxué ne, hái shì dàxuéshēng.</a:t>
            </a:r>
          </a:p>
        </p:txBody>
      </p:sp>
      <p:sp>
        <p:nvSpPr>
          <p:cNvPr id="8" name="Oval 7"/>
          <p:cNvSpPr/>
          <p:nvPr/>
        </p:nvSpPr>
        <p:spPr>
          <a:xfrm>
            <a:off x="11399093" y="251569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85616"/>
            <a:ext cx="420522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王一飞: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你们学习忙不忙？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Nǐmen xuéxí máng bu máng?</a:t>
            </a:r>
          </a:p>
        </p:txBody>
      </p:sp>
      <p:sp>
        <p:nvSpPr>
          <p:cNvPr id="10" name="Oval 9"/>
          <p:cNvSpPr/>
          <p:nvPr/>
        </p:nvSpPr>
        <p:spPr>
          <a:xfrm>
            <a:off x="371977" y="366784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32247" y="4937760"/>
            <a:ext cx="621080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李文: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非常忙，我学医，我们的课很多。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Fēicháng máng, wǒ xué yī, wǒmen de kè hěn duō.</a:t>
            </a:r>
          </a:p>
        </p:txBody>
      </p:sp>
      <p:sp>
        <p:nvSpPr>
          <p:cNvPr id="12" name="Oval 11"/>
          <p:cNvSpPr/>
          <p:nvPr/>
        </p:nvSpPr>
        <p:spPr>
          <a:xfrm>
            <a:off x="11399093" y="481998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pic>
        <p:nvPicPr>
          <p:cNvPr id="13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 · 弟弟还没起床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266440" cy="684461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刘明: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弟弟起床没起床呢？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Dìdi qǐchuáng méi qǐchuáng ne?</a:t>
            </a:r>
          </a:p>
        </p:txBody>
      </p:sp>
      <p:sp>
        <p:nvSpPr>
          <p:cNvPr id="6" name="Oval 5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1015" y="2265347"/>
            <a:ext cx="3622040" cy="68446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刘小雪: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没起床呢，还在睡觉。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Méi qǐchuáng ne, hái zài shuìjiào.</a:t>
            </a:r>
          </a:p>
        </p:txBody>
      </p:sp>
      <p:sp>
        <p:nvSpPr>
          <p:cNvPr id="8" name="Oval 7"/>
          <p:cNvSpPr/>
          <p:nvPr/>
        </p:nvSpPr>
        <p:spPr>
          <a:xfrm>
            <a:off x="11399093" y="2147572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49366"/>
            <a:ext cx="4119880" cy="684461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刘明: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还睡呢？他今天去不去那里？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Hái shuì ne? Tā jīntiān qù bu qù nàlǐ?</a:t>
            </a:r>
          </a:p>
        </p:txBody>
      </p:sp>
      <p:sp>
        <p:nvSpPr>
          <p:cNvPr id="10" name="Oval 9"/>
          <p:cNvSpPr/>
          <p:nvPr/>
        </p:nvSpPr>
        <p:spPr>
          <a:xfrm>
            <a:off x="371977" y="293159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01175" y="3833385"/>
            <a:ext cx="2341880" cy="68446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刘小雪: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去哪里？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Qù nǎlǐ?</a:t>
            </a:r>
          </a:p>
        </p:txBody>
      </p:sp>
      <p:sp>
        <p:nvSpPr>
          <p:cNvPr id="12" name="Oval 11"/>
          <p:cNvSpPr/>
          <p:nvPr/>
        </p:nvSpPr>
        <p:spPr>
          <a:xfrm>
            <a:off x="11399093" y="3715610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404"/>
            <a:ext cx="2199640" cy="684461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刘明: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去超市。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Qù chāoshì.</a:t>
            </a:r>
          </a:p>
        </p:txBody>
      </p:sp>
      <p:sp>
        <p:nvSpPr>
          <p:cNvPr id="14" name="Oval 13"/>
          <p:cNvSpPr/>
          <p:nvPr/>
        </p:nvSpPr>
        <p:spPr>
          <a:xfrm>
            <a:off x="371977" y="449962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95850" y="5401423"/>
            <a:ext cx="6847205" cy="68446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刘小雪: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我昨天问他，他对我说，他不去，他今天要和小朋友玩。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zuótiān wèn tā, tā duì wǒ shuō, tā bú qù, tā jīntiān yào hé xiǎopéngyou wán.</a:t>
            </a:r>
          </a:p>
        </p:txBody>
      </p:sp>
      <p:sp>
        <p:nvSpPr>
          <p:cNvPr id="16" name="Oval 15"/>
          <p:cNvSpPr/>
          <p:nvPr/>
        </p:nvSpPr>
        <p:spPr>
          <a:xfrm>
            <a:off x="11399093" y="5283648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pic>
        <p:nvPicPr>
          <p:cNvPr id="17" name="slide2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正反问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 — Câu hỏi chính phản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它是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是在超市后边？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Tā shì bu shì zài chāoshì hòubian?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Nó có phải ở sau siêu thị không?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你去没去学校？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Nǐ qù méi qù xuéxiào?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Bạn có đi học không?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这件衣服好看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好看？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jiàn yīfu hǎokàn bu hǎokàn?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Cái áo này có đẹp không?</a:t>
            </a:r>
          </a:p>
          <a:p>
            <a:pPr>
              <a:spcBef>
                <a:spcPts val="1500"/>
              </a:spcBef>
              <a:buNone/>
            </a:pPr>
            <a:r>
              <a:rPr sz="15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Công thức: x+不/没+x. Động từ dùng 不/没 (去不去/去没去), tính từ chỉ dùng 不 (好看不好看).</a:t>
            </a:r>
          </a:p>
        </p:txBody>
      </p:sp>
      <p:pic>
        <p:nvPicPr>
          <p:cNvPr id="7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4855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正反问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Chọn đáp án đúng theo mẫu chính phản (正反问)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你___超市？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7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(A 去不去  B 去没有  C 去了)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26512"/>
            <a:ext cx="4437766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正在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/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在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+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826512"/>
            <a:ext cx="6400617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他正在看电视。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Tā zhèngzài kàn diànshì.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Anh ấy đang xem tivi.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09848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10432"/>
            <a:ext cx="4437766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正在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/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在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+ V + 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3710432"/>
            <a:ext cx="6400617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学生们在上课呢。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Xuéshengmen zài shàngkè ne.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Các học sinh đang học đấy.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3768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94352"/>
            <a:ext cx="4437766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</a:rPr>
              <a:t>V + 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呢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(không cần 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在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/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正在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2438" y="4594352"/>
            <a:ext cx="6400617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我们读书呢。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Wǒmen dúshū ne.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Chúng tôi đang đọc sách đấy.</a:t>
            </a:r>
          </a:p>
        </p:txBody>
      </p:sp>
      <p:pic>
        <p:nvPicPr>
          <p:cNvPr id="14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6689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在/正在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Từ cần dùng: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正在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睡觉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11094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Điền từ thích hợp vào chỗ trống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她没在看电视，___学习呢。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妈妈：爸爸在做什么？孩子：他在___呢。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能愿动词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 </a:t>
            </a: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要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 — Muốn làm, định làm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他今天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要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和小朋友玩。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Tā jīntiān yào hé xiǎopéngyou wán.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Hôm nay anh ấy định chơi với các bạn nhỏ.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要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去超市。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Māma yào qù chāoshì.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Mẹ định đi siêu thị.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白家月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要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在家里学中文。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Bái Jiāyuè yào zài jiā li xué Zhōngwén.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Bạch Gia Nguyệt định học tiếng Trung ở nhà.</a:t>
            </a:r>
          </a:p>
          <a:p>
            <a:pPr>
              <a:spcBef>
                <a:spcPts val="1500"/>
              </a:spcBef>
              <a:buNone/>
            </a:pPr>
            <a:r>
              <a:rPr sz="15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要 đứng trước động từ, biểu thị dự định/mong muốn làm việc gì đó.</a:t>
            </a:r>
          </a:p>
        </p:txBody>
      </p:sp>
      <p:pic>
        <p:nvPicPr>
          <p:cNvPr id="7" name="slide2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9338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Từ cần dùng: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那里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11094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Điền từ thích hợp vào chỗ trống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弟弟：姐姐，我们去___玩吧，好不好？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7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姐姐：我不去，我___读书。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Nối ảnh với từ</a:t>
            </a:r>
          </a:p>
        </p:txBody>
      </p:sp>
      <p:pic>
        <p:nvPicPr>
          <p:cNvPr id="5" name="Picture 4" descr="gong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9" y="1481328"/>
            <a:ext cx="2289354" cy="15270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7" name="Picture 6" descr="w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76" y="1481328"/>
            <a:ext cx="2289354" cy="152704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638617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9" name="Picture 8" descr="qichua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42" y="3200400"/>
            <a:ext cx="2713469" cy="152704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1" name="Picture 10" descr="kai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76" y="3200400"/>
            <a:ext cx="2289354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638617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fandi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9" y="4919472"/>
            <a:ext cx="2289354" cy="1527048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548640" y="4919472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2330" y="1481328"/>
            <a:ext cx="474072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开车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kāichē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公司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gōngsī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饭店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fàndiàn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wǎn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起床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qǐchuáng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