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microsoft.com/office/2007/relationships/media" Target="../media/media2.mp3"/><Relationship Id="rId5" Type="http://schemas.openxmlformats.org/officeDocument/2006/relationships/video" Target="../media/media2.mp3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microsoft.com/office/2007/relationships/media" Target="../media/media7.mp3"/><Relationship Id="rId5" Type="http://schemas.openxmlformats.org/officeDocument/2006/relationships/video" Target="../media/media7.mp3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昨天下雪了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Zuótiān xià xuě le · Hôm qua tuyết rơi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Buổi 14 · HSK1 3.0 · Thời tiết &amp; sức khỏe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mô tả được thời tiết (mưa, tuyết, lạnh, nóng)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mô tả đơn giản khi bị ốm, đi khám bệnh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Nắm được câu không chủ-vị (非主谓句) dùng trong khẩu ngữ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Nắm được cách dùng ngữ khí trợ từ "了(1)" — báo hiệu tình huống mới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Nắm được cấu trúc cảm thán "太……了"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0426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Hỏi thời tiết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tian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80" y="1611376"/>
            <a:ext cx="4558600" cy="30261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1611376"/>
            <a:ext cx="2941167" cy="30261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天气</a:t>
            </a:r>
          </a:p>
          <a:p>
            <a:pPr algn="ctr">
              <a:spcBef>
                <a:spcPts val="4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tiānqì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thời tiết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1887" y="1611376"/>
            <a:ext cx="2941167" cy="30261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</a:t>
            </a:r>
          </a:p>
          <a:p>
            <a:pPr algn="ctr">
              <a:spcBef>
                <a:spcPts val="4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tiān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trời (= 天气, dùng trong khẩu ngữ)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66111"/>
            <a:ext cx="11094415" cy="1626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天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天气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怎么样？这里的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天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不太好。</a:t>
            </a:r>
          </a:p>
          <a:p>
            <a:pPr>
              <a:spcBef>
                <a:spcPts val="4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     Jīntiān tiānqì zěnmeyàng? Zhèlǐ de tiān bú tài hǎo.</a:t>
            </a:r>
          </a:p>
          <a:p>
            <a:pPr>
              <a:spcBef>
                <a:spcPts val="3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     Hôm nay thời tiết thế nào? Chỗ này trời không đẹp lắm.</a:t>
            </a:r>
          </a:p>
        </p:txBody>
      </p:sp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leng.jpg"/>
          <p:cNvPicPr>
            <a:picLocks noChangeAspect="1"/>
          </p:cNvPicPr>
          <p:nvPr/>
        </p:nvPicPr>
        <p:blipFill>
          <a:blip r:embed="rId2"/>
          <a:srcRect l="19774" r="19774"/>
          <a:stretch>
            <a:fillRect/>
          </a:stretch>
        </p:blipFill>
        <p:spPr>
          <a:xfrm>
            <a:off x="548640" y="1611376"/>
            <a:ext cx="3121508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98748" y="2468626"/>
            <a:ext cx="1922779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冷</a:t>
            </a:r>
            <a:r>
              <a:rPr sz="1500" b="0" i="1">
                <a:solidFill>
                  <a:srgbClr val="6B7683"/>
                </a:solidFill>
                <a:latin typeface="Calibri"/>
              </a:rPr>
              <a:t>  tính từ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lěng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lạnh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今天很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冷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，多穿点儿衣服。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Jīntiān hěn lěng, duō chuān diǎnr yīfu.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Hôm nay lạnh lắm, mặc thêm quần áo vào.</a:t>
            </a:r>
          </a:p>
        </p:txBody>
      </p:sp>
      <p:pic>
        <p:nvPicPr>
          <p:cNvPr id="9" name="Picture 8" descr="re.jpg"/>
          <p:cNvPicPr>
            <a:picLocks noChangeAspect="1"/>
          </p:cNvPicPr>
          <p:nvPr/>
        </p:nvPicPr>
        <p:blipFill>
          <a:blip r:embed="rId3"/>
          <a:srcRect l="19774" r="19774"/>
          <a:stretch>
            <a:fillRect/>
          </a:stretch>
        </p:blipFill>
        <p:spPr>
          <a:xfrm>
            <a:off x="8521546" y="1611376"/>
            <a:ext cx="3121508" cy="3444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1922779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热</a:t>
            </a:r>
            <a:r>
              <a:rPr sz="1500" b="0" i="1">
                <a:solidFill>
                  <a:srgbClr val="6B7683"/>
                </a:solidFill>
                <a:latin typeface="Calibri"/>
              </a:rPr>
              <a:t>  tính từ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rè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nóng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外边很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热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，我们喝点儿水吧。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Wàibian hěn rè, wǒmen hē diǎnr shuǐ ba.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Bên ngoài nóng lắm, chúng ta uống chút nước đi.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冷/热 là tính từ, làm vị ngữ KHÔNG cần 是 phía trước: ❌ 我是很冷 → ✅ 我很冷。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youdianr_jue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91400"/>
            <a:ext cx="3779215" cy="2520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2565908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yǒudiǎnr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hơi, có chút (đứng TRƯỚC tính từ/động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4166108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觉得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juéde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cảm thấy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有点儿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大，我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觉得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很冷。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Yǔ yǒudiǎnr dà, wǒ juéde hěn lěng.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Mưa hơi to, tôi cảm thấy rất lạnh.</a:t>
            </a:r>
          </a:p>
        </p:txBody>
      </p:sp>
      <p:pic>
        <p:nvPicPr>
          <p:cNvPr id="10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iay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486"/>
            <a:ext cx="4602175" cy="307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 yǔ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mưa (động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yǔ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mưa (danh từ)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雨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有点儿大。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Xià yǔ le, yǔ yǒudiǎnr dà.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Trời mưa rồi, mưa hơi to.</a:t>
            </a:r>
          </a:p>
        </p:txBody>
      </p:sp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iax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(mưa/tuyết) rơi, đổ xuống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xuě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tuyết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昨天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雪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Zuótiān xià xuě le.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Hôm qua tuyết rơi rồi.</a:t>
            </a:r>
          </a:p>
        </p:txBody>
      </p:sp>
      <p:pic>
        <p:nvPicPr>
          <p:cNvPr id="10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雪 có bộ 雨 (mưa) ở trên — tuyết cũng là 1 dạng nước từ trời rơi xuống, giống mưa.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qingt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90456"/>
            <a:ext cx="2227935" cy="148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05175" y="2468626"/>
            <a:ext cx="2816352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晴天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qíngtiān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trời nắng, trời quang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今天是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晴天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，我们去公园玩儿吧。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Jīntiān shì qíngtiān, wǒmen qù gōngyuán wánr ba.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Hôm nay trời nắng, chúng ta ra công viên chơi đi.</a:t>
            </a:r>
          </a:p>
        </p:txBody>
      </p:sp>
      <p:pic>
        <p:nvPicPr>
          <p:cNvPr id="9" name="Picture 8" descr="yintian.jpg"/>
          <p:cNvPicPr>
            <a:picLocks noChangeAspect="1"/>
          </p:cNvPicPr>
          <p:nvPr/>
        </p:nvPicPr>
        <p:blipFill>
          <a:blip r:embed="rId3"/>
          <a:srcRect l="18232" r="18232"/>
          <a:stretch>
            <a:fillRect/>
          </a:stretch>
        </p:blipFill>
        <p:spPr>
          <a:xfrm>
            <a:off x="8341207" y="1611376"/>
            <a:ext cx="3301847" cy="3444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阴天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yīntiān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trời âm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今天是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阴天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，我没看见太阳。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Jīntiān shì yīntiān, wǒ méi kànjiàn tàiyáng.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Hôm nay trời âm u, tôi không thấy mặt trời.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8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晴 có bộ 日 (mặt trời) — trời tạnh, có nắng.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uanhuo.jpg"/>
          <p:cNvPicPr>
            <a:picLocks noChangeAspect="1"/>
          </p:cNvPicPr>
          <p:nvPr/>
        </p:nvPicPr>
        <p:blipFill>
          <a:blip r:embed="rId2"/>
          <a:srcRect l="18028" r="18028"/>
          <a:stretch>
            <a:fillRect/>
          </a:stretch>
        </p:blipFill>
        <p:spPr>
          <a:xfrm>
            <a:off x="548640" y="1611376"/>
            <a:ext cx="3301847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908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暖和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nuǎnhuo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ấm 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春天很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暖和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，花都开了。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Chūntiān hěn nuǎnhuo, huā dōu kāi le.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Mùa xuân ấm áp, hoa đều nở rồi.</a:t>
            </a:r>
          </a:p>
        </p:txBody>
      </p:sp>
      <p:pic>
        <p:nvPicPr>
          <p:cNvPr id="9" name="Picture 8" descr="liangkuai.jpg"/>
          <p:cNvPicPr>
            <a:picLocks noChangeAspect="1"/>
          </p:cNvPicPr>
          <p:nvPr/>
        </p:nvPicPr>
        <p:blipFill>
          <a:blip r:embed="rId3"/>
          <a:srcRect l="18939" r="18939"/>
          <a:stretch>
            <a:fillRect/>
          </a:stretch>
        </p:blipFill>
        <p:spPr>
          <a:xfrm>
            <a:off x="8383310" y="1611376"/>
            <a:ext cx="3259744" cy="3444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1784543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凉快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liángkuai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mát mẻ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秋天很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凉快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，我喜欢秋天。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Qiūtiān hěn liángkuai, wǒ xǐhuan qiūtiān.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Mùa thu mát mẻ, tôi thích mùa thu.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凉 cùng bộ 冫 (băng) với 冷 — cùng nhóm nghĩa liên quan đến lạnh, nhưng 凉快 chỉ mát nhẹ, dễ chịu.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四季 · Bốn mùa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11094415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</a:rPr>
              <a:t>四季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623616"/>
          <a:ext cx="11094413" cy="276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822"/>
                <a:gridCol w="4085549"/>
                <a:gridCol w="3857042"/>
              </a:tblGrid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春天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</a:rPr>
                        <a:t>chūntiān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mùa xuân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夏天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</a:rPr>
                        <a:t>xiàtiān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mùa hè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秋天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</a:rPr>
                        <a:t>qiūtiān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mùa thu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冬天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</a:rPr>
                        <a:t>dōngtiān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mùa đông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5751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Bị ốm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shengbing_kanb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生病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shēngbìng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bị bệnh, bị ốm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看病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kànbìng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khám bệnh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杨同乐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生病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了，去医院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看病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Yáng Tónglè shēngbìng le, qù yīyuàn kànbìng.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Dương Đồng Lạc bị ốm rồi, đi bệnh viện khám bệnh.</a:t>
            </a:r>
          </a:p>
        </p:txBody>
      </p:sp>
      <p:pic>
        <p:nvPicPr>
          <p:cNvPr id="10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杨同乐 chính là nhân vật trong 课文2/3 của buổi này — nhắc lại tên để liên hệ ngay khi vào hội thoại.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bing_y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7206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45618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病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bìng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bệnh, ốm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05638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yào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thuốc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6614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病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了，医生给他一点儿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，让他多休息。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Dìdi bìng le, yīshēng gěi tā yìdiǎnr yào, ràng tā duō xiūxi.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trai ốm rồi, bác sĩ cho em ấy một ít thuốc, bảo em ấy nghỉ ngơi nhiều.</a:t>
            </a:r>
          </a:p>
        </p:txBody>
      </p:sp>
      <p:pic>
        <p:nvPicPr>
          <p:cNvPr id="10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病 có bộ 疒 (bệnh tật) — nhìn thấy bộ này là nghĩ ngay tới ốm đau.</a:t>
            </a:r>
          </a:p>
          <a:p>
            <a:pPr>
              <a:spcBef>
                <a:spcPts val="200"/>
              </a:spcBef>
              <a:buNone/>
            </a:pPr>
            <a:r>
              <a:rPr sz="10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药 có bộ 艹 (cỏ cây) ở trên — vì thuốc xưa làm từ thảo dược.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he_sh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2662"/>
            <a:ext cx="4602175" cy="31382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喝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uống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shuǐ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我很渴，想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喝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一杯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水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hěn kě, xiǎng hē yì bēi shuǐ.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rất khát, muốn uống một cốc nước.</a:t>
            </a:r>
          </a:p>
        </p:txBody>
      </p:sp>
      <p:pic>
        <p:nvPicPr>
          <p:cNvPr id="10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yidian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27432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一点儿</a:t>
            </a:r>
            <a:r>
              <a:rPr sz="1600" b="0" i="1">
                <a:solidFill>
                  <a:srgbClr val="6B7683"/>
                </a:solidFill>
                <a:latin typeface="Calibri"/>
              </a:rPr>
              <a:t>  số lượng nhỏ (đứng SAU động từ/danh từ)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yìdiǎnr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một chút, một 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535" y="1611376"/>
            <a:ext cx="30175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医生说，吃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一点儿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药就好了。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Yīshēng shuō, chī yìdiǎnr yào jiù hǎo le.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Bác sĩ nói, uống một chút thuốc là khỏe thôi.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Phân biệt với 有点儿 đã học: 有点儿 đứng TRƯỚC tính từ/động từ tâm lý (有点儿冷、有点儿累); 一点儿 đứng SAU động từ/danh từ, chỉ số lượng nhỏ (吃一点儿药、喝一点儿水).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27777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Triệu chứng ốm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touteng_fash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1830"/>
            <a:ext cx="4602175" cy="3059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头疼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tóuténg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đau đầu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发烧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fāshāo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sốt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头疼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，还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发烧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Dìdi tóuténg, hái fāshāo le.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trai đau đầu, còn bị sốt nữa.</a:t>
            </a:r>
          </a:p>
        </p:txBody>
      </p:sp>
      <p:pic>
        <p:nvPicPr>
          <p:cNvPr id="10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kesou_ganm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咳嗽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késou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感冒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gǎnmào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cảm cúm, bị cảm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感冒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了，一直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咳嗽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 gǎnmào le, yìzhí késou.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ấy bị cảm rồi, cứ ho mãi.</a:t>
            </a:r>
          </a:p>
        </p:txBody>
      </p:sp>
      <p:pic>
        <p:nvPicPr>
          <p:cNvPr id="10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zhe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这里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zhèlǐ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ở đây, chỗ này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这里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的天气很好，我们出去玩儿吧。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Zhèlǐ de tiānqì hěn hǎo, wǒmen chūqù wánr ba.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Thời tiết ở đây đẹp lắm, chúng ta ra ngoài chơi đi.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这里 giống nghĩa 这儿 đã học — cùng nhóm với 那里/哪里 (Buổi 13), chỉ khác vẻ ngoài (里 thay vì 儿).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hui_z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huí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về, trở về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zài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rồi, sau đó mới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回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家后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再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喝些热水。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Huí jiā hòu zài hē xiē rè shuǐ.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Về nhà rồi sau đó hãy uống thêm ít nước nóng.</a:t>
            </a:r>
          </a:p>
        </p:txBody>
      </p:sp>
      <p:pic>
        <p:nvPicPr>
          <p:cNvPr id="10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tian_liangc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tiān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ngày (lượng từ đếm ngày)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他病了三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天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 bìng le sān tiān.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ấy ốm ba ngày rồi.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天 ở đây khác nghĩa với 天 đã học đầu buổi (= 天气, khẩu ngữ) — cùng 1 chữ nhưng 2 nghĩa, phải nhìn ngữ cảnh để phân biệt.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 · 问天气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420522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今天天气怎么样？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Jīntiān tiānqì zěnmeyàng?</a:t>
            </a:r>
          </a:p>
        </p:txBody>
      </p:sp>
      <p:sp>
        <p:nvSpPr>
          <p:cNvPr id="6" name="Oval 5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119" y="2633472"/>
            <a:ext cx="5456936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王一飞: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这里的天不太好，下雨了。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Zhèlǐ de tiān bú tài hǎo, xià yǔ le.</a:t>
            </a:r>
          </a:p>
        </p:txBody>
      </p:sp>
      <p:sp>
        <p:nvSpPr>
          <p:cNvPr id="8" name="Oval 7"/>
          <p:cNvSpPr/>
          <p:nvPr/>
        </p:nvSpPr>
        <p:spPr>
          <a:xfrm>
            <a:off x="11399093" y="251569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85616"/>
            <a:ext cx="2953512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雨大吗？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Yǔ dà ma?</a:t>
            </a:r>
          </a:p>
        </p:txBody>
      </p:sp>
      <p:sp>
        <p:nvSpPr>
          <p:cNvPr id="10" name="Oval 9"/>
          <p:cNvSpPr/>
          <p:nvPr/>
        </p:nvSpPr>
        <p:spPr>
          <a:xfrm>
            <a:off x="371977" y="366784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9047" y="4937760"/>
            <a:ext cx="514400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王一飞: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有点儿大，我觉得很冷。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Yǒudiǎnr dà, wǒ juéde hěn lěng.</a:t>
            </a:r>
          </a:p>
        </p:txBody>
      </p:sp>
      <p:sp>
        <p:nvSpPr>
          <p:cNvPr id="12" name="Oval 11"/>
          <p:cNvSpPr/>
          <p:nvPr/>
        </p:nvSpPr>
        <p:spPr>
          <a:xfrm>
            <a:off x="11399093" y="481998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3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 · 生病了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79368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昨天下雪了。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Zuótiān xià xuě le.</a:t>
            </a:r>
          </a:p>
        </p:txBody>
      </p:sp>
      <p:sp>
        <p:nvSpPr>
          <p:cNvPr id="6" name="Oval 5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50759" y="2633472"/>
            <a:ext cx="3892296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是的，太冷了。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Shì de, tài lěng le.</a:t>
            </a:r>
          </a:p>
        </p:txBody>
      </p:sp>
      <p:sp>
        <p:nvSpPr>
          <p:cNvPr id="8" name="Oval 7"/>
          <p:cNvSpPr/>
          <p:nvPr/>
        </p:nvSpPr>
        <p:spPr>
          <a:xfrm>
            <a:off x="11399093" y="251569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85616"/>
            <a:ext cx="5456936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你昨天没来公司，生病了？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Nǐ zuótiān méi lái gōngsī, shēngbìng le?</a:t>
            </a:r>
          </a:p>
        </p:txBody>
      </p:sp>
      <p:sp>
        <p:nvSpPr>
          <p:cNvPr id="10" name="Oval 9"/>
          <p:cNvSpPr/>
          <p:nvPr/>
        </p:nvSpPr>
        <p:spPr>
          <a:xfrm>
            <a:off x="371977" y="366784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119" y="4937760"/>
            <a:ext cx="5456936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对，我昨天去医院看病了。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Duì, wǒ zuótiān qù yīyuàn kànbìng le.</a:t>
            </a:r>
          </a:p>
        </p:txBody>
      </p:sp>
      <p:sp>
        <p:nvSpPr>
          <p:cNvPr id="12" name="Oval 11"/>
          <p:cNvSpPr/>
          <p:nvPr/>
        </p:nvSpPr>
        <p:spPr>
          <a:xfrm>
            <a:off x="11399093" y="481998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pic>
        <p:nvPicPr>
          <p:cNvPr id="13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 · 看病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081528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医生，我病了。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Yīshēng, wǒ bìng le.</a:t>
            </a:r>
          </a:p>
        </p:txBody>
      </p:sp>
      <p:sp>
        <p:nvSpPr>
          <p:cNvPr id="6" name="Oval 5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51191" y="2350105"/>
            <a:ext cx="3991864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胡医生: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我看看。你觉得怎么样？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kànkan. Nǐ juéde zěnmeyàng?</a:t>
            </a:r>
          </a:p>
        </p:txBody>
      </p:sp>
      <p:sp>
        <p:nvSpPr>
          <p:cNvPr id="8" name="Oval 7"/>
          <p:cNvSpPr/>
          <p:nvPr/>
        </p:nvSpPr>
        <p:spPr>
          <a:xfrm>
            <a:off x="11399093" y="223233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18882"/>
            <a:ext cx="2398776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我很冷。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hěn lěng.</a:t>
            </a:r>
          </a:p>
        </p:txBody>
      </p:sp>
      <p:sp>
        <p:nvSpPr>
          <p:cNvPr id="10" name="Oval 9"/>
          <p:cNvSpPr/>
          <p:nvPr/>
        </p:nvSpPr>
        <p:spPr>
          <a:xfrm>
            <a:off x="371977" y="310110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5687" y="4087659"/>
            <a:ext cx="5357368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胡医生: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好的，吃一点儿药，今天休息半天吧。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Hǎo de, chī yìdiǎnr yào, jīntiān xiūxi bàn tiān ba.</a:t>
            </a:r>
          </a:p>
        </p:txBody>
      </p:sp>
      <p:sp>
        <p:nvSpPr>
          <p:cNvPr id="12" name="Oval 11"/>
          <p:cNvSpPr/>
          <p:nvPr/>
        </p:nvSpPr>
        <p:spPr>
          <a:xfrm>
            <a:off x="11399093" y="396988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56436"/>
            <a:ext cx="2171192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Hǎo de.</a:t>
            </a:r>
          </a:p>
        </p:txBody>
      </p:sp>
      <p:sp>
        <p:nvSpPr>
          <p:cNvPr id="14" name="Oval 13"/>
          <p:cNvSpPr/>
          <p:nvPr/>
        </p:nvSpPr>
        <p:spPr>
          <a:xfrm>
            <a:off x="371977" y="483866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6359" y="5825213"/>
            <a:ext cx="3536696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胡医生: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回家后再喝些热水。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Huí jiā hòu zài hē xiē rè shuǐ.</a:t>
            </a:r>
          </a:p>
        </p:txBody>
      </p:sp>
      <p:sp>
        <p:nvSpPr>
          <p:cNvPr id="16" name="Oval 15"/>
          <p:cNvSpPr/>
          <p:nvPr/>
        </p:nvSpPr>
        <p:spPr>
          <a:xfrm>
            <a:off x="11399093" y="5707438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胡</a:t>
            </a:r>
          </a:p>
        </p:txBody>
      </p:sp>
      <p:pic>
        <p:nvPicPr>
          <p:cNvPr id="17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Người Trung Quốc thường khuyên uống nước ấm/nước nóng khi bị ốm, vì tin rằng tốt cho sức khỏe hơn nước lạnh.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非主谓句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 — Câu không phân chủ ngữ - vị ngữ</a:t>
            </a:r>
          </a:p>
          <a:p>
            <a:pPr>
              <a:spcBef>
                <a:spcPts val="139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下雨了。</a:t>
            </a:r>
          </a:p>
          <a:p>
            <a:pPr>
              <a:spcBef>
                <a:spcPts val="20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Xià yǔ le.</a:t>
            </a:r>
          </a:p>
          <a:p>
            <a:pPr>
              <a:spcBef>
                <a:spcPts val="20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</a:rPr>
              <a:t>Trời mưa rồi.</a:t>
            </a:r>
          </a:p>
          <a:p>
            <a:pPr>
              <a:spcBef>
                <a:spcPts val="139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下雪了。</a:t>
            </a:r>
          </a:p>
          <a:p>
            <a:pPr>
              <a:spcBef>
                <a:spcPts val="20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Xià xuě le.</a:t>
            </a:r>
          </a:p>
          <a:p>
            <a:pPr>
              <a:spcBef>
                <a:spcPts val="20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</a:rPr>
              <a:t>Tuyết rơi rồi.</a:t>
            </a:r>
          </a:p>
          <a:p>
            <a:pPr>
              <a:spcBef>
                <a:spcPts val="139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上课了。</a:t>
            </a:r>
          </a:p>
          <a:p>
            <a:pPr>
              <a:spcBef>
                <a:spcPts val="20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Shàngkè le.</a:t>
            </a:r>
          </a:p>
          <a:p>
            <a:pPr>
              <a:spcBef>
                <a:spcPts val="20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</a:rPr>
              <a:t>Vào tiết học rồi.</a:t>
            </a:r>
          </a:p>
          <a:p>
            <a:pPr>
              <a:spcBef>
                <a:spcPts val="139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真漂亮！</a:t>
            </a:r>
          </a:p>
          <a:p>
            <a:pPr>
              <a:spcBef>
                <a:spcPts val="20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Zhēn piàoliang!</a:t>
            </a:r>
          </a:p>
          <a:p>
            <a:pPr>
              <a:spcBef>
                <a:spcPts val="20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</a:rPr>
              <a:t>Đẹp thật!</a:t>
            </a:r>
          </a:p>
          <a:p>
            <a:pPr>
              <a:spcBef>
                <a:spcPts val="1042"/>
              </a:spcBef>
              <a:buNone/>
            </a:pPr>
            <a:r>
              <a:rPr sz="11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Câu do 1 từ/cụm từ tạo thành, không tách rõ chủ ngữ và vị ngữ — hay dùng trong khẩu ngữ để nói về hiện tượng tự nhiên hoặc để cảm thán.</a:t>
            </a:r>
          </a:p>
        </p:txBody>
      </p:sp>
      <p:pic>
        <p:nvPicPr>
          <p:cNvPr id="7" name="Picture 6" descr="grammar_feimzhuwe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18486"/>
            <a:ext cx="4297680" cy="2866644"/>
          </a:xfrm>
          <a:prstGeom prst="rect">
            <a:avLst/>
          </a:prstGeom>
        </p:spPr>
      </p:pic>
      <p:pic>
        <p:nvPicPr>
          <p:cNvPr id="8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非主谓句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Nhìn tình huống, viết 1 câu không chủ-vị ngắn gọn phù hợp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Nhìn ra cửa sổ thấy trời đang mưa, em nói: ______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Đến giờ vào lớp, cô giáo nói: ______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Nhìn thấy bông hoa rất đẹp, em cảm thán: ______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53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5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语气助词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 "</a:t>
            </a:r>
            <a:r>
              <a:rPr sz="15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(1)" — báo hiệu tình huống mới</a:t>
            </a:r>
          </a:p>
          <a:p>
            <a:pPr>
              <a:spcBef>
                <a:spcPts val="1504"/>
              </a:spcBef>
              <a:buNone/>
            </a:pP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2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Xià yǔ le.</a:t>
            </a:r>
          </a:p>
          <a:p>
            <a:pPr>
              <a:spcBef>
                <a:spcPts val="22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</a:rPr>
              <a:t>Trời mưa rồi (lúc nãy chưa mưa).</a:t>
            </a:r>
          </a:p>
          <a:p>
            <a:pPr>
              <a:spcBef>
                <a:spcPts val="1504"/>
              </a:spcBef>
              <a:buNone/>
            </a:pP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十二点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，吃午饭吧。</a:t>
            </a:r>
          </a:p>
          <a:p>
            <a:pPr>
              <a:spcBef>
                <a:spcPts val="22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Shí'èr diǎn le, chī wǔfàn ba.</a:t>
            </a:r>
          </a:p>
          <a:p>
            <a:pPr>
              <a:spcBef>
                <a:spcPts val="22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</a:rPr>
              <a:t>12 giờ rồi, ăn trưa thôi.</a:t>
            </a:r>
          </a:p>
          <a:p>
            <a:pPr>
              <a:spcBef>
                <a:spcPts val="1504"/>
              </a:spcBef>
              <a:buNone/>
            </a:pP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弟弟起床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吗？没起床呢。</a:t>
            </a:r>
          </a:p>
          <a:p>
            <a:pPr>
              <a:spcBef>
                <a:spcPts val="22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Dìdi qǐchuáng le ma? Méi qǐchuáng ne.</a:t>
            </a:r>
          </a:p>
          <a:p>
            <a:pPr>
              <a:spcBef>
                <a:spcPts val="22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</a:rPr>
              <a:t>Em trai dậy chưa? Chưa dậy đâu.</a:t>
            </a:r>
          </a:p>
          <a:p>
            <a:pPr>
              <a:spcBef>
                <a:spcPts val="1128"/>
              </a:spcBef>
              <a:buNone/>
            </a:pPr>
            <a:r>
              <a:rPr sz="11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了 đặt cuối câu (hoặc chỗ ngắt câu), báo hiệu có thay đổi hoặc xuất hiện tình huống mới — KHÔNG đơn thuần là dấu hiệu "thì quá khứ". Phủ định dùng 没, và BỎ HẲN 了 ở cuối câu.</a:t>
            </a:r>
          </a:p>
        </p:txBody>
      </p:sp>
      <p:pic>
        <p:nvPicPr>
          <p:cNvPr id="7" name="Picture 6" descr="grammar_l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444750"/>
            <a:ext cx="4297680" cy="2866644"/>
          </a:xfrm>
          <a:prstGeom prst="rect">
            <a:avLst/>
          </a:prstGeom>
        </p:spPr>
      </p:pic>
      <p:pic>
        <p:nvPicPr>
          <p:cNvPr id="8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🔑 Mẹo ghi nhớ: </a:t>
            </a:r>
            <a:r>
              <a:rPr sz="13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 luôn đứng SAU động từ hoặc cuối câu — không đặt trước động từ như từ "đã" trong tiếng Việt: ❌ 我昨天了去 → ✅ 我昨天去了。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4841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了(1)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Chọn vị trí đúng của 了 trong câu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我昨天___去学校。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7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(A 了去  B 去了  C 了去了)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A: 你吃饭了吗？ B: 我___吃饭。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7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(A 没了  B 没  C 不了)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53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</a:rPr>
              <a:t>"</a:t>
            </a:r>
            <a:r>
              <a:rPr sz="17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太</a:t>
            </a:r>
            <a:r>
              <a:rPr sz="1700" b="1" i="0">
                <a:solidFill>
                  <a:srgbClr val="1F2933"/>
                </a:solidFill>
                <a:latin typeface="Calibri"/>
              </a:rPr>
              <a:t>……</a:t>
            </a:r>
            <a:r>
              <a:rPr sz="17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700" b="1" i="0">
                <a:solidFill>
                  <a:srgbClr val="1F2933"/>
                </a:solidFill>
                <a:latin typeface="Calibri"/>
              </a:rPr>
              <a:t>" — cảm thán mức độ cao</a:t>
            </a:r>
          </a:p>
          <a:p>
            <a:pPr>
              <a:spcBef>
                <a:spcPts val="1712"/>
              </a:spcBef>
              <a:buNone/>
            </a:pP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太冷了！</a:t>
            </a:r>
          </a:p>
          <a:p>
            <a:pPr>
              <a:spcBef>
                <a:spcPts val="256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Tài lěng le!</a:t>
            </a:r>
          </a:p>
          <a:p>
            <a:pPr>
              <a:spcBef>
                <a:spcPts val="256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Lạnh quá!</a:t>
            </a:r>
          </a:p>
          <a:p>
            <a:pPr>
              <a:spcBef>
                <a:spcPts val="1712"/>
              </a:spcBef>
              <a:buNone/>
            </a:pP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这个杯子太小了。</a:t>
            </a:r>
          </a:p>
          <a:p>
            <a:pPr>
              <a:spcBef>
                <a:spcPts val="256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Zhège bēizi tài xiǎo le.</a:t>
            </a:r>
          </a:p>
          <a:p>
            <a:pPr>
              <a:spcBef>
                <a:spcPts val="256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Cái cốc này bé quá.</a:t>
            </a:r>
          </a:p>
          <a:p>
            <a:pPr>
              <a:spcBef>
                <a:spcPts val="1712"/>
              </a:spcBef>
              <a:buNone/>
            </a:pP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我们今天太高兴了！</a:t>
            </a:r>
          </a:p>
          <a:p>
            <a:pPr>
              <a:spcBef>
                <a:spcPts val="256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Wǒmen jīntiān tài gāoxìng le!</a:t>
            </a:r>
          </a:p>
          <a:p>
            <a:pPr>
              <a:spcBef>
                <a:spcPts val="256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Hôm nay chúng tôi vui quá!</a:t>
            </a:r>
          </a:p>
          <a:p>
            <a:pPr>
              <a:spcBef>
                <a:spcPts val="1284"/>
              </a:spcBef>
              <a:buNone/>
            </a:pPr>
            <a:r>
              <a:rPr sz="12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太……了 dùng để cảm thán một mức độ rất cao hoặc rất sâu — đặt tính từ vào giữa 太 và 了.</a:t>
            </a:r>
          </a:p>
        </p:txBody>
      </p:sp>
      <p:pic>
        <p:nvPicPr>
          <p:cNvPr id="7" name="Picture 6" descr="grammar_ta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444750"/>
            <a:ext cx="4297680" cy="2866644"/>
          </a:xfrm>
          <a:prstGeom prst="rect">
            <a:avLst/>
          </a:prstGeom>
        </p:spPr>
      </p:pic>
      <p:pic>
        <p:nvPicPr>
          <p:cNvPr id="8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🔑 Mẹo ghi nhớ: </a:t>
            </a:r>
            <a:r>
              <a:rPr sz="13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Tính từ làm vị ngữ (kể cả trong 太……了) KHÔNG cần 是 phía trước: ❌ 我是很冷 → ✅ 我很冷 / 太冷了！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太……了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Dùng "太……了" viết lại câu cảm thán cho tình huống sau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Trời hôm nay rất nóng, em muốn kêu lên: ______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Món ăn này rất ngon, em muốn khen: ______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Nối ảnh với từ</a:t>
            </a:r>
          </a:p>
        </p:txBody>
      </p:sp>
      <p:pic>
        <p:nvPicPr>
          <p:cNvPr id="5" name="Picture 4" descr="xiay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22" y="1481328"/>
            <a:ext cx="2285708" cy="1527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7" name="Picture 6" descr="xiax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76" y="1481328"/>
            <a:ext cx="2289354" cy="1527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638617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9" name="Picture 8" descr="le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9" y="3200400"/>
            <a:ext cx="2289354" cy="152704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1" name="Picture 10" descr="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76" y="3200400"/>
            <a:ext cx="2289354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638617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he_shu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00" y="4919472"/>
            <a:ext cx="2239352" cy="1527047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48640" y="4919472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330" y="1481328"/>
            <a:ext cx="474072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热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rè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下雪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xià xuě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喝水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hē shuǐ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冷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lěng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xià yǔ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