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2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microsoft.com/office/2007/relationships/media" Target="../media/media3.mp3"/><Relationship Id="rId5" Type="http://schemas.openxmlformats.org/officeDocument/2006/relationships/video" Target="../media/media3.mp3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microsoft.com/office/2007/relationships/media" Target="../media/media7.mp3"/><Relationship Id="rId5" Type="http://schemas.openxmlformats.org/officeDocument/2006/relationships/video" Target="../media/media7.mp3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microsoft.com/office/2007/relationships/media" Target="../media/media9.mp3"/><Relationship Id="rId5" Type="http://schemas.openxmlformats.org/officeDocument/2006/relationships/video" Target="../media/media9.mp3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microsoft.com/office/2007/relationships/media" Target="../media/media10.mp3"/><Relationship Id="rId5" Type="http://schemas.openxmlformats.org/officeDocument/2006/relationships/video" Target="../media/media10.mp3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microsoft.com/office/2007/relationships/media" Target="../media/media11.mp3"/><Relationship Id="rId5" Type="http://schemas.openxmlformats.org/officeDocument/2006/relationships/video" Target="../media/media11.mp3"/><Relationship Id="rId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microsoft.com/office/2007/relationships/media" Target="../media/media12.mp3"/><Relationship Id="rId5" Type="http://schemas.openxmlformats.org/officeDocument/2006/relationships/video" Target="../media/media12.mp3"/><Relationship Id="rId6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microsoft.com/office/2007/relationships/media" Target="../media/media13.mp3"/><Relationship Id="rId5" Type="http://schemas.openxmlformats.org/officeDocument/2006/relationships/video" Target="../media/media13.mp3"/><Relationship Id="rId6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3"/><Relationship Id="rId3" Type="http://schemas.openxmlformats.org/officeDocument/2006/relationships/video" Target="../media/media14.mp3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3"/><Relationship Id="rId3" Type="http://schemas.openxmlformats.org/officeDocument/2006/relationships/video" Target="../media/media15.mp3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8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大兴机场见！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Dàxīng Jīchǎng jiàn! · Hẹn gặp ở sân bay Đại Hưng!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Buổi 15 · HSK1 3.0 · Đi lại &amp; du lịch · hẹn gặp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buổi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489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&amp; trả lời sở thích ăn uống khi mời khách (爱吃哪个菜)</a:t>
            </a:r>
          </a:p>
          <a:p>
            <a:pPr>
              <a:spcBef>
                <a:spcPts val="2489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Kể chuyện du lịch đã đi và kế hoạch sắp đi</a:t>
            </a:r>
          </a:p>
          <a:p>
            <a:pPr>
              <a:spcBef>
                <a:spcPts val="2489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&amp; trả lời thời lượng di chuyển (máy bay mất mấy tiếng)</a:t>
            </a:r>
          </a:p>
          <a:p>
            <a:pPr>
              <a:spcBef>
                <a:spcPts val="2489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Hẹn gặp, sắp xếp đón nhau và ở nhà nhau khi đi xa</a:t>
            </a:r>
          </a:p>
          <a:p>
            <a:pPr>
              <a:spcBef>
                <a:spcPts val="2489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Nắm được câu ghép đẳng lập "……，还/也……"</a:t>
            </a:r>
          </a:p>
          <a:p>
            <a:pPr>
              <a:spcBef>
                <a:spcPts val="2489"/>
              </a:spcBef>
              <a:buNone/>
            </a:pPr>
            <a:r>
              <a:rPr sz="21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Mở rộng 10 từ vựng chủ đề du lịch (旅游/护照/签证...)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875861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Mời 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ai_n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ài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yêu, thích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哪个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nǎge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cái nào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爱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吃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哪个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菜？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Nǐmen ài chī nǎge cài?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Các bạn thích ăn món nào?</a:t>
            </a:r>
          </a:p>
        </p:txBody>
      </p:sp>
      <p:pic>
        <p:nvPicPr>
          <p:cNvPr id="10" name="slide0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9420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Du lịch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nanpengyou_haowan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9389"/>
            <a:ext cx="3779215" cy="25248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2175" y="2565908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男朋友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nánpéngyou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bạn trai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2175" y="4166108"/>
            <a:ext cx="29260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好玩儿</a:t>
            </a:r>
            <a:r>
              <a:rPr sz="1400" b="0" i="1">
                <a:solidFill>
                  <a:srgbClr val="6B7683"/>
                </a:solidFill>
                <a:latin typeface="Calibri"/>
              </a:rPr>
              <a:t>  tính từ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hǎowánr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vui, thú vị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去年我和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男朋友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去了西安，那里非常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好玩儿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Qùnián wǒ hé nánpéngyou qùle Xī'ān, nàlǐ fēicháng hǎowánr.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Năm ngoái tôi và bạn trai đi Tây An, ở đó rất thú vị.</a:t>
            </a:r>
          </a:p>
        </p:txBody>
      </p:sp>
      <p:pic>
        <p:nvPicPr>
          <p:cNvPr id="10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567716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专有名词 · Địa danh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2940"/>
            <a:ext cx="3060039" cy="20411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37279" y="2468626"/>
            <a:ext cx="19842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西安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Xī'ān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(riêng) Tây 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我很想去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西安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hěn xiǎng qù Xī'ān lǚyóu.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rất muốn đi Tây An du lịch.</a:t>
            </a:r>
          </a:p>
        </p:txBody>
      </p:sp>
      <p:pic>
        <p:nvPicPr>
          <p:cNvPr id="9" name="Picture 8" descr="beij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759" y="2477800"/>
            <a:ext cx="2822295" cy="17113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2221992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Běijīng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(riêng) Bắc Kinh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北京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是中国的首都。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Běijīng shì Zhōngguó de shǒudū.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Bắc Kinh là thủ đô Trung Quốc.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349235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Đi máy bay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feiji_xiaos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飞机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fēijī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máy bay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小时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xiǎoshí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giờ (thời lượng)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从河内到北京，坐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飞机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要九个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小时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Cóng Hénèi dào Běijīng, zuò fēijī yào jiǔ ge xiǎoshí.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Từ Hà Nội đến Bắc Kinh, đi máy bay mất chín tiếng.</a:t>
            </a:r>
          </a:p>
        </p:txBody>
      </p:sp>
      <p:pic>
        <p:nvPicPr>
          <p:cNvPr id="10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994204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 · Hẹn gặp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jiaren_shij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jiārén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người nhà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时间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shíjiān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thời gian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家人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都在北京，星期天我姐姐也有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时间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jiārén dōu zài Běijīng, xīngqītiān wǒ jiějie yě yǒu shíjiān.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Người nhà tôi đều ở Bắc Kinh, chủ nhật chị tôi cũng có thời gian.</a:t>
            </a:r>
          </a:p>
        </p:txBody>
      </p:sp>
      <p:pic>
        <p:nvPicPr>
          <p:cNvPr id="10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jichang_j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4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25659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机场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jīchǎng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sân bay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5135" y="4166108"/>
            <a:ext cx="21031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接</a:t>
            </a:r>
            <a:r>
              <a:rPr sz="1400" b="0" i="1">
                <a:solidFill>
                  <a:srgbClr val="6B7683"/>
                </a:solidFill>
                <a:latin typeface="Calibri"/>
              </a:rPr>
              <a:t>  động từ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1">
                <a:solidFill>
                  <a:srgbClr val="8E2B20"/>
                </a:solidFill>
                <a:latin typeface="Calibri"/>
              </a:rPr>
              <a:t>jiē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1F2933"/>
                </a:solidFill>
                <a:latin typeface="Calibri"/>
              </a:rPr>
              <a:t>đón, gặp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5455" y="1611376"/>
            <a:ext cx="365760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星期天我姐姐可以去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机场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接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Xīngqītiān wǒ jiějie kěyǐ qù jīchǎng jiē nǐmen.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Chủ nhật chị tôi có thể đi sân bay đón các bạn.</a:t>
            </a:r>
          </a:p>
        </p:txBody>
      </p:sp>
      <p:pic>
        <p:nvPicPr>
          <p:cNvPr id="10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zhu.jpg"/>
          <p:cNvPicPr>
            <a:picLocks noChangeAspect="1"/>
          </p:cNvPicPr>
          <p:nvPr/>
        </p:nvPicPr>
        <p:blipFill>
          <a:blip r:embed="rId2"/>
          <a:srcRect l="19774" r="19774"/>
          <a:stretch>
            <a:fillRect/>
          </a:stretch>
        </p:blipFill>
        <p:spPr>
          <a:xfrm>
            <a:off x="548640" y="1611376"/>
            <a:ext cx="3121508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98748" y="2468626"/>
            <a:ext cx="1922779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住</a:t>
            </a:r>
            <a:r>
              <a:rPr sz="1500" b="0" i="1">
                <a:solidFill>
                  <a:srgbClr val="6B7683"/>
                </a:solidFill>
                <a:latin typeface="Calibri"/>
              </a:rPr>
              <a:t>  động từ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zhù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ở, sống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谢谢你，那我们就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住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你家。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Xièxie nǐ, nà wǒmen jiù zhù nǐ jiā.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Cảm ơn bạn, vậy chúng tôi sẽ ở nhà bạn.</a:t>
            </a:r>
          </a:p>
        </p:txBody>
      </p:sp>
      <p:pic>
        <p:nvPicPr>
          <p:cNvPr id="9" name="Picture 8" descr="zao.jpg"/>
          <p:cNvPicPr>
            <a:picLocks noChangeAspect="1"/>
          </p:cNvPicPr>
          <p:nvPr/>
        </p:nvPicPr>
        <p:blipFill>
          <a:blip r:embed="rId3"/>
          <a:srcRect l="19774" r="19774"/>
          <a:stretch>
            <a:fillRect/>
          </a:stretch>
        </p:blipFill>
        <p:spPr>
          <a:xfrm>
            <a:off x="8521546" y="1611376"/>
            <a:ext cx="3121508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922779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</a:t>
            </a:r>
            <a:r>
              <a:rPr sz="1500" b="0" i="1">
                <a:solidFill>
                  <a:srgbClr val="6B7683"/>
                </a:solidFill>
                <a:latin typeface="Calibri"/>
              </a:rPr>
              <a:t>  tính từ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zǎo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sớm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早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上八点到，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早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早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Wǒmen zǎoshang bā diǎn dào, zǎo bu zǎo?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Chúng tôi sáng 8 giờ đến, có sớm không?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09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专有名词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axing_jich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38919"/>
            <a:ext cx="4236415" cy="28257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59375" y="1611376"/>
            <a:ext cx="356616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大兴机场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Dàxīng Jīchǎng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(riêng) Sân bay Đại Hưng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82735" y="1611376"/>
            <a:ext cx="256032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我们星期日早上在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大兴机场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见！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Wǒmen xīngqīrì zǎoshang zài Dàxīng Jīchǎng jiàn!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Chúng ta hẹn gặp ở sân bay Đại Hưng vào sáng chủ nhật nhé!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329184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5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 · Từ vựng du lịch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lv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14841"/>
            <a:ext cx="3301847" cy="2037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908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lǚyóu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du lịch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我很喜欢去中国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旅游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hěn xǐhuan qù Zhōngguó lǚyóu.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rất thích đi Trung Quốc du lịch.</a:t>
            </a:r>
          </a:p>
        </p:txBody>
      </p:sp>
      <p:pic>
        <p:nvPicPr>
          <p:cNvPr id="9" name="Picture 8" descr="daoyo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3991" y="2630101"/>
            <a:ext cx="2109063" cy="14067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2935224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导游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dǎoyóu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hướng dẫn viên du lịch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导游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带我们去了很多地方。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Dǎoyóu dài wǒmen qùle hěn duō dìfang.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Hướng dẫn viên đưa chúng tôi đi nhiều nơi.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旅游/导游 đều có bộ 游 (bơi, đi lại) — cùng nhóm nghĩa về việc đi đây đi đó.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huzhao.jpg"/>
          <p:cNvPicPr>
            <a:picLocks noChangeAspect="1"/>
          </p:cNvPicPr>
          <p:nvPr/>
        </p:nvPicPr>
        <p:blipFill>
          <a:blip r:embed="rId2"/>
          <a:srcRect l="18028" r="18028"/>
          <a:stretch>
            <a:fillRect/>
          </a:stretch>
        </p:blipFill>
        <p:spPr>
          <a:xfrm>
            <a:off x="548640" y="1611376"/>
            <a:ext cx="3301847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908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护照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hùzhào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hộ chiếu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去中国旅游要带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护照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Qù Zhōngguó lǚyóu yào dài hùzhào.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Đi Trung Quốc du lịch phải mang theo hộ chiếu.</a:t>
            </a:r>
          </a:p>
        </p:txBody>
      </p:sp>
      <p:pic>
        <p:nvPicPr>
          <p:cNvPr id="9" name="Picture 8" descr="qianzheng.jpg"/>
          <p:cNvPicPr>
            <a:picLocks noChangeAspect="1"/>
          </p:cNvPicPr>
          <p:nvPr/>
        </p:nvPicPr>
        <p:blipFill>
          <a:blip r:embed="rId3"/>
          <a:srcRect l="18435" r="18435"/>
          <a:stretch>
            <a:fillRect/>
          </a:stretch>
        </p:blipFill>
        <p:spPr>
          <a:xfrm>
            <a:off x="8383310" y="1611376"/>
            <a:ext cx="3259744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784543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签证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qiānzhèng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visa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越南人去中国需要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签证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Yuènán rén qù Zhōngguó xūyào qiānzhèng ma?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Người Việt Nam đi Trung Quốc có cần visa không?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piao.jpg"/>
          <p:cNvPicPr>
            <a:picLocks noChangeAspect="1"/>
          </p:cNvPicPr>
          <p:nvPr/>
        </p:nvPicPr>
        <p:blipFill>
          <a:blip r:embed="rId2"/>
          <a:srcRect l="14323" r="14323"/>
          <a:stretch>
            <a:fillRect/>
          </a:stretch>
        </p:blipFill>
        <p:spPr>
          <a:xfrm>
            <a:off x="548640" y="1611376"/>
            <a:ext cx="3489807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67047" y="2468626"/>
            <a:ext cx="15544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票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piào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vé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我在网上买了飞机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票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zài wǎngshàng mǎile fēijīpiào.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mua vé máy bay trên mạng rồi.</a:t>
            </a:r>
          </a:p>
        </p:txBody>
      </p:sp>
      <p:pic>
        <p:nvPicPr>
          <p:cNvPr id="9" name="Picture 8" descr="chuf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247" y="2552059"/>
            <a:ext cx="2346807" cy="15628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269748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出发</a:t>
            </a:r>
            <a:r>
              <a:rPr sz="1500" b="0" i="1">
                <a:solidFill>
                  <a:srgbClr val="6B7683"/>
                </a:solidFill>
                <a:latin typeface="Calibri"/>
              </a:rPr>
              <a:t>  động từ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chūfā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xuất phát, khởi hành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我们明天早上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出发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Wǒmen míngtiān zǎoshang chūfā.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Chúng tôi khởi hành vào sáng mai.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3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xingli.jpg"/>
          <p:cNvPicPr>
            <a:picLocks noChangeAspect="1"/>
          </p:cNvPicPr>
          <p:nvPr/>
        </p:nvPicPr>
        <p:blipFill>
          <a:blip r:embed="rId2"/>
          <a:srcRect l="17977" r="17977"/>
          <a:stretch>
            <a:fillRect/>
          </a:stretch>
        </p:blipFill>
        <p:spPr>
          <a:xfrm>
            <a:off x="548640" y="1611376"/>
            <a:ext cx="3301847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908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行李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xíngli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hành lý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行李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很重。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de xíngli hěn zhòng.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Hành lý của tôi rất nặng.</a:t>
            </a:r>
          </a:p>
        </p:txBody>
      </p:sp>
      <p:pic>
        <p:nvPicPr>
          <p:cNvPr id="9" name="Picture 8" descr="xiangzi.jpg"/>
          <p:cNvPicPr>
            <a:picLocks noChangeAspect="1"/>
          </p:cNvPicPr>
          <p:nvPr/>
        </p:nvPicPr>
        <p:blipFill>
          <a:blip r:embed="rId3"/>
          <a:srcRect l="18028" r="18028"/>
          <a:stretch>
            <a:fillRect/>
          </a:stretch>
        </p:blipFill>
        <p:spPr>
          <a:xfrm>
            <a:off x="8341207" y="1611376"/>
            <a:ext cx="3301847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箱子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xiāngzi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vali, hòm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我把衣服都放进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箱子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里了。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bǎ yīfu dōu fàngjìn xiāngzi lǐ le.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cho hết quần áo vào trong vali rồi.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4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/>
            </a:r>
          </a:p>
        </p:txBody>
      </p:sp>
      <p:pic>
        <p:nvPicPr>
          <p:cNvPr id="6" name="Picture 5" descr="ditu.jpg"/>
          <p:cNvPicPr>
            <a:picLocks noChangeAspect="1"/>
          </p:cNvPicPr>
          <p:nvPr/>
        </p:nvPicPr>
        <p:blipFill>
          <a:blip r:embed="rId2"/>
          <a:srcRect l="18028" r="18028"/>
          <a:stretch>
            <a:fillRect/>
          </a:stretch>
        </p:blipFill>
        <p:spPr>
          <a:xfrm>
            <a:off x="548640" y="1611376"/>
            <a:ext cx="3301847" cy="3444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908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地图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dìtú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bản đồ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地图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能帮我们找到路。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Shǒujī dìtú néng bāng wǒmen zhǎodào lù.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Bản đồ điện thoại có thể giúp chúng tôi tìm đường.</a:t>
            </a:r>
          </a:p>
        </p:txBody>
      </p:sp>
      <p:pic>
        <p:nvPicPr>
          <p:cNvPr id="9" name="Picture 8" descr="jiudian.jpg"/>
          <p:cNvPicPr>
            <a:picLocks noChangeAspect="1"/>
          </p:cNvPicPr>
          <p:nvPr/>
        </p:nvPicPr>
        <p:blipFill>
          <a:blip r:embed="rId3"/>
          <a:srcRect l="18028" r="18028"/>
          <a:stretch>
            <a:fillRect/>
          </a:stretch>
        </p:blipFill>
        <p:spPr>
          <a:xfrm>
            <a:off x="8341207" y="1611376"/>
            <a:ext cx="3301847" cy="3444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2468626"/>
            <a:ext cx="17424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酒店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jiǔdiàn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khách sạn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284216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这家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酒店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很便宜。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jiā jiǔdiàn hěn piányi.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Khách sạn này rất rẻ.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 · 问客人爱吃什么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4573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481328"/>
            <a:ext cx="354573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481328"/>
            <a:ext cx="354573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陈天中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354573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你们爱吃哪个菜？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Nǐmen ài chī nǎge cài?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2706624"/>
            <a:ext cx="3545738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我喜欢这个，也喜欢那个。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xǐhuan zhège, yě xǐhuan nàge.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474720"/>
            <a:ext cx="3545738" cy="67665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这些菜都好吃，还很好看。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Zhèxiē cài dōu hǎochī, hái hěn hǎokàn.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242816"/>
            <a:ext cx="354573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我爱吃中国菜，也喜欢做。大家多吃点儿。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ài chī Zhōngguó cài, yě xǐhuan zuò. Dàjiā duō chī diǎnr.</a:t>
            </a:r>
          </a:p>
        </p:txBody>
      </p:sp>
      <p:pic>
        <p:nvPicPr>
          <p:cNvPr id="12" name="slide1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劝饭(mời khách ăn thêm) là nét văn hoá bàn ăn của người Trung Quốc, thể hiện sự hiếu khách.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 · Kể chuyện du lịch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4573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李文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481328"/>
            <a:ext cx="354573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安妮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481328"/>
            <a:ext cx="354573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3545738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你们都想去哪儿？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Nǐmen dōu xiǎng qù nǎr?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2706624"/>
            <a:ext cx="3545738" cy="122529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去年我和男朋友去了西安，今年我想去北京。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Qùnián wǒ hé nánpéngyou qùle Xī'ān, jīnnián wǒ xiǎng qù Běijīng.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4023360"/>
            <a:ext cx="3545738" cy="1225296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前几年我去了西安，非常好玩儿。今年我也想去北京。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Qián jǐ nián wǒ qùle Xī'ān, fēicháng hǎowánr. Jīnnián wǒ yě xiǎng qù Běijīng.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40096"/>
            <a:ext cx="3545738" cy="122529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我和王老师都是北京人，北京非常漂亮。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hé Wáng lǎoshī dōu shì Běijīng rén, Běijīng fēicháng piàoliang.</a:t>
            </a:r>
          </a:p>
        </p:txBody>
      </p:sp>
      <p:pic>
        <p:nvPicPr>
          <p:cNvPr id="12" name="slide1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几 trong "前几年" nghĩa là "vài, mấy" (số lượng không xác định) — khác 几 dùng để HỎI "mấy?" đã học ở Buổi 4 (你家有几口人？).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 · 大兴机场见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45738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481328"/>
            <a:ext cx="3545738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481328"/>
            <a:ext cx="3545738" cy="365760"/>
          </a:xfrm>
          <a:prstGeom prst="roundRect">
            <a:avLst/>
          </a:prstGeom>
          <a:solidFill>
            <a:srgbClr val="FBF0D9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安妮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38528"/>
            <a:ext cx="3545738" cy="46831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你们的飞机到北京要几个小时？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Nǐmen de fēijī dào Běijīng yào jǐ ge xiǎoshí?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2470124"/>
            <a:ext cx="3545738" cy="468311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九个小时。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Jiǔ ge xiǎoshí.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01720"/>
            <a:ext cx="3545738" cy="1227735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我家人都在北京，星期天我姐姐也有时间，她可以去机场接你们，你们也可以住我家。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Wǒ jiārén dōu zài Běijīng, xīngqītiān wǒ jiějie yě yǒu shíjiān, tā kěyǐ qù jīchǎng jiē nǐmen, nǐmen yě kěyǐ zhù wǒ jiā.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7316" y="4292740"/>
            <a:ext cx="3545738" cy="848023"/>
          </a:xfrm>
          <a:prstGeom prst="roundRect">
            <a:avLst/>
          </a:prstGeom>
          <a:solidFill>
            <a:srgbClr val="FBF0D9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我们星期日早上八点到大兴机场，早不早？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Wǒmen xīngqīrì zǎoshang bā diǎn dào Dàxīng Jīchǎng, zǎo bu zǎo?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04048"/>
            <a:ext cx="3545738" cy="468311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</a:rPr>
              <a:t>5. </a:t>
            </a:r>
            <a:r>
              <a:rPr sz="1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不早。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Bù zǎo.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5735644"/>
            <a:ext cx="3545738" cy="848023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200" b="1" i="0">
                <a:solidFill>
                  <a:srgbClr val="8E2B20"/>
                </a:solidFill>
                <a:latin typeface="Calibri"/>
              </a:rPr>
              <a:t>6. </a:t>
            </a:r>
            <a:r>
              <a:rPr sz="1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谢谢老师！那我们和您姐姐在大兴机场见！</a:t>
            </a:r>
          </a:p>
          <a:p>
            <a:pPr algn="l">
              <a:buNone/>
            </a:pPr>
            <a:r>
              <a:rPr sz="900" b="0" i="1">
                <a:solidFill>
                  <a:srgbClr val="8E2B20"/>
                </a:solidFill>
                <a:latin typeface="Calibri"/>
              </a:rPr>
              <a:t>Xièxie lǎoshī! Nà wǒmen hé nín jiějie zài Dàxīng Jīchǎng jiàn!</a:t>
            </a:r>
          </a:p>
        </p:txBody>
      </p:sp>
      <p:pic>
        <p:nvPicPr>
          <p:cNvPr id="14" name="slide1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5" name="TextBox 14"/>
          <p:cNvSpPr txBox="1"/>
          <p:nvPr/>
        </p:nvSpPr>
        <p:spPr>
          <a:xfrm>
            <a:off x="548640" y="6327648"/>
            <a:ext cx="11094415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0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要 ở đây nghĩa "mất, cần (bao lâu)" — khác "muốn, gọi món" (Buổi 11) và "muốn, định làm" (Buổi 13).</a:t>
            </a:r>
          </a:p>
          <a:p>
            <a:pPr>
              <a:spcBef>
                <a:spcPts val="200"/>
              </a:spcBef>
              <a:buNone/>
            </a:pPr>
            <a:r>
              <a:rPr sz="10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那 ở đây là liên từ "vậy thì, thế thì" — khác đại từ chỉ định "kia, đó" đã học ở Buổi 9.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Ngữ pháp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并列复句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"……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，还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也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……" — Câu ghép đẳng lập</a:t>
            </a:r>
          </a:p>
          <a:p>
            <a:pPr>
              <a:spcBef>
                <a:spcPts val="1964"/>
              </a:spcBef>
              <a:buNone/>
            </a:pPr>
            <a:r>
              <a:rPr sz="2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我喜欢这个，也喜欢那个。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xǐhuan zhège, yě xǐhuan nàge.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thích cái này, cũng thích cái kia.</a:t>
            </a:r>
          </a:p>
          <a:p>
            <a:pPr>
              <a:spcBef>
                <a:spcPts val="1964"/>
              </a:spcBef>
              <a:buNone/>
            </a:pPr>
            <a:r>
              <a:rPr sz="2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王老师是北京人，李文也是北京人。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Wáng lǎoshī shì Běijīng rén, Lǐ Wén yě shì Běijīng rén.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Cô Vương là người Bắc Kinh, Lý Văn cũng là người Bắc Kinh.</a:t>
            </a:r>
          </a:p>
          <a:p>
            <a:pPr>
              <a:spcBef>
                <a:spcPts val="1964"/>
              </a:spcBef>
              <a:buNone/>
            </a:pPr>
            <a:r>
              <a:rPr sz="2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我喜欢喝中国茶，还喜欢吃中国菜。</a:t>
            </a:r>
          </a:p>
          <a:p>
            <a:pPr>
              <a:spcBef>
                <a:spcPts val="294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Wǒ xǐhuan hē Zhōngguó chá, hái xǐhuan chī Zhōngguó cài.</a:t>
            </a:r>
          </a:p>
          <a:p>
            <a:pPr>
              <a:spcBef>
                <a:spcPts val="294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thích uống trà Trung Quốc, còn thích ăn món Trung Quốc.</a:t>
            </a:r>
          </a:p>
          <a:p>
            <a:pPr>
              <a:spcBef>
                <a:spcPts val="1473"/>
              </a:spcBef>
              <a:buNone/>
            </a:pPr>
            <a:r>
              <a:rPr sz="14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Câu ghép đẳng lập gồm 2 vế có cấu trúc song song, liên quan lô-gích với nhau, nối bằng 还 hoặc 也 để liệt kê thêm 1 ý cùng loại.</a:t>
            </a:r>
          </a:p>
        </p:txBody>
      </p:sp>
      <p:pic>
        <p:nvPicPr>
          <p:cNvPr id="7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2440269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 · ……，还/也……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Luyện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Dùng 还/也 nối 2 câu cho sẵn thành 1 câu ghép đẳng lập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我喜欢旅游。+ 我喜欢拍照。→ ______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我想去北京。+ 我想去西安。→ ______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他是我们的导游。+ 他是我的朋友。→ ______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ảnh với từ (1/4)</a:t>
            </a:r>
          </a:p>
        </p:txBody>
      </p:sp>
      <p:pic>
        <p:nvPicPr>
          <p:cNvPr id="5" name="Picture 4" descr="ai_n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9" y="1481328"/>
            <a:ext cx="2289354" cy="1527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7" name="Picture 6" descr="nanpengyou_haowan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99" y="1481328"/>
            <a:ext cx="2285708" cy="1527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38617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9" name="Picture 8" descr="xi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9" y="3200400"/>
            <a:ext cx="2289354" cy="152704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1" name="Picture 10" descr="beij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309" y="3200400"/>
            <a:ext cx="251828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638617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feiji_xiaosh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9" y="4919472"/>
            <a:ext cx="2289354" cy="152704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330" y="1481328"/>
            <a:ext cx="474072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北京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Běijīng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爱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ài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飞机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fēijī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西安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Xī'ān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好玩儿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hǎowánr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ảnh với từ (2/4)</a:t>
            </a:r>
          </a:p>
        </p:txBody>
      </p:sp>
      <p:pic>
        <p:nvPicPr>
          <p:cNvPr id="5" name="Picture 4" descr="jiaren_shij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799" y="1481328"/>
            <a:ext cx="2289354" cy="1527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7" name="Picture 6" descr="zh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76" y="1481328"/>
            <a:ext cx="2289354" cy="1527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38617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9" name="Picture 8" descr="z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9" y="3200400"/>
            <a:ext cx="2289354" cy="152704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1" name="Picture 10" descr="daxing_jicha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76" y="3200400"/>
            <a:ext cx="2289354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638617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jichang_ji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9" y="4919472"/>
            <a:ext cx="2289354" cy="152704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330" y="1481328"/>
            <a:ext cx="474072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zǎo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接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jiē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家人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jiārén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大兴机场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Dàxīng Jīchǎng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住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zhù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ảnh với từ (3/4)</a:t>
            </a:r>
          </a:p>
        </p:txBody>
      </p:sp>
      <p:pic>
        <p:nvPicPr>
          <p:cNvPr id="5" name="Picture 4" descr="lvy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41" y="1481328"/>
            <a:ext cx="2474870" cy="1527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7" name="Picture 6" descr="daoyo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76" y="1481328"/>
            <a:ext cx="2289354" cy="1527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38617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9" name="Picture 8" descr="huzh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9" y="3200400"/>
            <a:ext cx="2289354" cy="152704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1" name="Picture 10" descr="qianzhe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76" y="3200400"/>
            <a:ext cx="2289354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638617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pia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72" y="4919472"/>
            <a:ext cx="2168408" cy="152704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330" y="1481328"/>
            <a:ext cx="474072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签证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qiānzhèng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旅游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lǚyóu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票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piào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导游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dǎoyóu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护照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hùzhào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Nối ảnh với từ (4/4)</a:t>
            </a:r>
          </a:p>
        </p:txBody>
      </p:sp>
      <p:pic>
        <p:nvPicPr>
          <p:cNvPr id="5" name="Picture 4" descr="chuf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71" y="1481328"/>
            <a:ext cx="2293011" cy="1527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48640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7" name="Picture 6" descr="xingl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99" y="1481328"/>
            <a:ext cx="2285708" cy="152704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638617" y="148132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9" name="Picture 8" descr="xiangz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99" y="3200400"/>
            <a:ext cx="2289354" cy="152704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1" name="Picture 10" descr="ditu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776" y="3200400"/>
            <a:ext cx="2289354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3638617" y="320040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3" name="Picture 12" descr="jiudi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799" y="4919472"/>
            <a:ext cx="2289354" cy="1527048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548640" y="4919472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330" y="1481328"/>
            <a:ext cx="474072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箱子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xiāngzi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酒店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jiǔdiàn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出发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chūfā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地图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dìtú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行李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xíngli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