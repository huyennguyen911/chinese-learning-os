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HSK1 · 总复习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Ôn tập tổng hợp · New HSK Course 1 (3.0)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16 · trước khi thi HSK1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Buổi này ôn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Ngữ pháp trọng tâm của 15 bài — sắp xếp lại THEO CHỦ ĐỀ, không theo thứ tự bài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Câu cơ bản: xưng hô · trật tự câu · 是/的/吗 · 有/số đếm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Lượng từ &amp; tiền · câu vị ngữ đặc biệt (danh từ/tính từ, không cần 是)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Vị trí &amp; tồn tại · thời gian · 7 cách hỏi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4. Năng nguyện động từ (会/想/能/要/可以) · câu nhiều động từ/tân ngữ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5. 了(1)(2) · (正)在 · 太…了 · 离合词/都 · từ nối 也/和/吧/呢 · 并列复句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敬语 您 · 后缀 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 (kính ngữ) khác 你 (thông thường) — dùng với người lớn tuổi/đáng kính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们: hậu tố số nhiều, gắn sau đại từ/danh từ CHỈ NGƯỜI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您好，王老师！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Nín hǎo, Wáng lǎoshī!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chào cô Vương ạ!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Nǐmen hǎo!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谢谢！→ 不客气！là mẫu đáp lễ cơ bản nhất.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 chỉ dùng với NGƯỜI: 学生们 ✔ — KHÔNG dùng với vật: 猫们 ❌.</a:t>
            </a:r>
          </a:p>
        </p:txBody>
      </p:sp>
      <p:pic>
        <p:nvPicPr>
          <p:cNvPr id="7" name="Picture 6" descr="b01_nin_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243" y="1481328"/>
            <a:ext cx="3263943" cy="5010912"/>
          </a:xfrm>
          <a:prstGeom prst="rect">
            <a:avLst/>
          </a:prstGeom>
        </p:spPr>
      </p:pic>
      <p:pic>
        <p:nvPicPr>
          <p:cNvPr id="8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基本语序：主 + 谓 + 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+ Vị ngữ (động từ) + Tân ngữ — trật tự cố định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jiào Chén Tiānzhōng.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我也认识他。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yě rènshi tā.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cũng quen anh ấy.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也 (cũng) LUÔN đứng trước động từ, không đứng cuối câu.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Trật tự tiếng Trung không đổi theo thì — không chia động từ, chỉ thêm từ.</a:t>
            </a:r>
          </a:p>
        </p:txBody>
      </p:sp>
      <p:pic>
        <p:nvPicPr>
          <p:cNvPr id="7" name="Picture 6" descr="b02_word_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3" y="1481328"/>
            <a:ext cx="3758184" cy="5010912"/>
          </a:xfrm>
          <a:prstGeom prst="rect">
            <a:avLst/>
          </a:prstGeom>
        </p:spPr>
      </p:pic>
      <p:pic>
        <p:nvPicPr>
          <p:cNvPr id="8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是字句 · 的 · 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是: A 是 B — đồng nhất/thuộc loại; phủ định 不是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的: định ngữ + 的 + danh từ (sở hữu)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吗: câu hỏi có/không, thêm 吗 cuối câu trần thuật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我是中国人。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shì Zhōngguó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Trung Quốc.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这是我的女朋友。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shì wǒ de nǚpéngyou.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bạn gái của tôi.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你是法国人吗？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shì Fǎguó rén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Pháp phải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的 có thể lược bỏ khi đi với người thân/tập thể: 我妈妈, 我们学校.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 nối 2 danh từ (A là B) — không dùng để nối tính từ (xem nhóm câu vị ngữ đặc biệt).</a:t>
            </a:r>
          </a:p>
        </p:txBody>
      </p:sp>
      <p:pic>
        <p:nvPicPr>
          <p:cNvPr id="7" name="Picture 6" descr="b03_shi_de_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1426"/>
            <a:ext cx="4297680" cy="2870715"/>
          </a:xfrm>
          <a:prstGeom prst="rect">
            <a:avLst/>
          </a:prstGeom>
        </p:spPr>
      </p:pic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有字句 · 数字 (两/二)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有: sở hữu; phủ định 没/没有 (KHÔNG có 不有)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2: 两 (trước lượng từ) vs 二 (số thứ tự)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yǒu liǎng ge gēge.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jiā yǒu sì kǒu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bốn người.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口 đếm người trong nhà, 个 là lượng từ vạn năng.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 ✔ / 二个 ❌ — 两 luôn đứng trước lượng từ.</a:t>
            </a:r>
          </a:p>
        </p:txBody>
      </p:sp>
      <p:pic>
        <p:nvPicPr>
          <p:cNvPr id="7" name="Picture 6" descr="b04_you_li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5657"/>
            <a:ext cx="4297680" cy="2862254"/>
          </a:xfrm>
          <a:prstGeom prst="rect">
            <a:avLst/>
          </a:prstGeom>
        </p:spPr>
      </p:pic>
      <p:pic>
        <p:nvPicPr>
          <p:cNvPr id="8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số &amp; lượng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量词：数 + 量 + 名 · 钱数的表达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lượng từ + danh từ: 三本书, 两个哥哥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钱数: 元/块 — 角/毛 — 分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我买了三本书。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mǎi le sān běn shū.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mua ba quyển sách.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这件衣服三十五块。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jiàn yīfu sānshíwǔ kuài.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này 35 tệ.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个(chung)·口(người nhà)·本(sách)·件(áo)·张(bàn/vé) — mỗi loại danh từ có lượng từ riêng.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元 (viết) = 块 (nói) — cùng nghĩa, khác văn phong.</a:t>
            </a:r>
          </a:p>
        </p:txBody>
      </p:sp>
      <p:pic>
        <p:nvPicPr>
          <p:cNvPr id="7" name="Picture 6" descr="b10_adj_pred_q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3" y="1481328"/>
            <a:ext cx="3758184" cy="5010912"/>
          </a:xfrm>
          <a:prstGeom prst="rect">
            <a:avLst/>
          </a:prstGeom>
        </p:spPr>
      </p:pic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vị ngữ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名词谓语句 · 形容词谓语句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名词谓语句: vị ngữ là danh từ (ngày tháng/tuổi), có thể bỏ 是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形容词谓语句: tính từ làm vị ngữ trực tiếp, không cần 是, thường có 很/真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今天星期一。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xīngqīyī.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thứ Hai.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这个菜很好吃。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Zhège cài hěn hǎochī.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Món này ngon.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今天星期一 hoặc 今天是星期一 đều đúng — 是 có thể bỏ cho gọn.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SAI 我是好 ❌ → ĐÚNG 我很好 ✔ — tính từ vị ngữ không đi với 是.</a:t>
            </a:r>
          </a:p>
        </p:txBody>
      </p:sp>
      <p:pic>
        <p:nvPicPr>
          <p:cNvPr id="7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vị trí &amp; tồn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方位词 · 介词在 · 存现句 · 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方位词: 上/下/里/外/前/后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介词在 + nơi chốn: đứng TRƯỚC động từ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存现句: có ai/cái gì tồn tại ở một nơi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 + số từ: số thứ tự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猫在桌子下。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Māo zài zhuōzi xià.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mèo ở dưới bàn.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前边有一只狗。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Qiánbian yǒu yì zhī gǒu.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Đằng trước có một con chó.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这是我的第一个家。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shì wǒ de dì yī ge jiā.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ngôi nhà đầu tiên của mình.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在 giới từ (trước ĐT, chỉ nơi) khác 在 phó từ đang diễn ra (nhóm 了/在 phía sau) — cùng chữ 2 vai trò.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 phủ định KHÔNG dùng số từ + lượng từ trước tân ngữ.</a:t>
            </a:r>
          </a:p>
        </p:txBody>
      </p:sp>
      <p:pic>
        <p:nvPicPr>
          <p:cNvPr id="7" name="Picture 6" descr="b08_fangwei_zai_n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时间的表达 · 状语顺序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点/分: giờ cụ thể; 上午/下午/晚上: khoảng thời gian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Khi cùng làm trạng ngữ: THỜI GIAN luôn đứng trước NƠI CHỐN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现在三点半，我们六点见吧。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Xiànzài sān diǎn bàn, wǒmen liù diǎn jiàn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3 rưỡi, 6 giờ mình gặp nhau nhé.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我明天上午在学校学习。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míngtiān shàngwǔ zài xuéxiào xuéxí.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Sáng mai mình học ở trường.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明天(thời gian) đứng TRƯỚC 在学校(nơi chốn) trong câu ví dụ trên.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 chỉ thời gian LUÔN đứng trước động từ, giống mọi trạng ngữ khác.</a:t>
            </a:r>
          </a:p>
        </p:txBody>
      </p:sp>
      <p:pic>
        <p:nvPicPr>
          <p:cNvPr id="7" name="Picture 6" descr="b07_dian_fen_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49" y="1481328"/>
            <a:ext cx="3347132" cy="5010912"/>
          </a:xfrm>
          <a:prstGeom prst="rect">
            <a:avLst/>
          </a:prstGeom>
        </p:spPr>
      </p:pic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7 cách đặt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吗: câu hỏi có/không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怎么: hỏi CÁCH THỨC · 怎么样: hỏi Ý KIẾN/TÌNH TRẠNG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正反问: V不V / A不A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你是法国人吗？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shì Fǎguó rén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Pháp phải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这个怎么样？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Zhège zěnmeyàng?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này thế nào?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你去不去？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qù bu qù?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có đi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Còn 什么(gì)·谁(ai)·哪(nào)·几/多少(bao nhiêu)·呢(…thì sao?) — đủ 7 cách hỏi cơ bản của HSK1.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 hỏi CÁCH THỨC, 怎么样 hỏi Ý KIẾN/TÌNH TRẠNG — dễ nhầm nhất.</a:t>
            </a:r>
          </a:p>
        </p:txBody>
      </p:sp>
      <p:pic>
        <p:nvPicPr>
          <p:cNvPr id="7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能愿动词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能愿动词：会 · 想 · 能 · 要 · 可以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= biết (kỹ năng học được) · 想 = muốn, dự định · 能 = có thể (điều kiện/khả năng)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 = muốn/định làm · 可以 = được phép/có thể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 chung: 能愿动词 + Động từ chính — LUÔN đứng trước động từ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我会说汉语，也能来。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huì shuō Hànyǔ, yě néng lái.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biết nói tiếng Trung, cũng đến được.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我想喝茶，可以吗？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hē chá, kěyǐ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uống trà, được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我要学中文。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yào xué Zhōngwén.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định học tiếng Trung.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thêm 不 trước — 不会·不想·不能·不可以 (riêng 要 phủ định 'đừng' dùng 不要/别).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Dễ lẫn nhất: 会 = kỹ năng học được, 能 = điều kiện khách quan, 想/要 = ý muốn, 可以 = được phép.</a:t>
            </a:r>
          </a:p>
        </p:txBody>
      </p:sp>
      <p:pic>
        <p:nvPicPr>
          <p:cNvPr id="7" name="Picture 6" descr="b13_keyi_yix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4224"/>
            <a:ext cx="4297680" cy="2865120"/>
          </a:xfrm>
          <a:prstGeom prst="rect">
            <a:avLst/>
          </a:prstGeom>
        </p:spPr>
      </p:pic>
      <p:pic>
        <p:nvPicPr>
          <p:cNvPr id="8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nhiều động từ/tân ngữ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连动句 · 动词+一下 · 双宾语句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连动句: 2 cụm động từ nối tiếp, cùng chủ ngữ, đúng trình tự hành động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一下: làm thử/một lần, lịch sự hơn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双宾语句: 1 động từ + 2 tân ngữ (给/问)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我想去超市买东西。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qù chāoshì mǎi dōngxi.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đi siêu thị mua đồ.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我可以看一下吗？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kěyǐ kàn yíxià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xem thử một chút được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请给我一杯茶。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Qǐng gěi wǒ yì bēi chá.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Cho tôi một cốc trà.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连动句: động từ 1 (đi) trước động từ 2 (mua) — đúng thứ tự làm thật.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双宾语句: 给 + người nhận + vật (给我一杯茶 = cho TÔI một cốc TRÀ).</a:t>
            </a:r>
          </a:p>
        </p:txBody>
      </p:sp>
      <p:pic>
        <p:nvPicPr>
          <p:cNvPr id="7" name="Picture 6" descr="b06_xiang_liand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  <p:pic>
        <p:nvPicPr>
          <p:cNvPr id="8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了(1) 变化 · 了(2) 完成 · 非主谓句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了(1) cuối câu: tình huống MỚI / thay đổi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了(2) ngay sau động từ: hành động ĐÃ hoàn thành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非主谓句: câu không phân chủ-vị, hay dùng trong khẩu ngữ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 yǔ le!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mưa rồi!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我看了一个电影。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kànle yí ge diànyǐng.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xem một bộ phim.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非主谓句: 上课了。下雪了。— tự nhiên trong khẩu ngữ, không cần chủ ngữ rõ.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 2 loại 了 phủ định đều dùng 没 + BỎ 了: 没下雨 / 没看电影.</a:t>
            </a:r>
          </a:p>
        </p:txBody>
      </p:sp>
      <p:pic>
        <p:nvPicPr>
          <p:cNvPr id="7" name="Picture 6" descr="b12_feizhuwei_le_t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61918"/>
            <a:ext cx="4297680" cy="2849731"/>
          </a:xfrm>
          <a:prstGeom prst="rect">
            <a:avLst/>
          </a:prstGeom>
        </p:spPr>
      </p:pic>
      <p:pic>
        <p:nvPicPr>
          <p:cNvPr id="8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đang diễn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(正)在 · 太……了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(正)在 + V (+呢): đang làm gì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 + tính từ + 了: cảm thán mức độ cao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他正在看电视呢。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zhèngzài kàn diànshì ne.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đang xem tivi.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Tài hǎo le!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Tuyệt quá!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在 ở đây là PHÓ TỪ (đang diễn ra) — khác 在 giới từ chỉ nơi (nhóm vị trí ở trên), cùng chữ 2 vai trò.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 'đang làm': 没(有) + V — KHÔNG dùng 不.</a:t>
            </a:r>
          </a:p>
        </p:txBody>
      </p:sp>
      <p:pic>
        <p:nvPicPr>
          <p:cNvPr id="7" name="Picture 6" descr="b11_zhengfan_z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  <p:pic>
        <p:nvPicPr>
          <p:cNvPr id="8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cấu trúc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离合词 · 范围副词 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离合词: 上课/下班/说话… có thể tách ra, chèn thành phần vào giữa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都: toàn bộ — đối tượng khái quát đứng TRƯỚC 都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dōu shì xuésheng.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mình đều là học sinh.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离合词 tách được: 我上了两年学 (chèn '两年' vào giữa 上 và 学).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都/也 không đứng cuối câu — luôn ngay TRƯỚC động từ; phủ định thì từ phủ định đứng SAU 都.</a:t>
            </a:r>
          </a:p>
        </p:txBody>
      </p:sp>
      <p:pic>
        <p:nvPicPr>
          <p:cNvPr id="7" name="Picture 6" descr="b14_le_lihe_d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81449"/>
            <a:ext cx="4297680" cy="3210669"/>
          </a:xfrm>
          <a:prstGeom prst="rect">
            <a:avLst/>
          </a:prstGeom>
        </p:spPr>
      </p:pic>
      <p:pic>
        <p:nvPicPr>
          <p:cNvPr id="8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từ nối &amp; trợ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也 · 和 · 吧 · 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也: cũng (đứng TRƯỚC động từ)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和: và/với (nối danh từ)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吧: đề nghị/thương lượng cuối câu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呢: hỏi rút gọn (A呢?) / xác nhận sự việc đã biết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我也认识他，你呢？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yě rènshi tā, nǐ ne?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cũng quen anh ấy, còn bạn?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我和你一起去吧。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hé nǐ yìqǐ qù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với bạn cùng đi nhé.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Trợ từ ngữ khí cuối câu: 吗(hỏi)·呢(hỏi nhẹ/xác nhận)·吧(đề nghị)·了(thay đổi) — khác nhau về sắc thái.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也/都 luôn đứng trước động từ — không đứng cuối câu như tiếng Việt 'cũng vậy'.</a:t>
            </a:r>
          </a:p>
        </p:txBody>
      </p:sp>
      <p:pic>
        <p:nvPicPr>
          <p:cNvPr id="7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câu ghép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并列复句：……，还/也……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ghép đẳng lập: 2 mệnh đề liên quan lô-gích, kết cấu đối xứng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我们去北京，还去西安。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qù Běijīng, hái qù Xī'ān.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mình đi Bắc Kinh, còn đi cả Tây An.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他喜欢旅游，我也喜欢。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xǐhuan lǚyóu, wǒ yě xǐhuan.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thích du lịch, mình cũng thích.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还/也 nối 2 vế câu có cấu trúc song song, giúp câu mạch lạc hơn.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ghép đơn giản — bước đệm chuẩn bị lên HSK2.</a:t>
            </a:r>
          </a:p>
        </p:txBody>
      </p:sp>
      <p:pic>
        <p:nvPicPr>
          <p:cNvPr id="7" name="Picture 6" descr="b15_binglie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7721"/>
            <a:ext cx="4297680" cy="2858125"/>
          </a:xfrm>
          <a:prstGeom prst="rect">
            <a:avLst/>
          </a:prstGeom>
        </p:spPr>
      </p:pic>
      <p:pic>
        <p:nvPicPr>
          <p:cNvPr id="8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不 vs 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So sánh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bù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méi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(chủ ý/thói quen)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chưa (việc đã qua)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Dùng cho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hiện tại · tương lai · thói quen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quá khứ / chưa xảy ra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Với 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— (không có 不有)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没有 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我不喝酒 (không uống rượu)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我没去 (chưa đi)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了(1) cuối câu vs 了(2) sau động từ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了(1) cuối 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了(2) sau động từ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Vị trí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câu / chỗ ngắt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ngay sau động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thay đổi / tình huống mới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hành động đã hoàn thành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下雨了 (trời mưa rồi)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看了电影 (đã xem phim)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Phủ định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+ bỏ 了: 没下雨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+ bỏ 了: 没看电影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Vận dụng tổng hợp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你好！你是学生吗？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Nǐ shì xuésheng 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是，我在大学学习汉语。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Shì, wǒ zài dàxué xuéxí Hànyǔ.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我家有四口人，爸爸在医院工作。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rén, bàba zài yīyuàn gōngzuò.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现在十二点了，我请你吃饭吧。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shí'èr diǎn le, wǒ qǐng nǐ chīfàn 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太好了！我们坐出租车去吧。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 hǎo le! Wǒmen zuò chūzūchē qù ba.</a:t>
            </a:r>
          </a:p>
        </p:txBody>
      </p:sp>
      <p:pic>
        <p:nvPicPr>
          <p:cNvPr id="12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辛苦了！祝考试顺利 🎉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 xong theo chủ đề — chúc thi HSK1 tốt!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