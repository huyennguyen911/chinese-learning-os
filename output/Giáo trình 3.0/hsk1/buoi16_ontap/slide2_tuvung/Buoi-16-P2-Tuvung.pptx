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24.mp3" ContentType="audio/mpeg"/>
  <Override PartName="/ppt/media/media25.mp3" ContentType="audio/mpeg"/>
  <Override PartName="/ppt/media/media26.mp3" ContentType="audio/mpeg"/>
  <Override PartName="/ppt/media/media27.mp3" ContentType="audio/mpeg"/>
  <Override PartName="/ppt/media/media28.mp3" ContentType="audio/mpeg"/>
  <Override PartName="/ppt/media/media29.mp3" ContentType="audio/mpeg"/>
  <Override PartName="/ppt/media/media3.mp3" ContentType="audio/mpeg"/>
  <Override PartName="/ppt/media/media30.mp3" ContentType="audio/mpeg"/>
  <Override PartName="/ppt/media/media31.mp3" ContentType="audio/mpeg"/>
  <Override PartName="/ppt/media/media32.mp3" ContentType="audio/mpeg"/>
  <Override PartName="/ppt/media/media33.mp3" ContentType="audio/mpeg"/>
  <Override PartName="/ppt/media/media34.mp3" ContentType="audio/mpeg"/>
  <Override PartName="/ppt/media/media35.mp3" ContentType="audio/mpeg"/>
  <Override PartName="/ppt/media/media36.mp3" ContentType="audio/mpeg"/>
  <Override PartName="/ppt/media/media37.mp3" ContentType="audio/mpeg"/>
  <Override PartName="/ppt/media/media38.mp3" ContentType="audio/mpeg"/>
  <Override PartName="/ppt/media/media39.mp3" ContentType="audio/mpeg"/>
  <Override PartName="/ppt/media/media4.mp3" ContentType="audio/mpeg"/>
  <Override PartName="/ppt/media/media40.mp3" ContentType="audio/mpeg"/>
  <Override PartName="/ppt/media/media41.mp3" ContentType="audio/mpeg"/>
  <Override PartName="/ppt/media/media42.mp3" ContentType="audio/mpeg"/>
  <Override PartName="/ppt/media/media43.mp3" ContentType="audio/mpeg"/>
  <Override PartName="/ppt/media/media44.mp3" ContentType="audio/mpeg"/>
  <Override PartName="/ppt/media/media45.mp3" ContentType="audio/mpeg"/>
  <Override PartName="/ppt/media/media46.mp3" ContentType="audio/mpeg"/>
  <Override PartName="/ppt/media/media47.mp3" ContentType="audio/mpeg"/>
  <Override PartName="/ppt/media/media48.mp3" ContentType="audio/mpeg"/>
  <Override PartName="/ppt/media/media49.mp3" ContentType="audio/mpeg"/>
  <Override PartName="/ppt/media/media5.mp3" ContentType="audio/mpeg"/>
  <Override PartName="/ppt/media/media50.mp3" ContentType="audio/mpeg"/>
  <Override PartName="/ppt/media/media51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7.mp3"/><Relationship Id="rId4" Type="http://schemas.openxmlformats.org/officeDocument/2006/relationships/video" Target="../media/media7.mp3"/><Relationship Id="rId5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8.mp3"/><Relationship Id="rId4" Type="http://schemas.openxmlformats.org/officeDocument/2006/relationships/video" Target="../media/media8.mp3"/><Relationship Id="rId5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microsoft.com/office/2007/relationships/media" Target="../media/media9.mp3"/><Relationship Id="rId4" Type="http://schemas.openxmlformats.org/officeDocument/2006/relationships/video" Target="../media/media9.mp3"/><Relationship Id="rId5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microsoft.com/office/2007/relationships/media" Target="../media/media10.mp3"/><Relationship Id="rId4" Type="http://schemas.openxmlformats.org/officeDocument/2006/relationships/video" Target="../media/media10.mp3"/><Relationship Id="rId5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microsoft.com/office/2007/relationships/media" Target="../media/media12.mp3"/><Relationship Id="rId4" Type="http://schemas.openxmlformats.org/officeDocument/2006/relationships/video" Target="../media/media12.mp3"/><Relationship Id="rId5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microsoft.com/office/2007/relationships/media" Target="../media/media13.mp3"/><Relationship Id="rId4" Type="http://schemas.openxmlformats.org/officeDocument/2006/relationships/video" Target="../media/media13.mp3"/><Relationship Id="rId5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microsoft.com/office/2007/relationships/media" Target="../media/media14.mp3"/><Relationship Id="rId4" Type="http://schemas.openxmlformats.org/officeDocument/2006/relationships/video" Target="../media/media14.mp3"/><Relationship Id="rId5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microsoft.com/office/2007/relationships/media" Target="../media/media15.mp3"/><Relationship Id="rId4" Type="http://schemas.openxmlformats.org/officeDocument/2006/relationships/video" Target="../media/media15.mp3"/><Relationship Id="rId5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microsoft.com/office/2007/relationships/media" Target="../media/media16.mp3"/><Relationship Id="rId4" Type="http://schemas.openxmlformats.org/officeDocument/2006/relationships/video" Target="../media/media16.mp3"/><Relationship Id="rId5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microsoft.com/office/2007/relationships/media" Target="../media/media17.mp3"/><Relationship Id="rId4" Type="http://schemas.openxmlformats.org/officeDocument/2006/relationships/video" Target="../media/media17.mp3"/><Relationship Id="rId5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microsoft.com/office/2007/relationships/media" Target="../media/media18.mp3"/><Relationship Id="rId4" Type="http://schemas.openxmlformats.org/officeDocument/2006/relationships/video" Target="../media/media18.mp3"/><Relationship Id="rId5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microsoft.com/office/2007/relationships/media" Target="../media/media19.mp3"/><Relationship Id="rId4" Type="http://schemas.openxmlformats.org/officeDocument/2006/relationships/video" Target="../media/media19.mp3"/><Relationship Id="rId5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microsoft.com/office/2007/relationships/media" Target="../media/media20.mp3"/><Relationship Id="rId4" Type="http://schemas.openxmlformats.org/officeDocument/2006/relationships/video" Target="../media/media20.mp3"/><Relationship Id="rId5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microsoft.com/office/2007/relationships/media" Target="../media/media21.mp3"/><Relationship Id="rId4" Type="http://schemas.openxmlformats.org/officeDocument/2006/relationships/video" Target="../media/media21.mp3"/><Relationship Id="rId5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microsoft.com/office/2007/relationships/media" Target="../media/media22.mp3"/><Relationship Id="rId4" Type="http://schemas.openxmlformats.org/officeDocument/2006/relationships/video" Target="../media/media22.mp3"/><Relationship Id="rId5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microsoft.com/office/2007/relationships/media" Target="../media/media23.mp3"/><Relationship Id="rId4" Type="http://schemas.openxmlformats.org/officeDocument/2006/relationships/video" Target="../media/media23.mp3"/><Relationship Id="rId5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microsoft.com/office/2007/relationships/media" Target="../media/media24.mp3"/><Relationship Id="rId4" Type="http://schemas.openxmlformats.org/officeDocument/2006/relationships/video" Target="../media/media24.mp3"/><Relationship Id="rId5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microsoft.com/office/2007/relationships/media" Target="../media/media25.mp3"/><Relationship Id="rId4" Type="http://schemas.openxmlformats.org/officeDocument/2006/relationships/video" Target="../media/media25.mp3"/><Relationship Id="rId5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microsoft.com/office/2007/relationships/media" Target="../media/media26.mp3"/><Relationship Id="rId4" Type="http://schemas.openxmlformats.org/officeDocument/2006/relationships/video" Target="../media/media26.mp3"/><Relationship Id="rId5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microsoft.com/office/2007/relationships/media" Target="../media/media27.mp3"/><Relationship Id="rId4" Type="http://schemas.openxmlformats.org/officeDocument/2006/relationships/video" Target="../media/media27.mp3"/><Relationship Id="rId5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microsoft.com/office/2007/relationships/media" Target="../media/media28.mp3"/><Relationship Id="rId4" Type="http://schemas.openxmlformats.org/officeDocument/2006/relationships/video" Target="../media/media28.mp3"/><Relationship Id="rId5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microsoft.com/office/2007/relationships/media" Target="../media/media29.mp3"/><Relationship Id="rId4" Type="http://schemas.openxmlformats.org/officeDocument/2006/relationships/video" Target="../media/media29.mp3"/><Relationship Id="rId5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microsoft.com/office/2007/relationships/media" Target="../media/media30.mp3"/><Relationship Id="rId4" Type="http://schemas.openxmlformats.org/officeDocument/2006/relationships/video" Target="../media/media30.mp3"/><Relationship Id="rId5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microsoft.com/office/2007/relationships/media" Target="../media/media31.mp3"/><Relationship Id="rId4" Type="http://schemas.openxmlformats.org/officeDocument/2006/relationships/video" Target="../media/media31.mp3"/><Relationship Id="rId5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microsoft.com/office/2007/relationships/media" Target="../media/media32.mp3"/><Relationship Id="rId4" Type="http://schemas.openxmlformats.org/officeDocument/2006/relationships/video" Target="../media/media32.mp3"/><Relationship Id="rId5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microsoft.com/office/2007/relationships/media" Target="../media/media33.mp3"/><Relationship Id="rId4" Type="http://schemas.openxmlformats.org/officeDocument/2006/relationships/video" Target="../media/media33.mp3"/><Relationship Id="rId5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microsoft.com/office/2007/relationships/media" Target="../media/media34.mp3"/><Relationship Id="rId4" Type="http://schemas.openxmlformats.org/officeDocument/2006/relationships/video" Target="../media/media34.mp3"/><Relationship Id="rId5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microsoft.com/office/2007/relationships/media" Target="../media/media35.mp3"/><Relationship Id="rId4" Type="http://schemas.openxmlformats.org/officeDocument/2006/relationships/video" Target="../media/media35.mp3"/><Relationship Id="rId5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microsoft.com/office/2007/relationships/media" Target="../media/media36.mp3"/><Relationship Id="rId4" Type="http://schemas.openxmlformats.org/officeDocument/2006/relationships/video" Target="../media/media36.mp3"/><Relationship Id="rId5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microsoft.com/office/2007/relationships/media" Target="../media/media37.mp3"/><Relationship Id="rId4" Type="http://schemas.openxmlformats.org/officeDocument/2006/relationships/video" Target="../media/media37.mp3"/><Relationship Id="rId5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microsoft.com/office/2007/relationships/media" Target="../media/media38.mp3"/><Relationship Id="rId4" Type="http://schemas.openxmlformats.org/officeDocument/2006/relationships/video" Target="../media/media38.mp3"/><Relationship Id="rId5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microsoft.com/office/2007/relationships/media" Target="../media/media39.mp3"/><Relationship Id="rId4" Type="http://schemas.openxmlformats.org/officeDocument/2006/relationships/video" Target="../media/media39.mp3"/><Relationship Id="rId5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microsoft.com/office/2007/relationships/media" Target="../media/media40.mp3"/><Relationship Id="rId4" Type="http://schemas.openxmlformats.org/officeDocument/2006/relationships/video" Target="../media/media40.mp3"/><Relationship Id="rId5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microsoft.com/office/2007/relationships/media" Target="../media/media41.mp3"/><Relationship Id="rId4" Type="http://schemas.openxmlformats.org/officeDocument/2006/relationships/video" Target="../media/media41.mp3"/><Relationship Id="rId5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microsoft.com/office/2007/relationships/media" Target="../media/media42.mp3"/><Relationship Id="rId4" Type="http://schemas.openxmlformats.org/officeDocument/2006/relationships/video" Target="../media/media42.mp3"/><Relationship Id="rId5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microsoft.com/office/2007/relationships/media" Target="../media/media43.mp3"/><Relationship Id="rId4" Type="http://schemas.openxmlformats.org/officeDocument/2006/relationships/video" Target="../media/media43.mp3"/><Relationship Id="rId5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microsoft.com/office/2007/relationships/media" Target="../media/media44.mp3"/><Relationship Id="rId4" Type="http://schemas.openxmlformats.org/officeDocument/2006/relationships/video" Target="../media/media44.mp3"/><Relationship Id="rId5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microsoft.com/office/2007/relationships/media" Target="../media/media45.mp3"/><Relationship Id="rId4" Type="http://schemas.openxmlformats.org/officeDocument/2006/relationships/video" Target="../media/media45.mp3"/><Relationship Id="rId5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microsoft.com/office/2007/relationships/media" Target="../media/media46.mp3"/><Relationship Id="rId4" Type="http://schemas.openxmlformats.org/officeDocument/2006/relationships/video" Target="../media/media46.mp3"/><Relationship Id="rId5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microsoft.com/office/2007/relationships/media" Target="../media/media47.mp3"/><Relationship Id="rId4" Type="http://schemas.openxmlformats.org/officeDocument/2006/relationships/video" Target="../media/media47.mp3"/><Relationship Id="rId5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microsoft.com/office/2007/relationships/media" Target="../media/media48.mp3"/><Relationship Id="rId4" Type="http://schemas.openxmlformats.org/officeDocument/2006/relationships/video" Target="../media/media48.mp3"/><Relationship Id="rId5" Type="http://schemas.openxmlformats.org/officeDocument/2006/relationships/image" Target="../media/image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microsoft.com/office/2007/relationships/media" Target="../media/media49.mp3"/><Relationship Id="rId4" Type="http://schemas.openxmlformats.org/officeDocument/2006/relationships/video" Target="../media/media49.mp3"/><Relationship Id="rId5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microsoft.com/office/2007/relationships/media" Target="../media/media50.mp3"/><Relationship Id="rId4" Type="http://schemas.openxmlformats.org/officeDocument/2006/relationships/video" Target="../media/media50.mp3"/><Relationship Id="rId5" Type="http://schemas.openxmlformats.org/officeDocument/2006/relationships/image" Target="../media/image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microsoft.com/office/2007/relationships/media" Target="../media/media51.mp3"/><Relationship Id="rId4" Type="http://schemas.openxmlformats.org/officeDocument/2006/relationships/video" Target="../media/media51.mp3"/><Relationship Id="rId5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HSK1 · 词汇总复习</a:t>
            </a:r>
          </a:p>
          <a:p>
            <a:pPr algn="ctr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</a:rPr>
              <a:t>Cíhuì zǒng fùxí — ôn tập từ vựng theo chủ đề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Buổi này ôn từ vựng theo chủ đề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6522415" cy="444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308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Xưng hô, đại từ, hỏi đáp cơ bản</a:t>
            </a:r>
          </a:p>
          <a:p>
            <a:pPr>
              <a:spcBef>
                <a:spcPts val="1308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Gia đình, người thân, vai trò xã hội</a:t>
            </a:r>
          </a:p>
          <a:p>
            <a:pPr>
              <a:spcBef>
                <a:spcPts val="1308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Nơi chốn, phương hướng, quốc gia</a:t>
            </a:r>
          </a:p>
          <a:p>
            <a:pPr>
              <a:spcBef>
                <a:spcPts val="1308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Thời gian, số đếm, tiền bạc, lượng từ</a:t>
            </a:r>
          </a:p>
          <a:p>
            <a:pPr>
              <a:spcBef>
                <a:spcPts val="1308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Đồ vật, đồ ăn, con vật, giao thông</a:t>
            </a:r>
          </a:p>
          <a:p>
            <a:pPr>
              <a:spcBef>
                <a:spcPts val="1308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Tính từ, động từ, phó từ thường dùng</a:t>
            </a:r>
          </a:p>
          <a:p>
            <a:pPr>
              <a:spcBef>
                <a:spcPts val="1308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Ngữ pháp: liên từ, trợ từ, giới từ</a:t>
            </a:r>
          </a:p>
          <a:p>
            <a:pPr>
              <a:spcBef>
                <a:spcPts val="1308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Thời tiết, sức khỏe, học tập, công việc</a:t>
            </a:r>
          </a:p>
          <a:p>
            <a:pPr>
              <a:spcBef>
                <a:spcPts val="1308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Mỗi nhóm có câu ví dụ minh họa cách dùng</a:t>
            </a:r>
          </a:p>
        </p:txBody>
      </p:sp>
      <p:pic>
        <p:nvPicPr>
          <p:cNvPr id="7" name="Picture 6" descr="v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810992"/>
            <a:ext cx="4206240" cy="29205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Xưng hô &amp; giao tiếp cơ bản</a:t>
            </a:r>
          </a:p>
        </p:txBody>
      </p:sp>
      <p:pic>
        <p:nvPicPr>
          <p:cNvPr id="6" name="Picture 5" descr="v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58592"/>
            <a:ext cx="3779215" cy="27864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02175" y="1611379"/>
            <a:ext cx="292608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你好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nǐ hǎo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xin chào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2175" y="2444696"/>
            <a:ext cx="292608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xièxie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cảm 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2175" y="3278013"/>
            <a:ext cx="292608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不客气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bú kèqi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không có gì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2175" y="4111330"/>
            <a:ext cx="292608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再见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zàijiàn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tạm biệt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2175" y="4944647"/>
            <a:ext cx="292608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请问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qǐngwèn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xin hỏi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175" y="5777964"/>
            <a:ext cx="292608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没关系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méi guānxi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không sao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你叫什么名字？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Nǐ jiào shénme míngzi?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Bạn tên là gì?</a:t>
            </a:r>
          </a:p>
        </p:txBody>
      </p:sp>
      <p:pic>
        <p:nvPicPr>
          <p:cNvPr id="14" name="slide0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Xưng hô &amp; giao tiếp cơ bản (tiếp)</a:t>
            </a:r>
          </a:p>
        </p:txBody>
      </p:sp>
      <p:pic>
        <p:nvPicPr>
          <p:cNvPr id="6" name="Picture 5" descr="v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78048"/>
            <a:ext cx="3779215" cy="27864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02175" y="2050291"/>
            <a:ext cx="292608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没事儿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méishìr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không sao, không có gì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2175" y="2964809"/>
            <a:ext cx="292608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好的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hǎode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được, 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2175" y="3879327"/>
            <a:ext cx="292608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名字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míngzi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tên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2175" y="4793845"/>
            <a:ext cx="292608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对不起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duìbuqǐ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xin lỗi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2175" y="5708363"/>
            <a:ext cx="292608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喂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wèi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alô, này (khi gọi điện)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455" y="2050288"/>
            <a:ext cx="3657600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你叫什么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名字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Nǐ jiào shénme míngzi?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Bạn tên là gì?</a:t>
            </a:r>
          </a:p>
        </p:txBody>
      </p:sp>
      <p:pic>
        <p:nvPicPr>
          <p:cNvPr id="13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Đại từ nhân xưng</a:t>
            </a:r>
          </a:p>
        </p:txBody>
      </p:sp>
      <p:pic>
        <p:nvPicPr>
          <p:cNvPr id="6" name="Picture 5" descr="v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1729"/>
            <a:ext cx="4602175" cy="42201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83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wǒ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tôi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232582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nǐ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bạn (số ít)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2853781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您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nín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ngài, bác (kính ngữ)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3474980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nǐmen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các bạn (số nhiều)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4096179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大家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dàjiā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mọi người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5135" y="4717378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tā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cô ấy, chị ấy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5135" y="5338577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tā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anh ấy, nó (nam)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5135" y="5959776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wǒmen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chúng tôi, chúng mình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大家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好，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我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是老师，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你们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好吗？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Dàjiā hǎo, wǒ shì lǎoshī, nǐmen hǎo ma?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Chào mọi người, tôi là giáo viên, các bạn khỏe không?</a:t>
            </a:r>
          </a:p>
        </p:txBody>
      </p:sp>
      <p:pic>
        <p:nvPicPr>
          <p:cNvPr id="16" name="slide0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Đại từ nhân xưng (số nhiều &amp; phi người)</a:t>
            </a:r>
          </a:p>
        </p:txBody>
      </p:sp>
      <p:pic>
        <p:nvPicPr>
          <p:cNvPr id="6" name="Picture 5" descr="v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83369"/>
            <a:ext cx="4602175" cy="35757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050291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它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tā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964809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tāmen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họ (nam/chung)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879327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tāmen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họ (nữ)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793845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它们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tāmen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chúng nó (vật)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5708363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men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hậu tố số nhiều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455" y="2050288"/>
            <a:ext cx="3657600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他们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是我的朋友，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她们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也是。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Tāmen shì wǒ de péngyou, tāmen yě shì.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Họ (nam) là bạn của tôi, họ (nữ) cũng vậy.</a:t>
            </a:r>
          </a:p>
        </p:txBody>
      </p:sp>
      <p:pic>
        <p:nvPicPr>
          <p:cNvPr id="13" name="slide0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Đại từ chỉ định</a:t>
            </a:r>
          </a:p>
        </p:txBody>
      </p:sp>
      <p:pic>
        <p:nvPicPr>
          <p:cNvPr id="6" name="Picture 5" descr="v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33716"/>
            <a:ext cx="4602175" cy="48361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9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zhè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này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444696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zhège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cái này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278013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那个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nàge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cái đó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111330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这些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zhèxiē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những cái này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4944647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那些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nàxiē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những cái đó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5135" y="5777964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这儿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zhèr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ở đây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这个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多少钱？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那个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呢？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Zhège duōshao qián? Nàge ne?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Cái này bao nhiêu tiền? Còn cái kia?</a:t>
            </a:r>
          </a:p>
        </p:txBody>
      </p:sp>
      <p:pic>
        <p:nvPicPr>
          <p:cNvPr id="14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Đại từ chỉ định (nơi chốn)</a:t>
            </a:r>
          </a:p>
        </p:txBody>
      </p:sp>
      <p:pic>
        <p:nvPicPr>
          <p:cNvPr id="6" name="Picture 5" descr="v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25992"/>
            <a:ext cx="4602175" cy="34516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9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那儿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nàr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ở đó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444696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这里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zhèlǐ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ở đây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278013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那里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nàlǐ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chỗ đó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111330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这边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zhèbian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bên này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4944647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那边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nàbian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đằng kia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5135" y="5777964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哪儿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nǎr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đâu, ở đâu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我在这儿，你呢？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zài zhèr, nǐ ne?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ở đây, còn bạn?</a:t>
            </a:r>
          </a:p>
        </p:txBody>
      </p:sp>
      <p:pic>
        <p:nvPicPr>
          <p:cNvPr id="14" name="slide0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Đại từ nghi vấn</a:t>
            </a:r>
          </a:p>
        </p:txBody>
      </p:sp>
      <p:pic>
        <p:nvPicPr>
          <p:cNvPr id="6" name="Picture 5" descr="v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9284"/>
            <a:ext cx="4602175" cy="3065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80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谁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shéi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616262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什么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shénme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gì, cái gì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621144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哪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nǎ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nào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626026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哪个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nǎge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cái nào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5630908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哪些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nǎxiē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những cái nào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谁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？叫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什么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名字？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Zhè shì shéi? Jiào shénme míngzi?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Đây là ai vậy? Tên là gì?</a:t>
            </a:r>
          </a:p>
        </p:txBody>
      </p:sp>
      <p:pic>
        <p:nvPicPr>
          <p:cNvPr id="13" name="slide0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Đại từ nghi vấn (tiếp)</a:t>
            </a:r>
          </a:p>
        </p:txBody>
      </p:sp>
      <p:pic>
        <p:nvPicPr>
          <p:cNvPr id="6" name="Picture 5" descr="v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67375"/>
            <a:ext cx="2956255" cy="19688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79215" y="1611378"/>
            <a:ext cx="3749040" cy="10846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哪里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nǎlǐ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chỗ nào, đâu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9215" y="2876786"/>
            <a:ext cx="3749040" cy="10846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什么时候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shénme shíhou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khi nào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9215" y="4142194"/>
            <a:ext cx="3749040" cy="10846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怎么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zěnme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thế nào, làm sao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9215" y="5407602"/>
            <a:ext cx="3749040" cy="10846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怎么样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zěnmeyàng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thế nào, ra sao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这是谁？叫什么名字？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Zhè shì shéi? Jiào shénme míngzi?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Đây là ai vậy? Tên là gì?</a:t>
            </a:r>
          </a:p>
        </p:txBody>
      </p:sp>
      <p:pic>
        <p:nvPicPr>
          <p:cNvPr id="12" name="slide1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Gia đình ruột thịt</a:t>
            </a:r>
          </a:p>
        </p:txBody>
      </p:sp>
      <p:pic>
        <p:nvPicPr>
          <p:cNvPr id="6" name="Picture 5" descr="v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5885"/>
            <a:ext cx="4602175" cy="40718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9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爸爸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bàba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444696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māma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278013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哥哥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gēge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anh trai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111330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妹妹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mèimei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em gái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4944647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弟弟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dìdi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em trai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5135" y="5777964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儿子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érzi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con trai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你家有几口人？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Nǐ jiā yǒu jǐ kǒu rén?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Nhà bạn có mấy người?</a:t>
            </a:r>
          </a:p>
        </p:txBody>
      </p:sp>
      <p:pic>
        <p:nvPicPr>
          <p:cNvPr id="14" name="slide1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Gia đình ruột thịt (tiếp)</a:t>
            </a:r>
          </a:p>
        </p:txBody>
      </p:sp>
      <p:pic>
        <p:nvPicPr>
          <p:cNvPr id="6" name="Picture 5" descr="v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5885"/>
            <a:ext cx="4602175" cy="40718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80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女儿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nǚ'ér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con gái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616262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jiā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nhà, gia đình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621144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家人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jiārén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người nhà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626026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姐姐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jiějie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chị gái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5630908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孩子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háizi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con cái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家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有几口人？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Nǐ jiā yǒu jǐ kǒu rén?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Nhà bạn có mấy người?</a:t>
            </a:r>
          </a:p>
        </p:txBody>
      </p:sp>
      <p:pic>
        <p:nvPicPr>
          <p:cNvPr id="13" name="slide1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Tình cảm &amp; giới tính</a:t>
            </a:r>
          </a:p>
        </p:txBody>
      </p:sp>
      <p:pic>
        <p:nvPicPr>
          <p:cNvPr id="6" name="Picture 5" descr="v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91455"/>
            <a:ext cx="3779215" cy="25207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02175" y="1611380"/>
            <a:ext cx="292608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女朋友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nǚpéngyou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bạn gái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2175" y="2616262"/>
            <a:ext cx="292608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男朋友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nánpéngyou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bạn trai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2175" y="3621144"/>
            <a:ext cx="292608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多大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duō dà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bao nhiêu tuổi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2175" y="4626026"/>
            <a:ext cx="292608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女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nǚ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2175" y="5630908"/>
            <a:ext cx="292608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男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nán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我有一些好朋友，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男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女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的都有。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yǒu yìxiē hǎo péngyou, nán de nǚ de dōu yǒu.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có một nhóm bạn thân, nam nữ đều có.</a:t>
            </a:r>
          </a:p>
        </p:txBody>
      </p:sp>
      <p:pic>
        <p:nvPicPr>
          <p:cNvPr id="13" name="slide1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Vai trò - học đường</a:t>
            </a:r>
          </a:p>
        </p:txBody>
      </p:sp>
      <p:pic>
        <p:nvPicPr>
          <p:cNvPr id="6" name="Picture 5" descr="v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34602"/>
            <a:ext cx="3779215" cy="28344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02175" y="1611378"/>
            <a:ext cx="292608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学生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xuésheng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học sinh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2175" y="2323170"/>
            <a:ext cx="292608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lǎoshī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giáo viên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2175" y="3034962"/>
            <a:ext cx="292608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同学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tóngxué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bạn học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2175" y="3746754"/>
            <a:ext cx="292608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王老师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Wáng lǎoshī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(riêng) cô/thầy Vương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2175" y="4458546"/>
            <a:ext cx="292608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小学生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xiǎoxuéshēng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học sinh tiểu học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175" y="5170338"/>
            <a:ext cx="292608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中学生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zhōngxuéshēng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học sinh trung học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2175" y="5882130"/>
            <a:ext cx="292608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大学生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dàxuéshēng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sinh viên đại học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中学生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，我哥哥是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大学生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shì zhōngxuéshēng, wǒ gēge shì dàxuéshēng.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là học sinh trung học, anh trai tôi là sinh viên đại học.</a:t>
            </a:r>
          </a:p>
        </p:txBody>
      </p:sp>
      <p:pic>
        <p:nvPicPr>
          <p:cNvPr id="15" name="slide1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Vai trò - dịch vụ &amp; y tế</a:t>
            </a:r>
          </a:p>
        </p:txBody>
      </p:sp>
      <p:pic>
        <p:nvPicPr>
          <p:cNvPr id="6" name="Picture 5" descr="v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92" y="1611376"/>
            <a:ext cx="3220511" cy="4880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02175" y="1611383"/>
            <a:ext cx="292608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医生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yīshēng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bác sĩ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2175" y="2232582"/>
            <a:ext cx="292608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服务员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fúwùyuán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nhân viên phục vụ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2175" y="2853781"/>
            <a:ext cx="292608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售货员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shòuhuòyuán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nhân viên bán hàng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2175" y="3474980"/>
            <a:ext cx="292608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女士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nǚshì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quý bà, cô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2175" y="4096179"/>
            <a:ext cx="292608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朋友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péngyou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bạn bè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175" y="4717378"/>
            <a:ext cx="292608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小朋友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xiǎopéngyou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em nhỏ, bạn nhỏ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2175" y="5338577"/>
            <a:ext cx="292608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医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yī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y (ngành 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2175" y="5959776"/>
            <a:ext cx="292608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病人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bìngrén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bệnh nhân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医生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小朋友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生病了。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Yīshēng, xiǎopéngyou shēngbìng le.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Bác sĩ ơi, em bé bị ốm rồi.</a:t>
            </a:r>
          </a:p>
        </p:txBody>
      </p:sp>
      <p:pic>
        <p:nvPicPr>
          <p:cNvPr id="16" name="slide1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Lượng từ</a:t>
            </a:r>
          </a:p>
        </p:txBody>
      </p:sp>
      <p:pic>
        <p:nvPicPr>
          <p:cNvPr id="6" name="Picture 5" descr="v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25992"/>
            <a:ext cx="4602175" cy="34516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83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个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gè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cái (lượng từ vạn năng)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232582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口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kǒu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lượng từ đếm người trong nhà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2853781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只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zhī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lượng từ (con — cho động vật)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3474980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件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jiàn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lượng từ (bộ/chiếc quần áo)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4096179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杯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bēi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cốc (lượng từ)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5135" y="4717378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斤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jīn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cân (~500g)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5135" y="5338577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些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xiē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một số, vài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5135" y="5959776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一半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yíbàn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một nửa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我要两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个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苹果，两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斤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水果。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yào liǎng ge píngguǒ, liǎng jīn shuǐguǒ.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muốn hai quả táo, hai cân hoa quả.</a:t>
            </a:r>
          </a:p>
        </p:txBody>
      </p:sp>
      <p:pic>
        <p:nvPicPr>
          <p:cNvPr id="16" name="slide1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Số &amp; tiền</a:t>
            </a:r>
          </a:p>
        </p:txBody>
      </p:sp>
      <p:pic>
        <p:nvPicPr>
          <p:cNvPr id="6" name="Picture 5" descr="v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25992"/>
            <a:ext cx="4602175" cy="34516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80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块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kuài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đồng (đơn vị tiền)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616262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元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yuán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đồng (nguyên)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621144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半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bàn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626026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多少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duōshao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bao nhiêu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5630908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几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jǐ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mấy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这件衣服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多少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钱？两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块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钱。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Zhè jiàn yīfu duōshao qián? Liǎng kuài qián.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Cái áo này bao nhiêu tiền? Hai đồng.</a:t>
            </a:r>
          </a:p>
        </p:txBody>
      </p:sp>
      <p:pic>
        <p:nvPicPr>
          <p:cNvPr id="13" name="slide1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Số &amp; tiền (tiếp)</a:t>
            </a:r>
          </a:p>
        </p:txBody>
      </p:sp>
      <p:pic>
        <p:nvPicPr>
          <p:cNvPr id="6" name="Picture 5" descr="v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25992"/>
            <a:ext cx="4602175" cy="34516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80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两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liǎng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hai (trước lượng từ)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616262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钱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qián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tiền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621144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thứ (số thứ tự)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626026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号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hào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số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5630908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岁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suì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tuổi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这件衣服多少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钱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两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块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钱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Zhè jiàn yīfu duōshao qián? Liǎng kuài qián.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Cái áo này bao nhiêu tiền? Hai đồng.</a:t>
            </a:r>
          </a:p>
        </p:txBody>
      </p:sp>
      <p:pic>
        <p:nvPicPr>
          <p:cNvPr id="13" name="slide1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Giờ giấc trong ngày</a:t>
            </a:r>
          </a:p>
        </p:txBody>
      </p:sp>
      <p:pic>
        <p:nvPicPr>
          <p:cNvPr id="6" name="Picture 5" descr="v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403" y="1611376"/>
            <a:ext cx="3660648" cy="4880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8"/>
            <a:ext cx="210312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xiànzài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bây giờ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323170"/>
            <a:ext cx="210312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点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diǎn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giờ (thời điểm)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034962"/>
            <a:ext cx="210312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分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fēn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phút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3746754"/>
            <a:ext cx="210312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分钟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fēnzhōng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phút (khoảng thời gian)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4458546"/>
            <a:ext cx="210312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早上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zǎoshang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buổi sáng sớm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5135" y="5170338"/>
            <a:ext cx="210312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晚上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wǎnshang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buổi tối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5135" y="5882130"/>
            <a:ext cx="210312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中午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zhōngwǔ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buổi trưa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现在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几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点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Xiànzài jǐ diǎn?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Bây giờ mấy giờ?</a:t>
            </a:r>
          </a:p>
        </p:txBody>
      </p:sp>
      <p:pic>
        <p:nvPicPr>
          <p:cNvPr id="15" name="slide1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Giờ giấc trong ngày (buổi &amp; sớm/muộn)</a:t>
            </a:r>
          </a:p>
        </p:txBody>
      </p:sp>
      <p:pic>
        <p:nvPicPr>
          <p:cNvPr id="6" name="Picture 5" descr="v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37206"/>
            <a:ext cx="4602175" cy="30681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050291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shàngwǔ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buổi sáng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964809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xiàwǔ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buổi chiều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879327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白天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báitiān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ban ngày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793845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晚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wǎn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muộn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5708363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早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zǎo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sớm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455" y="2050288"/>
            <a:ext cx="3657600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白天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我上课，我很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早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起床。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Báitiān wǒ shàngkè, wǒ hěn zǎo qǐchuáng.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Ban ngày tôi đi học, tôi dậy rất sớm.</a:t>
            </a:r>
          </a:p>
        </p:txBody>
      </p:sp>
      <p:pic>
        <p:nvPicPr>
          <p:cNvPr id="13" name="slide2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Mốc thời gian &amp; trạng từ</a:t>
            </a:r>
          </a:p>
        </p:txBody>
      </p:sp>
      <p:pic>
        <p:nvPicPr>
          <p:cNvPr id="6" name="Picture 5" descr="v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91455"/>
            <a:ext cx="3779215" cy="25207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02175" y="1611378"/>
            <a:ext cx="292608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几号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jǐ hào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ngày mấy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2175" y="2323170"/>
            <a:ext cx="292608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星期几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xīngqī jǐ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thứ mấy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2175" y="3034962"/>
            <a:ext cx="292608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明年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míngnián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năm sau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2175" y="3746754"/>
            <a:ext cx="292608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去年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qùnián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năm ngoái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2175" y="4458546"/>
            <a:ext cx="292608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小时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xiǎoshí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giờ (thời lượng)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175" y="5170338"/>
            <a:ext cx="292608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时间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shíjiān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thời gian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2175" y="5882130"/>
            <a:ext cx="292608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正在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zhèngzài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几号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星期几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Xiànzài jǐ hào? Xīngqī jǐ?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Hôm nay ngày mấy? Thứ mấy?</a:t>
            </a:r>
          </a:p>
        </p:txBody>
      </p:sp>
      <p:pic>
        <p:nvPicPr>
          <p:cNvPr id="15" name="slide2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Mốc thời gian &amp; trạng từ (tiếp)</a:t>
            </a:r>
          </a:p>
        </p:txBody>
      </p:sp>
      <p:pic>
        <p:nvPicPr>
          <p:cNvPr id="6" name="Picture 5" descr="v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36457"/>
            <a:ext cx="4602175" cy="30696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050290"/>
            <a:ext cx="2103120" cy="5552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再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zài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rồi, sau đó mới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698074"/>
            <a:ext cx="2103120" cy="5552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今年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jīnnián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năm nay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345858"/>
            <a:ext cx="2103120" cy="5552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明天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míngtiān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ngày mai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3993642"/>
            <a:ext cx="2103120" cy="5552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后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hòu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sau, sau đó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4641426"/>
            <a:ext cx="2103120" cy="5552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时候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shíhou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(khoảng) thời gian, lúc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5135" y="5289210"/>
            <a:ext cx="2103120" cy="5552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昨天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zuótiān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hôm qua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5135" y="5936994"/>
            <a:ext cx="2103120" cy="5552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年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nián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năm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5455" y="2050288"/>
            <a:ext cx="3657600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现在几号？星期几？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Xiànzài jǐ hào? Xīngqī jǐ?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Hôm nay ngày mấy? Thứ mấy?</a:t>
            </a:r>
          </a:p>
        </p:txBody>
      </p:sp>
      <p:pic>
        <p:nvPicPr>
          <p:cNvPr id="15" name="slide2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Nơi chốn</a:t>
            </a:r>
          </a:p>
        </p:txBody>
      </p:sp>
      <p:pic>
        <p:nvPicPr>
          <p:cNvPr id="6" name="Picture 5" descr="v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02510"/>
            <a:ext cx="3779215" cy="26985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02175" y="1611379"/>
            <a:ext cx="292608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超市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chāoshì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siêu thị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2175" y="2444696"/>
            <a:ext cx="292608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商店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shāngdiàn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cửa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2175" y="3278013"/>
            <a:ext cx="292608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医院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yīyuàn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bệnh viện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2175" y="4111330"/>
            <a:ext cx="292608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电影院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diànyǐngyuàn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rạp chiếu phim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2175" y="4944647"/>
            <a:ext cx="292608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店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diàn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cửa hàng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175" y="5777964"/>
            <a:ext cx="292608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房间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fángjiān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phòng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医院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在哪里？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Yīyuàn zài nǎlǐ?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Bệnh viện ở đâu?</a:t>
            </a:r>
          </a:p>
        </p:txBody>
      </p:sp>
      <p:pic>
        <p:nvPicPr>
          <p:cNvPr id="14" name="slide2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Nơi chốn (tiếp)</a:t>
            </a:r>
          </a:p>
        </p:txBody>
      </p:sp>
      <p:pic>
        <p:nvPicPr>
          <p:cNvPr id="6" name="Picture 5" descr="v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96333"/>
            <a:ext cx="2956255" cy="2110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79215" y="1611379"/>
            <a:ext cx="374904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机场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jīchǎng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sân bay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9215" y="2444696"/>
            <a:ext cx="374904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大兴机场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Dàxīng Jīchǎng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(riêng) Sân bay Đại Hưng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9215" y="3278013"/>
            <a:ext cx="374904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西安饭店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Xī'ān Fàndiàn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(riêng) Nhà hàng Tây 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9215" y="4111330"/>
            <a:ext cx="374904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学校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xuéxiào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trường học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9215" y="4944647"/>
            <a:ext cx="374904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书店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shūdiàn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hiệu sách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9215" y="5777964"/>
            <a:ext cx="374904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饭店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fàndiàn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nhà hàng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医院在哪里？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Yīyuàn zài nǎlǐ?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Bệnh viện ở đâu?</a:t>
            </a:r>
          </a:p>
        </p:txBody>
      </p:sp>
      <p:pic>
        <p:nvPicPr>
          <p:cNvPr id="14" name="slide2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Quốc gia &amp; ngôn ngữ</a:t>
            </a:r>
          </a:p>
        </p:txBody>
      </p:sp>
      <p:pic>
        <p:nvPicPr>
          <p:cNvPr id="6" name="Picture 5" descr="v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13628"/>
            <a:ext cx="4602175" cy="28763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9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中国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Zhōngguó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(riêng) Trung Quốc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444696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法国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Fǎguó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(riêng) Pháp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278013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泰国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Tàiguó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(riêng) Thái 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111330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中文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Zhōngwén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(riêng) tiếng Trung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4944647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汉语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Hànyǔ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(riêng) tiếng Trung (tiếng nói)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5135" y="5777964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汉字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Hànzì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(riêng) chữ Hán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你是哪国人？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Nǐ shì nǎ guó rén?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Bạn là người nước nào?</a:t>
            </a:r>
          </a:p>
        </p:txBody>
      </p:sp>
      <p:pic>
        <p:nvPicPr>
          <p:cNvPr id="14" name="slide2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Quốc gia &amp; ngôn ngữ (tiếp)</a:t>
            </a:r>
          </a:p>
        </p:txBody>
      </p:sp>
      <p:pic>
        <p:nvPicPr>
          <p:cNvPr id="6" name="Picture 5" descr="v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13628"/>
            <a:ext cx="4602175" cy="28763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80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西安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Xī'ān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(riêng) Tây 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616262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北京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Běijīng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(riêng) Bắc Kinh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621144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人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rén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người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626026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国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guó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nước, quốc 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5630908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字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chữ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你是哪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国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人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Nǐ shì nǎ guó rén?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Bạn là người nước nào?</a:t>
            </a:r>
          </a:p>
        </p:txBody>
      </p:sp>
      <p:pic>
        <p:nvPicPr>
          <p:cNvPr id="13" name="slide2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Phương hướng</a:t>
            </a:r>
          </a:p>
        </p:txBody>
      </p:sp>
      <p:pic>
        <p:nvPicPr>
          <p:cNvPr id="6" name="Picture 5" descr="v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4191"/>
            <a:ext cx="4602175" cy="29752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83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前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qián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trước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232582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xià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dưới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2853781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外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wài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ngoài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3474980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前边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qiánbian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phía trước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4096179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外边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wàibian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bên ngoài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5135" y="4717378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后边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hòubian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phía sau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5135" y="5338577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边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bian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hậu tố chỉ phía/bên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5135" y="5959776"/>
            <a:ext cx="210312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里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lǐ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trong, bên trong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妹妹坐在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前边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，弟弟坐在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后边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Mèimei zuò zài qiánbian, dìdi zuò zài hòubian.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Em gái ngồi phía trước, em trai ngồi phía sau.</a:t>
            </a:r>
          </a:p>
        </p:txBody>
      </p:sp>
      <p:pic>
        <p:nvPicPr>
          <p:cNvPr id="16" name="slide2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Đồ vật &amp; con vật</a:t>
            </a:r>
          </a:p>
        </p:txBody>
      </p:sp>
      <p:pic>
        <p:nvPicPr>
          <p:cNvPr id="6" name="Picture 5" descr="v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7167"/>
            <a:ext cx="3779215" cy="26092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02175" y="1611379"/>
            <a:ext cx="292608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桌子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zhuōzi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cái bàn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2175" y="2444696"/>
            <a:ext cx="292608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杯子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bēizi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cái cốc/ly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2175" y="3278013"/>
            <a:ext cx="292608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衣服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yīfu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quần áo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2175" y="4111330"/>
            <a:ext cx="292608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电脑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diànnǎo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máy tính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2175" y="4944647"/>
            <a:ext cx="292608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电视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diànshì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tivi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175" y="5777964"/>
            <a:ext cx="292608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手机号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shǒujīhào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số điện thoại di động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你家有几只狗，几只猫？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Nǐ jiā yǒu jǐ zhī gǒu, jǐ zhī māo?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Nhà bạn có mấy con chó, mấy con mèo?</a:t>
            </a:r>
          </a:p>
        </p:txBody>
      </p:sp>
      <p:pic>
        <p:nvPicPr>
          <p:cNvPr id="14" name="slide2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Đồ vật &amp; con vật (tiếp)</a:t>
            </a:r>
          </a:p>
        </p:txBody>
      </p:sp>
      <p:pic>
        <p:nvPicPr>
          <p:cNvPr id="6" name="Picture 5" descr="v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3069"/>
            <a:ext cx="4602175" cy="31774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9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猫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māo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mèo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444696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狗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gǒu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chó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278013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东西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dōngxi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đồ, thứ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111330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电话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diànhuà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điện thoại, cuộc gọi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4944647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手机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shǒujī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điện thoại di động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5135" y="5777964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电影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diànyǐng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phim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你家有几只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狗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，几只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猫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Nǐ jiā yǒu jǐ zhī gǒu, jǐ zhī māo?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Nhà bạn có mấy con chó, mấy con mèo?</a:t>
            </a:r>
          </a:p>
        </p:txBody>
      </p:sp>
      <p:pic>
        <p:nvPicPr>
          <p:cNvPr id="14" name="slide2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Giao thông &amp; di chuyển</a:t>
            </a:r>
          </a:p>
        </p:txBody>
      </p:sp>
      <p:pic>
        <p:nvPicPr>
          <p:cNvPr id="6" name="Picture 5" descr="v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35" y="1611376"/>
            <a:ext cx="3234824" cy="4880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02175" y="1611380"/>
            <a:ext cx="292608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车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chē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xe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2175" y="2616262"/>
            <a:ext cx="292608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开车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kāichē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lái 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2175" y="3621144"/>
            <a:ext cx="292608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出租车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chūzūchē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taxi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2175" y="4626026"/>
            <a:ext cx="292608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火车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huǒchē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tàu hỏa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2175" y="5630908"/>
            <a:ext cx="292608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飞机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fēijī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máy bay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我不会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开车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，坐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车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上学。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bú huì kāichē, zuò chē shàngxué.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không biết lái xe, đi xe đến trường.</a:t>
            </a:r>
          </a:p>
        </p:txBody>
      </p:sp>
      <p:pic>
        <p:nvPicPr>
          <p:cNvPr id="13" name="slide3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Giao thông &amp; di chuyển (tiếp)</a:t>
            </a:r>
          </a:p>
        </p:txBody>
      </p:sp>
      <p:pic>
        <p:nvPicPr>
          <p:cNvPr id="6" name="Picture 5" descr="v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761" y="2050288"/>
            <a:ext cx="2943932" cy="4441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050291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坐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zuò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ngồi, đi (bằng xe)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964809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住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zhù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ở, sống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879327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到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dào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đến, tới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793845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qù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5708363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开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kāi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chạy, khởi hành (xe)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455" y="2050288"/>
            <a:ext cx="3657600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我不会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开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车，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坐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车上学。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bú huì kāichē, zuò chē shàngxué.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không biết lái xe, đi xe đến trường.</a:t>
            </a:r>
          </a:p>
        </p:txBody>
      </p:sp>
      <p:pic>
        <p:nvPicPr>
          <p:cNvPr id="13" name="slide3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Đồ ăn</a:t>
            </a:r>
          </a:p>
        </p:txBody>
      </p:sp>
      <p:pic>
        <p:nvPicPr>
          <p:cNvPr id="6" name="Picture 5" descr="v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7001"/>
            <a:ext cx="4602175" cy="30696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80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米饭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mǐfàn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cơm (gạo)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616262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饭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fàn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cơm, bữa ăn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621144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菜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cài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món ăn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626026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面包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miànbāo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bánh mì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5630908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鸡蛋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jīdàn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trứng gà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午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饭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你想吃什么？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Wǔfàn nǐ xiǎng chī shénme?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Bữa trưa bạn muốn ăn gì?</a:t>
            </a:r>
          </a:p>
        </p:txBody>
      </p:sp>
      <p:pic>
        <p:nvPicPr>
          <p:cNvPr id="13" name="slide3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Đồ ăn (tiếp)</a:t>
            </a:r>
          </a:p>
        </p:txBody>
      </p:sp>
      <p:pic>
        <p:nvPicPr>
          <p:cNvPr id="6" name="Picture 5" descr="v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7001"/>
            <a:ext cx="4602175" cy="30696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8"/>
            <a:ext cx="2103120" cy="10846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包子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bāozi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bánh bao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876786"/>
            <a:ext cx="2103120" cy="10846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晚饭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wǎnfàn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cơm tối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4142194"/>
            <a:ext cx="2103120" cy="10846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午饭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wǔfàn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cơm trưa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5407602"/>
            <a:ext cx="2103120" cy="10846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早饭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zǎofàn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bữa sáng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午饭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你想吃什么？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Wǔfàn nǐ xiǎng chī shénme?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Bữa trưa bạn muốn ăn gì?</a:t>
            </a:r>
          </a:p>
        </p:txBody>
      </p:sp>
      <p:pic>
        <p:nvPicPr>
          <p:cNvPr id="12" name="slide3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Trái cây &amp; đồ uống</a:t>
            </a:r>
          </a:p>
        </p:txBody>
      </p:sp>
      <p:pic>
        <p:nvPicPr>
          <p:cNvPr id="6" name="Picture 5" descr="v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25992"/>
            <a:ext cx="4602175" cy="34516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80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水果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shuǐguǒ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hoa quả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616262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苹果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píngguǒ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táo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621144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牛奶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niúnǎi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sữa bò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626026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茶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chá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trà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5630908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水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shuǐ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nước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我想喝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茶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，也想吃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水果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xiǎng hē chá, yě xiǎng chī shuǐguǒ.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muốn uống trà, cũng muốn ăn hoa quả.</a:t>
            </a:r>
          </a:p>
        </p:txBody>
      </p:sp>
      <p:pic>
        <p:nvPicPr>
          <p:cNvPr id="13" name="slide3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Động từ ăn uống &amp; mua sắm</a:t>
            </a:r>
          </a:p>
        </p:txBody>
      </p:sp>
      <p:pic>
        <p:nvPicPr>
          <p:cNvPr id="6" name="Picture 5" descr="v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86669"/>
            <a:ext cx="4602175" cy="37302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9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吃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chī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ăn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444696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喝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hē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uống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278013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买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mǎi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mua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111330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卖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mài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4944647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穿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chuān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mặc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5135" y="5777964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做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zuò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làm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你想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买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什么？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Nǐ xiǎng mǎi shénme?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Bạn muốn mua gì?</a:t>
            </a:r>
          </a:p>
        </p:txBody>
      </p:sp>
      <p:pic>
        <p:nvPicPr>
          <p:cNvPr id="14" name="slide3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Phó từ mức độ</a:t>
            </a:r>
          </a:p>
        </p:txBody>
      </p:sp>
      <p:pic>
        <p:nvPicPr>
          <p:cNvPr id="6" name="Picture 5" descr="v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7167"/>
            <a:ext cx="3779215" cy="26092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02175" y="1611383"/>
            <a:ext cx="292608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一些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yìxiē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một số, vài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2175" y="2232582"/>
            <a:ext cx="292608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一下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yíxià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một chút, thử xem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2175" y="2853781"/>
            <a:ext cx="292608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一点儿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yìdiǎnr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một chút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2175" y="3474980"/>
            <a:ext cx="292608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有点儿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yǒudiǎnr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hơi, có chút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2175" y="4096179"/>
            <a:ext cx="292608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非常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fēicháng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rất, vô cùng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175" y="4717378"/>
            <a:ext cx="292608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真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zhēn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thật là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2175" y="5338577"/>
            <a:ext cx="292608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hěn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rất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2175" y="5959776"/>
            <a:ext cx="2926080" cy="532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太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tài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quá, lắm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这个，我要看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一下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Zhège, wǒ yào kàn yíxià.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Cái này, để tôi xem một chút.</a:t>
            </a:r>
          </a:p>
        </p:txBody>
      </p:sp>
      <p:pic>
        <p:nvPicPr>
          <p:cNvPr id="16" name="slide3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Tính từ kích thước &amp; giá cả</a:t>
            </a:r>
          </a:p>
        </p:txBody>
      </p:sp>
      <p:pic>
        <p:nvPicPr>
          <p:cNvPr id="6" name="Picture 5" descr="v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63389"/>
            <a:ext cx="4602175" cy="25768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8"/>
            <a:ext cx="210312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dà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to, lớn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323170"/>
            <a:ext cx="210312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xiǎo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nhỏ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034962"/>
            <a:ext cx="210312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多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duō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nhiều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3746754"/>
            <a:ext cx="210312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少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shǎo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ít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4458546"/>
            <a:ext cx="210312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便宜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piányi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rẻ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5135" y="5170338"/>
            <a:ext cx="210312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新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xīn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mới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5135" y="5882130"/>
            <a:ext cx="210312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贵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guì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đắt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大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，那个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小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，哪个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便宜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Zhège dà, nàge xiǎo, nǎge piányi?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Cái này to, cái kia nhỏ, cái nào rẻ?</a:t>
            </a:r>
          </a:p>
        </p:txBody>
      </p:sp>
      <p:pic>
        <p:nvPicPr>
          <p:cNvPr id="15" name="slide3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Tính từ mô tả tích cực</a:t>
            </a:r>
          </a:p>
        </p:txBody>
      </p:sp>
      <p:pic>
        <p:nvPicPr>
          <p:cNvPr id="6" name="Picture 5" descr="v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2485"/>
            <a:ext cx="3779215" cy="47586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02175" y="1611380"/>
            <a:ext cx="292608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好看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hǎokàn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đẹp, dễ nhìn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2175" y="2616262"/>
            <a:ext cx="292608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漂亮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piàoliang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đẹp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2175" y="3621144"/>
            <a:ext cx="292608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好吃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hǎochī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ngon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2175" y="4626026"/>
            <a:ext cx="292608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hǎotīng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hay (nghe)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2175" y="5630908"/>
            <a:ext cx="292608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好玩儿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hǎowánr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vui, thú vị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这里很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好玩儿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，也很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漂亮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Zhèlǐ hěn hǎowánr, yě hěn piàoliang.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Ở đây rất vui, cũng rất đẹp.</a:t>
            </a:r>
          </a:p>
        </p:txBody>
      </p:sp>
      <p:pic>
        <p:nvPicPr>
          <p:cNvPr id="13" name="slide3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Cảm xúc</a:t>
            </a:r>
          </a:p>
        </p:txBody>
      </p:sp>
      <p:pic>
        <p:nvPicPr>
          <p:cNvPr id="6" name="Picture 5" descr="v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7001"/>
            <a:ext cx="4602175" cy="30696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8"/>
            <a:ext cx="210312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hǎo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tốt, khỏe, ổn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323170"/>
            <a:ext cx="210312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高兴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gāoxìng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vui, mừng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034962"/>
            <a:ext cx="210312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喜欢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xǐhuan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thích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3746754"/>
            <a:ext cx="210312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爱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ài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yêu, thích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4458546"/>
            <a:ext cx="210312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觉得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juéde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cảm thấy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5135" y="5170338"/>
            <a:ext cx="210312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认识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rènshi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quen biết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5135" y="5882130"/>
            <a:ext cx="210312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忙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máng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bận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觉得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怎么样？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Nǐ juéde zěnmeyàng?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Bạn thấy thế nào?</a:t>
            </a:r>
          </a:p>
        </p:txBody>
      </p:sp>
      <p:pic>
        <p:nvPicPr>
          <p:cNvPr id="15" name="slide3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Động từ hành động (nghe/nói/đọc/viết)</a:t>
            </a:r>
          </a:p>
        </p:txBody>
      </p:sp>
      <p:pic>
        <p:nvPicPr>
          <p:cNvPr id="6" name="Picture 5" descr="v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45448"/>
            <a:ext cx="4602175" cy="34516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050291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看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kàn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xem, nhìn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964809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tīng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nghe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879327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写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xiě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viết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793845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读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dú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học, theo học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5708363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说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shuō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nói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455" y="2050288"/>
            <a:ext cx="3657600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说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，请你们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读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Lǎoshī shuō, qǐng nǐmen dú zhège.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Giáo viên nói: mời các em đọc cái này.</a:t>
            </a:r>
          </a:p>
        </p:txBody>
      </p:sp>
      <p:pic>
        <p:nvPicPr>
          <p:cNvPr id="13" name="slide4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Động từ hành động (nghe/nói/đọc/viết) (tiếp)</a:t>
            </a:r>
          </a:p>
        </p:txBody>
      </p:sp>
      <p:pic>
        <p:nvPicPr>
          <p:cNvPr id="6" name="Picture 5" descr="v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45448"/>
            <a:ext cx="4602175" cy="34516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050290"/>
            <a:ext cx="2103120" cy="987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问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wèn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hỏi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3201906"/>
            <a:ext cx="2103120" cy="987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对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duì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đối với, hướng về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4353522"/>
            <a:ext cx="2103120" cy="987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知道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zhīdào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biết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5505138"/>
            <a:ext cx="2103120" cy="987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叫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jiào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tên là, gọi là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5455" y="2050288"/>
            <a:ext cx="3657600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老师说，请你们读这个。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Lǎoshī shuō, qǐng nǐmen dú zhège.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Giáo viên nói: mời các em đọc cái này.</a:t>
            </a:r>
          </a:p>
        </p:txBody>
      </p:sp>
      <p:pic>
        <p:nvPicPr>
          <p:cNvPr id="12" name="slide4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Động từ hành động khác</a:t>
            </a:r>
          </a:p>
        </p:txBody>
      </p:sp>
      <p:pic>
        <p:nvPicPr>
          <p:cNvPr id="6" name="Picture 5" descr="v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97778"/>
            <a:ext cx="3779215" cy="19080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02175" y="1611378"/>
            <a:ext cx="292608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唱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chàng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hát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2175" y="2323170"/>
            <a:ext cx="292608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歌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gē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bài hát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2175" y="3034962"/>
            <a:ext cx="292608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听见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tīngjiàn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nghe thấy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2175" y="3746754"/>
            <a:ext cx="292608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看见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kànjiàn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nhìn thấy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2175" y="4458546"/>
            <a:ext cx="292608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玩儿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wánr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chơi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175" y="5170338"/>
            <a:ext cx="292608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打电话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dǎ diànhuà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gọi điện thoại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2175" y="5882130"/>
            <a:ext cx="2926080" cy="610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回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huí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về, trở về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弟弟在学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唱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歌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，没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听见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打电话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Dìdi zài xué chàng gē, méi tīngjiàn wǒ dǎ diànhuà.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Em trai đang học hát, không nghe thấy tôi gọi điện.</a:t>
            </a:r>
          </a:p>
        </p:txBody>
      </p:sp>
      <p:pic>
        <p:nvPicPr>
          <p:cNvPr id="15" name="slide4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Động từ hành động khác (tiếp)</a:t>
            </a:r>
          </a:p>
        </p:txBody>
      </p:sp>
      <p:pic>
        <p:nvPicPr>
          <p:cNvPr id="6" name="Picture 5" descr="v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9484"/>
            <a:ext cx="4602175" cy="2323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050291"/>
            <a:ext cx="2103120" cy="6500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见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jiàn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gặp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808672"/>
            <a:ext cx="2103120" cy="6500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找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zhǎo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tìm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567053"/>
            <a:ext cx="2103120" cy="6500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说话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shuōhuà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nói chuyện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325434"/>
            <a:ext cx="2103120" cy="6500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接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jiē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đón, gặp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5083815"/>
            <a:ext cx="2103120" cy="6500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qǐng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mời, xin mời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5135" y="5842196"/>
            <a:ext cx="2103120" cy="6500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给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gěi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cho, đưa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2050288"/>
            <a:ext cx="3657600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弟弟在学唱歌，没听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见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我打电话。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Dìdi zài xué chàng gē, méi tīngjiàn wǒ dǎ diànhuà.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Em trai đang học hát, không nghe thấy tôi gọi điện.</a:t>
            </a:r>
          </a:p>
        </p:txBody>
      </p:sp>
      <p:pic>
        <p:nvPicPr>
          <p:cNvPr id="14" name="slide4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Trợ động từ &amp; phủ định</a:t>
            </a:r>
          </a:p>
        </p:txBody>
      </p:sp>
      <p:pic>
        <p:nvPicPr>
          <p:cNvPr id="6" name="Picture 5" descr="v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978" y="1611376"/>
            <a:ext cx="3255498" cy="4880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9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想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xiǎng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muốn, định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444696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会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huì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biết (do học mà có)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278013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能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néng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có thể (năng lực/điều kiện)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111330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可以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kěyǐ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có thể, được phép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4944647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要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yào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muốn, định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5135" y="5777964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没有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méiyǒu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không có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我不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会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写这个，你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能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看一下吗？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bú huì xiě zhège, nǐ néng kàn yíxià ma?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không biết viết cái này, bạn xem giúp được không?</a:t>
            </a:r>
          </a:p>
        </p:txBody>
      </p:sp>
      <p:pic>
        <p:nvPicPr>
          <p:cNvPr id="14" name="slide4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Trợ động từ &amp; phủ định (tiếp)</a:t>
            </a:r>
          </a:p>
        </p:txBody>
      </p:sp>
      <p:pic>
        <p:nvPicPr>
          <p:cNvPr id="6" name="Picture 5" descr="v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354" y="2050288"/>
            <a:ext cx="2962747" cy="4441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050291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méi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chưa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964809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不要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búyào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đừng, không được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879327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yǒu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793845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有些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yǒuxiē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có một số (người/vật)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5708363"/>
            <a:ext cx="2103120" cy="7838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有的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yǒude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có người, có cái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455" y="2050288"/>
            <a:ext cx="3657600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我不会写这个，你能看一下吗？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bú huì xiě zhège, nǐ néng kàn yíxià ma?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không biết viết cái này, bạn xem giúp được không?</a:t>
            </a:r>
          </a:p>
        </p:txBody>
      </p:sp>
      <p:pic>
        <p:nvPicPr>
          <p:cNvPr id="13" name="slide4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Học tập &amp; trường lớp</a:t>
            </a:r>
          </a:p>
        </p:txBody>
      </p:sp>
      <p:pic>
        <p:nvPicPr>
          <p:cNvPr id="6" name="Picture 5" descr="v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24629"/>
            <a:ext cx="4602175" cy="30543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80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shàng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bắt đầu (đi học/lên lớp)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616262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上课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shàngkè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lên lớp, học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621144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下课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xiàkè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tan học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626026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上学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shàngxué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đi học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5630908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读书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dúshū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đọc sách, đi học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你几点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上课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？几点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下课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Nǐ jǐ diǎn shàngkè? Jǐ diǎn xiàkè?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Bạn mấy giờ vào học? Mấy giờ tan học?</a:t>
            </a:r>
          </a:p>
        </p:txBody>
      </p:sp>
      <p:pic>
        <p:nvPicPr>
          <p:cNvPr id="13" name="slide4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Học tập (bậc học)</a:t>
            </a:r>
          </a:p>
        </p:txBody>
      </p:sp>
      <p:pic>
        <p:nvPicPr>
          <p:cNvPr id="6" name="Picture 5" descr="v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52747"/>
            <a:ext cx="4602175" cy="27981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80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xué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học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616262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课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kè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tiết học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621144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中学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zhōngxué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trung học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626026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小学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xiǎoxué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tiểu học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5630908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大学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dàxué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đại học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课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小学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生、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中学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生、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大学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生都可以上。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Zhège kè, xiǎoxuéshēng, zhōngxuéshēng, dàxuéshēng dōu kěyǐ shàng.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Khóa học này, học sinh tiểu học, trung học, sinh viên đại học đều có thể học.</a:t>
            </a:r>
          </a:p>
        </p:txBody>
      </p:sp>
      <p:pic>
        <p:nvPicPr>
          <p:cNvPr id="13" name="slide4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Công việc &amp; nghỉ ngơi</a:t>
            </a:r>
          </a:p>
        </p:txBody>
      </p:sp>
      <p:pic>
        <p:nvPicPr>
          <p:cNvPr id="6" name="Picture 5" descr="v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259" y="1611376"/>
            <a:ext cx="3484936" cy="4880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80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工作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gōngzuò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công việc, làm việc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616262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下班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xiàbān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tan làm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621144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休息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xiūxi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nghỉ ngơi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626026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起床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qǐchuáng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ngủ dậy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5630908"/>
            <a:ext cx="2103120" cy="86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睡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shuì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ngủ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你几点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起床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？几点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休息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Nǐ jǐ diǎn qǐchuáng? Jǐ diǎn xiūxi?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Bạn mấy giờ ngủ dậy? Mấy giờ nghỉ?</a:t>
            </a:r>
          </a:p>
        </p:txBody>
      </p:sp>
      <p:pic>
        <p:nvPicPr>
          <p:cNvPr id="13" name="slide4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Công việc &amp; nghỉ ngơi (tiếp)</a:t>
            </a:r>
          </a:p>
        </p:txBody>
      </p:sp>
      <p:pic>
        <p:nvPicPr>
          <p:cNvPr id="6" name="Picture 5" descr="v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259" y="1611376"/>
            <a:ext cx="3484936" cy="4880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8"/>
            <a:ext cx="2103120" cy="10846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上班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shàngbān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đi làm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876786"/>
            <a:ext cx="2103120" cy="10846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先生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xiānsheng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quý ông, anh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4142194"/>
            <a:ext cx="2103120" cy="10846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事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việc, chuyện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5407602"/>
            <a:ext cx="2103120" cy="10846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问题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wèntí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câu hỏi, vấn đề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你几点起床？几点休息？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Nǐ jǐ diǎn qǐchuáng? Jǐ diǎn xiūxi?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Bạn mấy giờ ngủ dậy? Mấy giờ nghỉ?</a:t>
            </a:r>
          </a:p>
        </p:txBody>
      </p:sp>
      <p:pic>
        <p:nvPicPr>
          <p:cNvPr id="12" name="slide4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Thời tiết</a:t>
            </a:r>
          </a:p>
        </p:txBody>
      </p:sp>
      <p:pic>
        <p:nvPicPr>
          <p:cNvPr id="6" name="Picture 5" descr="v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7001"/>
            <a:ext cx="4602175" cy="30696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9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天气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tiānqì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thời tiết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444696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天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tiān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trời; ngày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278013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下雨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xiàyǔ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mưa (động từ)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111330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雨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yǔ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mưa (danh từ)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4944647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冷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lěng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lạnh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5135" y="5777964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热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rè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nóng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这里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天气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太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热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了，真想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下雨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Zhèlǐ tiānqì tài rè le, zhēn xiǎng xiàyǔ.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Ở đây thời tiết nóng quá, thật muốn trời mưa.</a:t>
            </a:r>
          </a:p>
        </p:txBody>
      </p:sp>
      <p:pic>
        <p:nvPicPr>
          <p:cNvPr id="14" name="slide5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Sức khỏe</a:t>
            </a:r>
          </a:p>
        </p:txBody>
      </p:sp>
      <p:pic>
        <p:nvPicPr>
          <p:cNvPr id="6" name="Picture 5" descr="v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403" y="1611376"/>
            <a:ext cx="3660648" cy="4880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8"/>
            <a:ext cx="2103120" cy="10846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生病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shēngbìng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bị bệnh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876786"/>
            <a:ext cx="2103120" cy="10846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看病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kànbìng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khám bệnh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4142194"/>
            <a:ext cx="2103120" cy="10846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病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bìng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bệnh, ốm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5407602"/>
            <a:ext cx="2103120" cy="10846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药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yào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thuốc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小朋友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生病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了，要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看病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吃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药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Xiǎopéngyou shēngbìng le, yào kànbìng chī yào.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Em nhỏ bị ốm rồi, cần đi khám và uống thuốc.</a:t>
            </a:r>
          </a:p>
        </p:txBody>
      </p:sp>
      <p:pic>
        <p:nvPicPr>
          <p:cNvPr id="12" name="slide5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Liên từ nhẹ</a:t>
            </a:r>
          </a:p>
        </p:txBody>
      </p:sp>
      <p:pic>
        <p:nvPicPr>
          <p:cNvPr id="6" name="Picture 5" descr="v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23742"/>
            <a:ext cx="4602175" cy="30561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9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hé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và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444696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也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yě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cũng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278013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dōu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đều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4111330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呢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trợ từ hỏi rút gọn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4944647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吧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ba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trợ từ đề nghị/thương lượng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5135" y="5777964"/>
            <a:ext cx="2103120" cy="71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hái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vẫn, còn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和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小明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都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喜欢读书，你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呢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hé Xiǎo Míng dōu xǐhuan dúshū, nǐ ne?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và Tiểu Minh đều thích đọc sách, còn bạn?</a:t>
            </a:r>
          </a:p>
        </p:txBody>
      </p:sp>
      <p:pic>
        <p:nvPicPr>
          <p:cNvPr id="14" name="slide5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Trợ từ &amp; giới từ ngữ pháp lõi</a:t>
            </a:r>
          </a:p>
        </p:txBody>
      </p:sp>
      <p:pic>
        <p:nvPicPr>
          <p:cNvPr id="6" name="Picture 5" descr="v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45448"/>
            <a:ext cx="4602175" cy="34516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050290"/>
            <a:ext cx="2103120" cy="5552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trợ từ sở hữu/định ngữ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2698074"/>
            <a:ext cx="2103120" cy="5552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nà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vậy thì, thế thì (liên từ)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3345858"/>
            <a:ext cx="2103120" cy="5552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le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trợ từ chỉ sự thay đổi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135" y="3993642"/>
            <a:ext cx="2103120" cy="5552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là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135" y="4641426"/>
            <a:ext cx="2103120" cy="5552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在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zài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ở, tại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5135" y="5289210"/>
            <a:ext cx="2103120" cy="5552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bù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không, chẳng (phó từ phủ định)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5135" y="5936994"/>
            <a:ext cx="2103120" cy="5552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吗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ma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…không? (trợ từ nghi vấn)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5455" y="2050288"/>
            <a:ext cx="3657600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是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我家，现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在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大家都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在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房间。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Zhè shì wǒ jiā, xiànzài dàjiā dōu zài fángjiān.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Đây là nhà tôi, hiện tại mọi người đều đang ở trong phòng.</a:t>
            </a:r>
          </a:p>
        </p:txBody>
      </p:sp>
      <p:pic>
        <p:nvPicPr>
          <p:cNvPr id="15" name="slide5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复习完成</a:t>
            </a:r>
          </a:p>
          <a:p>
            <a:pPr algn="ctr">
              <a:spcBef>
                <a:spcPts val="1000"/>
              </a:spcBef>
              <a:buNone/>
            </a:pPr>
            <a:r>
              <a:rPr sz="1800" b="0" i="0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Đã ôn xong từ vựng theo chủ đề (phần 2/2) → sẵn sàng thi HSK1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