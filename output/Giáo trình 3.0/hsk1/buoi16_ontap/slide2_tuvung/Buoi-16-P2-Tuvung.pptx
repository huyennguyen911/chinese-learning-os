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10.mp3" ContentType="audio/mpeg"/>
  <Override PartName="/ppt/media/media11.mp3" ContentType="audio/mpeg"/>
  <Override PartName="/ppt/media/media12.mp3" ContentType="audio/mpeg"/>
  <Override PartName="/ppt/media/media13.mp3" ContentType="audio/mpeg"/>
  <Override PartName="/ppt/media/media14.mp3" ContentType="audio/mpeg"/>
  <Override PartName="/ppt/media/media15.mp3" ContentType="audio/mpeg"/>
  <Override PartName="/ppt/media/media16.mp3" ContentType="audio/mpeg"/>
  <Override PartName="/ppt/media/media17.mp3" ContentType="audio/mpeg"/>
  <Override PartName="/ppt/media/media18.mp3" ContentType="audio/mpeg"/>
  <Override PartName="/ppt/media/media19.mp3" ContentType="audio/mpeg"/>
  <Override PartName="/ppt/media/media2.mp3" ContentType="audio/mpeg"/>
  <Override PartName="/ppt/media/media20.mp3" ContentType="audio/mpeg"/>
  <Override PartName="/ppt/media/media21.mp3" ContentType="audio/mpeg"/>
  <Override PartName="/ppt/media/media22.mp3" ContentType="audio/mpeg"/>
  <Override PartName="/ppt/media/media23.mp3" ContentType="audio/mpeg"/>
  <Override PartName="/ppt/media/media24.mp3" ContentType="audio/mpeg"/>
  <Override PartName="/ppt/media/media25.mp3" ContentType="audio/mpeg"/>
  <Override PartName="/ppt/media/media26.mp3" ContentType="audio/mpeg"/>
  <Override PartName="/ppt/media/media27.mp3" ContentType="audio/mpeg"/>
  <Override PartName="/ppt/media/media28.mp3" ContentType="audio/mpeg"/>
  <Override PartName="/ppt/media/media29.mp3" ContentType="audio/mpeg"/>
  <Override PartName="/ppt/media/media3.mp3" ContentType="audio/mpeg"/>
  <Override PartName="/ppt/media/media30.mp3" ContentType="audio/mpeg"/>
  <Override PartName="/ppt/media/media31.mp3" ContentType="audio/mpeg"/>
  <Override PartName="/ppt/media/media32.mp3" ContentType="audio/mpeg"/>
  <Override PartName="/ppt/media/media33.mp3" ContentType="audio/mpeg"/>
  <Override PartName="/ppt/media/media34.mp3" ContentType="audio/mpeg"/>
  <Override PartName="/ppt/media/media35.mp3" ContentType="audio/mpeg"/>
  <Override PartName="/ppt/media/media36.mp3" ContentType="audio/mpeg"/>
  <Override PartName="/ppt/media/media37.mp3" ContentType="audio/mpeg"/>
  <Override PartName="/ppt/media/media4.mp3" ContentType="audio/mpeg"/>
  <Override PartName="/ppt/media/media5.mp3" ContentType="audio/mpeg"/>
  <Override PartName="/ppt/media/media6.mp3" ContentType="audio/mpeg"/>
  <Override PartName="/ppt/media/media7.mp3" ContentType="audio/mpeg"/>
  <Override PartName="/ppt/media/media8.mp3" ContentType="audio/mpeg"/>
  <Override PartName="/ppt/media/media9.mp3" ContentType="audio/mpe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microsoft.com/office/2007/relationships/media" Target="../media/media1.mp3"/><Relationship Id="rId4" Type="http://schemas.openxmlformats.org/officeDocument/2006/relationships/video" Target="../media/media1.mp3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microsoft.com/office/2007/relationships/media" Target="../media/media2.mp3"/><Relationship Id="rId4" Type="http://schemas.openxmlformats.org/officeDocument/2006/relationships/video" Target="../media/media2.mp3"/><Relationship Id="rId5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microsoft.com/office/2007/relationships/media" Target="../media/media3.mp3"/><Relationship Id="rId4" Type="http://schemas.openxmlformats.org/officeDocument/2006/relationships/video" Target="../media/media3.mp3"/><Relationship Id="rId5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microsoft.com/office/2007/relationships/media" Target="../media/media4.mp3"/><Relationship Id="rId4" Type="http://schemas.openxmlformats.org/officeDocument/2006/relationships/video" Target="../media/media4.mp3"/><Relationship Id="rId5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microsoft.com/office/2007/relationships/media" Target="../media/media5.mp3"/><Relationship Id="rId4" Type="http://schemas.openxmlformats.org/officeDocument/2006/relationships/video" Target="../media/media5.mp3"/><Relationship Id="rId5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microsoft.com/office/2007/relationships/media" Target="../media/media6.mp3"/><Relationship Id="rId4" Type="http://schemas.openxmlformats.org/officeDocument/2006/relationships/video" Target="../media/media6.mp3"/><Relationship Id="rId5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microsoft.com/office/2007/relationships/media" Target="../media/media7.mp3"/><Relationship Id="rId4" Type="http://schemas.openxmlformats.org/officeDocument/2006/relationships/video" Target="../media/media7.mp3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microsoft.com/office/2007/relationships/media" Target="../media/media8.mp3"/><Relationship Id="rId4" Type="http://schemas.openxmlformats.org/officeDocument/2006/relationships/video" Target="../media/media8.mp3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microsoft.com/office/2007/relationships/media" Target="../media/media9.mp3"/><Relationship Id="rId4" Type="http://schemas.openxmlformats.org/officeDocument/2006/relationships/video" Target="../media/media9.mp3"/><Relationship Id="rId5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microsoft.com/office/2007/relationships/media" Target="../media/media10.mp3"/><Relationship Id="rId4" Type="http://schemas.openxmlformats.org/officeDocument/2006/relationships/video" Target="../media/media10.mp3"/><Relationship Id="rId5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microsoft.com/office/2007/relationships/media" Target="../media/media11.mp3"/><Relationship Id="rId4" Type="http://schemas.openxmlformats.org/officeDocument/2006/relationships/video" Target="../media/media11.mp3"/><Relationship Id="rId5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microsoft.com/office/2007/relationships/media" Target="../media/media12.mp3"/><Relationship Id="rId4" Type="http://schemas.openxmlformats.org/officeDocument/2006/relationships/video" Target="../media/media12.mp3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microsoft.com/office/2007/relationships/media" Target="../media/media13.mp3"/><Relationship Id="rId4" Type="http://schemas.openxmlformats.org/officeDocument/2006/relationships/video" Target="../media/media13.mp3"/><Relationship Id="rId5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microsoft.com/office/2007/relationships/media" Target="../media/media14.mp3"/><Relationship Id="rId4" Type="http://schemas.openxmlformats.org/officeDocument/2006/relationships/video" Target="../media/media14.mp3"/><Relationship Id="rId5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microsoft.com/office/2007/relationships/media" Target="../media/media15.mp3"/><Relationship Id="rId4" Type="http://schemas.openxmlformats.org/officeDocument/2006/relationships/video" Target="../media/media15.mp3"/><Relationship Id="rId5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microsoft.com/office/2007/relationships/media" Target="../media/media16.mp3"/><Relationship Id="rId4" Type="http://schemas.openxmlformats.org/officeDocument/2006/relationships/video" Target="../media/media16.mp3"/><Relationship Id="rId5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microsoft.com/office/2007/relationships/media" Target="../media/media17.mp3"/><Relationship Id="rId4" Type="http://schemas.openxmlformats.org/officeDocument/2006/relationships/video" Target="../media/media17.mp3"/><Relationship Id="rId5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microsoft.com/office/2007/relationships/media" Target="../media/media18.mp3"/><Relationship Id="rId4" Type="http://schemas.openxmlformats.org/officeDocument/2006/relationships/video" Target="../media/media18.mp3"/><Relationship Id="rId5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microsoft.com/office/2007/relationships/media" Target="../media/media19.mp3"/><Relationship Id="rId4" Type="http://schemas.openxmlformats.org/officeDocument/2006/relationships/video" Target="../media/media19.mp3"/><Relationship Id="rId5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microsoft.com/office/2007/relationships/media" Target="../media/media20.mp3"/><Relationship Id="rId4" Type="http://schemas.openxmlformats.org/officeDocument/2006/relationships/video" Target="../media/media20.mp3"/><Relationship Id="rId5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microsoft.com/office/2007/relationships/media" Target="../media/media21.mp3"/><Relationship Id="rId4" Type="http://schemas.openxmlformats.org/officeDocument/2006/relationships/video" Target="../media/media21.mp3"/><Relationship Id="rId5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microsoft.com/office/2007/relationships/media" Target="../media/media22.mp3"/><Relationship Id="rId4" Type="http://schemas.openxmlformats.org/officeDocument/2006/relationships/video" Target="../media/media22.mp3"/><Relationship Id="rId5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microsoft.com/office/2007/relationships/media" Target="../media/media23.mp3"/><Relationship Id="rId4" Type="http://schemas.openxmlformats.org/officeDocument/2006/relationships/video" Target="../media/media23.mp3"/><Relationship Id="rId5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microsoft.com/office/2007/relationships/media" Target="../media/media24.mp3"/><Relationship Id="rId4" Type="http://schemas.openxmlformats.org/officeDocument/2006/relationships/video" Target="../media/media24.mp3"/><Relationship Id="rId5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microsoft.com/office/2007/relationships/media" Target="../media/media25.mp3"/><Relationship Id="rId4" Type="http://schemas.openxmlformats.org/officeDocument/2006/relationships/video" Target="../media/media25.mp3"/><Relationship Id="rId5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microsoft.com/office/2007/relationships/media" Target="../media/media26.mp3"/><Relationship Id="rId4" Type="http://schemas.openxmlformats.org/officeDocument/2006/relationships/video" Target="../media/media26.mp3"/><Relationship Id="rId5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microsoft.com/office/2007/relationships/media" Target="../media/media27.mp3"/><Relationship Id="rId4" Type="http://schemas.openxmlformats.org/officeDocument/2006/relationships/video" Target="../media/media27.mp3"/><Relationship Id="rId5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microsoft.com/office/2007/relationships/media" Target="../media/media28.mp3"/><Relationship Id="rId4" Type="http://schemas.openxmlformats.org/officeDocument/2006/relationships/video" Target="../media/media28.mp3"/><Relationship Id="rId5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microsoft.com/office/2007/relationships/media" Target="../media/media29.mp3"/><Relationship Id="rId4" Type="http://schemas.openxmlformats.org/officeDocument/2006/relationships/video" Target="../media/media29.mp3"/><Relationship Id="rId5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microsoft.com/office/2007/relationships/media" Target="../media/media30.mp3"/><Relationship Id="rId4" Type="http://schemas.openxmlformats.org/officeDocument/2006/relationships/video" Target="../media/media30.mp3"/><Relationship Id="rId5" Type="http://schemas.openxmlformats.org/officeDocument/2006/relationships/image" Target="../media/image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microsoft.com/office/2007/relationships/media" Target="../media/media31.mp3"/><Relationship Id="rId4" Type="http://schemas.openxmlformats.org/officeDocument/2006/relationships/video" Target="../media/media31.mp3"/><Relationship Id="rId5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microsoft.com/office/2007/relationships/media" Target="../media/media32.mp3"/><Relationship Id="rId4" Type="http://schemas.openxmlformats.org/officeDocument/2006/relationships/video" Target="../media/media32.mp3"/><Relationship Id="rId5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microsoft.com/office/2007/relationships/media" Target="../media/media33.mp3"/><Relationship Id="rId4" Type="http://schemas.openxmlformats.org/officeDocument/2006/relationships/video" Target="../media/media33.mp3"/><Relationship Id="rId5" Type="http://schemas.openxmlformats.org/officeDocument/2006/relationships/image" Target="../media/image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microsoft.com/office/2007/relationships/media" Target="../media/media34.mp3"/><Relationship Id="rId4" Type="http://schemas.openxmlformats.org/officeDocument/2006/relationships/video" Target="../media/media34.mp3"/><Relationship Id="rId5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microsoft.com/office/2007/relationships/media" Target="../media/media35.mp3"/><Relationship Id="rId4" Type="http://schemas.openxmlformats.org/officeDocument/2006/relationships/video" Target="../media/media35.mp3"/><Relationship Id="rId5" Type="http://schemas.openxmlformats.org/officeDocument/2006/relationships/image" Target="../media/image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microsoft.com/office/2007/relationships/media" Target="../media/media36.mp3"/><Relationship Id="rId4" Type="http://schemas.openxmlformats.org/officeDocument/2006/relationships/video" Target="../media/media36.mp3"/><Relationship Id="rId5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microsoft.com/office/2007/relationships/media" Target="../media/media37.mp3"/><Relationship Id="rId4" Type="http://schemas.openxmlformats.org/officeDocument/2006/relationships/video" Target="../media/media37.mp3"/><Relationship Id="rId5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3017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HSK1 · 词汇总复习</a:t>
            </a:r>
          </a:p>
          <a:p>
            <a:pPr algn="ctr">
              <a:spcBef>
                <a:spcPts val="1000"/>
              </a:spcBef>
            </a:pPr>
            <a:r>
              <a:rPr sz="2000" b="0" i="0">
                <a:solidFill>
                  <a:srgbClr val="F7E4E1"/>
                </a:solidFill>
                <a:latin typeface="Calibri"/>
                <a:ea typeface="Microsoft YaHei"/>
                <a:cs typeface="Microsoft YaHei"/>
              </a:rPr>
              <a:t>Cíhuì zǒng fùxí — ôn tập từ vựng theo chủ đề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Buổi này ôn từ vựng theo chủ đề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6522415" cy="5010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Xưng hô, đại từ, hỏi đáp cơ bản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Gia đình, người thân, vai trò xã hội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Nơi chốn, phương hướng, quốc gia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Thời gian, số đếm, tiền bạc, lượng từ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Đồ vật, đồ ăn, con vật, giao thông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Tính từ, động từ, phó từ thường dùng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Ngữ pháp: liên từ, trợ từ, giới từ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Thời tiết, sức khỏe, học tập, công việc</a:t>
            </a:r>
          </a:p>
          <a:p>
            <a:pPr>
              <a:spcBef>
                <a:spcPts val="1300"/>
              </a:spcBef>
            </a:pPr>
            <a:r>
              <a:rPr sz="20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•  </a:t>
            </a:r>
            <a:r>
              <a:rPr sz="2000" b="0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Mỗi nhóm có câu ví dụ minh họa cách dùng</a:t>
            </a:r>
          </a:p>
        </p:txBody>
      </p:sp>
      <p:pic>
        <p:nvPicPr>
          <p:cNvPr id="7" name="Picture 6" descr="v0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815" y="2526512"/>
            <a:ext cx="4206240" cy="292054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Xưng hô &amp; giao tiếp cơ bản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 hǎo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chào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谢谢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xièxie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不客气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bú kèqi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có gì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再见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zàijiàn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tạm biệt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请问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qǐngwèn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xin hỏi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没关系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 guānxi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sao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没事儿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méishìr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sao, không có gì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好的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hǎode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được, ok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名字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míngzi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tên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81328"/>
            <a:ext cx="3840478" cy="28316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14099"/>
            <a:ext cx="3840480" cy="1978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你叫什么名字？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jiào shénme míngzi?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tên là gì?</a:t>
            </a:r>
          </a:p>
        </p:txBody>
      </p:sp>
      <p:pic>
        <p:nvPicPr>
          <p:cNvPr id="9" name="slide0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Đại từ nhân xưng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我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wǒ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tôi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(số ít)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nín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ngài, bác (kính ngữ)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你们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nǐmen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các bạn (số nhiều)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大家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dàjiā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mọi người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82" y="1481328"/>
            <a:ext cx="3387995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大家好，我是老师，你们好吗？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Dàjiā hǎo, wǒ shì lǎoshī, nǐmen hǎo ma?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Chào mọi người, tôi là giáo viên, các bạn khỏe không?</a:t>
            </a:r>
          </a:p>
        </p:txBody>
      </p:sp>
      <p:pic>
        <p:nvPicPr>
          <p:cNvPr id="9" name="slide0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Đại từ nhân xưng (số nhiều &amp; phi người)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它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他们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tāmen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 (nam/chung)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她们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tāmen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 (nữ)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它们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tāmen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chúng nó (vật)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men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hậu tố số nhiều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9839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666466"/>
            <a:ext cx="3840480" cy="1825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他们是我的朋友，她们也是。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Tāmen shì wǒ de péngyou, tāmen yě shì.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Họ (nam) là bạn của tôi, họ (nữ) cũng vậy.</a:t>
            </a:r>
          </a:p>
        </p:txBody>
      </p:sp>
      <p:pic>
        <p:nvPicPr>
          <p:cNvPr id="9" name="slide0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Đại từ chỉ định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这个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zhège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cái này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那个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nàge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cái đó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这些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zhèxiē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những cái này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那些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nàxiē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những cái đó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这儿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zhèr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ở đây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61" y="1481328"/>
            <a:ext cx="2956437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这个多少钱？那个呢？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Zhège duōshao qián? Nàge ne?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Cái này bao nhiêu tiền? Còn cái kia?</a:t>
            </a:r>
          </a:p>
        </p:txBody>
      </p:sp>
      <p:pic>
        <p:nvPicPr>
          <p:cNvPr id="9" name="slide0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Đại từ chỉ định (nơi chốn)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ở đó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这里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zhèlǐ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ở đây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那里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nàlǐ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chỗ đó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这边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zhèbian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bên này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那边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nàbian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đằng kia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我在这儿，你呢？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zài zhèr, nǐ ne?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ở đây, còn bạn?</a:t>
            </a:r>
          </a:p>
        </p:txBody>
      </p:sp>
      <p:pic>
        <p:nvPicPr>
          <p:cNvPr id="9" name="slide0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Đại từ nghi vấn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shéi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什么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shénme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gì, cái gì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哪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nǎ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哪个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nǎge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cái nào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哪些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nǎxiē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những cái nào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哪里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nǎlǐ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chỗ nào, đâu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什么时候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shénme shíhou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khi nào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怎么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zěnme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thế nào, làm sao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怎么样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zěnmeyàng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thế nào, ra sao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81328"/>
            <a:ext cx="3840478" cy="25577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0255"/>
            <a:ext cx="3840480" cy="2251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这是谁？叫什么名字？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shéi? Jiào shénme míngzi?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ai vậy? Tên là gì?</a:t>
            </a:r>
          </a:p>
        </p:txBody>
      </p:sp>
      <p:pic>
        <p:nvPicPr>
          <p:cNvPr id="9" name="slide0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Gia đình ruột thịt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爸爸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bàba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bố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妈妈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māma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哥哥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gēge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anh trai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妹妹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mèimei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em gái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弟弟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dìdi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em trai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儿子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érzi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con trai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女儿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nǚ'ér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con gái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家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nhà, gia đình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家人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jiārén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người nhà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181" y="1481328"/>
            <a:ext cx="3511398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你家有几口人？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jiā yǒu jǐ kǒu rén?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Nhà bạn có mấy người?</a:t>
            </a:r>
          </a:p>
        </p:txBody>
      </p:sp>
      <p:pic>
        <p:nvPicPr>
          <p:cNvPr id="9" name="slide0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Tình cảm &amp; giới tính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女朋友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nǚpéngyou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gái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男朋友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nánpéngyou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trai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多大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duō dà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bao nhiêu tuổi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女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nǚ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nữ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男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nán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nam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5615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4066"/>
            <a:ext cx="3840480" cy="224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我有一些好朋友，男的女的都有。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yǒu yìxiē hǎo péngyou, nán de nǚ de dōu yǒu.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có một nhóm bạn thân, nam nữ đều có.</a:t>
            </a:r>
          </a:p>
        </p:txBody>
      </p:sp>
      <p:pic>
        <p:nvPicPr>
          <p:cNvPr id="9" name="slide1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Vai trò - học đường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学生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xuésheng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 sinh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老师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lǎoshī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giáo viên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同学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tóngxué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王老师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Wáng lǎoshī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cô/thầy Vương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小学生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xiǎoxuéshēng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 sinh tiểu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中学生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zhōngxuéshēng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 sinh trung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大学生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dàxuéshēng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sinh viên đại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我是中学生，我哥哥是大学生。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shì zhōngxuéshēng, wǒ gēge shì dàxuéshēng.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là học sinh trung học, anh trai tôi là sinh viên đại học.</a:t>
            </a:r>
          </a:p>
        </p:txBody>
      </p:sp>
      <p:pic>
        <p:nvPicPr>
          <p:cNvPr id="9" name="slide1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Vai trò - dịch vụ &amp; y tế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医生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yīshēng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bác sĩ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服务员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fúwùyuán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nhân viên phục vụ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售货员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shòuhuòyuán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nhân viên bán hàng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女士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nǚshì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quý bà, cô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朋友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péngyou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bạn bè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小朋友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xiǎopéngyou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em nhỏ, bạn nhỏ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医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 (ngành y)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3921" y="1481328"/>
            <a:ext cx="2049918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医生，小朋友生病了。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Yīshēng, xiǎopéngyou shēngbìng le.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Bác sĩ ơi, em bé bị ốm rồi.</a:t>
            </a:r>
          </a:p>
        </p:txBody>
      </p:sp>
      <p:pic>
        <p:nvPicPr>
          <p:cNvPr id="9" name="slide12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Lượng từ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个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cái (lượng từ vạn năng)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口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kǒu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lượng từ đếm người trong nhà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只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lượng từ (con — cho động vật)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件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lượng từ (bộ/chiếc quần áo)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杯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bēi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cốc (lượng từ)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斤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jīn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cân (~500g)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我要两个苹果，两斤水果。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yào liǎng ge píngguǒ, liǎng jīn shuǐguǒ.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muốn hai quả táo, hai cân hoa quả.</a:t>
            </a:r>
          </a:p>
        </p:txBody>
      </p:sp>
      <p:pic>
        <p:nvPicPr>
          <p:cNvPr id="9" name="slide1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Số &amp; tiền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kuài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đồng (đơn vị tiền)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元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yuán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đồng (nguyên)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半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nửa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多少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duōshao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bao nhiêu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jǐ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mấy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两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liǎng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hai (trước lượng từ)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钱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qián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tiền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thứ (số thứ tự)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这件衣服多少钱？两块钱。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jiàn yīfu duōshao qián? Liǎng kuài qián.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Cái áo này bao nhiêu tiền? Hai đồng.</a:t>
            </a:r>
          </a:p>
        </p:txBody>
      </p:sp>
      <p:pic>
        <p:nvPicPr>
          <p:cNvPr id="9" name="slide1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Giờ giấc trong ngày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现在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xiànzài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bây giờ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diǎn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giờ (thời điểm)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分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fēn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phút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分钟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fēnzhōng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phút (khoảng thời gian)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早上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zǎoshang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buổi sáng sớm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843" y="1481328"/>
            <a:ext cx="2330073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现在几点？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Xiànzài jǐ diǎn?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Bây giờ mấy giờ?</a:t>
            </a:r>
          </a:p>
        </p:txBody>
      </p:sp>
      <p:pic>
        <p:nvPicPr>
          <p:cNvPr id="9" name="slide1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Giờ giấc trong ngày (buổi &amp; sớm/muộn)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上午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shàngwǔ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buổi sáng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下午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xiàwǔ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buổi chiều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白天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báitiān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ban ngày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晚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wǎn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muộn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zǎo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sớm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2816"/>
            <a:ext cx="3840480" cy="22494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白天我上课，我很早起床。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Báitiān wǒ shàngkè, wǒ hěn zǎo qǐchuáng.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Ban ngày tôi đi học, tôi dậy rất sớm.</a:t>
            </a:r>
          </a:p>
        </p:txBody>
      </p:sp>
      <p:pic>
        <p:nvPicPr>
          <p:cNvPr id="9" name="slide1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Mốc thời gian &amp; trạng từ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几号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jǐ hào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ngày mấy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星期几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xīngqī jǐ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thứ mấy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明年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míngnián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năm sau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去年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qùnián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năm ngoái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小时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xiǎoshí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giờ (thời lượng)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时间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shíjiān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thời gian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正在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zhèngzài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đang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再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rồi, sau đó mới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5615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4066"/>
            <a:ext cx="3840480" cy="224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现在几号？星期几？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Xiànzài jǐ hào? Xīngqī jǐ?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Hôm nay ngày mấy? Thứ mấy?</a:t>
            </a:r>
          </a:p>
        </p:txBody>
      </p:sp>
      <p:pic>
        <p:nvPicPr>
          <p:cNvPr id="9" name="slide1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Nơi chốn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超市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chāoshì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siêu thị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商店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shāngdiàn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cửa hàng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医院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yīyuàn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bệnh viện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电影院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diànyǐngyuàn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rạp chiếu phim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diàn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cửa hàng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房间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fángjiān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phòng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机场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jīchǎng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sân bay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大兴机场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Dàxīng Jīchǎng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Sân bay Đại Hưng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西安饭店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Xī'ān Fàndiàn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Nhà hàng Tây 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81328"/>
            <a:ext cx="3840478" cy="274234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424838"/>
            <a:ext cx="3840480" cy="20674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医院在哪里？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Yīyuàn zài nǎlǐ?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Bệnh viện ở đâu?</a:t>
            </a:r>
          </a:p>
        </p:txBody>
      </p:sp>
      <p:pic>
        <p:nvPicPr>
          <p:cNvPr id="9" name="slide1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Quốc gia &amp; ngôn ngữ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Zhōngguó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Trung Quốc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法国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Fǎguó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Pháp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泰国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Tàiguó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Thái Lan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中文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Zhōngwén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tiếng Trung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汉语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Hànyǔ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tiếng Trung (tiếng nói)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Hànzì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chữ Hán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西安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Xī'ān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Tây 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北京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Běijīng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(riêng) Bắc Kinh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人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rén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người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4003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082796"/>
            <a:ext cx="3840480" cy="2409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你是哪国人？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shì nǎ guó rén?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là người nước nào?</a:t>
            </a:r>
          </a:p>
        </p:txBody>
      </p:sp>
      <p:pic>
        <p:nvPicPr>
          <p:cNvPr id="9" name="slide1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Phương hướng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前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qián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trước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下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dưới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外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ngoài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前边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qiánbian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phía trước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外边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wàibian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bên ngoài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后边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hòubian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phía sau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边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bian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hậu tố chỉ phía/bên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4828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165306"/>
            <a:ext cx="3840480" cy="23269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妹妹坐在前边，弟弟坐在后边。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Mèimei zuò zài qiánbian, dìdi zuò zài hòubian.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Em gái ngồi phía trước, em trai ngồi phía sau.</a:t>
            </a:r>
          </a:p>
        </p:txBody>
      </p:sp>
      <p:pic>
        <p:nvPicPr>
          <p:cNvPr id="9" name="slide2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Đồ vật &amp; con vật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桌子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zhuōzi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cái bàn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杯子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bēizi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cái cốc/ly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衣服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yīfu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quần áo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电脑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diànnǎo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máy tính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电视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diànshì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tivi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手机号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shǒujīhào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số điện thoại di động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māo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mèo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狗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gǒu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chó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6515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334077"/>
            <a:ext cx="3840480" cy="2158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你家有几只狗，几只猫？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jiā yǒu jǐ zhī gǒu, jǐ zhī māo?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Nhà bạn có mấy con chó, mấy con mèo?</a:t>
            </a:r>
          </a:p>
        </p:txBody>
      </p:sp>
      <p:pic>
        <p:nvPicPr>
          <p:cNvPr id="9" name="slide2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Giao thông &amp; di chuyển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chē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xe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开车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kāichē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lái xe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出租车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chūzūchē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taxi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火车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huǒchē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tàu hỏa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飞机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fēijī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máy bay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zuò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ngồi, đi (bằng xe)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住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zhù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ở, sống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到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đến, tới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9365" y="1481328"/>
            <a:ext cx="2059029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我不会开车，坐车上学。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bú huì kāichē, zuò chē shàngxué.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không biết lái xe, đi xe đến trường.</a:t>
            </a:r>
          </a:p>
        </p:txBody>
      </p:sp>
      <p:pic>
        <p:nvPicPr>
          <p:cNvPr id="9" name="slide22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Đồ ăn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米饭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mǐfàn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cơm (gạo)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饭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cơm, bữa ăn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菜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món ăn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面包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miànbāo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bánh mì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鸡蛋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jīdàn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trứng gà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包子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bāozi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bánh bao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晚饭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wǎnfàn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cơm tối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午饭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wǔfàn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cơm trưa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5615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4066"/>
            <a:ext cx="3840480" cy="224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午饭你想吃什么？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Wǔfàn nǐ xiǎng chī shénme?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Bữa trưa bạn muốn ăn gì?</a:t>
            </a:r>
          </a:p>
        </p:txBody>
      </p:sp>
      <p:pic>
        <p:nvPicPr>
          <p:cNvPr id="9" name="slide2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Trái cây &amp; đồ uống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水果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shuǐguǒ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hoa quả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苹果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píngguǒ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táo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牛奶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niúnǎi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sữa bò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茶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chá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水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shuǐ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nước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我想喝茶，也想吃水果。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xiǎng hē chá, yě xiǎng chī shuǐguǒ.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muốn uống trà, cũng muốn ăn hoa quả.</a:t>
            </a:r>
          </a:p>
        </p:txBody>
      </p:sp>
      <p:pic>
        <p:nvPicPr>
          <p:cNvPr id="9" name="slide2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Động từ ăn uống &amp; mua sắm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吃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ăn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喝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hē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uống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买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mǎi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mua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卖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mài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bán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chuān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mặc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做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zuò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làm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18" y="1481328"/>
            <a:ext cx="3832924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你想买什么？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xiǎng mǎi shénme?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muốn mua gì?</a:t>
            </a:r>
          </a:p>
        </p:txBody>
      </p:sp>
      <p:pic>
        <p:nvPicPr>
          <p:cNvPr id="9" name="slide2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Phó từ mức độ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一些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yìxiē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một số, vài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一下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yíxià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một chút, thử xem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一点儿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yìdiǎnr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một chút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有点儿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yǒudiǎnr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hơi, có chút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非常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fēicháng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rất, vô cùng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zhēn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thật là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62636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很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hěn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rất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6515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334077"/>
            <a:ext cx="3840480" cy="2158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这个，我要看一下。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Zhège, wǒ yào kàn yíxià.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Cái này, để tôi xem một chút.</a:t>
            </a:r>
          </a:p>
        </p:txBody>
      </p:sp>
      <p:pic>
        <p:nvPicPr>
          <p:cNvPr id="9" name="slide2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Tính từ kích thước &amp; giá cả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to, lớn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小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xiǎo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nhỏ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多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duō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nhiều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少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shǎo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ít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便宜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piányi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rẻ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新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xīn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mới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1503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832847"/>
            <a:ext cx="3840480" cy="2659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这个大，那个小，哪个便宜？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Zhège dà, nàge xiǎo, nǎge piányi?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Cái này to, cái kia nhỏ, cái nào rẻ?</a:t>
            </a:r>
          </a:p>
        </p:txBody>
      </p:sp>
      <p:pic>
        <p:nvPicPr>
          <p:cNvPr id="9" name="slide2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Tính từ mô tả tích cực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hǎokàn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đẹp, dễ nhìn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漂亮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piàoliang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đẹp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好吃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hǎochī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ngon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hǎotīng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hay (nghe)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好玩儿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hǎowánr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vui, thú vị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5217" y="1481328"/>
            <a:ext cx="2467326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这里很好玩儿，也很漂亮。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Zhèlǐ hěn hǎowánr, yě hěn piàoliang.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Ở đây rất vui, cũng rất đẹp.</a:t>
            </a:r>
          </a:p>
        </p:txBody>
      </p:sp>
      <p:pic>
        <p:nvPicPr>
          <p:cNvPr id="9" name="slide2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Cảm xúc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hǎo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tốt, khỏe, ổn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高兴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gāoxìng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vui, mừng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喜欢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xǐhuan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thích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爱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ài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yêu, thích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觉得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juéde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cảm thấy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认识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rènshi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quen biết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5615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4066"/>
            <a:ext cx="3840480" cy="224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你觉得怎么样？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juéde zěnmeyàng?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thấy thế nào?</a:t>
            </a:r>
          </a:p>
        </p:txBody>
      </p:sp>
      <p:pic>
        <p:nvPicPr>
          <p:cNvPr id="9" name="slide2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Động từ hành động (nghe/nói/đọc/viết)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看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xem, nhìn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tīng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写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xiě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viết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读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dú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học, theo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说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shuō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nói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问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wèn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hỏi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对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duì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đối với, hướng về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知道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zhīdào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biết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01091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tên là, gọi là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老师说，请你们读这个。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Lǎoshī shuō, qǐng nǐmen dú zhège.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Giáo viên nói: mời các em đọc cái này.</a:t>
            </a:r>
          </a:p>
        </p:txBody>
      </p:sp>
      <p:pic>
        <p:nvPicPr>
          <p:cNvPr id="9" name="slide30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Động từ hành động khác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唱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chàng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hát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歌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gē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bài hát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听见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tīngjiàn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nghe thấy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看见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kànjiàn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nhìn thấy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玩儿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wánr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chơi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打电话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dǎ diànhuà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gọi điện thoại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回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huí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về, trở về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jiàn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gặp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19389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3621488"/>
            <a:ext cx="3840480" cy="2870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弟弟在学唱歌，没听见我打电话。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Dìdi zài xué chàng gē, méi tīngjiàn wǒ dǎ diànhuà.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Em trai đang học hát, không nghe thấy tôi gọi điện.</a:t>
            </a:r>
          </a:p>
        </p:txBody>
      </p:sp>
      <p:pic>
        <p:nvPicPr>
          <p:cNvPr id="9" name="slide31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Trợ động từ &amp; phủ định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想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xiǎng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muốn, định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会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huì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biết (do học mà có)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néng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có thể (năng lực/điều kiện)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可以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kěyǐ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có thể, được phép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要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yào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muốn, định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没有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méiyǒu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không có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没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méi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chưa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556768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不要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búyào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đừng, không được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2786" y="1481328"/>
            <a:ext cx="2072187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我不会写这个，你能看一下吗？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bú huì xiě zhège, nǐ néng kàn yíxià ma?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không biết viết cái này, bạn xem giúp được không?</a:t>
            </a:r>
          </a:p>
        </p:txBody>
      </p:sp>
      <p:pic>
        <p:nvPicPr>
          <p:cNvPr id="9" name="slide32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Học tập &amp; trường lớp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上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shàng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bắt đầu (đi học/lên lớp)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上课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shàngkè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lên lớp,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下课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xiàkè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tan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上学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shàngxué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đi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读书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dúshū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đọc sách, đi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81328"/>
            <a:ext cx="3840478" cy="25488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31334"/>
            <a:ext cx="3840480" cy="2260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你几点上课？几点下课？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jǐ diǎn shàngkè? Jǐ diǎn xiàkè?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mấy giờ vào học? Mấy giờ tan học?</a:t>
            </a:r>
          </a:p>
        </p:txBody>
      </p:sp>
      <p:pic>
        <p:nvPicPr>
          <p:cNvPr id="9" name="slide33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Học tập (bậc học)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xué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课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kè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tiết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中学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zhōngxué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trung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小学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xiǎoxué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tiểu học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大学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dàxué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đại học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81328"/>
            <a:ext cx="3840478" cy="2335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017507"/>
            <a:ext cx="3840480" cy="24747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这个课，小学生、中学生、大学生都可以上。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Zhège kè, xiǎoxuéshēng, zhōngxuéshēng, dàxuéshēng dōu kěyǐ shàng.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Khóa học này, học sinh tiểu học, trung học, sinh viên đại học đều có thể học.</a:t>
            </a:r>
          </a:p>
        </p:txBody>
      </p:sp>
      <p:pic>
        <p:nvPicPr>
          <p:cNvPr id="9" name="slide34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Công việc &amp; nghỉ ngơi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工作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gōngzuò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công việc, làm việc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下班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xiàbān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tan làm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休息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xiūxi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nghỉ ngơi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起床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qǐchuáng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ngủ dậy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睡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shuì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ngủ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765" y="1481328"/>
            <a:ext cx="2218230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你几点起床？几点休息？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Nǐ jǐ diǎn qǐchuáng? Jǐ diǎn xiūxi?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Bạn mấy giờ ngủ dậy? Mấy giờ nghỉ?</a:t>
            </a:r>
          </a:p>
        </p:txBody>
      </p:sp>
      <p:pic>
        <p:nvPicPr>
          <p:cNvPr id="9" name="slide35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Thời tiết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天气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tiānqì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thời tiết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天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tiān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trời; ngày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下雨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xiàyǔ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mưa (động từ)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雨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yǔ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mưa (danh từ)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冷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lěng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lạnh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715844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热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rè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nóng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79" cy="256157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44066"/>
            <a:ext cx="3840480" cy="224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这里天气太热了，真想下雨。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Zhèlǐ tiānqì tài rè le, zhēn xiǎng xiàyǔ.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Ở đây thời tiết nóng quá, thật muốn trời mưa.</a:t>
            </a:r>
          </a:p>
        </p:txBody>
      </p:sp>
      <p:pic>
        <p:nvPicPr>
          <p:cNvPr id="9" name="slide36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Sức khỏe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100218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100218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生病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shēngbìng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bị bệnh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100218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看病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kànbìng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khám bệnh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100218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病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bìng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bệnh, ốm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100218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药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yào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thuốc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3843" y="1481328"/>
            <a:ext cx="2330073" cy="310676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789261"/>
            <a:ext cx="3840480" cy="170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小朋友生病了，要看病吃药。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Xiǎopéngyou shēngbìng le, yào kànbìng chī yào.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Em nhỏ bị ốm rồi, cần đi khám và uống thuốc.</a:t>
            </a:r>
          </a:p>
        </p:txBody>
      </p:sp>
      <p:pic>
        <p:nvPicPr>
          <p:cNvPr id="9" name="slide37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Liên từ nhẹ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和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hé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và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也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yě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cũng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都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dōu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đều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呢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ne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trợ từ hỏi rút gọn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吧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ba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trợ từ đề nghị/thương lượng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1" y="1481328"/>
            <a:ext cx="3840478" cy="25503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232814"/>
            <a:ext cx="3840480" cy="2259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我和小明都喜欢读书，你呢？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Wǒ hé Xiǎo Míng dōu xǐhuan dúshū, nǐ ne?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Tôi và Tiểu Minh đều thích đọc sách, còn bạn?</a:t>
            </a:r>
          </a:p>
        </p:txBody>
      </p:sp>
      <p:pic>
        <p:nvPicPr>
          <p:cNvPr id="9" name="slide38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07008"/>
          </a:xfrm>
          <a:prstGeom prst="rect">
            <a:avLst/>
          </a:prstGeom>
          <a:solidFill>
            <a:srgbClr val="8E2B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46304"/>
            <a:ext cx="1371600" cy="384048"/>
          </a:xfrm>
          <a:prstGeom prst="roundRect">
            <a:avLst/>
          </a:prstGeom>
          <a:solidFill>
            <a:srgbClr val="5F16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生词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94415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Calibri"/>
                <a:ea typeface="Microsoft YaHei"/>
                <a:cs typeface="Microsoft YaHei"/>
              </a:rPr>
              <a:t>Trợ từ &amp; giới từ ngữ pháp lõi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754880" y="1481328"/>
          <a:ext cx="6888174" cy="5010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925"/>
                <a:gridCol w="2479743"/>
                <a:gridCol w="2617506"/>
              </a:tblGrid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汉字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Pinyin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Nghĩa</a:t>
                      </a:r>
                    </a:p>
                  </a:txBody>
                  <a:tcPr anchor="ctr" marL="127000" marR="101600" marT="38100" marB="38100">
                    <a:solidFill>
                      <a:srgbClr val="8E2B20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的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de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trợ từ sở hữu/định ngữ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那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nà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vậy thì, thế thì (liên từ)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了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le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trợ từ chỉ sự thay đổi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是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shì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là</a:t>
                      </a:r>
                    </a:p>
                  </a:txBody>
                  <a:tcPr anchor="ctr" marL="127000" marR="101600" marT="38100" marB="38100">
                    <a:solidFill>
                      <a:srgbClr val="F4F5F7"/>
                    </a:solidFill>
                  </a:tcPr>
                </a:tc>
              </a:tr>
              <a:tr h="835152">
                <a:tc>
                  <a:txBody>
                    <a:bodyPr wrap="square"/>
                    <a:lstStyle/>
                    <a:p>
                      <a:pPr algn="ctr"/>
                      <a:r>
                        <a:rPr sz="2300" b="1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在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1">
                          <a:solidFill>
                            <a:srgbClr val="8E2B20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zài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0" i="0">
                          <a:solidFill>
                            <a:srgbClr val="1F2933"/>
                          </a:solidFill>
                          <a:latin typeface="Calibri"/>
                          <a:ea typeface="Microsoft YaHei"/>
                          <a:cs typeface="Microsoft YaHei"/>
                        </a:rPr>
                        <a:t>ở, tại</a:t>
                      </a:r>
                    </a:p>
                  </a:txBody>
                  <a:tcPr anchor="ctr" marL="127000" marR="101600"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v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81328"/>
            <a:ext cx="3840480" cy="2880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562856"/>
            <a:ext cx="3840480" cy="1929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例句  </a:t>
            </a:r>
            <a:r>
              <a:rPr sz="1500" b="1" i="0">
                <a:solidFill>
                  <a:srgbClr val="1F2933"/>
                </a:solidFill>
                <a:latin typeface="Calibri"/>
                <a:ea typeface="Microsoft YaHei"/>
                <a:cs typeface="Microsoft YaHei"/>
              </a:rPr>
              <a:t>这是我家，现在大家都在房间。</a:t>
            </a:r>
          </a:p>
          <a:p>
            <a:pPr>
              <a:spcBef>
                <a:spcPts val="300"/>
              </a:spcBef>
            </a:pPr>
            <a:r>
              <a:rPr sz="1100" b="0" i="1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Zhè shì wǒ jiā, xiànzài dàjiā dōu zài fángjiān.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Đây là nhà tôi, hiện tại mọi người đều đang ở trong phòng.</a:t>
            </a:r>
          </a:p>
        </p:txBody>
      </p:sp>
      <p:pic>
        <p:nvPicPr>
          <p:cNvPr id="9" name="slide39.mp3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076127" y="320040"/>
            <a:ext cx="566928" cy="566928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377440"/>
            <a:ext cx="11094415" cy="2103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 i="0">
                <a:solidFill>
                  <a:srgbClr val="8E2B20"/>
                </a:solidFill>
                <a:latin typeface="Calibri"/>
                <a:ea typeface="Microsoft YaHei"/>
                <a:cs typeface="Microsoft YaHei"/>
              </a:rPr>
              <a:t>复习完成</a:t>
            </a:r>
          </a:p>
          <a:p>
            <a:pPr algn="ctr">
              <a:spcBef>
                <a:spcPts val="1000"/>
              </a:spcBef>
            </a:pPr>
            <a:r>
              <a:rPr sz="1800" b="0" i="0">
                <a:solidFill>
                  <a:srgbClr val="6B7683"/>
                </a:solidFill>
                <a:latin typeface="Calibri"/>
                <a:ea typeface="Microsoft YaHei"/>
                <a:cs typeface="Microsoft YaHei"/>
              </a:rPr>
              <a:t>Đã ôn xong từ vựng theo chủ đề (phần 2/2) → sẵn sàng thi HSK1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