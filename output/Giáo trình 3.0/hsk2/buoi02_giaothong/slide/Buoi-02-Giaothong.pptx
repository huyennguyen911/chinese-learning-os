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26.mp3" ContentType="audio/mpeg"/>
  <Override PartName="/ppt/media/media27.mp3" ContentType="audio/mpeg"/>
  <Override PartName="/ppt/media/media28.mp3" ContentType="audio/mpeg"/>
  <Override PartName="/ppt/media/media29.mp3" ContentType="audio/mpeg"/>
  <Override PartName="/ppt/media/media3.mp3" ContentType="audio/mpeg"/>
  <Override PartName="/ppt/media/media30.mp3" ContentType="audio/mpeg"/>
  <Override PartName="/ppt/media/media31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3"/><Relationship Id="rId3" Type="http://schemas.openxmlformats.org/officeDocument/2006/relationships/video" Target="../media/media5.mp3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3"/><Relationship Id="rId3" Type="http://schemas.openxmlformats.org/officeDocument/2006/relationships/video" Target="../media/media7.mp3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3"/><Relationship Id="rId3" Type="http://schemas.openxmlformats.org/officeDocument/2006/relationships/video" Target="../media/media9.mp3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15.mp3"/><Relationship Id="rId4" Type="http://schemas.openxmlformats.org/officeDocument/2006/relationships/video" Target="../media/media15.mp3"/><Relationship Id="rId5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microsoft.com/office/2007/relationships/media" Target="../media/media16.mp3"/><Relationship Id="rId4" Type="http://schemas.openxmlformats.org/officeDocument/2006/relationships/video" Target="../media/media16.mp3"/><Relationship Id="rId5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microsoft.com/office/2007/relationships/media" Target="../media/media17.mp3"/><Relationship Id="rId4" Type="http://schemas.openxmlformats.org/officeDocument/2006/relationships/video" Target="../media/media17.mp3"/><Relationship Id="rId5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microsoft.com/office/2007/relationships/media" Target="../media/media18.mp3"/><Relationship Id="rId4" Type="http://schemas.openxmlformats.org/officeDocument/2006/relationships/video" Target="../media/media18.mp3"/><Relationship Id="rId5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microsoft.com/office/2007/relationships/media" Target="../media/media19.mp3"/><Relationship Id="rId4" Type="http://schemas.openxmlformats.org/officeDocument/2006/relationships/video" Target="../media/media19.mp3"/><Relationship Id="rId5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microsoft.com/office/2007/relationships/media" Target="../media/media20.mp3"/><Relationship Id="rId4" Type="http://schemas.openxmlformats.org/officeDocument/2006/relationships/video" Target="../media/media20.mp3"/><Relationship Id="rId5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1.mp3"/><Relationship Id="rId3" Type="http://schemas.openxmlformats.org/officeDocument/2006/relationships/video" Target="../media/media21.mp3"/><Relationship Id="rId4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microsoft.com/office/2007/relationships/media" Target="../media/media22.mp3"/><Relationship Id="rId4" Type="http://schemas.openxmlformats.org/officeDocument/2006/relationships/video" Target="../media/media22.mp3"/><Relationship Id="rId5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microsoft.com/office/2007/relationships/media" Target="../media/media23.mp3"/><Relationship Id="rId4" Type="http://schemas.openxmlformats.org/officeDocument/2006/relationships/video" Target="../media/media23.mp3"/><Relationship Id="rId5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microsoft.com/office/2007/relationships/media" Target="../media/media24.mp3"/><Relationship Id="rId4" Type="http://schemas.openxmlformats.org/officeDocument/2006/relationships/video" Target="../media/media24.mp3"/><Relationship Id="rId5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25.mp3"/><Relationship Id="rId4" Type="http://schemas.openxmlformats.org/officeDocument/2006/relationships/video" Target="../media/media25.mp3"/><Relationship Id="rId5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microsoft.com/office/2007/relationships/media" Target="../media/media26.mp3"/><Relationship Id="rId4" Type="http://schemas.openxmlformats.org/officeDocument/2006/relationships/video" Target="../media/media26.mp3"/><Relationship Id="rId5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microsoft.com/office/2007/relationships/media" Target="../media/media27.mp3"/><Relationship Id="rId4" Type="http://schemas.openxmlformats.org/officeDocument/2006/relationships/video" Target="../media/media27.mp3"/><Relationship Id="rId5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microsoft.com/office/2007/relationships/media" Target="../media/media28.mp3"/><Relationship Id="rId4" Type="http://schemas.openxmlformats.org/officeDocument/2006/relationships/video" Target="../media/media28.mp3"/><Relationship Id="rId5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microsoft.com/office/2007/relationships/media" Target="../media/media29.mp3"/><Relationship Id="rId4" Type="http://schemas.openxmlformats.org/officeDocument/2006/relationships/video" Target="../media/media29.mp3"/><Relationship Id="rId5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0.mp3"/><Relationship Id="rId3" Type="http://schemas.openxmlformats.org/officeDocument/2006/relationships/video" Target="../media/media30.mp3"/><Relationship Id="rId4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1.mp3"/><Relationship Id="rId3" Type="http://schemas.openxmlformats.org/officeDocument/2006/relationships/video" Target="../media/media31.mp3"/><Relationship Id="rId4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66751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还是打车去北大吧</a:t>
            </a:r>
          </a:p>
          <a:p>
            <a:pPr algn="l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Háishi dǎchē qù Běidà ba — Hay là bắt taxi đến Bắc Đại đi</a:t>
            </a:r>
          </a:p>
        </p:txBody>
      </p:sp>
      <p:pic>
        <p:nvPicPr>
          <p:cNvPr id="4" name="Picture 3" descr="camp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1934751"/>
            <a:ext cx="4480560" cy="29884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今天学什么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固定格式「还是……吧」— đề nghị phương án tốt hơn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用「多」表达概数 — số lượng phỏng chừng (hơn/mấy)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动词/主谓短语作定语 — cụm động từ làm định ngữ (thêm 的)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Chủ đề: hỏi đường/bắt taxi, tham quan trường, đề nghị lựa chọn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公交车</a:t>
            </a:r>
          </a:p>
        </p:txBody>
      </p:sp>
      <p:pic>
        <p:nvPicPr>
          <p:cNvPr id="6" name="Picture 5" descr="gongjiaoc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9996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公交车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gōngjiāochē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xe buýt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这儿有到北京大学的公交车吗？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Zhèr yǒu dào Běijīng Dàxué de gōngjiāochē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Ở đây có xe buýt đến ĐH Bắc Kinh không?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附近有公交车站吗？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Fùjìn yǒu gōngjiāo chēzhàn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Gần đây có trạm xe buýt không?</a:t>
            </a:r>
          </a:p>
        </p:txBody>
      </p:sp>
      <p:pic>
        <p:nvPicPr>
          <p:cNvPr id="9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公 = 八(bā, chia ra) + 厶(sī, riêng tư) → chia CÁI RIÊNG thành CHUNG → "công cộng"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车站</a:t>
            </a:r>
          </a:p>
        </p:txBody>
      </p:sp>
      <p:pic>
        <p:nvPicPr>
          <p:cNvPr id="6" name="Picture 5" descr="chezh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010622"/>
            <a:ext cx="3108960" cy="23104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车站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chēzhàn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trạm/bến 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有，但车站有点儿远。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Yǒu, dàn chēzhàn yǒudiǎnr yuǎn.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Có, nhưng trạm xe hơi xa.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公交车站在哪儿？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Gōngjiāo chēzhàn zài nǎr?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Trạm xe buýt ở đâu?</a:t>
            </a:r>
          </a:p>
        </p:txBody>
      </p:sp>
      <p:pic>
        <p:nvPicPr>
          <p:cNvPr id="9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站 = 立(lì, đứng) + 占(zhàn, chiếm chỗ) → nơi xe DỪNG đứng lại chờ khách → "trạm/bến"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远</a:t>
            </a:r>
          </a:p>
        </p:txBody>
      </p:sp>
      <p:pic>
        <p:nvPicPr>
          <p:cNvPr id="6" name="Picture 5" descr="yu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332655"/>
            <a:ext cx="3108960" cy="1666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远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yuǎn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车站有点儿远。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Chēzhàn yǒudiǎnr yuǎn.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Trạm xe hơi xa.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学校离我家不远。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Xuéxiào lí wǒ jiā bù yuǎn.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Trường cách nhà mình không xa.</a:t>
            </a:r>
          </a:p>
        </p:txBody>
      </p:sp>
      <p:pic>
        <p:nvPicPr>
          <p:cNvPr id="9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远 = 辶(chuò, bộ đi, liên quan DI CHUYỂN) → phải ĐI một quãng đường dài mới tới nơi → "xa"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打车</a:t>
            </a:r>
          </a:p>
        </p:txBody>
      </p:sp>
      <p:pic>
        <p:nvPicPr>
          <p:cNvPr id="6" name="Picture 5" descr="dac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291461"/>
            <a:ext cx="3108960" cy="17487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打车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dǎchē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bắt taxi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这儿好打车吗？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Zhèr hǎo dǎchē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Ở đây có dễ bắt taxi không?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我们还是打车去吧。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háishi dǎchē qù ba.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Chúng ta bắt taxi đi thôi.</a:t>
            </a:r>
          </a:p>
        </p:txBody>
      </p:sp>
      <p:pic>
        <p:nvPicPr>
          <p:cNvPr id="9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打 = 扌(shǒu, tay) + 丁(dīng, hình CÁI ĐINH) → tay cầm búa ĐÓNG ĐINH → "đánh, gõ" → 打车 = ngoắc gọi xe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但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conj.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nhưng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有，但车站有点儿远。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Yǒu, dàn chēzhàn yǒudiǎnr yuǎn.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Có, nhưng trạm xe hơi xa.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我很想去，但没有时间。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hěn xiǎng qù, dàn méiyǒu shíjiān.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Mình rất muốn đi, nhưng không có thời gian.</a:t>
            </a:r>
          </a:p>
        </p:txBody>
      </p:sp>
      <p:pic>
        <p:nvPicPr>
          <p:cNvPr id="8" name="slide0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但 = 亻(rén, người) + 旦(dàn, mặt trời mọc = bình minh) → nghĩa gốc "chỉ, duy nhất", sau dùng làm từ nối "nhưng"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还是</a:t>
            </a:r>
          </a:p>
        </p:txBody>
      </p:sp>
      <p:pic>
        <p:nvPicPr>
          <p:cNvPr id="6" name="Picture 5" descr="hai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11919"/>
            <a:ext cx="3108960" cy="21078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还是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adv./conj.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háishi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hay là; nên (chọn phương án tốt hơn)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我们还是打车去吧。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háishi dǎchē qù ba.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Chúng ta bắt taxi đi thôi.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还是别看电影了。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Háishi bié kàn diànyǐng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Thôi đừng xem phim nữa.</a:t>
            </a:r>
          </a:p>
        </p:txBody>
      </p:sp>
      <p:pic>
        <p:nvPicPr>
          <p:cNvPr id="9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还 = 辶(chuò, đi) + 不(bù, không) → đi mà chưa dứt hẳn, vẫn quay lại → "vẫn nên..."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啊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part.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trợ từ cuối câu (tán thưởng, đồng tình)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学校里人真多啊！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Xuéxiào lǐ rén zhēn duō a!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Trong trường đông người thật đấy!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是啊，电影院还不小。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Shì a, diànyǐngyuàn hái bù xiǎo.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Đúng vậy, rạp phim cũng không nhỏ.</a:t>
            </a:r>
          </a:p>
        </p:txBody>
      </p:sp>
      <p:pic>
        <p:nvPicPr>
          <p:cNvPr id="8" name="slide0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啊 = 口(kǒu, miệng, tiếng nói) + 阿(ā, đọc là "a") → tiếng thốt ra từ miệng đúng bằng "a" → trợ từ cảm thán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8/16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万</a:t>
            </a:r>
          </a:p>
        </p:txBody>
      </p:sp>
      <p:pic>
        <p:nvPicPr>
          <p:cNvPr id="6" name="Picture 5" descr="w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636058"/>
            <a:ext cx="3108960" cy="10595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万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num.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wàn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vạn (10.000)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北京大学有四万多名学生呢！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Běijīng Dàxué yǒu sìwàn duō míng xuéshēng ne!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ĐH Bắc Kinh có hơn bốn vạn sinh viên đấy!</a:t>
            </a:r>
          </a:p>
        </p:txBody>
      </p:sp>
      <p:pic>
        <p:nvPicPr>
          <p:cNvPr id="9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万 vốn là hình con BỌ CẠP (tượng hình) thời giáp cốt — giản thể nay chỉ còn 3 nét, nghĩa "vạn" (10.000)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名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m.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míng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(lượng từ chỉ người)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北京大学有四万多名学生。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Běijīng Dàxué yǒu sìwàn duō míng xuéshēng.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ĐH Bắc Kinh có hơn bốn vạn sinh viên.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网上还说有三千多名外国学生。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Wǎngshang hái shuō yǒu sānqiān duō míng wàiguó xuéshēng.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Trên mạng còn nói có hơn ba nghìn sinh viên nước ngoài.</a:t>
            </a:r>
          </a:p>
        </p:txBody>
      </p:sp>
      <p:pic>
        <p:nvPicPr>
          <p:cNvPr id="8" name="slide1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名 = 夕(xī, đêm tối) + 口(kǒu, miệng, gọi) → tối không thấy mặt phải GỌI TÊN → "tên"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10/16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网上</a:t>
            </a:r>
          </a:p>
        </p:txBody>
      </p:sp>
      <p:pic>
        <p:nvPicPr>
          <p:cNvPr id="6" name="Picture 5" descr="wangsh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30572"/>
            <a:ext cx="3108960" cy="20705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网上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wǎngshang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trên mạng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是网上说的。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Shì wǎngshang shuō de.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Là đọc trên mạng.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网上说这家饭馆很不错。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Wǎngshang shuō zhè jiā fànguǎn hěn búcuò.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Trên mạng nói quán ăn này khá ngon.</a:t>
            </a:r>
          </a:p>
        </p:txBody>
      </p:sp>
      <p:pic>
        <p:nvPicPr>
          <p:cNvPr id="9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网 vốn là hình vẽ CÁI LƯỚI (nét đan chéo như mắt lưới) → 网上 = "trên mạng"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11/16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外国</a:t>
            </a:r>
          </a:p>
        </p:txBody>
      </p:sp>
      <p:pic>
        <p:nvPicPr>
          <p:cNvPr id="6" name="Picture 5" descr="waigu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471" y="1611376"/>
            <a:ext cx="1939991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外国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wàiguó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nước ngoài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网上还说北京大学有三千多名外国学生。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Wǎngshang hái shuō Běijīng Dàxué yǒu sānqiān duō míng wàiguó xuéshēng.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Trên mạng còn nói ĐH Bắc Kinh có hơn ba nghìn sinh viên nước ngoài.</a:t>
            </a:r>
          </a:p>
        </p:txBody>
      </p:sp>
      <p:pic>
        <p:nvPicPr>
          <p:cNvPr id="9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外 = 夕(xī, đêm) + 卜(bǔ, bói) → BÓI TOÁN lúc đêm khuya, chuyện xa lạ → "bên ngoài"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12/16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间</a:t>
            </a:r>
          </a:p>
        </p:txBody>
      </p:sp>
      <p:pic>
        <p:nvPicPr>
          <p:cNvPr id="6" name="Picture 5" descr="j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29030"/>
            <a:ext cx="3108960" cy="20736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间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m.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(lượng từ chỉ phòng)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那边就有一间教室。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Nàbiān jiù yǒu yì jiān jiàoshì.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Đằng kia có một phòng học.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这间房间不大，但很干净。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 jiān fángjiān bú dà, dàn hěn gānjìng.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Phòng này không lớn, nhưng rất sạch sẽ.</a:t>
            </a:r>
          </a:p>
        </p:txBody>
      </p:sp>
      <p:pic>
        <p:nvPicPr>
          <p:cNvPr id="9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间 = 门(mén, cửa) + 日(rì, nắng) → ánh nắng lọt KHE cửa → "khoảng, gian" (đếm phòng)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13/16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教室</a:t>
            </a:r>
          </a:p>
        </p:txBody>
      </p:sp>
      <p:pic>
        <p:nvPicPr>
          <p:cNvPr id="6" name="Picture 5" descr="jiao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9996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教室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jiàoshì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phòng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那边就有一间教室，我们去看一下吧。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Nàbiān jiù yǒu yì jiān jiàoshì, wǒmen qù kàn yíxià ba.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Đằng kia có một phòng học, chúng ta đi xem thử đi.</a:t>
            </a:r>
          </a:p>
        </p:txBody>
      </p:sp>
      <p:pic>
        <p:nvPicPr>
          <p:cNvPr id="9" name="slide1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室 = 宀(mián, mái nhà) + 至(zhì, đến/tới) → nơi người ta ĐẾN rồi Ở lại → "phòng"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14/16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票</a:t>
            </a:r>
          </a:p>
        </p:txBody>
      </p:sp>
      <p:pic>
        <p:nvPicPr>
          <p:cNvPr id="6" name="Picture 5" descr="pi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9996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票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piào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他们卖的电影票也很便宜。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Tāmen mài de diànyǐngpiào yě hěn piányi.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Vé phim họ bán cũng rất rẻ.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电影票还不到二十块钱。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Diànyǐngpiào hái bú dào èrshí kuài qián.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Vé phim còn chưa đến hai mươi tệ.</a:t>
            </a:r>
          </a:p>
        </p:txBody>
      </p:sp>
      <p:pic>
        <p:nvPicPr>
          <p:cNvPr id="9" name="slide1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票 = 覀(xī, lửa) trên 示(shì, bàn thờ) → tục ĐỐT tiền giấy cúng → về sau = "vé, phiếu"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15/16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别</a:t>
            </a:r>
          </a:p>
        </p:txBody>
      </p:sp>
      <p:pic>
        <p:nvPicPr>
          <p:cNvPr id="6" name="Picture 5" descr="b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9996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别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bié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đừng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还是别看电影了。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Háishi bié kàn diànyǐng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Thôi đừng xem phim nữa.</a:t>
            </a:r>
          </a:p>
        </p:txBody>
      </p:sp>
      <p:pic>
        <p:nvPicPr>
          <p:cNvPr id="9" name="slide1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别 = 另(lìng, tách riêng) + 刂(dāo, dao) → dùng DAO tách RIÊNG ra → "khác biệt" → 别 (đừng) = tách khỏi việc đó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16/16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过来</a:t>
            </a:r>
          </a:p>
        </p:txBody>
      </p:sp>
      <p:pic>
        <p:nvPicPr>
          <p:cNvPr id="6" name="Picture 5" descr="guol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7337"/>
            <a:ext cx="3108960" cy="23370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过来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guòlái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đến đây, quay lại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我们有时间还想再过来看个电影。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yǒu shíjiān hái xiǎng zài guòlái kàn ge diànyǐng.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Khi có thời gian chúng tôi còn muốn quay lại xem phim.</a:t>
            </a:r>
          </a:p>
        </p:txBody>
      </p:sp>
      <p:pic>
        <p:nvPicPr>
          <p:cNvPr id="9" name="slide1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过 = 辶(chuò, bộ đi, liên quan DI CHUYỂN) → "đi qua, vượt qua" → 过来 = đi qua đây, quay lại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生词拓展 · 问路</a:t>
            </a:r>
          </a:p>
          <a:p>
            <a:pPr algn="ctr">
              <a:spcBef>
                <a:spcPts val="1000"/>
              </a:spcBef>
              <a:buNone/>
            </a:pPr>
            <a:r>
              <a:rPr sz="18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Hỏi đường — ngoài sách, theo yêu cầu 问路指路 của HSK2 chính thức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3931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怎么走</a:t>
            </a:r>
          </a:p>
        </p:txBody>
      </p:sp>
      <p:pic>
        <p:nvPicPr>
          <p:cNvPr id="6" name="Picture 5" descr="zenmez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9996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怎么走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phr.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zěnme zǒu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đi thế nào (câu hỏi đường kinh điển)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请问，去北京大学怎么走？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Qǐngwèn, qù Běijīng Dàxué zěnme zǒu?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Xin hỏi, đi ĐH Bắc Kinh thế nào ạ?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你知道电影院怎么走吗？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zhīdào diànyǐngyuàn zěnme zǒu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biết đi rạp phim thế nào không?</a:t>
            </a:r>
          </a:p>
        </p:txBody>
      </p:sp>
      <p:pic>
        <p:nvPicPr>
          <p:cNvPr id="9" name="slide3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走 = 土(tǔ, người) + 止(zhǐ, chân) → NGƯỜI bước bằng CHÂN → "đi bộ" → 怎么走 = đi thế nào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3931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一直走</a:t>
            </a:r>
          </a:p>
        </p:txBody>
      </p:sp>
      <p:pic>
        <p:nvPicPr>
          <p:cNvPr id="6" name="Picture 5" descr="yizhiz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9996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一直走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phr.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yīzhí zǒu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đi thẳng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一直走，就到车站了。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Yīzhí zǒu, jiù dào chēzhàn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Đi thẳng là tới trạm xe.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你一直走，不用拐弯。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yīzhí zǒu, bú yòng guǎiwān.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cứ đi thẳng, không cần rẽ.</a:t>
            </a:r>
          </a:p>
        </p:txBody>
      </p:sp>
      <p:pic>
        <p:nvPicPr>
          <p:cNvPr id="9" name="slide3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直 = 目(mù, mắt) + 一(yī, đường thẳng) → mắt nhìn theo một đường KHÔNG lệch → "thẳng" → 一直走 = đi thẳng mãi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3931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拐</a:t>
            </a:r>
          </a:p>
        </p:txBody>
      </p:sp>
      <p:pic>
        <p:nvPicPr>
          <p:cNvPr id="6" name="Picture 5" descr="gu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拐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guǎi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rẽ, quẹo (左拐 rẽ trái · 右拐 rẽ phải)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到十字路口往右拐。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Dào shízì lùkǒu wǎng yòu guǎi.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Đến ngã tư thì rẽ phải.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前边左拐就是学校。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Qiánbian zuǒ guǎi jiù shì xuéxiào.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Phía trước rẽ trái là tới trường.</a:t>
            </a:r>
          </a:p>
        </p:txBody>
      </p:sp>
      <p:pic>
        <p:nvPicPr>
          <p:cNvPr id="9" name="slide3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拐 = 扌(shǒu, tay) + 另(lìng, tách khác) → dùng TAY kéo SANG hướng khác → "rẽ, quẹo"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3931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十字路口</a:t>
            </a:r>
          </a:p>
        </p:txBody>
      </p:sp>
      <p:pic>
        <p:nvPicPr>
          <p:cNvPr id="6" name="Picture 5" descr="shiziluk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9996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十字路口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shízì lùkǒu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ngã tư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十字路口有红绿灯。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Shízì lùkǒu yǒu hónglǜdēng.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Ở ngã tư có đèn giao thông.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到了十字路口，你往左拐。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Dàole shízì lùkǒu, nǐ wǎng zuǒ guǎi.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Đến ngã tư thì bạn rẽ trái.</a:t>
            </a:r>
          </a:p>
        </p:txBody>
      </p:sp>
      <p:pic>
        <p:nvPicPr>
          <p:cNvPr id="9" name="slide3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十字 = hình CHỮ THẬP (dấu +, như phép cộng) → 2 đường cắt nhau → "ngã tư"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3931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红绿灯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红绿灯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hónglǜdēng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đèn giao thông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看到红绿灯就到了。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Kàndào hónglǜdēng jiù dào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Thấy đèn giao thông là tới nơi.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红绿灯那儿有一个公交车站。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Hónglǜdēng nàr yǒu yí ge gōngjiāo chēzhàn.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Chỗ đèn giao thông có một trạm xe buýt.</a:t>
            </a:r>
          </a:p>
        </p:txBody>
      </p:sp>
      <p:pic>
        <p:nvPicPr>
          <p:cNvPr id="8" name="slide3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灯 = 火(huǒ, lửa) + 丁(dīng, hình CÂY NẾN đứng thẳng) → ngọn LỬA cháy trên đầu cây → "đèn" → 红绿灯 = đèn tín hiệu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3931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附近</a:t>
            </a:r>
          </a:p>
        </p:txBody>
      </p:sp>
      <p:pic>
        <p:nvPicPr>
          <p:cNvPr id="6" name="Picture 5" descr="fuj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29030"/>
            <a:ext cx="3108960" cy="20736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附近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fùjìn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gần đây, xung quanh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附近有公交车站吗？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Fùjìn yǒu gōngjiāo chēzhàn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Gần đây có trạm xe buýt không?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学校附近有电影院。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Xuéxiào fùjìn yǒu diànyǐngyuàn.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Gần trường có rạp chiếu phim.</a:t>
            </a:r>
          </a:p>
        </p:txBody>
      </p:sp>
      <p:pic>
        <p:nvPicPr>
          <p:cNvPr id="9" name="slide3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附 = 阝(fù, bộ liên quan GÒ ĐẤT/nơi chốn) → đứng sát ngay một nơi → "phụ cận, gần đây"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情景对话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问路 — Hỏi đường đến 中关村</a:t>
            </a:r>
          </a:p>
        </p:txBody>
      </p:sp>
      <p:pic>
        <p:nvPicPr>
          <p:cNvPr id="6" name="Picture 5" descr="shiziluk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11628"/>
            <a:ext cx="3840480" cy="2880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754880" y="1611376"/>
            <a:ext cx="3146425" cy="66701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请问，去中关村怎么走？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Qǐngwèn, qù Zhōngguāncūn zěnme zǒu?</a:t>
            </a:r>
          </a:p>
        </p:txBody>
      </p:sp>
      <p:sp>
        <p:nvSpPr>
          <p:cNvPr id="8" name="Oval 7"/>
          <p:cNvSpPr/>
          <p:nvPr/>
        </p:nvSpPr>
        <p:spPr>
          <a:xfrm>
            <a:off x="4581189" y="1495582"/>
            <a:ext cx="413549" cy="413549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05115" y="2375411"/>
            <a:ext cx="3837940" cy="66701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路人: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你一直走，到十字路口往右拐。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yīzhí zǒu, dào shízì lùkǒu wǎng yòu guǎi.</a:t>
            </a:r>
          </a:p>
        </p:txBody>
      </p:sp>
      <p:sp>
        <p:nvSpPr>
          <p:cNvPr id="10" name="Oval 9"/>
          <p:cNvSpPr/>
          <p:nvPr/>
        </p:nvSpPr>
        <p:spPr>
          <a:xfrm>
            <a:off x="11403196" y="2259617"/>
            <a:ext cx="413549" cy="413549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139446"/>
            <a:ext cx="1840230" cy="66701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右拐以后呢？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Yòu guǎi yǐhòu ne?</a:t>
            </a:r>
          </a:p>
        </p:txBody>
      </p:sp>
      <p:sp>
        <p:nvSpPr>
          <p:cNvPr id="12" name="Oval 11"/>
          <p:cNvSpPr/>
          <p:nvPr/>
        </p:nvSpPr>
        <p:spPr>
          <a:xfrm>
            <a:off x="4581189" y="3023652"/>
            <a:ext cx="413549" cy="413549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85385" y="3903481"/>
            <a:ext cx="6757670" cy="66701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路人: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右拐以后不远，附近就有红绿灯，你看到红绿灯就到了。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Yòu guǎi yǐhòu bù yuǎn, fùjìn jiù yǒu hónglǜdēng, nǐ kàndào hónglǜdēng jiù dào le.</a:t>
            </a:r>
          </a:p>
        </p:txBody>
      </p:sp>
      <p:sp>
        <p:nvSpPr>
          <p:cNvPr id="14" name="Oval 13"/>
          <p:cNvSpPr/>
          <p:nvPr/>
        </p:nvSpPr>
        <p:spPr>
          <a:xfrm>
            <a:off x="11403196" y="3787687"/>
            <a:ext cx="413549" cy="413549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667516"/>
            <a:ext cx="1737360" cy="66701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谢谢你！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Xièxie nǐ!</a:t>
            </a:r>
          </a:p>
        </p:txBody>
      </p:sp>
      <p:sp>
        <p:nvSpPr>
          <p:cNvPr id="16" name="Oval 15"/>
          <p:cNvSpPr/>
          <p:nvPr/>
        </p:nvSpPr>
        <p:spPr>
          <a:xfrm>
            <a:off x="4581189" y="4551722"/>
            <a:ext cx="413549" cy="413549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05695" y="5431551"/>
            <a:ext cx="1737360" cy="66701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路人: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不客气。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Bú kèqi.</a:t>
            </a:r>
          </a:p>
        </p:txBody>
      </p:sp>
      <p:sp>
        <p:nvSpPr>
          <p:cNvPr id="18" name="Oval 17"/>
          <p:cNvSpPr/>
          <p:nvPr/>
        </p:nvSpPr>
        <p:spPr>
          <a:xfrm>
            <a:off x="11403196" y="5315757"/>
            <a:ext cx="413549" cy="413549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路</a:t>
            </a:r>
          </a:p>
        </p:txBody>
      </p:sp>
      <p:pic>
        <p:nvPicPr>
          <p:cNvPr id="19" name="slide3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在宾馆前台 — hỏi đường, bắt taxi</a:t>
            </a:r>
          </a:p>
        </p:txBody>
      </p:sp>
      <p:pic>
        <p:nvPicPr>
          <p:cNvPr id="6" name="Picture 5" descr="recep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71023"/>
            <a:ext cx="3840480" cy="25615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754880" y="1611376"/>
            <a:ext cx="2174138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白家月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11898" y="1611376"/>
            <a:ext cx="2174138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服务员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8916" y="1611376"/>
            <a:ext cx="2174138" cy="365760"/>
          </a:xfrm>
          <a:prstGeom prst="roundRect">
            <a:avLst/>
          </a:prstGeom>
          <a:solidFill>
            <a:srgbClr val="FBF0D9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安妮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086864"/>
            <a:ext cx="2174138" cy="149961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请问，这儿有到北京大学的公交车吗？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Qǐngwèn, zhèr yǒu dào Běijīng Dàxué de gōngjiāochē ma?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11898" y="2086864"/>
            <a:ext cx="2174138" cy="122529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有，但车站有点儿远。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Yǒu, dàn chēzhàn yǒudiǎnr yuǎn.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659632"/>
            <a:ext cx="2174138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这儿好打车吗？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Zhèr hǎo dǎchē 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1898" y="3385312"/>
            <a:ext cx="2174138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4.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好打车。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dǎchē.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4409440"/>
            <a:ext cx="2174138" cy="122529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5.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谢谢。安妮，我们还是打车去吧。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Xièxie. Ānnī, wǒmen háishi dǎchē qù ba.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8916" y="2086864"/>
            <a:ext cx="2174138" cy="676656"/>
          </a:xfrm>
          <a:prstGeom prst="roundRect">
            <a:avLst/>
          </a:prstGeom>
          <a:solidFill>
            <a:srgbClr val="FBF0D9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6.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好，没问题。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Hǎo, méi wèntí.</a:t>
            </a:r>
          </a:p>
        </p:txBody>
      </p:sp>
      <p:pic>
        <p:nvPicPr>
          <p:cNvPr id="16" name="slide1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在北京大学 — tham quan, số liệu</a:t>
            </a:r>
          </a:p>
        </p:txBody>
      </p:sp>
      <p:pic>
        <p:nvPicPr>
          <p:cNvPr id="6" name="Picture 5" descr="camp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71023"/>
            <a:ext cx="3840480" cy="25615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754880" y="1611376"/>
            <a:ext cx="2454910" cy="63599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学校里人真多啊！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Xuéxiào lǐ rén zhēn duō a!</a:t>
            </a:r>
          </a:p>
        </p:txBody>
      </p:sp>
      <p:sp>
        <p:nvSpPr>
          <p:cNvPr id="8" name="Oval 7"/>
          <p:cNvSpPr/>
          <p:nvPr/>
        </p:nvSpPr>
        <p:spPr>
          <a:xfrm>
            <a:off x="4589268" y="1500968"/>
            <a:ext cx="394313" cy="39431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90435" y="2339873"/>
            <a:ext cx="4452620" cy="63599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是啊，北京大学有四万多名学生呢！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 a, Běijīng Dàxué yǒu sìwàn duō míng xuéshēng ne!</a:t>
            </a:r>
          </a:p>
        </p:txBody>
      </p:sp>
      <p:sp>
        <p:nvSpPr>
          <p:cNvPr id="10" name="Oval 9"/>
          <p:cNvSpPr/>
          <p:nvPr/>
        </p:nvSpPr>
        <p:spPr>
          <a:xfrm>
            <a:off x="11414353" y="2229465"/>
            <a:ext cx="394313" cy="394313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068370"/>
            <a:ext cx="2224405" cy="63599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你是怎么知道的？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shì zěnme zhīdào de?</a:t>
            </a:r>
          </a:p>
        </p:txBody>
      </p:sp>
      <p:sp>
        <p:nvSpPr>
          <p:cNvPr id="12" name="Oval 11"/>
          <p:cNvSpPr/>
          <p:nvPr/>
        </p:nvSpPr>
        <p:spPr>
          <a:xfrm>
            <a:off x="4589268" y="2957962"/>
            <a:ext cx="394313" cy="39431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796867"/>
            <a:ext cx="6888175" cy="867259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是网上说的，网上还说北京大学有三千多名外国学生。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 wǎngshang shuō de, wǎngshang hái shuō Běijīng Dàxué yǒu sānqiān duō míng wàiguó xuéshēng.</a:t>
            </a:r>
          </a:p>
        </p:txBody>
      </p:sp>
      <p:sp>
        <p:nvSpPr>
          <p:cNvPr id="14" name="Oval 13"/>
          <p:cNvSpPr/>
          <p:nvPr/>
        </p:nvSpPr>
        <p:spPr>
          <a:xfrm>
            <a:off x="11399093" y="3679092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756633"/>
            <a:ext cx="2531745" cy="63599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我也想来这儿学习。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yě xiǎng lái zhèr xuéxí.</a:t>
            </a:r>
          </a:p>
        </p:txBody>
      </p:sp>
      <p:sp>
        <p:nvSpPr>
          <p:cNvPr id="16" name="Oval 15"/>
          <p:cNvSpPr/>
          <p:nvPr/>
        </p:nvSpPr>
        <p:spPr>
          <a:xfrm>
            <a:off x="4589268" y="4646225"/>
            <a:ext cx="394313" cy="39431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36765" y="5485130"/>
            <a:ext cx="4606290" cy="63599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那边就有一间教室，我们去看一下吧。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Nàbiān jiù yǒu yì jiān jiàoshì, wǒmen qù kàn yíxià ba.</a:t>
            </a:r>
          </a:p>
        </p:txBody>
      </p:sp>
      <p:sp>
        <p:nvSpPr>
          <p:cNvPr id="18" name="Oval 17"/>
          <p:cNvSpPr/>
          <p:nvPr/>
        </p:nvSpPr>
        <p:spPr>
          <a:xfrm>
            <a:off x="11414353" y="5374722"/>
            <a:ext cx="394313" cy="394313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pic>
        <p:nvPicPr>
          <p:cNvPr id="19" name="slide2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电影院 — rạp phim trong trường</a:t>
            </a:r>
          </a:p>
        </p:txBody>
      </p:sp>
      <p:pic>
        <p:nvPicPr>
          <p:cNvPr id="6" name="Picture 5" descr="cine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66017"/>
            <a:ext cx="3840480" cy="25715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754880" y="1611376"/>
            <a:ext cx="4145280" cy="7391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家月，你看，学校里有家电影院！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Jiāyuè, nǐ kàn, xuéxiào lǐ yǒu jiā diànyǐngyuàn!</a:t>
            </a:r>
          </a:p>
        </p:txBody>
      </p:sp>
      <p:sp>
        <p:nvSpPr>
          <p:cNvPr id="8" name="Oval 7"/>
          <p:cNvSpPr/>
          <p:nvPr/>
        </p:nvSpPr>
        <p:spPr>
          <a:xfrm>
            <a:off x="457821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27135" y="2458010"/>
            <a:ext cx="2915920" cy="7391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是啊，电影院还不小。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 a, diànyǐngyuàn hái bù xiǎo.</a:t>
            </a:r>
          </a:p>
        </p:txBody>
      </p:sp>
      <p:sp>
        <p:nvSpPr>
          <p:cNvPr id="10" name="Oval 9"/>
          <p:cNvSpPr/>
          <p:nvPr/>
        </p:nvSpPr>
        <p:spPr>
          <a:xfrm>
            <a:off x="11399093" y="234023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304644"/>
            <a:ext cx="3530600" cy="7391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他们卖的电影票也很便宜。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Tāmen mài de diànyǐngpiào yě hěn piányi.</a:t>
            </a:r>
          </a:p>
        </p:txBody>
      </p:sp>
      <p:sp>
        <p:nvSpPr>
          <p:cNvPr id="12" name="Oval 11"/>
          <p:cNvSpPr/>
          <p:nvPr/>
        </p:nvSpPr>
        <p:spPr>
          <a:xfrm>
            <a:off x="4578217" y="318686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5620" y="4151278"/>
            <a:ext cx="3607435" cy="7391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天啊！有的还不到二十块钱。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Tiān a! Yǒude hái bú dào èrshí kuài qián.</a:t>
            </a:r>
          </a:p>
        </p:txBody>
      </p:sp>
      <p:sp>
        <p:nvSpPr>
          <p:cNvPr id="14" name="Oval 13"/>
          <p:cNvSpPr/>
          <p:nvPr/>
        </p:nvSpPr>
        <p:spPr>
          <a:xfrm>
            <a:off x="11399093" y="403350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997912"/>
            <a:ext cx="3530600" cy="7391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那你想不想去看个电影？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 nǐ xiǎng bu xiǎng qù kàn ge diànyǐng?</a:t>
            </a:r>
          </a:p>
        </p:txBody>
      </p:sp>
      <p:sp>
        <p:nvSpPr>
          <p:cNvPr id="16" name="Oval 15"/>
          <p:cNvSpPr/>
          <p:nvPr/>
        </p:nvSpPr>
        <p:spPr>
          <a:xfrm>
            <a:off x="4578217" y="4880137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06260" y="5844546"/>
            <a:ext cx="4836795" cy="7391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还是别看电影了，北京大学就很好看！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Háishi bié kàn diànyǐng le, Běijīng Dàxué jiù hěn hǎokàn!</a:t>
            </a:r>
          </a:p>
        </p:txBody>
      </p:sp>
      <p:sp>
        <p:nvSpPr>
          <p:cNvPr id="18" name="Oval 17"/>
          <p:cNvSpPr/>
          <p:nvPr/>
        </p:nvSpPr>
        <p:spPr>
          <a:xfrm>
            <a:off x="11399093" y="5726771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pic>
        <p:nvPicPr>
          <p:cNvPr id="19" name="slide2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白家月给陈天中发信息</a:t>
            </a:r>
          </a:p>
        </p:txBody>
      </p:sp>
      <p:pic>
        <p:nvPicPr>
          <p:cNvPr id="6" name="Picture 5" descr="tex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09" y="1611376"/>
            <a:ext cx="1561876" cy="15618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374420"/>
            <a:ext cx="11094415" cy="3117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①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北京大学很大，有四万多名学生。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Běijīng Dàxué hěn dà, yǒu sìwàn duō míng xuéshēng.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ĐH Bắc Kinh rất lớn, có hơn bốn vạn sinh viên.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②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学校很漂亮，里边还有家电影院，电影票也不贵，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Xuéxiào hěn piàoliang, lǐbian hái yǒu jiā diànyǐngyuàn, diànyǐngpiào yě bú guì,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Trường rất đẹp, bên trong còn có rạp chiếu phim, vé phim cũng không đắt,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③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我们有时间还想再过来看个电影。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yǒu shíjiān hái xiǎng zài guòlái kàn ge diànyǐng.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khi có thời gian chúng tôi còn muốn quay lại xem phim.</a:t>
            </a:r>
          </a:p>
        </p:txBody>
      </p:sp>
      <p:pic>
        <p:nvPicPr>
          <p:cNvPr id="8" name="slide2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固定格式「还是……吧」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Biểu thị lựa chọn nghiêng về một phương án, mang ý "làm thế này tốt hơn".</a:t>
            </a:r>
          </a:p>
          <a:p>
            <a:pPr>
              <a:spcBef>
                <a:spcPts val="339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Cấu trúc: 还是 + (chủ ngữ) + động từ... + 吧。</a:t>
            </a:r>
          </a:p>
          <a:p>
            <a:pPr>
              <a:spcBef>
                <a:spcPts val="1699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我们还是打车去吧。</a:t>
            </a:r>
          </a:p>
          <a:p>
            <a:pPr>
              <a:spcBef>
                <a:spcPts val="254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háishi dǎchē qù ba.</a:t>
            </a:r>
          </a:p>
          <a:p>
            <a:pPr>
              <a:spcBef>
                <a:spcPts val="254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ta bắt taxi đi thôi.</a:t>
            </a:r>
          </a:p>
          <a:p>
            <a:pPr>
              <a:spcBef>
                <a:spcPts val="1699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那件衣服很好看，还是买那件吧。</a:t>
            </a:r>
          </a:p>
          <a:p>
            <a:pPr>
              <a:spcBef>
                <a:spcPts val="254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 jiàn yīfu hěn hǎokàn, háishi mǎi nà jiàn ba.</a:t>
            </a:r>
          </a:p>
          <a:p>
            <a:pPr>
              <a:spcBef>
                <a:spcPts val="254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Cái áo đó đẹp lắm, mua cái đó đi.</a:t>
            </a:r>
          </a:p>
          <a:p>
            <a:pPr>
              <a:spcBef>
                <a:spcPts val="1699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你第一次去北京，还是找个人接你吧。</a:t>
            </a:r>
          </a:p>
          <a:p>
            <a:pPr>
              <a:spcBef>
                <a:spcPts val="254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dì-yī cì qù Běijīng, háishi zhǎo ge rén jiē nǐ ba.</a:t>
            </a:r>
          </a:p>
          <a:p>
            <a:pPr>
              <a:spcBef>
                <a:spcPts val="254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lần đầu đến Bắc Kinh, nên tìm người đón bạn thì hơn.</a:t>
            </a:r>
          </a:p>
          <a:p>
            <a:pPr>
              <a:spcBef>
                <a:spcPts val="1019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New HSK Course 2, Bài 2</a:t>
            </a:r>
          </a:p>
        </p:txBody>
      </p:sp>
      <p:pic>
        <p:nvPicPr>
          <p:cNvPr id="7" name="Picture 6" descr="deci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934445"/>
            <a:ext cx="4297680" cy="4234725"/>
          </a:xfrm>
          <a:prstGeom prst="rect">
            <a:avLst/>
          </a:prstGeom>
        </p:spPr>
      </p:pic>
      <p:pic>
        <p:nvPicPr>
          <p:cNvPr id="8" name="slide2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用「多」表达概数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「多」đứng sau số từ/số lượng từ, biểu thị có số lẻ (hơn/mấy).</a:t>
            </a:r>
          </a:p>
          <a:p>
            <a:pPr>
              <a:spcBef>
                <a:spcPts val="275"/>
              </a:spcBef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Số là bội số của 10 → 多 đứng NGAY SAU số từ (trước lượng từ): 四万多名.</a:t>
            </a:r>
          </a:p>
          <a:p>
            <a:pPr>
              <a:spcBef>
                <a:spcPts val="275"/>
              </a:spcBef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Số KHÔNG phải bội số của 10 → 多 đứng SAU lượng từ: 五块多钱.</a:t>
            </a:r>
          </a:p>
          <a:p>
            <a:pPr>
              <a:spcBef>
                <a:spcPts val="1375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北京大学有四万多名学生呢！</a:t>
            </a:r>
          </a:p>
          <a:p>
            <a:pPr>
              <a:spcBef>
                <a:spcPts val="20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Běijīng Dàxué yǒu sìwàn duō míng xuéshēng ne!</a:t>
            </a:r>
          </a:p>
          <a:p>
            <a:pPr>
              <a:spcBef>
                <a:spcPts val="20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ĐH Bắc Kinh có hơn bốn vạn sinh viên đấy!</a:t>
            </a:r>
          </a:p>
          <a:p>
            <a:pPr>
              <a:spcBef>
                <a:spcPts val="1375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教室里有二十多个学生。</a:t>
            </a:r>
          </a:p>
          <a:p>
            <a:pPr>
              <a:spcBef>
                <a:spcPts val="20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Jiàoshì lǐ yǒu èrshí duō ge xuésheng.</a:t>
            </a:r>
          </a:p>
          <a:p>
            <a:pPr>
              <a:spcBef>
                <a:spcPts val="20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Trong phòng học có hơn hai mươi học sinh.</a:t>
            </a:r>
          </a:p>
          <a:p>
            <a:pPr>
              <a:spcBef>
                <a:spcPts val="1375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这两个苹果五块多钱。</a:t>
            </a:r>
          </a:p>
          <a:p>
            <a:pPr>
              <a:spcBef>
                <a:spcPts val="20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liǎng ge píngguǒ wǔ kuài duō qián.</a:t>
            </a:r>
          </a:p>
          <a:p>
            <a:pPr>
              <a:spcBef>
                <a:spcPts val="20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Hai quả táo này hơn năm tệ.</a:t>
            </a:r>
          </a:p>
          <a:p>
            <a:pPr>
              <a:spcBef>
                <a:spcPts val="825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New HSK Course 2, Bài 2</a:t>
            </a:r>
          </a:p>
        </p:txBody>
      </p:sp>
      <p:pic>
        <p:nvPicPr>
          <p:cNvPr id="7" name="Picture 6" descr="coun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616" y="1611376"/>
            <a:ext cx="3241198" cy="4880864"/>
          </a:xfrm>
          <a:prstGeom prst="rect">
            <a:avLst/>
          </a:prstGeom>
        </p:spPr>
      </p:pic>
      <p:pic>
        <p:nvPicPr>
          <p:cNvPr id="8" name="slide2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动词/主谓短语作定语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Động từ, cụm động từ, hoặc cụm chủ-vị đứng trước danh từ để bổ nghĩa (đặc điểm/trạng thái).</a:t>
            </a:r>
          </a:p>
          <a:p>
            <a:pPr>
              <a:spcBef>
                <a:spcPts val="339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Bắt buộc có 「的」nối giữa cụm bổ nghĩa và danh từ trung tâm.</a:t>
            </a:r>
          </a:p>
          <a:p>
            <a:pPr>
              <a:spcBef>
                <a:spcPts val="1699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他们卖的电影票也很便宜。</a:t>
            </a:r>
          </a:p>
          <a:p>
            <a:pPr>
              <a:spcBef>
                <a:spcPts val="254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Tāmen mài de diànyǐngpiào yě hěn piányi.</a:t>
            </a:r>
          </a:p>
          <a:p>
            <a:pPr>
              <a:spcBef>
                <a:spcPts val="254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Vé phim họ bán cũng rất rẻ.</a:t>
            </a:r>
          </a:p>
          <a:p>
            <a:pPr>
              <a:spcBef>
                <a:spcPts val="1699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现在学中文的学生很多。</a:t>
            </a:r>
          </a:p>
          <a:p>
            <a:pPr>
              <a:spcBef>
                <a:spcPts val="254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Xiànzài xué Zhōngwén de xuésheng hěn duō.</a:t>
            </a:r>
          </a:p>
          <a:p>
            <a:pPr>
              <a:spcBef>
                <a:spcPts val="254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Hiện nay học sinh học tiếng Trung rất nhiều.</a:t>
            </a:r>
          </a:p>
          <a:p>
            <a:pPr>
              <a:spcBef>
                <a:spcPts val="1699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这是朋友给我的杯子。</a:t>
            </a:r>
          </a:p>
          <a:p>
            <a:pPr>
              <a:spcBef>
                <a:spcPts val="254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shì péngyou gěi wǒ de bēizi.</a:t>
            </a:r>
          </a:p>
          <a:p>
            <a:pPr>
              <a:spcBef>
                <a:spcPts val="254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Đây là cái cốc bạn tặng mình.</a:t>
            </a:r>
          </a:p>
          <a:p>
            <a:pPr>
              <a:spcBef>
                <a:spcPts val="1019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New HSK Course 2, Bài 2</a:t>
            </a:r>
          </a:p>
        </p:txBody>
      </p:sp>
      <p:pic>
        <p:nvPicPr>
          <p:cNvPr id="7" name="slide2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10944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10 câu khẩu ngữ đời thường (đi xe · hỏi đường · tham quan)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85265"/>
          <a:ext cx="11094414" cy="4506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8143"/>
                <a:gridCol w="4411940"/>
                <a:gridCol w="4304331"/>
              </a:tblGrid>
              <a:tr h="359982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49677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师傅，麻烦去北京大学。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Shīfu, máfan qù Běijīng Dàxué.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Bác tài, làm ơn cho tôi đến ĐH Bắc Kinh.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35998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打表吗？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Dǎbiǎo ma?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Tính theo đồng hồ à?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35998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麻烦在前面停一下。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Máfan zài qiánmiàn tíng yíxià.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Làm phiền dừng phía trước giúp tôi.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9677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劳驾，问一下，这儿怎么走？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Láojià, wèn yíxià, zhèr zěnme zǒu?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Phiền hỏi chút, đến đây đi thế nào?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9677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顺着这条路一直走就到了。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Shùnzhe zhè tiáo lù yīzhí zǒu jiù dào le.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Cứ theo đường này đi thẳng là tới.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35998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大概要走多久？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Dàgài yào zǒu duōjiǔ?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Đi bộ mất khoảng bao lâu?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35998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我好像迷路了。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hǎoxiàng mílù le.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Hình như tôi bị lạc đường rồi.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9677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这儿有什么好玩的地方吗？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Zhèr yǒu shénme hǎowán de dìfang ma?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Ở đây có chỗ nào hay ho để chơi không?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35998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门票多少钱一张？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Ménpiào duōshao qián yì zhāng?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Vé vào cổng bao nhiêu một vé?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35998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可以在这儿拍照吗？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Kěyǐ zài zhèr pāizhào ma?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Ở đây có được chụp ảnh không?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7" name="slide2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1172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易错点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Câu hỏi lựa chọn A还是B vs. câu đề nghị 还是……吧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444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81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So sánh 2 câu: 你去还是不去？ (câu HỎI — bạn đi hay không đi?) và 你还是别去了吧。 (câu ĐỀ NGHỊ — thôi bạn đừng đi thì hơn.)</a:t>
            </a:r>
          </a:p>
          <a:p>
            <a:pPr>
              <a:spcBef>
                <a:spcPts val="2081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❌ 你去还是不去还是吧？ — lỗi: ghép cả 2 kiểu vào 1 câu, thừa 还是 lẫn 吧.</a:t>
            </a:r>
          </a:p>
          <a:p>
            <a:pPr>
              <a:spcBef>
                <a:spcPts val="2081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Cách phân biệt: câu HỎI lựa chọn → "A还是B?", có dấu ? , KHÔNG có 吧. Câu ĐỀ NGHỊ → "还是 + hành động + 吧", có 吧, không phải câu hỏi.</a:t>
            </a:r>
          </a:p>
          <a:p>
            <a:pPr>
              <a:spcBef>
                <a:spcPts val="2081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Vì sao hay lẫn: tiếng Việt dùng "hay là" cho CẢ 2 trường hợp ("đi hay là không đi?" / "hay là đừng đi"), nên dễ mang cả 还是 lẫn 吧 vào chung 1 câu.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1172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易错点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Đặt sai vị trí 「多」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❌ 四万名多学生 (multi đặt sau lượng từ dù 四万 là bội số của 10)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✔ 四万多名学生 — vì 4万 là bội số của 10 nên 多 đứng NGAY SAU số từ, trước lượng từ 名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Vì sao: tiếng Việt luôn nói "hơn" ở cuối cụm số lượng (bốn vạn hơn), nên hay quen đặt 多 ở cuối bất kể số có phải bội số của 10 hay không.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1172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易错点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Quên 「的」khi cụm động từ làm định ngữ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❌ 他们卖电影票也很便宜。 (thiếu 的 sau cụm động từ 卖电影票)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✔ 他们卖的电影票也很便宜。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Vì sao: khi cụm động từ đứng trước bổ nghĩa cho danh từ, bắt buộc có 的 nối; tiếng Việt không có trợ từ tương ứng ("vé phim [mà] họ bán") nên dễ bỏ sót.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