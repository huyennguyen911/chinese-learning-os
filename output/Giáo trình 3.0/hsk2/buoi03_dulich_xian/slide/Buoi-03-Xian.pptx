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mp3" ContentType="audio/mpeg"/>
  <Override PartName="/ppt/media/media10.mp3" ContentType="audio/mpeg"/>
  <Override PartName="/ppt/media/media11.mp3" ContentType="audio/mpeg"/>
  <Override PartName="/ppt/media/media12.mp3" ContentType="audio/mpeg"/>
  <Override PartName="/ppt/media/media13.mp3" ContentType="audio/mpeg"/>
  <Override PartName="/ppt/media/media14.mp3" ContentType="audio/mpeg"/>
  <Override PartName="/ppt/media/media15.mp3" ContentType="audio/mpeg"/>
  <Override PartName="/ppt/media/media16.mp3" ContentType="audio/mpeg"/>
  <Override PartName="/ppt/media/media17.mp3" ContentType="audio/mpeg"/>
  <Override PartName="/ppt/media/media18.mp3" ContentType="audio/mpeg"/>
  <Override PartName="/ppt/media/media19.mp3" ContentType="audio/mpeg"/>
  <Override PartName="/ppt/media/media2.mp3" ContentType="audio/mpeg"/>
  <Override PartName="/ppt/media/media20.mp3" ContentType="audio/mpeg"/>
  <Override PartName="/ppt/media/media21.mp3" ContentType="audio/mpeg"/>
  <Override PartName="/ppt/media/media22.mp3" ContentType="audio/mpeg"/>
  <Override PartName="/ppt/media/media23.mp3" ContentType="audio/mpeg"/>
  <Override PartName="/ppt/media/media24.mp3" ContentType="audio/mpeg"/>
  <Override PartName="/ppt/media/media25.mp3" ContentType="audio/mpeg"/>
  <Override PartName="/ppt/media/media26.mp3" ContentType="audio/mpeg"/>
  <Override PartName="/ppt/media/media27.mp3" ContentType="audio/mpeg"/>
  <Override PartName="/ppt/media/media28.mp3" ContentType="audio/mpeg"/>
  <Override PartName="/ppt/media/media29.mp3" ContentType="audio/mpeg"/>
  <Override PartName="/ppt/media/media3.mp3" ContentType="audio/mpeg"/>
  <Override PartName="/ppt/media/media30.mp3" ContentType="audio/mpeg"/>
  <Override PartName="/ppt/media/media4.mp3" ContentType="audio/mpeg"/>
  <Override PartName="/ppt/media/media5.mp3" ContentType="audio/mpeg"/>
  <Override PartName="/ppt/media/media6.mp3" ContentType="audio/mpeg"/>
  <Override PartName="/ppt/media/media7.mp3" ContentType="audio/mpeg"/>
  <Override PartName="/ppt/media/media8.mp3" ContentType="audio/mpeg"/>
  <Override PartName="/ppt/media/media9.mp3" ContentType="audio/mpe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3"/><Relationship Id="rId3" Type="http://schemas.openxmlformats.org/officeDocument/2006/relationships/video" Target="../media/media1.mp3"/><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2.mp3"/><Relationship Id="rId3" Type="http://schemas.openxmlformats.org/officeDocument/2006/relationships/video" Target="../media/media2.mp3"/><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3.mp3"/><Relationship Id="rId3" Type="http://schemas.openxmlformats.org/officeDocument/2006/relationships/video" Target="../media/media3.mp3"/><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4.mp3"/><Relationship Id="rId3" Type="http://schemas.openxmlformats.org/officeDocument/2006/relationships/video" Target="../media/media4.mp3"/><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microsoft.com/office/2007/relationships/media" Target="../media/media5.mp3"/><Relationship Id="rId4" Type="http://schemas.openxmlformats.org/officeDocument/2006/relationships/video" Target="../media/media5.mp3"/><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6.mp3"/><Relationship Id="rId3" Type="http://schemas.openxmlformats.org/officeDocument/2006/relationships/video" Target="../media/media6.mp3"/><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microsoft.com/office/2007/relationships/media" Target="../media/media7.mp3"/><Relationship Id="rId4" Type="http://schemas.openxmlformats.org/officeDocument/2006/relationships/video" Target="../media/media7.mp3"/><Relationship Id="rId5"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microsoft.com/office/2007/relationships/media" Target="../media/media8.mp3"/><Relationship Id="rId4" Type="http://schemas.openxmlformats.org/officeDocument/2006/relationships/video" Target="../media/media8.mp3"/><Relationship Id="rId5"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microsoft.com/office/2007/relationships/media" Target="../media/media9.mp3"/><Relationship Id="rId4" Type="http://schemas.openxmlformats.org/officeDocument/2006/relationships/video" Target="../media/media9.mp3"/><Relationship Id="rId5"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0.mp3"/><Relationship Id="rId3" Type="http://schemas.openxmlformats.org/officeDocument/2006/relationships/video" Target="../media/media10.mp3"/><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1.mp3"/><Relationship Id="rId3" Type="http://schemas.openxmlformats.org/officeDocument/2006/relationships/video" Target="../media/media11.mp3"/><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microsoft.com/office/2007/relationships/media" Target="../media/media12.mp3"/><Relationship Id="rId4" Type="http://schemas.openxmlformats.org/officeDocument/2006/relationships/video" Target="../media/media12.mp3"/><Relationship Id="rId5"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3.mp3"/><Relationship Id="rId3" Type="http://schemas.openxmlformats.org/officeDocument/2006/relationships/video" Target="../media/media13.mp3"/><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4.mp3"/><Relationship Id="rId3" Type="http://schemas.openxmlformats.org/officeDocument/2006/relationships/video" Target="../media/media14.mp3"/><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5.mp3"/><Relationship Id="rId3" Type="http://schemas.openxmlformats.org/officeDocument/2006/relationships/video" Target="../media/media15.mp3"/><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6.mp3"/><Relationship Id="rId3" Type="http://schemas.openxmlformats.org/officeDocument/2006/relationships/video" Target="../media/media16.mp3"/><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microsoft.com/office/2007/relationships/media" Target="../media/media17.mp3"/><Relationship Id="rId4" Type="http://schemas.openxmlformats.org/officeDocument/2006/relationships/video" Target="../media/media17.mp3"/><Relationship Id="rId5"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8.mp3"/><Relationship Id="rId3" Type="http://schemas.openxmlformats.org/officeDocument/2006/relationships/video" Target="../media/media18.mp3"/><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microsoft.com/office/2007/relationships/media" Target="../media/media19.mp3"/><Relationship Id="rId4" Type="http://schemas.openxmlformats.org/officeDocument/2006/relationships/video" Target="../media/media19.mp3"/><Relationship Id="rId5"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microsoft.com/office/2007/relationships/media" Target="../media/media20.mp3"/><Relationship Id="rId4" Type="http://schemas.openxmlformats.org/officeDocument/2006/relationships/video" Target="../media/media20.mp3"/><Relationship Id="rId5"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microsoft.com/office/2007/relationships/media" Target="../media/media21.mp3"/><Relationship Id="rId4" Type="http://schemas.openxmlformats.org/officeDocument/2006/relationships/video" Target="../media/media21.mp3"/><Relationship Id="rId5"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microsoft.com/office/2007/relationships/media" Target="../media/media22.mp3"/><Relationship Id="rId4" Type="http://schemas.openxmlformats.org/officeDocument/2006/relationships/video" Target="../media/media22.mp3"/><Relationship Id="rId5"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microsoft.com/office/2007/relationships/media" Target="../media/media23.mp3"/><Relationship Id="rId4" Type="http://schemas.openxmlformats.org/officeDocument/2006/relationships/video" Target="../media/media23.mp3"/><Relationship Id="rId5"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microsoft.com/office/2007/relationships/media" Target="../media/media24.mp3"/><Relationship Id="rId4" Type="http://schemas.openxmlformats.org/officeDocument/2006/relationships/video" Target="../media/media24.mp3"/><Relationship Id="rId5"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microsoft.com/office/2007/relationships/media" Target="../media/media25.mp3"/><Relationship Id="rId4" Type="http://schemas.openxmlformats.org/officeDocument/2006/relationships/video" Target="../media/media25.mp3"/><Relationship Id="rId5"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microsoft.com/office/2007/relationships/media" Target="../media/media26.mp3"/><Relationship Id="rId4" Type="http://schemas.openxmlformats.org/officeDocument/2006/relationships/video" Target="../media/media26.mp3"/><Relationship Id="rId5"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microsoft.com/office/2007/relationships/media" Target="../media/media27.mp3"/><Relationship Id="rId4" Type="http://schemas.openxmlformats.org/officeDocument/2006/relationships/video" Target="../media/media27.mp3"/><Relationship Id="rId5"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microsoft.com/office/2007/relationships/media" Target="../media/media28.mp3"/><Relationship Id="rId4" Type="http://schemas.openxmlformats.org/officeDocument/2006/relationships/video" Target="../media/media28.mp3"/><Relationship Id="rId5"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29.mp3"/><Relationship Id="rId3" Type="http://schemas.openxmlformats.org/officeDocument/2006/relationships/video" Target="../media/media29.mp3"/><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30.mp3"/><Relationship Id="rId3" Type="http://schemas.openxmlformats.org/officeDocument/2006/relationships/video" Target="../media/media30.mp3"/><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920240"/>
            <a:ext cx="6675120" cy="3017520"/>
          </a:xfrm>
          <a:prstGeom prst="rect">
            <a:avLst/>
          </a:prstGeom>
          <a:noFill/>
        </p:spPr>
        <p:txBody>
          <a:bodyPr wrap="square" anchor="ctr">
            <a:spAutoFit/>
          </a:bodyPr>
          <a:lstStyle/>
          <a:p>
            <a:pPr algn="l">
              <a:buNone/>
            </a:pPr>
            <a:r>
              <a:rPr sz="4400" b="1" i="0">
                <a:solidFill>
                  <a:srgbClr val="FFFFFF"/>
                </a:solidFill>
                <a:latin typeface="Calibri"/>
                <a:ea typeface="Microsoft YaHei"/>
                <a:cs typeface="Microsoft YaHei"/>
              </a:rPr>
              <a:t>我想去西安旅游</a:t>
            </a:r>
          </a:p>
          <a:p>
            <a:pPr algn="l">
              <a:spcBef>
                <a:spcPts val="1000"/>
              </a:spcBef>
              <a:buNone/>
            </a:pPr>
            <a:r>
              <a:rPr sz="2000" b="0" i="0">
                <a:solidFill>
                  <a:srgbClr val="F7E4E1"/>
                </a:solidFill>
                <a:latin typeface="Calibri"/>
                <a:ea typeface="Microsoft YaHei"/>
                <a:cs typeface="Microsoft YaHei"/>
              </a:rPr>
              <a:t>Wǒ xiǎng qù Xī'ān lǚyóu — Tôi muốn đi du lịch Tây An</a:t>
            </a:r>
          </a:p>
        </p:txBody>
      </p:sp>
      <p:pic>
        <p:nvPicPr>
          <p:cNvPr id="4" name="Picture 3" descr="xian.jpg"/>
          <p:cNvPicPr>
            <a:picLocks noChangeAspect="1"/>
          </p:cNvPicPr>
          <p:nvPr/>
        </p:nvPicPr>
        <p:blipFill>
          <a:blip r:embed="rId2"/>
          <a:stretch>
            <a:fillRect/>
          </a:stretch>
        </p:blipFill>
        <p:spPr>
          <a:xfrm>
            <a:off x="8095335" y="1463040"/>
            <a:ext cx="2614880" cy="39319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37160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目标</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今天学什么</a:t>
            </a:r>
          </a:p>
        </p:txBody>
      </p:sp>
      <p:sp>
        <p:nvSpPr>
          <p:cNvPr id="6" name="TextBox 5"/>
          <p:cNvSpPr txBox="1"/>
          <p:nvPr/>
        </p:nvSpPr>
        <p:spPr>
          <a:xfrm>
            <a:off x="548640" y="1611376"/>
            <a:ext cx="11094415" cy="4880864"/>
          </a:xfrm>
          <a:prstGeom prst="rect">
            <a:avLst/>
          </a:prstGeom>
          <a:noFill/>
        </p:spPr>
        <p:txBody>
          <a:bodyPr wrap="square" anchor="ctr">
            <a:spAutoFit/>
          </a:bodyPr>
          <a:lstStyle/>
          <a:p>
            <a:pPr>
              <a:spcBef>
                <a:spcPts val="2600"/>
              </a:spcBef>
              <a:buNone/>
            </a:pPr>
            <a:r>
              <a:rPr sz="2200" b="1" i="0">
                <a:solidFill>
                  <a:srgbClr val="8E2B20"/>
                </a:solidFill>
                <a:latin typeface="Calibri"/>
                <a:ea typeface="Microsoft YaHei"/>
                <a:cs typeface="Microsoft YaHei"/>
              </a:rPr>
              <a:t>•  </a:t>
            </a:r>
            <a:r>
              <a:rPr sz="2200" b="1" i="0">
                <a:solidFill>
                  <a:srgbClr val="1F2933"/>
                </a:solidFill>
                <a:latin typeface="Calibri"/>
                <a:ea typeface="Microsoft YaHei"/>
                <a:cs typeface="Microsoft YaHei"/>
              </a:rPr>
              <a:t>结果补语 — mô tả KẾT QUẢ của hành động (làm xong / đến muộn...)</a:t>
            </a:r>
          </a:p>
          <a:p>
            <a:pPr>
              <a:spcBef>
                <a:spcPts val="2600"/>
              </a:spcBef>
              <a:buNone/>
            </a:pPr>
            <a:r>
              <a:rPr sz="2200" b="1" i="0">
                <a:solidFill>
                  <a:srgbClr val="8E2B20"/>
                </a:solidFill>
                <a:latin typeface="Calibri"/>
                <a:ea typeface="Microsoft YaHei"/>
                <a:cs typeface="Microsoft YaHei"/>
              </a:rPr>
              <a:t>•  </a:t>
            </a:r>
            <a:r>
              <a:rPr sz="2200" b="1" i="0">
                <a:solidFill>
                  <a:srgbClr val="1F2933"/>
                </a:solidFill>
                <a:latin typeface="Calibri"/>
                <a:ea typeface="Microsoft YaHei"/>
                <a:cs typeface="Microsoft YaHei"/>
              </a:rPr>
              <a:t>动词重叠(1)(2) — "thử làm một chút" (chưa xảy ra) và "đã làm một chút" (đã xảy ra)</a:t>
            </a:r>
          </a:p>
          <a:p>
            <a:pPr>
              <a:spcBef>
                <a:spcPts val="2600"/>
              </a:spcBef>
              <a:buNone/>
            </a:pPr>
            <a:r>
              <a:rPr sz="2200" b="1" i="0">
                <a:solidFill>
                  <a:srgbClr val="8E2B20"/>
                </a:solidFill>
                <a:latin typeface="Calibri"/>
                <a:ea typeface="Microsoft YaHei"/>
                <a:cs typeface="Microsoft YaHei"/>
              </a:rPr>
              <a:t>•  </a:t>
            </a:r>
            <a:r>
              <a:rPr sz="2200" b="1" i="0">
                <a:solidFill>
                  <a:srgbClr val="1F2933"/>
                </a:solidFill>
                <a:latin typeface="Calibri"/>
                <a:ea typeface="Microsoft YaHei"/>
                <a:cs typeface="Microsoft YaHei"/>
              </a:rPr>
              <a:t>为什么 — hỏi nguyên nhân sự việc</a:t>
            </a:r>
          </a:p>
          <a:p>
            <a:pPr>
              <a:spcBef>
                <a:spcPts val="2600"/>
              </a:spcBef>
              <a:buNone/>
            </a:pPr>
            <a:r>
              <a:rPr sz="2200" b="1" i="0">
                <a:solidFill>
                  <a:srgbClr val="8E2B20"/>
                </a:solidFill>
                <a:latin typeface="Calibri"/>
                <a:ea typeface="Microsoft YaHei"/>
                <a:cs typeface="Microsoft YaHei"/>
              </a:rPr>
              <a:t>•  </a:t>
            </a:r>
            <a:r>
              <a:rPr sz="2200" b="1" i="0">
                <a:solidFill>
                  <a:srgbClr val="1F2933"/>
                </a:solidFill>
                <a:latin typeface="Calibri"/>
                <a:ea typeface="Microsoft YaHei"/>
                <a:cs typeface="Microsoft YaHei"/>
              </a:rPr>
              <a:t>Chủ đề: bàn chuyện đi du lịch Tây An + đặt phòng khách sạn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402486"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 1/15</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不错</a:t>
            </a:r>
          </a:p>
        </p:txBody>
      </p:sp>
      <p:sp>
        <p:nvSpPr>
          <p:cNvPr id="6" name="TextBox 5"/>
          <p:cNvSpPr txBox="1"/>
          <p:nvPr/>
        </p:nvSpPr>
        <p:spPr>
          <a:xfrm>
            <a:off x="548640" y="1611376"/>
            <a:ext cx="4659654" cy="4880864"/>
          </a:xfrm>
          <a:prstGeom prst="rect">
            <a:avLst/>
          </a:prstGeom>
          <a:noFill/>
        </p:spPr>
        <p:txBody>
          <a:bodyPr wrap="square" anchor="ctr">
            <a:spAutoFit/>
          </a:bodyPr>
          <a:lstStyle/>
          <a:p>
            <a:pPr algn="ctr">
              <a:buNone/>
            </a:pPr>
            <a:r>
              <a:rPr sz="5400" b="1" i="0">
                <a:solidFill>
                  <a:srgbClr val="1F2933"/>
                </a:solidFill>
                <a:latin typeface="Calibri"/>
                <a:ea typeface="Microsoft YaHei"/>
                <a:cs typeface="Microsoft YaHei"/>
              </a:rPr>
              <a:t>不错</a:t>
            </a:r>
            <a:r>
              <a:rPr sz="1600" b="0" i="1">
                <a:solidFill>
                  <a:srgbClr val="6B7683"/>
                </a:solidFill>
                <a:latin typeface="Calibri"/>
                <a:ea typeface="Microsoft YaHei"/>
                <a:cs typeface="Microsoft YaHei"/>
              </a:rPr>
              <a:t>  adj.</a:t>
            </a:r>
          </a:p>
          <a:p>
            <a:pPr algn="ctr">
              <a:spcBef>
                <a:spcPts val="600"/>
              </a:spcBef>
              <a:buNone/>
            </a:pPr>
            <a:r>
              <a:rPr sz="2200" b="0" i="1">
                <a:solidFill>
                  <a:srgbClr val="8E2B20"/>
                </a:solidFill>
                <a:latin typeface="Calibri"/>
                <a:ea typeface="Microsoft YaHei"/>
                <a:cs typeface="Microsoft YaHei"/>
              </a:rPr>
              <a:t>búcuò</a:t>
            </a:r>
          </a:p>
          <a:p>
            <a:pPr algn="ctr">
              <a:spcBef>
                <a:spcPts val="400"/>
              </a:spcBef>
              <a:buNone/>
            </a:pPr>
            <a:r>
              <a:rPr sz="1800" b="0" i="0">
                <a:solidFill>
                  <a:srgbClr val="1F2933"/>
                </a:solidFill>
                <a:latin typeface="Calibri"/>
                <a:ea typeface="Microsoft YaHei"/>
                <a:cs typeface="Microsoft YaHei"/>
              </a:rPr>
              <a:t>khá tốt, không tệ</a:t>
            </a:r>
          </a:p>
        </p:txBody>
      </p:sp>
      <p:sp>
        <p:nvSpPr>
          <p:cNvPr id="7" name="TextBox 6"/>
          <p:cNvSpPr txBox="1"/>
          <p:nvPr/>
        </p:nvSpPr>
        <p:spPr>
          <a:xfrm>
            <a:off x="5665494" y="1611376"/>
            <a:ext cx="5977561" cy="4880864"/>
          </a:xfrm>
          <a:prstGeom prst="rect">
            <a:avLst/>
          </a:prstGeom>
          <a:noFill/>
        </p:spPr>
        <p:txBody>
          <a:bodyPr wrap="square" anchor="ctr">
            <a:spAutoFit/>
          </a:bodyPr>
          <a:lstStyle/>
          <a:p>
            <a:pPr>
              <a:buNone/>
            </a:pPr>
            <a:r>
              <a:rPr sz="1600" b="1" i="0">
                <a:solidFill>
                  <a:srgbClr val="8E2B20"/>
                </a:solidFill>
                <a:latin typeface="Calibri"/>
                <a:ea typeface="Microsoft YaHei"/>
                <a:cs typeface="Microsoft YaHei"/>
              </a:rPr>
              <a:t>例句</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我看了看网上的介绍，这个时候去西安很不错！</a:t>
            </a:r>
          </a:p>
          <a:p>
            <a:pPr>
              <a:spcBef>
                <a:spcPts val="200"/>
              </a:spcBef>
              <a:buNone/>
            </a:pPr>
            <a:r>
              <a:rPr sz="1400" b="0" i="1">
                <a:solidFill>
                  <a:srgbClr val="8E2B20"/>
                </a:solidFill>
                <a:latin typeface="Calibri"/>
                <a:ea typeface="Microsoft YaHei"/>
                <a:cs typeface="Microsoft YaHei"/>
              </a:rPr>
              <a:t>     Wǒ kànle kàn wǎngshàng de jièshào, zhège shíhòu qù Xī'ān hěn búcuò!</a:t>
            </a:r>
          </a:p>
          <a:p>
            <a:pPr>
              <a:spcBef>
                <a:spcPts val="100"/>
              </a:spcBef>
              <a:buNone/>
            </a:pPr>
            <a:r>
              <a:rPr sz="1400" b="0" i="0">
                <a:solidFill>
                  <a:srgbClr val="6B7683"/>
                </a:solidFill>
                <a:latin typeface="Calibri"/>
                <a:ea typeface="Microsoft YaHei"/>
                <a:cs typeface="Microsoft YaHei"/>
              </a:rPr>
              <a:t>     Tôi xem qua giới thiệu trên mạng, đợt này đi Tây An là rất hợp!</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这家饭馆的菜不错，你可以试试。</a:t>
            </a:r>
          </a:p>
          <a:p>
            <a:pPr>
              <a:spcBef>
                <a:spcPts val="200"/>
              </a:spcBef>
              <a:buNone/>
            </a:pPr>
            <a:r>
              <a:rPr sz="1400" b="0" i="1">
                <a:solidFill>
                  <a:srgbClr val="8E2B20"/>
                </a:solidFill>
                <a:latin typeface="Calibri"/>
                <a:ea typeface="Microsoft YaHei"/>
                <a:cs typeface="Microsoft YaHei"/>
              </a:rPr>
              <a:t>     Zhè jiā fànguǎn de cài búcuò, nǐ kěyǐ shìshi.</a:t>
            </a:r>
          </a:p>
          <a:p>
            <a:pPr>
              <a:spcBef>
                <a:spcPts val="100"/>
              </a:spcBef>
              <a:buNone/>
            </a:pPr>
            <a:r>
              <a:rPr sz="1400" b="0" i="0">
                <a:solidFill>
                  <a:srgbClr val="6B7683"/>
                </a:solidFill>
                <a:latin typeface="Calibri"/>
                <a:ea typeface="Microsoft YaHei"/>
                <a:cs typeface="Microsoft YaHei"/>
              </a:rPr>
              <a:t>     Món ở quán này khá ngon, bạn có thể thử xem.</a:t>
            </a:r>
          </a:p>
        </p:txBody>
      </p:sp>
      <p:pic>
        <p:nvPicPr>
          <p:cNvPr id="8" name="slide03.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1076127" y="320040"/>
            <a:ext cx="566928" cy="566928"/>
          </a:xfrm>
          <a:prstGeom prst="rect">
            <a:avLst/>
          </a:prstGeom>
          <a:ln>
            <a:noFill/>
          </a:ln>
        </p:spPr>
      </p:pic>
      <p:sp>
        <p:nvSpPr>
          <p:cNvPr id="9" name="TextBox 8"/>
          <p:cNvSpPr txBox="1"/>
          <p:nvPr/>
        </p:nvSpPr>
        <p:spPr>
          <a:xfrm>
            <a:off x="548640" y="6492240"/>
            <a:ext cx="11094415" cy="274320"/>
          </a:xfrm>
          <a:prstGeom prst="rect">
            <a:avLst/>
          </a:prstGeom>
          <a:noFill/>
        </p:spPr>
        <p:txBody>
          <a:bodyPr wrap="square" anchor="ctr">
            <a:spAutoFit/>
          </a:bodyPr>
          <a:lstStyle/>
          <a:p>
            <a:pPr>
              <a:buNone/>
            </a:pPr>
            <a:r>
              <a:rPr sz="1100" b="0" i="1">
                <a:solidFill>
                  <a:srgbClr val="6B7683"/>
                </a:solidFill>
                <a:latin typeface="Calibri"/>
                <a:ea typeface="Microsoft YaHei"/>
                <a:cs typeface="Microsoft YaHei"/>
              </a:rPr>
              <a:t>📖 错 = 钅(jīn, kim loại) + 昔(xī, xưa cũ) → kim loại cũ kỹ, gỉ sét → "sai" → 不错 = không sai, khá tốt</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402486"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 2/15</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出去</a:t>
            </a:r>
          </a:p>
        </p:txBody>
      </p:sp>
      <p:sp>
        <p:nvSpPr>
          <p:cNvPr id="6" name="TextBox 5"/>
          <p:cNvSpPr txBox="1"/>
          <p:nvPr/>
        </p:nvSpPr>
        <p:spPr>
          <a:xfrm>
            <a:off x="548640" y="1611376"/>
            <a:ext cx="4659654" cy="4880864"/>
          </a:xfrm>
          <a:prstGeom prst="rect">
            <a:avLst/>
          </a:prstGeom>
          <a:noFill/>
        </p:spPr>
        <p:txBody>
          <a:bodyPr wrap="square" anchor="ctr">
            <a:spAutoFit/>
          </a:bodyPr>
          <a:lstStyle/>
          <a:p>
            <a:pPr algn="ctr">
              <a:buNone/>
            </a:pPr>
            <a:r>
              <a:rPr sz="5400" b="1" i="0">
                <a:solidFill>
                  <a:srgbClr val="1F2933"/>
                </a:solidFill>
                <a:latin typeface="Calibri"/>
                <a:ea typeface="Microsoft YaHei"/>
                <a:cs typeface="Microsoft YaHei"/>
              </a:rPr>
              <a:t>出去</a:t>
            </a:r>
            <a:r>
              <a:rPr sz="1600" b="0" i="1">
                <a:solidFill>
                  <a:srgbClr val="6B7683"/>
                </a:solidFill>
                <a:latin typeface="Calibri"/>
                <a:ea typeface="Microsoft YaHei"/>
                <a:cs typeface="Microsoft YaHei"/>
              </a:rPr>
              <a:t>  v.</a:t>
            </a:r>
          </a:p>
          <a:p>
            <a:pPr algn="ctr">
              <a:spcBef>
                <a:spcPts val="600"/>
              </a:spcBef>
              <a:buNone/>
            </a:pPr>
            <a:r>
              <a:rPr sz="2200" b="0" i="1">
                <a:solidFill>
                  <a:srgbClr val="8E2B20"/>
                </a:solidFill>
                <a:latin typeface="Calibri"/>
                <a:ea typeface="Microsoft YaHei"/>
                <a:cs typeface="Microsoft YaHei"/>
              </a:rPr>
              <a:t>chūqù</a:t>
            </a:r>
          </a:p>
          <a:p>
            <a:pPr algn="ctr">
              <a:spcBef>
                <a:spcPts val="400"/>
              </a:spcBef>
              <a:buNone/>
            </a:pPr>
            <a:r>
              <a:rPr sz="1800" b="0" i="0">
                <a:solidFill>
                  <a:srgbClr val="1F2933"/>
                </a:solidFill>
                <a:latin typeface="Calibri"/>
                <a:ea typeface="Microsoft YaHei"/>
                <a:cs typeface="Microsoft YaHei"/>
              </a:rPr>
              <a:t>đi ra ngoài</a:t>
            </a:r>
          </a:p>
        </p:txBody>
      </p:sp>
      <p:sp>
        <p:nvSpPr>
          <p:cNvPr id="7" name="TextBox 6"/>
          <p:cNvSpPr txBox="1"/>
          <p:nvPr/>
        </p:nvSpPr>
        <p:spPr>
          <a:xfrm>
            <a:off x="5665494" y="1611376"/>
            <a:ext cx="5977561" cy="4880864"/>
          </a:xfrm>
          <a:prstGeom prst="rect">
            <a:avLst/>
          </a:prstGeom>
          <a:noFill/>
        </p:spPr>
        <p:txBody>
          <a:bodyPr wrap="square" anchor="ctr">
            <a:spAutoFit/>
          </a:bodyPr>
          <a:lstStyle/>
          <a:p>
            <a:pPr>
              <a:buNone/>
            </a:pPr>
            <a:r>
              <a:rPr sz="1600" b="1" i="0">
                <a:solidFill>
                  <a:srgbClr val="8E2B20"/>
                </a:solidFill>
                <a:latin typeface="Calibri"/>
                <a:ea typeface="Microsoft YaHei"/>
                <a:cs typeface="Microsoft YaHei"/>
              </a:rPr>
              <a:t>例句</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好啊，我也很想一起出去玩。</a:t>
            </a:r>
          </a:p>
          <a:p>
            <a:pPr>
              <a:spcBef>
                <a:spcPts val="200"/>
              </a:spcBef>
              <a:buNone/>
            </a:pPr>
            <a:r>
              <a:rPr sz="1400" b="0" i="1">
                <a:solidFill>
                  <a:srgbClr val="8E2B20"/>
                </a:solidFill>
                <a:latin typeface="Calibri"/>
                <a:ea typeface="Microsoft YaHei"/>
                <a:cs typeface="Microsoft YaHei"/>
              </a:rPr>
              <a:t>     Hǎo a, wǒ yě hěn xiǎng yìqǐ chūqù wán.</a:t>
            </a:r>
          </a:p>
          <a:p>
            <a:pPr>
              <a:spcBef>
                <a:spcPts val="100"/>
              </a:spcBef>
              <a:buNone/>
            </a:pPr>
            <a:r>
              <a:rPr sz="1400" b="0" i="0">
                <a:solidFill>
                  <a:srgbClr val="6B7683"/>
                </a:solidFill>
                <a:latin typeface="Calibri"/>
                <a:ea typeface="Microsoft YaHei"/>
                <a:cs typeface="Microsoft YaHei"/>
              </a:rPr>
              <a:t>     Được đấy, tôi cũng rất muốn cùng đi chơi.</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天气这么好，我们出去走走吧。</a:t>
            </a:r>
          </a:p>
          <a:p>
            <a:pPr>
              <a:spcBef>
                <a:spcPts val="200"/>
              </a:spcBef>
              <a:buNone/>
            </a:pPr>
            <a:r>
              <a:rPr sz="1400" b="0" i="1">
                <a:solidFill>
                  <a:srgbClr val="8E2B20"/>
                </a:solidFill>
                <a:latin typeface="Calibri"/>
                <a:ea typeface="Microsoft YaHei"/>
                <a:cs typeface="Microsoft YaHei"/>
              </a:rPr>
              <a:t>     Tiānqì zhème hǎo, wǒmen chūqù zǒuzǒu ba.</a:t>
            </a:r>
          </a:p>
          <a:p>
            <a:pPr>
              <a:spcBef>
                <a:spcPts val="100"/>
              </a:spcBef>
              <a:buNone/>
            </a:pPr>
            <a:r>
              <a:rPr sz="1400" b="0" i="0">
                <a:solidFill>
                  <a:srgbClr val="6B7683"/>
                </a:solidFill>
                <a:latin typeface="Calibri"/>
                <a:ea typeface="Microsoft YaHei"/>
                <a:cs typeface="Microsoft YaHei"/>
              </a:rPr>
              <a:t>     Thời tiết đẹp thế này, chúng ta ra ngoài đi dạo đi.</a:t>
            </a:r>
          </a:p>
        </p:txBody>
      </p:sp>
      <p:pic>
        <p:nvPicPr>
          <p:cNvPr id="8" name="slide04.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1076127" y="320040"/>
            <a:ext cx="566928" cy="566928"/>
          </a:xfrm>
          <a:prstGeom prst="rect">
            <a:avLst/>
          </a:prstGeom>
          <a:ln>
            <a:noFill/>
          </a:ln>
        </p:spPr>
      </p:pic>
      <p:sp>
        <p:nvSpPr>
          <p:cNvPr id="9" name="TextBox 8"/>
          <p:cNvSpPr txBox="1"/>
          <p:nvPr/>
        </p:nvSpPr>
        <p:spPr>
          <a:xfrm>
            <a:off x="548640" y="6492240"/>
            <a:ext cx="11094415" cy="274320"/>
          </a:xfrm>
          <a:prstGeom prst="rect">
            <a:avLst/>
          </a:prstGeom>
          <a:noFill/>
        </p:spPr>
        <p:txBody>
          <a:bodyPr wrap="square" anchor="ctr">
            <a:spAutoFit/>
          </a:bodyPr>
          <a:lstStyle/>
          <a:p>
            <a:pPr>
              <a:buNone/>
            </a:pPr>
            <a:r>
              <a:rPr sz="1100" b="0" i="1">
                <a:solidFill>
                  <a:srgbClr val="6B7683"/>
                </a:solidFill>
                <a:latin typeface="Calibri"/>
                <a:ea typeface="Microsoft YaHei"/>
                <a:cs typeface="Microsoft YaHei"/>
              </a:rPr>
              <a:t>📖 出 = 屮(chè, mầm cây) mọc ra khỏi 凵(qiǎn, cái hốc) → mầm nhô RA ngoài → "ra" → 出去 = đi ra ngoài</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402486"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 3/15</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回来</a:t>
            </a:r>
          </a:p>
        </p:txBody>
      </p:sp>
      <p:sp>
        <p:nvSpPr>
          <p:cNvPr id="6" name="TextBox 5"/>
          <p:cNvSpPr txBox="1"/>
          <p:nvPr/>
        </p:nvSpPr>
        <p:spPr>
          <a:xfrm>
            <a:off x="548640" y="1611376"/>
            <a:ext cx="4659654" cy="4880864"/>
          </a:xfrm>
          <a:prstGeom prst="rect">
            <a:avLst/>
          </a:prstGeom>
          <a:noFill/>
        </p:spPr>
        <p:txBody>
          <a:bodyPr wrap="square" anchor="ctr">
            <a:spAutoFit/>
          </a:bodyPr>
          <a:lstStyle/>
          <a:p>
            <a:pPr algn="ctr">
              <a:buNone/>
            </a:pPr>
            <a:r>
              <a:rPr sz="5400" b="1" i="0">
                <a:solidFill>
                  <a:srgbClr val="1F2933"/>
                </a:solidFill>
                <a:latin typeface="Calibri"/>
                <a:ea typeface="Microsoft YaHei"/>
                <a:cs typeface="Microsoft YaHei"/>
              </a:rPr>
              <a:t>回来</a:t>
            </a:r>
            <a:r>
              <a:rPr sz="1600" b="0" i="1">
                <a:solidFill>
                  <a:srgbClr val="6B7683"/>
                </a:solidFill>
                <a:latin typeface="Calibri"/>
                <a:ea typeface="Microsoft YaHei"/>
                <a:cs typeface="Microsoft YaHei"/>
              </a:rPr>
              <a:t>  v.</a:t>
            </a:r>
          </a:p>
          <a:p>
            <a:pPr algn="ctr">
              <a:spcBef>
                <a:spcPts val="600"/>
              </a:spcBef>
              <a:buNone/>
            </a:pPr>
            <a:r>
              <a:rPr sz="2200" b="0" i="1">
                <a:solidFill>
                  <a:srgbClr val="8E2B20"/>
                </a:solidFill>
                <a:latin typeface="Calibri"/>
                <a:ea typeface="Microsoft YaHei"/>
                <a:cs typeface="Microsoft YaHei"/>
              </a:rPr>
              <a:t>huílái</a:t>
            </a:r>
          </a:p>
          <a:p>
            <a:pPr algn="ctr">
              <a:spcBef>
                <a:spcPts val="400"/>
              </a:spcBef>
              <a:buNone/>
            </a:pPr>
            <a:r>
              <a:rPr sz="1800" b="0" i="0">
                <a:solidFill>
                  <a:srgbClr val="1F2933"/>
                </a:solidFill>
                <a:latin typeface="Calibri"/>
                <a:ea typeface="Microsoft YaHei"/>
                <a:cs typeface="Microsoft YaHei"/>
              </a:rPr>
              <a:t>quay lại, trở về</a:t>
            </a:r>
          </a:p>
        </p:txBody>
      </p:sp>
      <p:sp>
        <p:nvSpPr>
          <p:cNvPr id="7" name="TextBox 6"/>
          <p:cNvSpPr txBox="1"/>
          <p:nvPr/>
        </p:nvSpPr>
        <p:spPr>
          <a:xfrm>
            <a:off x="5665494" y="1611376"/>
            <a:ext cx="5977561" cy="4880864"/>
          </a:xfrm>
          <a:prstGeom prst="rect">
            <a:avLst/>
          </a:prstGeom>
          <a:noFill/>
        </p:spPr>
        <p:txBody>
          <a:bodyPr wrap="square" anchor="ctr">
            <a:spAutoFit/>
          </a:bodyPr>
          <a:lstStyle/>
          <a:p>
            <a:pPr>
              <a:buNone/>
            </a:pPr>
            <a:r>
              <a:rPr sz="1600" b="1" i="0">
                <a:solidFill>
                  <a:srgbClr val="8E2B20"/>
                </a:solidFill>
                <a:latin typeface="Calibri"/>
                <a:ea typeface="Microsoft YaHei"/>
                <a:cs typeface="Microsoft YaHei"/>
              </a:rPr>
              <a:t>例句</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今天回来这么晚啊！</a:t>
            </a:r>
          </a:p>
          <a:p>
            <a:pPr>
              <a:spcBef>
                <a:spcPts val="200"/>
              </a:spcBef>
              <a:buNone/>
            </a:pPr>
            <a:r>
              <a:rPr sz="1400" b="0" i="1">
                <a:solidFill>
                  <a:srgbClr val="8E2B20"/>
                </a:solidFill>
                <a:latin typeface="Calibri"/>
                <a:ea typeface="Microsoft YaHei"/>
                <a:cs typeface="Microsoft YaHei"/>
              </a:rPr>
              <a:t>     Jīntiān huílái zhème wǎn a!</a:t>
            </a:r>
          </a:p>
          <a:p>
            <a:pPr>
              <a:spcBef>
                <a:spcPts val="100"/>
              </a:spcBef>
              <a:buNone/>
            </a:pPr>
            <a:r>
              <a:rPr sz="1400" b="0" i="0">
                <a:solidFill>
                  <a:srgbClr val="6B7683"/>
                </a:solidFill>
                <a:latin typeface="Calibri"/>
                <a:ea typeface="Microsoft YaHei"/>
                <a:cs typeface="Microsoft YaHei"/>
              </a:rPr>
              <a:t>     Hôm nay về muộn thế!</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你什么时候回来？</a:t>
            </a:r>
          </a:p>
          <a:p>
            <a:pPr>
              <a:spcBef>
                <a:spcPts val="200"/>
              </a:spcBef>
              <a:buNone/>
            </a:pPr>
            <a:r>
              <a:rPr sz="1400" b="0" i="1">
                <a:solidFill>
                  <a:srgbClr val="8E2B20"/>
                </a:solidFill>
                <a:latin typeface="Calibri"/>
                <a:ea typeface="Microsoft YaHei"/>
                <a:cs typeface="Microsoft YaHei"/>
              </a:rPr>
              <a:t>     Nǐ shénme shíhou huílái?</a:t>
            </a:r>
          </a:p>
          <a:p>
            <a:pPr>
              <a:spcBef>
                <a:spcPts val="100"/>
              </a:spcBef>
              <a:buNone/>
            </a:pPr>
            <a:r>
              <a:rPr sz="1400" b="0" i="0">
                <a:solidFill>
                  <a:srgbClr val="6B7683"/>
                </a:solidFill>
                <a:latin typeface="Calibri"/>
                <a:ea typeface="Microsoft YaHei"/>
                <a:cs typeface="Microsoft YaHei"/>
              </a:rPr>
              <a:t>     Bao giờ bạn về?</a:t>
            </a:r>
          </a:p>
        </p:txBody>
      </p:sp>
      <p:pic>
        <p:nvPicPr>
          <p:cNvPr id="8" name="slide05.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1076127" y="320040"/>
            <a:ext cx="566928" cy="566928"/>
          </a:xfrm>
          <a:prstGeom prst="rect">
            <a:avLst/>
          </a:prstGeom>
          <a:ln>
            <a:noFill/>
          </a:ln>
        </p:spPr>
      </p:pic>
      <p:sp>
        <p:nvSpPr>
          <p:cNvPr id="9" name="TextBox 8"/>
          <p:cNvSpPr txBox="1"/>
          <p:nvPr/>
        </p:nvSpPr>
        <p:spPr>
          <a:xfrm>
            <a:off x="548640" y="6492240"/>
            <a:ext cx="11094415" cy="274320"/>
          </a:xfrm>
          <a:prstGeom prst="rect">
            <a:avLst/>
          </a:prstGeom>
          <a:noFill/>
        </p:spPr>
        <p:txBody>
          <a:bodyPr wrap="square" anchor="ctr">
            <a:spAutoFit/>
          </a:bodyPr>
          <a:lstStyle/>
          <a:p>
            <a:pPr>
              <a:buNone/>
            </a:pPr>
            <a:r>
              <a:rPr sz="1100" b="0" i="1">
                <a:solidFill>
                  <a:srgbClr val="6B7683"/>
                </a:solidFill>
                <a:latin typeface="Calibri"/>
                <a:ea typeface="Microsoft YaHei"/>
                <a:cs typeface="Microsoft YaHei"/>
              </a:rPr>
              <a:t>📖 回 vốn là hình vòng XOÁY quay lại điểm đầu (囗 vây quanh 口) → "quay lại" → 回来 = quay về (hướng người nói)</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402486"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 4/15</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回去</a:t>
            </a:r>
          </a:p>
        </p:txBody>
      </p:sp>
      <p:sp>
        <p:nvSpPr>
          <p:cNvPr id="6" name="TextBox 5"/>
          <p:cNvSpPr txBox="1"/>
          <p:nvPr/>
        </p:nvSpPr>
        <p:spPr>
          <a:xfrm>
            <a:off x="548640" y="1611376"/>
            <a:ext cx="4659654" cy="4880864"/>
          </a:xfrm>
          <a:prstGeom prst="rect">
            <a:avLst/>
          </a:prstGeom>
          <a:noFill/>
        </p:spPr>
        <p:txBody>
          <a:bodyPr wrap="square" anchor="ctr">
            <a:spAutoFit/>
          </a:bodyPr>
          <a:lstStyle/>
          <a:p>
            <a:pPr algn="ctr">
              <a:buNone/>
            </a:pPr>
            <a:r>
              <a:rPr sz="5400" b="1" i="0">
                <a:solidFill>
                  <a:srgbClr val="1F2933"/>
                </a:solidFill>
                <a:latin typeface="Calibri"/>
                <a:ea typeface="Microsoft YaHei"/>
                <a:cs typeface="Microsoft YaHei"/>
              </a:rPr>
              <a:t>回去</a:t>
            </a:r>
            <a:r>
              <a:rPr sz="1600" b="0" i="1">
                <a:solidFill>
                  <a:srgbClr val="6B7683"/>
                </a:solidFill>
                <a:latin typeface="Calibri"/>
                <a:ea typeface="Microsoft YaHei"/>
                <a:cs typeface="Microsoft YaHei"/>
              </a:rPr>
              <a:t>  v.</a:t>
            </a:r>
          </a:p>
          <a:p>
            <a:pPr algn="ctr">
              <a:spcBef>
                <a:spcPts val="600"/>
              </a:spcBef>
              <a:buNone/>
            </a:pPr>
            <a:r>
              <a:rPr sz="2200" b="0" i="1">
                <a:solidFill>
                  <a:srgbClr val="8E2B20"/>
                </a:solidFill>
                <a:latin typeface="Calibri"/>
                <a:ea typeface="Microsoft YaHei"/>
                <a:cs typeface="Microsoft YaHei"/>
              </a:rPr>
              <a:t>huíqù</a:t>
            </a:r>
          </a:p>
          <a:p>
            <a:pPr algn="ctr">
              <a:spcBef>
                <a:spcPts val="400"/>
              </a:spcBef>
              <a:buNone/>
            </a:pPr>
            <a:r>
              <a:rPr sz="1800" b="0" i="0">
                <a:solidFill>
                  <a:srgbClr val="1F2933"/>
                </a:solidFill>
                <a:latin typeface="Calibri"/>
                <a:ea typeface="Microsoft YaHei"/>
                <a:cs typeface="Microsoft YaHei"/>
              </a:rPr>
              <a:t>quay về, trở lại đó</a:t>
            </a:r>
          </a:p>
        </p:txBody>
      </p:sp>
      <p:sp>
        <p:nvSpPr>
          <p:cNvPr id="7" name="TextBox 6"/>
          <p:cNvSpPr txBox="1"/>
          <p:nvPr/>
        </p:nvSpPr>
        <p:spPr>
          <a:xfrm>
            <a:off x="5665494" y="1611376"/>
            <a:ext cx="5977561" cy="4880864"/>
          </a:xfrm>
          <a:prstGeom prst="rect">
            <a:avLst/>
          </a:prstGeom>
          <a:noFill/>
        </p:spPr>
        <p:txBody>
          <a:bodyPr wrap="square" anchor="ctr">
            <a:spAutoFit/>
          </a:bodyPr>
          <a:lstStyle/>
          <a:p>
            <a:pPr>
              <a:buNone/>
            </a:pPr>
            <a:r>
              <a:rPr sz="1600" b="1" i="0">
                <a:solidFill>
                  <a:srgbClr val="8E2B20"/>
                </a:solidFill>
                <a:latin typeface="Calibri"/>
                <a:ea typeface="Microsoft YaHei"/>
                <a:cs typeface="Microsoft YaHei"/>
              </a:rPr>
              <a:t>例句</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医院就来电话了，让他回去上班。</a:t>
            </a:r>
          </a:p>
          <a:p>
            <a:pPr>
              <a:spcBef>
                <a:spcPts val="200"/>
              </a:spcBef>
              <a:buNone/>
            </a:pPr>
            <a:r>
              <a:rPr sz="1400" b="0" i="1">
                <a:solidFill>
                  <a:srgbClr val="8E2B20"/>
                </a:solidFill>
                <a:latin typeface="Calibri"/>
                <a:ea typeface="Microsoft YaHei"/>
                <a:cs typeface="Microsoft YaHei"/>
              </a:rPr>
              <a:t>     Yīyuàn jiù lái diànhuà le, ràng tā huíqù shàngbān.</a:t>
            </a:r>
          </a:p>
          <a:p>
            <a:pPr>
              <a:spcBef>
                <a:spcPts val="100"/>
              </a:spcBef>
              <a:buNone/>
            </a:pPr>
            <a:r>
              <a:rPr sz="1400" b="0" i="0">
                <a:solidFill>
                  <a:srgbClr val="6B7683"/>
                </a:solidFill>
                <a:latin typeface="Calibri"/>
                <a:ea typeface="Microsoft YaHei"/>
                <a:cs typeface="Microsoft YaHei"/>
              </a:rPr>
              <a:t>     Bệnh viện gọi điện, bảo anh ấy về đi làm.</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已经晚了，我们该回去了。</a:t>
            </a:r>
          </a:p>
          <a:p>
            <a:pPr>
              <a:spcBef>
                <a:spcPts val="200"/>
              </a:spcBef>
              <a:buNone/>
            </a:pPr>
            <a:r>
              <a:rPr sz="1400" b="0" i="1">
                <a:solidFill>
                  <a:srgbClr val="8E2B20"/>
                </a:solidFill>
                <a:latin typeface="Calibri"/>
                <a:ea typeface="Microsoft YaHei"/>
                <a:cs typeface="Microsoft YaHei"/>
              </a:rPr>
              <a:t>     Yǐjīng wǎn le, wǒmen gāi huíqù le.</a:t>
            </a:r>
          </a:p>
          <a:p>
            <a:pPr>
              <a:spcBef>
                <a:spcPts val="100"/>
              </a:spcBef>
              <a:buNone/>
            </a:pPr>
            <a:r>
              <a:rPr sz="1400" b="0" i="0">
                <a:solidFill>
                  <a:srgbClr val="6B7683"/>
                </a:solidFill>
                <a:latin typeface="Calibri"/>
                <a:ea typeface="Microsoft YaHei"/>
                <a:cs typeface="Microsoft YaHei"/>
              </a:rPr>
              <a:t>     Muộn rồi, chúng ta nên về thôi.</a:t>
            </a:r>
          </a:p>
        </p:txBody>
      </p:sp>
      <p:pic>
        <p:nvPicPr>
          <p:cNvPr id="8" name="slide06.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1076127" y="320040"/>
            <a:ext cx="566928" cy="566928"/>
          </a:xfrm>
          <a:prstGeom prst="rect">
            <a:avLst/>
          </a:prstGeom>
          <a:ln>
            <a:noFill/>
          </a:ln>
        </p:spPr>
      </p:pic>
      <p:sp>
        <p:nvSpPr>
          <p:cNvPr id="9" name="TextBox 8"/>
          <p:cNvSpPr txBox="1"/>
          <p:nvPr/>
        </p:nvSpPr>
        <p:spPr>
          <a:xfrm>
            <a:off x="548640" y="6492240"/>
            <a:ext cx="11094415" cy="274320"/>
          </a:xfrm>
          <a:prstGeom prst="rect">
            <a:avLst/>
          </a:prstGeom>
          <a:noFill/>
        </p:spPr>
        <p:txBody>
          <a:bodyPr wrap="square" anchor="ctr">
            <a:spAutoFit/>
          </a:bodyPr>
          <a:lstStyle/>
          <a:p>
            <a:pPr>
              <a:buNone/>
            </a:pPr>
            <a:r>
              <a:rPr sz="1100" b="0" i="1">
                <a:solidFill>
                  <a:srgbClr val="6B7683"/>
                </a:solidFill>
                <a:latin typeface="Calibri"/>
                <a:ea typeface="Microsoft YaHei"/>
                <a:cs typeface="Microsoft YaHei"/>
              </a:rPr>
              <a:t>📖 去 = 土(tǔ, đất/nơi ở) + 厶(sī, riêng tư) → RỜI khỏi chỗ riêng của mình → "đi, rời đi" → 回去 = quay về (hướng người nghe)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402486"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 5/15</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累</a:t>
            </a:r>
          </a:p>
        </p:txBody>
      </p:sp>
      <p:pic>
        <p:nvPicPr>
          <p:cNvPr id="6" name="Picture 5" descr="lei.jpg"/>
          <p:cNvPicPr>
            <a:picLocks noChangeAspect="1"/>
          </p:cNvPicPr>
          <p:nvPr/>
        </p:nvPicPr>
        <p:blipFill>
          <a:blip r:embed="rId2"/>
          <a:stretch>
            <a:fillRect/>
          </a:stretch>
        </p:blipFill>
        <p:spPr>
          <a:xfrm>
            <a:off x="1323987" y="1980565"/>
            <a:ext cx="3108960" cy="2370582"/>
          </a:xfrm>
          <a:prstGeom prst="rect">
            <a:avLst/>
          </a:prstGeom>
        </p:spPr>
      </p:pic>
      <p:sp>
        <p:nvSpPr>
          <p:cNvPr id="7" name="TextBox 6"/>
          <p:cNvSpPr txBox="1"/>
          <p:nvPr/>
        </p:nvSpPr>
        <p:spPr>
          <a:xfrm>
            <a:off x="548640" y="4857496"/>
            <a:ext cx="4659654" cy="1634744"/>
          </a:xfrm>
          <a:prstGeom prst="rect">
            <a:avLst/>
          </a:prstGeom>
          <a:noFill/>
        </p:spPr>
        <p:txBody>
          <a:bodyPr wrap="square" anchor="ctr">
            <a:spAutoFit/>
          </a:bodyPr>
          <a:lstStyle/>
          <a:p>
            <a:pPr algn="ctr">
              <a:buNone/>
            </a:pPr>
            <a:r>
              <a:rPr sz="5400" b="1" i="0">
                <a:solidFill>
                  <a:srgbClr val="1F2933"/>
                </a:solidFill>
                <a:latin typeface="Calibri"/>
                <a:ea typeface="Microsoft YaHei"/>
                <a:cs typeface="Microsoft YaHei"/>
              </a:rPr>
              <a:t>累</a:t>
            </a:r>
            <a:r>
              <a:rPr sz="1600" b="0" i="1">
                <a:solidFill>
                  <a:srgbClr val="6B7683"/>
                </a:solidFill>
                <a:latin typeface="Calibri"/>
                <a:ea typeface="Microsoft YaHei"/>
                <a:cs typeface="Microsoft YaHei"/>
              </a:rPr>
              <a:t>  adj.</a:t>
            </a:r>
          </a:p>
          <a:p>
            <a:pPr algn="ctr">
              <a:spcBef>
                <a:spcPts val="600"/>
              </a:spcBef>
              <a:buNone/>
            </a:pPr>
            <a:r>
              <a:rPr sz="2200" b="0" i="1">
                <a:solidFill>
                  <a:srgbClr val="8E2B20"/>
                </a:solidFill>
                <a:latin typeface="Calibri"/>
                <a:ea typeface="Microsoft YaHei"/>
                <a:cs typeface="Microsoft YaHei"/>
              </a:rPr>
              <a:t>lèi</a:t>
            </a:r>
          </a:p>
          <a:p>
            <a:pPr algn="ctr">
              <a:spcBef>
                <a:spcPts val="400"/>
              </a:spcBef>
              <a:buNone/>
            </a:pPr>
            <a:r>
              <a:rPr sz="1800" b="0" i="0">
                <a:solidFill>
                  <a:srgbClr val="1F2933"/>
                </a:solidFill>
                <a:latin typeface="Calibri"/>
                <a:ea typeface="Microsoft YaHei"/>
                <a:cs typeface="Microsoft YaHei"/>
              </a:rPr>
              <a:t>mệt</a:t>
            </a:r>
          </a:p>
        </p:txBody>
      </p:sp>
      <p:sp>
        <p:nvSpPr>
          <p:cNvPr id="8" name="TextBox 7"/>
          <p:cNvSpPr txBox="1"/>
          <p:nvPr/>
        </p:nvSpPr>
        <p:spPr>
          <a:xfrm>
            <a:off x="5665494" y="1611376"/>
            <a:ext cx="5977561" cy="4880864"/>
          </a:xfrm>
          <a:prstGeom prst="rect">
            <a:avLst/>
          </a:prstGeom>
          <a:noFill/>
        </p:spPr>
        <p:txBody>
          <a:bodyPr wrap="square" anchor="ctr">
            <a:spAutoFit/>
          </a:bodyPr>
          <a:lstStyle/>
          <a:p>
            <a:pPr>
              <a:buNone/>
            </a:pPr>
            <a:r>
              <a:rPr sz="1600" b="1" i="0">
                <a:solidFill>
                  <a:srgbClr val="8E2B20"/>
                </a:solidFill>
                <a:latin typeface="Calibri"/>
                <a:ea typeface="Microsoft YaHei"/>
                <a:cs typeface="Microsoft YaHei"/>
              </a:rPr>
              <a:t>例句</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我觉得他这个月每天都很累。</a:t>
            </a:r>
          </a:p>
          <a:p>
            <a:pPr>
              <a:spcBef>
                <a:spcPts val="200"/>
              </a:spcBef>
              <a:buNone/>
            </a:pPr>
            <a:r>
              <a:rPr sz="1400" b="0" i="1">
                <a:solidFill>
                  <a:srgbClr val="8E2B20"/>
                </a:solidFill>
                <a:latin typeface="Calibri"/>
                <a:ea typeface="Microsoft YaHei"/>
                <a:cs typeface="Microsoft YaHei"/>
              </a:rPr>
              <a:t>     Wǒ juéde tā zhège yuè měitiān dōu hěn lèi.</a:t>
            </a:r>
          </a:p>
          <a:p>
            <a:pPr>
              <a:spcBef>
                <a:spcPts val="100"/>
              </a:spcBef>
              <a:buNone/>
            </a:pPr>
            <a:r>
              <a:rPr sz="1400" b="0" i="0">
                <a:solidFill>
                  <a:srgbClr val="6B7683"/>
                </a:solidFill>
                <a:latin typeface="Calibri"/>
                <a:ea typeface="Microsoft YaHei"/>
                <a:cs typeface="Microsoft YaHei"/>
              </a:rPr>
              <a:t>     Tôi thấy tháng này ngày nào anh ấy cũng mệt.</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走了一天，我很累，想休息一下。</a:t>
            </a:r>
          </a:p>
          <a:p>
            <a:pPr>
              <a:spcBef>
                <a:spcPts val="200"/>
              </a:spcBef>
              <a:buNone/>
            </a:pPr>
            <a:r>
              <a:rPr sz="1400" b="0" i="1">
                <a:solidFill>
                  <a:srgbClr val="8E2B20"/>
                </a:solidFill>
                <a:latin typeface="Calibri"/>
                <a:ea typeface="Microsoft YaHei"/>
                <a:cs typeface="Microsoft YaHei"/>
              </a:rPr>
              <a:t>     Zǒule yì tiān, wǒ hěn lèi, xiǎng xiūxi yíxià.</a:t>
            </a:r>
          </a:p>
          <a:p>
            <a:pPr>
              <a:spcBef>
                <a:spcPts val="100"/>
              </a:spcBef>
              <a:buNone/>
            </a:pPr>
            <a:r>
              <a:rPr sz="1400" b="0" i="0">
                <a:solidFill>
                  <a:srgbClr val="6B7683"/>
                </a:solidFill>
                <a:latin typeface="Calibri"/>
                <a:ea typeface="Microsoft YaHei"/>
                <a:cs typeface="Microsoft YaHei"/>
              </a:rPr>
              <a:t>     Đi bộ cả ngày, tôi rất mệt, muốn nghỉ một chút.</a:t>
            </a:r>
          </a:p>
        </p:txBody>
      </p:sp>
      <p:pic>
        <p:nvPicPr>
          <p:cNvPr id="9" name="slide07.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076127" y="320040"/>
            <a:ext cx="566928" cy="566928"/>
          </a:xfrm>
          <a:prstGeom prst="rect">
            <a:avLst/>
          </a:prstGeom>
          <a:ln>
            <a:noFill/>
          </a:ln>
        </p:spPr>
      </p:pic>
      <p:sp>
        <p:nvSpPr>
          <p:cNvPr id="10" name="TextBox 9"/>
          <p:cNvSpPr txBox="1"/>
          <p:nvPr/>
        </p:nvSpPr>
        <p:spPr>
          <a:xfrm>
            <a:off x="548640" y="6492240"/>
            <a:ext cx="11094415" cy="274320"/>
          </a:xfrm>
          <a:prstGeom prst="rect">
            <a:avLst/>
          </a:prstGeom>
          <a:noFill/>
        </p:spPr>
        <p:txBody>
          <a:bodyPr wrap="square" anchor="ctr">
            <a:spAutoFit/>
          </a:bodyPr>
          <a:lstStyle/>
          <a:p>
            <a:pPr>
              <a:buNone/>
            </a:pPr>
            <a:r>
              <a:rPr sz="1100" b="0" i="1">
                <a:solidFill>
                  <a:srgbClr val="6B7683"/>
                </a:solidFill>
                <a:latin typeface="Calibri"/>
                <a:ea typeface="Microsoft YaHei"/>
                <a:cs typeface="Microsoft YaHei"/>
              </a:rPr>
              <a:t>📖 累 = 田(tián, ruộng) + 糸(mì, dây/tơ) → RUỘNG chồng lên DÂY, gánh nặng chồng chất → "mệt"</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402486"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 6/15</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每</a:t>
            </a:r>
          </a:p>
        </p:txBody>
      </p:sp>
      <p:sp>
        <p:nvSpPr>
          <p:cNvPr id="6" name="TextBox 5"/>
          <p:cNvSpPr txBox="1"/>
          <p:nvPr/>
        </p:nvSpPr>
        <p:spPr>
          <a:xfrm>
            <a:off x="548640" y="1611376"/>
            <a:ext cx="4659654" cy="4880864"/>
          </a:xfrm>
          <a:prstGeom prst="rect">
            <a:avLst/>
          </a:prstGeom>
          <a:noFill/>
        </p:spPr>
        <p:txBody>
          <a:bodyPr wrap="square" anchor="ctr">
            <a:spAutoFit/>
          </a:bodyPr>
          <a:lstStyle/>
          <a:p>
            <a:pPr algn="ctr">
              <a:buNone/>
            </a:pPr>
            <a:r>
              <a:rPr sz="5400" b="1" i="0">
                <a:solidFill>
                  <a:srgbClr val="1F2933"/>
                </a:solidFill>
                <a:latin typeface="Calibri"/>
                <a:ea typeface="Microsoft YaHei"/>
                <a:cs typeface="Microsoft YaHei"/>
              </a:rPr>
              <a:t>每</a:t>
            </a:r>
            <a:r>
              <a:rPr sz="1600" b="0" i="1">
                <a:solidFill>
                  <a:srgbClr val="6B7683"/>
                </a:solidFill>
                <a:latin typeface="Calibri"/>
                <a:ea typeface="Microsoft YaHei"/>
                <a:cs typeface="Microsoft YaHei"/>
              </a:rPr>
              <a:t>  pron.</a:t>
            </a:r>
          </a:p>
          <a:p>
            <a:pPr algn="ctr">
              <a:spcBef>
                <a:spcPts val="600"/>
              </a:spcBef>
              <a:buNone/>
            </a:pPr>
            <a:r>
              <a:rPr sz="2200" b="0" i="1">
                <a:solidFill>
                  <a:srgbClr val="8E2B20"/>
                </a:solidFill>
                <a:latin typeface="Calibri"/>
                <a:ea typeface="Microsoft YaHei"/>
                <a:cs typeface="Microsoft YaHei"/>
              </a:rPr>
              <a:t>měi</a:t>
            </a:r>
          </a:p>
          <a:p>
            <a:pPr algn="ctr">
              <a:spcBef>
                <a:spcPts val="400"/>
              </a:spcBef>
              <a:buNone/>
            </a:pPr>
            <a:r>
              <a:rPr sz="1800" b="0" i="0">
                <a:solidFill>
                  <a:srgbClr val="1F2933"/>
                </a:solidFill>
                <a:latin typeface="Calibri"/>
                <a:ea typeface="Microsoft YaHei"/>
                <a:cs typeface="Microsoft YaHei"/>
              </a:rPr>
              <a:t>mỗi</a:t>
            </a:r>
          </a:p>
        </p:txBody>
      </p:sp>
      <p:sp>
        <p:nvSpPr>
          <p:cNvPr id="7" name="TextBox 6"/>
          <p:cNvSpPr txBox="1"/>
          <p:nvPr/>
        </p:nvSpPr>
        <p:spPr>
          <a:xfrm>
            <a:off x="5665494" y="1611376"/>
            <a:ext cx="5977561" cy="4880864"/>
          </a:xfrm>
          <a:prstGeom prst="rect">
            <a:avLst/>
          </a:prstGeom>
          <a:noFill/>
        </p:spPr>
        <p:txBody>
          <a:bodyPr wrap="square" anchor="ctr">
            <a:spAutoFit/>
          </a:bodyPr>
          <a:lstStyle/>
          <a:p>
            <a:pPr>
              <a:buNone/>
            </a:pPr>
            <a:r>
              <a:rPr sz="1600" b="1" i="0">
                <a:solidFill>
                  <a:srgbClr val="8E2B20"/>
                </a:solidFill>
                <a:latin typeface="Calibri"/>
                <a:ea typeface="Microsoft YaHei"/>
                <a:cs typeface="Microsoft YaHei"/>
              </a:rPr>
              <a:t>例句</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我觉得他这个月每天都很累。</a:t>
            </a:r>
          </a:p>
          <a:p>
            <a:pPr>
              <a:spcBef>
                <a:spcPts val="200"/>
              </a:spcBef>
              <a:buNone/>
            </a:pPr>
            <a:r>
              <a:rPr sz="1400" b="0" i="1">
                <a:solidFill>
                  <a:srgbClr val="8E2B20"/>
                </a:solidFill>
                <a:latin typeface="Calibri"/>
                <a:ea typeface="Microsoft YaHei"/>
                <a:cs typeface="Microsoft YaHei"/>
              </a:rPr>
              <a:t>     Wǒ juéde tā zhège yuè měitiān dōu hěn lèi.</a:t>
            </a:r>
          </a:p>
          <a:p>
            <a:pPr>
              <a:spcBef>
                <a:spcPts val="100"/>
              </a:spcBef>
              <a:buNone/>
            </a:pPr>
            <a:r>
              <a:rPr sz="1400" b="0" i="0">
                <a:solidFill>
                  <a:srgbClr val="6B7683"/>
                </a:solidFill>
                <a:latin typeface="Calibri"/>
                <a:ea typeface="Microsoft YaHei"/>
                <a:cs typeface="Microsoft YaHei"/>
              </a:rPr>
              <a:t>     Tôi thấy tháng này ngày nào anh ấy cũng mệt.</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我每天早上七点起床。</a:t>
            </a:r>
          </a:p>
          <a:p>
            <a:pPr>
              <a:spcBef>
                <a:spcPts val="200"/>
              </a:spcBef>
              <a:buNone/>
            </a:pPr>
            <a:r>
              <a:rPr sz="1400" b="0" i="1">
                <a:solidFill>
                  <a:srgbClr val="8E2B20"/>
                </a:solidFill>
                <a:latin typeface="Calibri"/>
                <a:ea typeface="Microsoft YaHei"/>
                <a:cs typeface="Microsoft YaHei"/>
              </a:rPr>
              <a:t>     Wǒ měitiān zǎoshang qī diǎn qǐchuáng.</a:t>
            </a:r>
          </a:p>
          <a:p>
            <a:pPr>
              <a:spcBef>
                <a:spcPts val="100"/>
              </a:spcBef>
              <a:buNone/>
            </a:pPr>
            <a:r>
              <a:rPr sz="1400" b="0" i="0">
                <a:solidFill>
                  <a:srgbClr val="6B7683"/>
                </a:solidFill>
                <a:latin typeface="Calibri"/>
                <a:ea typeface="Microsoft YaHei"/>
                <a:cs typeface="Microsoft YaHei"/>
              </a:rPr>
              <a:t>     Mỗi sáng tôi dậy lúc 7 giờ.</a:t>
            </a:r>
          </a:p>
        </p:txBody>
      </p:sp>
      <p:pic>
        <p:nvPicPr>
          <p:cNvPr id="8" name="slide08.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1076127" y="320040"/>
            <a:ext cx="566928" cy="566928"/>
          </a:xfrm>
          <a:prstGeom prst="rect">
            <a:avLst/>
          </a:prstGeom>
          <a:ln>
            <a:noFill/>
          </a:ln>
        </p:spPr>
      </p:pic>
      <p:sp>
        <p:nvSpPr>
          <p:cNvPr id="9" name="TextBox 8"/>
          <p:cNvSpPr txBox="1"/>
          <p:nvPr/>
        </p:nvSpPr>
        <p:spPr>
          <a:xfrm>
            <a:off x="548640" y="6492240"/>
            <a:ext cx="11094415" cy="274320"/>
          </a:xfrm>
          <a:prstGeom prst="rect">
            <a:avLst/>
          </a:prstGeom>
          <a:noFill/>
        </p:spPr>
        <p:txBody>
          <a:bodyPr wrap="square" anchor="ctr">
            <a:spAutoFit/>
          </a:bodyPr>
          <a:lstStyle/>
          <a:p>
            <a:pPr>
              <a:buNone/>
            </a:pPr>
            <a:r>
              <a:rPr sz="1100" b="0" i="1">
                <a:solidFill>
                  <a:srgbClr val="6B7683"/>
                </a:solidFill>
                <a:latin typeface="Calibri"/>
                <a:ea typeface="Microsoft YaHei"/>
                <a:cs typeface="Microsoft YaHei"/>
              </a:rPr>
              <a:t>📖 每 vốn liên quan hình 母(mǔ, người mẹ) → MỖI lần mẹ sinh nở là một lần khác nhau → "mỗi"</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402486"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 7/15</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拿</a:t>
            </a:r>
          </a:p>
        </p:txBody>
      </p:sp>
      <p:pic>
        <p:nvPicPr>
          <p:cNvPr id="6" name="Picture 5" descr="na.jpg"/>
          <p:cNvPicPr>
            <a:picLocks noChangeAspect="1"/>
          </p:cNvPicPr>
          <p:nvPr/>
        </p:nvPicPr>
        <p:blipFill>
          <a:blip r:embed="rId2"/>
          <a:stretch>
            <a:fillRect/>
          </a:stretch>
        </p:blipFill>
        <p:spPr>
          <a:xfrm>
            <a:off x="1323987" y="2129030"/>
            <a:ext cx="3108960" cy="2073652"/>
          </a:xfrm>
          <a:prstGeom prst="rect">
            <a:avLst/>
          </a:prstGeom>
        </p:spPr>
      </p:pic>
      <p:sp>
        <p:nvSpPr>
          <p:cNvPr id="7" name="TextBox 6"/>
          <p:cNvSpPr txBox="1"/>
          <p:nvPr/>
        </p:nvSpPr>
        <p:spPr>
          <a:xfrm>
            <a:off x="548640" y="4857496"/>
            <a:ext cx="4659654" cy="1634744"/>
          </a:xfrm>
          <a:prstGeom prst="rect">
            <a:avLst/>
          </a:prstGeom>
          <a:noFill/>
        </p:spPr>
        <p:txBody>
          <a:bodyPr wrap="square" anchor="ctr">
            <a:spAutoFit/>
          </a:bodyPr>
          <a:lstStyle/>
          <a:p>
            <a:pPr algn="ctr">
              <a:buNone/>
            </a:pPr>
            <a:r>
              <a:rPr sz="5400" b="1" i="0">
                <a:solidFill>
                  <a:srgbClr val="1F2933"/>
                </a:solidFill>
                <a:latin typeface="Calibri"/>
                <a:ea typeface="Microsoft YaHei"/>
                <a:cs typeface="Microsoft YaHei"/>
              </a:rPr>
              <a:t>拿</a:t>
            </a:r>
            <a:r>
              <a:rPr sz="1600" b="0" i="1">
                <a:solidFill>
                  <a:srgbClr val="6B7683"/>
                </a:solidFill>
                <a:latin typeface="Calibri"/>
                <a:ea typeface="Microsoft YaHei"/>
                <a:cs typeface="Microsoft YaHei"/>
              </a:rPr>
              <a:t>  v.</a:t>
            </a:r>
          </a:p>
          <a:p>
            <a:pPr algn="ctr">
              <a:spcBef>
                <a:spcPts val="600"/>
              </a:spcBef>
              <a:buNone/>
            </a:pPr>
            <a:r>
              <a:rPr sz="2200" b="0" i="1">
                <a:solidFill>
                  <a:srgbClr val="8E2B20"/>
                </a:solidFill>
                <a:latin typeface="Calibri"/>
                <a:ea typeface="Microsoft YaHei"/>
                <a:cs typeface="Microsoft YaHei"/>
              </a:rPr>
              <a:t>ná</a:t>
            </a:r>
          </a:p>
          <a:p>
            <a:pPr algn="ctr">
              <a:spcBef>
                <a:spcPts val="400"/>
              </a:spcBef>
              <a:buNone/>
            </a:pPr>
            <a:r>
              <a:rPr sz="1800" b="0" i="0">
                <a:solidFill>
                  <a:srgbClr val="1F2933"/>
                </a:solidFill>
                <a:latin typeface="Calibri"/>
                <a:ea typeface="Microsoft YaHei"/>
                <a:cs typeface="Microsoft YaHei"/>
              </a:rPr>
              <a:t>cầm, lấy</a:t>
            </a:r>
          </a:p>
        </p:txBody>
      </p:sp>
      <p:sp>
        <p:nvSpPr>
          <p:cNvPr id="8" name="TextBox 7"/>
          <p:cNvSpPr txBox="1"/>
          <p:nvPr/>
        </p:nvSpPr>
        <p:spPr>
          <a:xfrm>
            <a:off x="5665494" y="1611376"/>
            <a:ext cx="5977561" cy="4880864"/>
          </a:xfrm>
          <a:prstGeom prst="rect">
            <a:avLst/>
          </a:prstGeom>
          <a:noFill/>
        </p:spPr>
        <p:txBody>
          <a:bodyPr wrap="square" anchor="ctr">
            <a:spAutoFit/>
          </a:bodyPr>
          <a:lstStyle/>
          <a:p>
            <a:pPr>
              <a:buNone/>
            </a:pPr>
            <a:r>
              <a:rPr sz="1600" b="1" i="0">
                <a:solidFill>
                  <a:srgbClr val="8E2B20"/>
                </a:solidFill>
                <a:latin typeface="Calibri"/>
                <a:ea typeface="Microsoft YaHei"/>
                <a:cs typeface="Microsoft YaHei"/>
              </a:rPr>
              <a:t>例句</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就在桌子上，你自己拿。</a:t>
            </a:r>
          </a:p>
          <a:p>
            <a:pPr>
              <a:spcBef>
                <a:spcPts val="200"/>
              </a:spcBef>
              <a:buNone/>
            </a:pPr>
            <a:r>
              <a:rPr sz="1400" b="0" i="1">
                <a:solidFill>
                  <a:srgbClr val="8E2B20"/>
                </a:solidFill>
                <a:latin typeface="Calibri"/>
                <a:ea typeface="Microsoft YaHei"/>
                <a:cs typeface="Microsoft YaHei"/>
              </a:rPr>
              <a:t>     Jiù zài zhuōzi shàng, nǐ zìjǐ ná.</a:t>
            </a:r>
          </a:p>
          <a:p>
            <a:pPr>
              <a:spcBef>
                <a:spcPts val="100"/>
              </a:spcBef>
              <a:buNone/>
            </a:pPr>
            <a:r>
              <a:rPr sz="1400" b="0" i="0">
                <a:solidFill>
                  <a:srgbClr val="6B7683"/>
                </a:solidFill>
                <a:latin typeface="Calibri"/>
                <a:ea typeface="Microsoft YaHei"/>
                <a:cs typeface="Microsoft YaHei"/>
              </a:rPr>
              <a:t>     Ở trên bàn đấy, bạn tự lấy.</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请把那本书拿给我。</a:t>
            </a:r>
          </a:p>
          <a:p>
            <a:pPr>
              <a:spcBef>
                <a:spcPts val="200"/>
              </a:spcBef>
              <a:buNone/>
            </a:pPr>
            <a:r>
              <a:rPr sz="1400" b="0" i="1">
                <a:solidFill>
                  <a:srgbClr val="8E2B20"/>
                </a:solidFill>
                <a:latin typeface="Calibri"/>
                <a:ea typeface="Microsoft YaHei"/>
                <a:cs typeface="Microsoft YaHei"/>
              </a:rPr>
              <a:t>     Qǐng bǎ nà běn shū ná gěi wǒ.</a:t>
            </a:r>
          </a:p>
          <a:p>
            <a:pPr>
              <a:spcBef>
                <a:spcPts val="100"/>
              </a:spcBef>
              <a:buNone/>
            </a:pPr>
            <a:r>
              <a:rPr sz="1400" b="0" i="0">
                <a:solidFill>
                  <a:srgbClr val="6B7683"/>
                </a:solidFill>
                <a:latin typeface="Calibri"/>
                <a:ea typeface="Microsoft YaHei"/>
                <a:cs typeface="Microsoft YaHei"/>
              </a:rPr>
              <a:t>     Làm ơn lấy cuốn sách đó đưa cho tôi.</a:t>
            </a:r>
          </a:p>
        </p:txBody>
      </p:sp>
      <p:pic>
        <p:nvPicPr>
          <p:cNvPr id="9" name="slide09.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076127" y="320040"/>
            <a:ext cx="566928" cy="566928"/>
          </a:xfrm>
          <a:prstGeom prst="rect">
            <a:avLst/>
          </a:prstGeom>
          <a:ln>
            <a:noFill/>
          </a:ln>
        </p:spPr>
      </p:pic>
      <p:sp>
        <p:nvSpPr>
          <p:cNvPr id="10" name="TextBox 9"/>
          <p:cNvSpPr txBox="1"/>
          <p:nvPr/>
        </p:nvSpPr>
        <p:spPr>
          <a:xfrm>
            <a:off x="548640" y="6492240"/>
            <a:ext cx="11094415" cy="274320"/>
          </a:xfrm>
          <a:prstGeom prst="rect">
            <a:avLst/>
          </a:prstGeom>
          <a:noFill/>
        </p:spPr>
        <p:txBody>
          <a:bodyPr wrap="square" anchor="ctr">
            <a:spAutoFit/>
          </a:bodyPr>
          <a:lstStyle/>
          <a:p>
            <a:pPr>
              <a:buNone/>
            </a:pPr>
            <a:r>
              <a:rPr sz="1100" b="0" i="1">
                <a:solidFill>
                  <a:srgbClr val="6B7683"/>
                </a:solidFill>
                <a:latin typeface="Calibri"/>
                <a:ea typeface="Microsoft YaHei"/>
                <a:cs typeface="Microsoft YaHei"/>
              </a:rPr>
              <a:t>📖 拿 = 合(hé, hợp lại) + 手(shǒu, tay) → hai bên HỢP LẠI, dùng TAY nắm giữ → "cầm, lấy"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402486"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 8/15</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手</a:t>
            </a:r>
          </a:p>
        </p:txBody>
      </p:sp>
      <p:pic>
        <p:nvPicPr>
          <p:cNvPr id="6" name="Picture 5" descr="shou.jpg"/>
          <p:cNvPicPr>
            <a:picLocks noChangeAspect="1"/>
          </p:cNvPicPr>
          <p:nvPr/>
        </p:nvPicPr>
        <p:blipFill>
          <a:blip r:embed="rId2"/>
          <a:stretch>
            <a:fillRect/>
          </a:stretch>
        </p:blipFill>
        <p:spPr>
          <a:xfrm>
            <a:off x="1323987" y="2129536"/>
            <a:ext cx="3108960" cy="2072640"/>
          </a:xfrm>
          <a:prstGeom prst="rect">
            <a:avLst/>
          </a:prstGeom>
        </p:spPr>
      </p:pic>
      <p:sp>
        <p:nvSpPr>
          <p:cNvPr id="7" name="TextBox 6"/>
          <p:cNvSpPr txBox="1"/>
          <p:nvPr/>
        </p:nvSpPr>
        <p:spPr>
          <a:xfrm>
            <a:off x="548640" y="4857496"/>
            <a:ext cx="4659654" cy="1634744"/>
          </a:xfrm>
          <a:prstGeom prst="rect">
            <a:avLst/>
          </a:prstGeom>
          <a:noFill/>
        </p:spPr>
        <p:txBody>
          <a:bodyPr wrap="square" anchor="ctr">
            <a:spAutoFit/>
          </a:bodyPr>
          <a:lstStyle/>
          <a:p>
            <a:pPr algn="ctr">
              <a:buNone/>
            </a:pPr>
            <a:r>
              <a:rPr sz="5400" b="1" i="0">
                <a:solidFill>
                  <a:srgbClr val="1F2933"/>
                </a:solidFill>
                <a:latin typeface="Calibri"/>
                <a:ea typeface="Microsoft YaHei"/>
                <a:cs typeface="Microsoft YaHei"/>
              </a:rPr>
              <a:t>手</a:t>
            </a:r>
            <a:r>
              <a:rPr sz="1600" b="0" i="1">
                <a:solidFill>
                  <a:srgbClr val="6B7683"/>
                </a:solidFill>
                <a:latin typeface="Calibri"/>
                <a:ea typeface="Microsoft YaHei"/>
                <a:cs typeface="Microsoft YaHei"/>
              </a:rPr>
              <a:t>  n.</a:t>
            </a:r>
          </a:p>
          <a:p>
            <a:pPr algn="ctr">
              <a:spcBef>
                <a:spcPts val="600"/>
              </a:spcBef>
              <a:buNone/>
            </a:pPr>
            <a:r>
              <a:rPr sz="2200" b="0" i="1">
                <a:solidFill>
                  <a:srgbClr val="8E2B20"/>
                </a:solidFill>
                <a:latin typeface="Calibri"/>
                <a:ea typeface="Microsoft YaHei"/>
                <a:cs typeface="Microsoft YaHei"/>
              </a:rPr>
              <a:t>shǒu</a:t>
            </a:r>
          </a:p>
          <a:p>
            <a:pPr algn="ctr">
              <a:spcBef>
                <a:spcPts val="400"/>
              </a:spcBef>
              <a:buNone/>
            </a:pPr>
            <a:r>
              <a:rPr sz="1800" b="0" i="0">
                <a:solidFill>
                  <a:srgbClr val="1F2933"/>
                </a:solidFill>
                <a:latin typeface="Calibri"/>
                <a:ea typeface="Microsoft YaHei"/>
                <a:cs typeface="Microsoft YaHei"/>
              </a:rPr>
              <a:t>bàn tay</a:t>
            </a:r>
          </a:p>
        </p:txBody>
      </p:sp>
      <p:sp>
        <p:nvSpPr>
          <p:cNvPr id="8" name="TextBox 7"/>
          <p:cNvSpPr txBox="1"/>
          <p:nvPr/>
        </p:nvSpPr>
        <p:spPr>
          <a:xfrm>
            <a:off x="5665494" y="1611376"/>
            <a:ext cx="5977561" cy="4880864"/>
          </a:xfrm>
          <a:prstGeom prst="rect">
            <a:avLst/>
          </a:prstGeom>
          <a:noFill/>
        </p:spPr>
        <p:txBody>
          <a:bodyPr wrap="square" anchor="ctr">
            <a:spAutoFit/>
          </a:bodyPr>
          <a:lstStyle/>
          <a:p>
            <a:pPr>
              <a:buNone/>
            </a:pPr>
            <a:r>
              <a:rPr sz="1600" b="1" i="0">
                <a:solidFill>
                  <a:srgbClr val="8E2B20"/>
                </a:solidFill>
                <a:latin typeface="Calibri"/>
                <a:ea typeface="Microsoft YaHei"/>
                <a:cs typeface="Microsoft YaHei"/>
              </a:rPr>
              <a:t>例句</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我去洗洗手。</a:t>
            </a:r>
          </a:p>
          <a:p>
            <a:pPr>
              <a:spcBef>
                <a:spcPts val="200"/>
              </a:spcBef>
              <a:buNone/>
            </a:pPr>
            <a:r>
              <a:rPr sz="1400" b="0" i="1">
                <a:solidFill>
                  <a:srgbClr val="8E2B20"/>
                </a:solidFill>
                <a:latin typeface="Calibri"/>
                <a:ea typeface="Microsoft YaHei"/>
                <a:cs typeface="Microsoft YaHei"/>
              </a:rPr>
              <a:t>     Wǒ qù xǐxi shǒu.</a:t>
            </a:r>
          </a:p>
          <a:p>
            <a:pPr>
              <a:spcBef>
                <a:spcPts val="100"/>
              </a:spcBef>
              <a:buNone/>
            </a:pPr>
            <a:r>
              <a:rPr sz="1400" b="0" i="0">
                <a:solidFill>
                  <a:srgbClr val="6B7683"/>
                </a:solidFill>
                <a:latin typeface="Calibri"/>
                <a:ea typeface="Microsoft YaHei"/>
                <a:cs typeface="Microsoft YaHei"/>
              </a:rPr>
              <a:t>     Tôi đi rửa tay chút.</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请把手洗干净再吃饭。</a:t>
            </a:r>
          </a:p>
          <a:p>
            <a:pPr>
              <a:spcBef>
                <a:spcPts val="200"/>
              </a:spcBef>
              <a:buNone/>
            </a:pPr>
            <a:r>
              <a:rPr sz="1400" b="0" i="1">
                <a:solidFill>
                  <a:srgbClr val="8E2B20"/>
                </a:solidFill>
                <a:latin typeface="Calibri"/>
                <a:ea typeface="Microsoft YaHei"/>
                <a:cs typeface="Microsoft YaHei"/>
              </a:rPr>
              <a:t>     Qǐng bǎ shǒu xǐ gānjìng zài chīfàn.</a:t>
            </a:r>
          </a:p>
          <a:p>
            <a:pPr>
              <a:spcBef>
                <a:spcPts val="100"/>
              </a:spcBef>
              <a:buNone/>
            </a:pPr>
            <a:r>
              <a:rPr sz="1400" b="0" i="0">
                <a:solidFill>
                  <a:srgbClr val="6B7683"/>
                </a:solidFill>
                <a:latin typeface="Calibri"/>
                <a:ea typeface="Microsoft YaHei"/>
                <a:cs typeface="Microsoft YaHei"/>
              </a:rPr>
              <a:t>     Hãy rửa tay sạch rồi mới ăn cơm.</a:t>
            </a:r>
          </a:p>
        </p:txBody>
      </p:sp>
      <p:pic>
        <p:nvPicPr>
          <p:cNvPr id="9" name="slide10.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076127" y="320040"/>
            <a:ext cx="566928" cy="566928"/>
          </a:xfrm>
          <a:prstGeom prst="rect">
            <a:avLst/>
          </a:prstGeom>
          <a:ln>
            <a:noFill/>
          </a:ln>
        </p:spPr>
      </p:pic>
      <p:sp>
        <p:nvSpPr>
          <p:cNvPr id="10" name="TextBox 9"/>
          <p:cNvSpPr txBox="1"/>
          <p:nvPr/>
        </p:nvSpPr>
        <p:spPr>
          <a:xfrm>
            <a:off x="548640" y="6492240"/>
            <a:ext cx="11094415" cy="274320"/>
          </a:xfrm>
          <a:prstGeom prst="rect">
            <a:avLst/>
          </a:prstGeom>
          <a:noFill/>
        </p:spPr>
        <p:txBody>
          <a:bodyPr wrap="square" anchor="ctr">
            <a:spAutoFit/>
          </a:bodyPr>
          <a:lstStyle/>
          <a:p>
            <a:pPr>
              <a:buNone/>
            </a:pPr>
            <a:r>
              <a:rPr sz="1100" b="0" i="1">
                <a:solidFill>
                  <a:srgbClr val="6B7683"/>
                </a:solidFill>
                <a:latin typeface="Calibri"/>
                <a:ea typeface="Microsoft YaHei"/>
                <a:cs typeface="Microsoft YaHei"/>
              </a:rPr>
              <a:t>📖 手 vốn là hình vẽ BÀN TAY xòe các ngón → "tay"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402486"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 9/15</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送</a:t>
            </a:r>
          </a:p>
        </p:txBody>
      </p:sp>
      <p:pic>
        <p:nvPicPr>
          <p:cNvPr id="6" name="Picture 5" descr="song.jpg"/>
          <p:cNvPicPr>
            <a:picLocks noChangeAspect="1"/>
          </p:cNvPicPr>
          <p:nvPr/>
        </p:nvPicPr>
        <p:blipFill>
          <a:blip r:embed="rId2"/>
          <a:stretch>
            <a:fillRect/>
          </a:stretch>
        </p:blipFill>
        <p:spPr>
          <a:xfrm>
            <a:off x="1323987" y="1999996"/>
            <a:ext cx="3108960" cy="2331720"/>
          </a:xfrm>
          <a:prstGeom prst="rect">
            <a:avLst/>
          </a:prstGeom>
        </p:spPr>
      </p:pic>
      <p:sp>
        <p:nvSpPr>
          <p:cNvPr id="7" name="TextBox 6"/>
          <p:cNvSpPr txBox="1"/>
          <p:nvPr/>
        </p:nvSpPr>
        <p:spPr>
          <a:xfrm>
            <a:off x="548640" y="4857496"/>
            <a:ext cx="4659654" cy="1634744"/>
          </a:xfrm>
          <a:prstGeom prst="rect">
            <a:avLst/>
          </a:prstGeom>
          <a:noFill/>
        </p:spPr>
        <p:txBody>
          <a:bodyPr wrap="square" anchor="ctr">
            <a:spAutoFit/>
          </a:bodyPr>
          <a:lstStyle/>
          <a:p>
            <a:pPr algn="ctr">
              <a:buNone/>
            </a:pPr>
            <a:r>
              <a:rPr sz="5400" b="1" i="0">
                <a:solidFill>
                  <a:srgbClr val="1F2933"/>
                </a:solidFill>
                <a:latin typeface="Calibri"/>
                <a:ea typeface="Microsoft YaHei"/>
                <a:cs typeface="Microsoft YaHei"/>
              </a:rPr>
              <a:t>送</a:t>
            </a:r>
            <a:r>
              <a:rPr sz="1600" b="0" i="1">
                <a:solidFill>
                  <a:srgbClr val="6B7683"/>
                </a:solidFill>
                <a:latin typeface="Calibri"/>
                <a:ea typeface="Microsoft YaHei"/>
                <a:cs typeface="Microsoft YaHei"/>
              </a:rPr>
              <a:t>  v.</a:t>
            </a:r>
          </a:p>
          <a:p>
            <a:pPr algn="ctr">
              <a:spcBef>
                <a:spcPts val="600"/>
              </a:spcBef>
              <a:buNone/>
            </a:pPr>
            <a:r>
              <a:rPr sz="2200" b="0" i="1">
                <a:solidFill>
                  <a:srgbClr val="8E2B20"/>
                </a:solidFill>
                <a:latin typeface="Calibri"/>
                <a:ea typeface="Microsoft YaHei"/>
                <a:cs typeface="Microsoft YaHei"/>
              </a:rPr>
              <a:t>sòng</a:t>
            </a:r>
          </a:p>
          <a:p>
            <a:pPr algn="ctr">
              <a:spcBef>
                <a:spcPts val="400"/>
              </a:spcBef>
              <a:buNone/>
            </a:pPr>
            <a:r>
              <a:rPr sz="1800" b="0" i="0">
                <a:solidFill>
                  <a:srgbClr val="1F2933"/>
                </a:solidFill>
                <a:latin typeface="Calibri"/>
                <a:ea typeface="Microsoft YaHei"/>
                <a:cs typeface="Microsoft YaHei"/>
              </a:rPr>
              <a:t>đưa, tiễn; tặng</a:t>
            </a:r>
          </a:p>
        </p:txBody>
      </p:sp>
      <p:sp>
        <p:nvSpPr>
          <p:cNvPr id="8" name="TextBox 7"/>
          <p:cNvSpPr txBox="1"/>
          <p:nvPr/>
        </p:nvSpPr>
        <p:spPr>
          <a:xfrm>
            <a:off x="5665494" y="1611376"/>
            <a:ext cx="5977561" cy="4880864"/>
          </a:xfrm>
          <a:prstGeom prst="rect">
            <a:avLst/>
          </a:prstGeom>
          <a:noFill/>
        </p:spPr>
        <p:txBody>
          <a:bodyPr wrap="square" anchor="ctr">
            <a:spAutoFit/>
          </a:bodyPr>
          <a:lstStyle/>
          <a:p>
            <a:pPr>
              <a:buNone/>
            </a:pPr>
            <a:r>
              <a:rPr sz="1600" b="1" i="0">
                <a:solidFill>
                  <a:srgbClr val="8E2B20"/>
                </a:solidFill>
                <a:latin typeface="Calibri"/>
                <a:ea typeface="Microsoft YaHei"/>
                <a:cs typeface="Microsoft YaHei"/>
              </a:rPr>
              <a:t>例句</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早上，刘明开车送孩子去学校。</a:t>
            </a:r>
          </a:p>
          <a:p>
            <a:pPr>
              <a:spcBef>
                <a:spcPts val="200"/>
              </a:spcBef>
              <a:buNone/>
            </a:pPr>
            <a:r>
              <a:rPr sz="1400" b="0" i="1">
                <a:solidFill>
                  <a:srgbClr val="8E2B20"/>
                </a:solidFill>
                <a:latin typeface="Calibri"/>
                <a:ea typeface="Microsoft YaHei"/>
                <a:cs typeface="Microsoft YaHei"/>
              </a:rPr>
              <a:t>     Zǎoshang, Liú Míng kāichē sòng háizi qù xuéxiào.</a:t>
            </a:r>
          </a:p>
          <a:p>
            <a:pPr>
              <a:spcBef>
                <a:spcPts val="100"/>
              </a:spcBef>
              <a:buNone/>
            </a:pPr>
            <a:r>
              <a:rPr sz="1400" b="0" i="0">
                <a:solidFill>
                  <a:srgbClr val="6B7683"/>
                </a:solidFill>
                <a:latin typeface="Calibri"/>
                <a:ea typeface="Microsoft YaHei"/>
                <a:cs typeface="Microsoft YaHei"/>
              </a:rPr>
              <a:t>     Sáng nay, Lưu Minh lái xe đưa con đến trường.</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妈妈每天送我去学校。</a:t>
            </a:r>
          </a:p>
          <a:p>
            <a:pPr>
              <a:spcBef>
                <a:spcPts val="200"/>
              </a:spcBef>
              <a:buNone/>
            </a:pPr>
            <a:r>
              <a:rPr sz="1400" b="0" i="1">
                <a:solidFill>
                  <a:srgbClr val="8E2B20"/>
                </a:solidFill>
                <a:latin typeface="Calibri"/>
                <a:ea typeface="Microsoft YaHei"/>
                <a:cs typeface="Microsoft YaHei"/>
              </a:rPr>
              <a:t>     Māma měitiān sòng wǒ qù xuéxiào.</a:t>
            </a:r>
          </a:p>
          <a:p>
            <a:pPr>
              <a:spcBef>
                <a:spcPts val="100"/>
              </a:spcBef>
              <a:buNone/>
            </a:pPr>
            <a:r>
              <a:rPr sz="1400" b="0" i="0">
                <a:solidFill>
                  <a:srgbClr val="6B7683"/>
                </a:solidFill>
                <a:latin typeface="Calibri"/>
                <a:ea typeface="Microsoft YaHei"/>
                <a:cs typeface="Microsoft YaHei"/>
              </a:rPr>
              <a:t>     Mẹ tôi ngày nào cũng đưa tôi đến trường.</a:t>
            </a:r>
          </a:p>
        </p:txBody>
      </p:sp>
      <p:pic>
        <p:nvPicPr>
          <p:cNvPr id="9" name="slide11.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076127" y="320040"/>
            <a:ext cx="566928" cy="566928"/>
          </a:xfrm>
          <a:prstGeom prst="rect">
            <a:avLst/>
          </a:prstGeom>
          <a:ln>
            <a:noFill/>
          </a:ln>
        </p:spPr>
      </p:pic>
    </p:spTree>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52083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 10/15</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完</a:t>
            </a:r>
          </a:p>
        </p:txBody>
      </p:sp>
      <p:sp>
        <p:nvSpPr>
          <p:cNvPr id="6" name="TextBox 5"/>
          <p:cNvSpPr txBox="1"/>
          <p:nvPr/>
        </p:nvSpPr>
        <p:spPr>
          <a:xfrm>
            <a:off x="548640" y="1611376"/>
            <a:ext cx="4659654" cy="4880864"/>
          </a:xfrm>
          <a:prstGeom prst="rect">
            <a:avLst/>
          </a:prstGeom>
          <a:noFill/>
        </p:spPr>
        <p:txBody>
          <a:bodyPr wrap="square" anchor="ctr">
            <a:spAutoFit/>
          </a:bodyPr>
          <a:lstStyle/>
          <a:p>
            <a:pPr algn="ctr">
              <a:buNone/>
            </a:pPr>
            <a:r>
              <a:rPr sz="5400" b="1" i="0">
                <a:solidFill>
                  <a:srgbClr val="1F2933"/>
                </a:solidFill>
                <a:latin typeface="Calibri"/>
                <a:ea typeface="Microsoft YaHei"/>
                <a:cs typeface="Microsoft YaHei"/>
              </a:rPr>
              <a:t>完</a:t>
            </a:r>
            <a:r>
              <a:rPr sz="1600" b="0" i="1">
                <a:solidFill>
                  <a:srgbClr val="6B7683"/>
                </a:solidFill>
                <a:latin typeface="Calibri"/>
                <a:ea typeface="Microsoft YaHei"/>
                <a:cs typeface="Microsoft YaHei"/>
              </a:rPr>
              <a:t>  v.</a:t>
            </a:r>
          </a:p>
          <a:p>
            <a:pPr algn="ctr">
              <a:spcBef>
                <a:spcPts val="600"/>
              </a:spcBef>
              <a:buNone/>
            </a:pPr>
            <a:r>
              <a:rPr sz="2200" b="0" i="1">
                <a:solidFill>
                  <a:srgbClr val="8E2B20"/>
                </a:solidFill>
                <a:latin typeface="Calibri"/>
                <a:ea typeface="Microsoft YaHei"/>
                <a:cs typeface="Microsoft YaHei"/>
              </a:rPr>
              <a:t>wán</a:t>
            </a:r>
          </a:p>
          <a:p>
            <a:pPr algn="ctr">
              <a:spcBef>
                <a:spcPts val="400"/>
              </a:spcBef>
              <a:buNone/>
            </a:pPr>
            <a:r>
              <a:rPr sz="1800" b="0" i="0">
                <a:solidFill>
                  <a:srgbClr val="1F2933"/>
                </a:solidFill>
                <a:latin typeface="Calibri"/>
                <a:ea typeface="Microsoft YaHei"/>
                <a:cs typeface="Microsoft YaHei"/>
              </a:rPr>
              <a:t>xong, hết</a:t>
            </a:r>
          </a:p>
        </p:txBody>
      </p:sp>
      <p:sp>
        <p:nvSpPr>
          <p:cNvPr id="7" name="TextBox 6"/>
          <p:cNvSpPr txBox="1"/>
          <p:nvPr/>
        </p:nvSpPr>
        <p:spPr>
          <a:xfrm>
            <a:off x="5665494" y="1611376"/>
            <a:ext cx="5977561" cy="4880864"/>
          </a:xfrm>
          <a:prstGeom prst="rect">
            <a:avLst/>
          </a:prstGeom>
          <a:noFill/>
        </p:spPr>
        <p:txBody>
          <a:bodyPr wrap="square" anchor="ctr">
            <a:spAutoFit/>
          </a:bodyPr>
          <a:lstStyle/>
          <a:p>
            <a:pPr>
              <a:buNone/>
            </a:pPr>
            <a:r>
              <a:rPr sz="1600" b="1" i="0">
                <a:solidFill>
                  <a:srgbClr val="8E2B20"/>
                </a:solidFill>
                <a:latin typeface="Calibri"/>
                <a:ea typeface="Microsoft YaHei"/>
                <a:cs typeface="Microsoft YaHei"/>
              </a:rPr>
              <a:t>例句</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工作太多了，下班的时候没做完。</a:t>
            </a:r>
          </a:p>
          <a:p>
            <a:pPr>
              <a:spcBef>
                <a:spcPts val="200"/>
              </a:spcBef>
              <a:buNone/>
            </a:pPr>
            <a:r>
              <a:rPr sz="1400" b="0" i="1">
                <a:solidFill>
                  <a:srgbClr val="8E2B20"/>
                </a:solidFill>
                <a:latin typeface="Calibri"/>
                <a:ea typeface="Microsoft YaHei"/>
                <a:cs typeface="Microsoft YaHei"/>
              </a:rPr>
              <a:t>     Gōngzuò tài duō le, xiàbān de shíhòu méi zuòwán.</a:t>
            </a:r>
          </a:p>
          <a:p>
            <a:pPr>
              <a:spcBef>
                <a:spcPts val="100"/>
              </a:spcBef>
              <a:buNone/>
            </a:pPr>
            <a:r>
              <a:rPr sz="1400" b="0" i="0">
                <a:solidFill>
                  <a:srgbClr val="6B7683"/>
                </a:solidFill>
                <a:latin typeface="Calibri"/>
                <a:ea typeface="Microsoft YaHei"/>
                <a:cs typeface="Microsoft YaHei"/>
              </a:rPr>
              <a:t>     Việc nhiều quá, lúc tan ca chưa làm xong.</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你的作业写完了吗？</a:t>
            </a:r>
          </a:p>
          <a:p>
            <a:pPr>
              <a:spcBef>
                <a:spcPts val="200"/>
              </a:spcBef>
              <a:buNone/>
            </a:pPr>
            <a:r>
              <a:rPr sz="1400" b="0" i="1">
                <a:solidFill>
                  <a:srgbClr val="8E2B20"/>
                </a:solidFill>
                <a:latin typeface="Calibri"/>
                <a:ea typeface="Microsoft YaHei"/>
                <a:cs typeface="Microsoft YaHei"/>
              </a:rPr>
              <a:t>     Nǐ de zuòyè xiěwán le ma?</a:t>
            </a:r>
          </a:p>
          <a:p>
            <a:pPr>
              <a:spcBef>
                <a:spcPts val="100"/>
              </a:spcBef>
              <a:buNone/>
            </a:pPr>
            <a:r>
              <a:rPr sz="1400" b="0" i="0">
                <a:solidFill>
                  <a:srgbClr val="6B7683"/>
                </a:solidFill>
                <a:latin typeface="Calibri"/>
                <a:ea typeface="Microsoft YaHei"/>
                <a:cs typeface="Microsoft YaHei"/>
              </a:rPr>
              <a:t>     Bạn viết xong bài tập chưa?</a:t>
            </a:r>
          </a:p>
        </p:txBody>
      </p:sp>
      <p:pic>
        <p:nvPicPr>
          <p:cNvPr id="8" name="slide12.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1076127" y="320040"/>
            <a:ext cx="566928" cy="566928"/>
          </a:xfrm>
          <a:prstGeom prst="rect">
            <a:avLst/>
          </a:prstGeom>
          <a:ln>
            <a:noFill/>
          </a:ln>
        </p:spPr>
      </p:pic>
      <p:sp>
        <p:nvSpPr>
          <p:cNvPr id="9" name="TextBox 8"/>
          <p:cNvSpPr txBox="1"/>
          <p:nvPr/>
        </p:nvSpPr>
        <p:spPr>
          <a:xfrm>
            <a:off x="548640" y="6492240"/>
            <a:ext cx="11094415" cy="274320"/>
          </a:xfrm>
          <a:prstGeom prst="rect">
            <a:avLst/>
          </a:prstGeom>
          <a:noFill/>
        </p:spPr>
        <p:txBody>
          <a:bodyPr wrap="square" anchor="ctr">
            <a:spAutoFit/>
          </a:bodyPr>
          <a:lstStyle/>
          <a:p>
            <a:pPr>
              <a:buNone/>
            </a:pPr>
            <a:r>
              <a:rPr sz="1100" b="0" i="1">
                <a:solidFill>
                  <a:srgbClr val="6B7683"/>
                </a:solidFill>
                <a:latin typeface="Calibri"/>
                <a:ea typeface="Microsoft YaHei"/>
                <a:cs typeface="Microsoft YaHei"/>
              </a:rPr>
              <a:t>📖 完 = 宀(mián, mái nhà) + 元(yuán, đầu tiên) → việc ĐẦU TIÊN trong nhà đã xong xuôi → "hoàn thành"</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52083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 11/15</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为什么</a:t>
            </a:r>
          </a:p>
        </p:txBody>
      </p:sp>
      <p:sp>
        <p:nvSpPr>
          <p:cNvPr id="6" name="TextBox 5"/>
          <p:cNvSpPr txBox="1"/>
          <p:nvPr/>
        </p:nvSpPr>
        <p:spPr>
          <a:xfrm>
            <a:off x="548640" y="1611376"/>
            <a:ext cx="4659654" cy="4880864"/>
          </a:xfrm>
          <a:prstGeom prst="rect">
            <a:avLst/>
          </a:prstGeom>
          <a:noFill/>
        </p:spPr>
        <p:txBody>
          <a:bodyPr wrap="square" anchor="ctr">
            <a:spAutoFit/>
          </a:bodyPr>
          <a:lstStyle/>
          <a:p>
            <a:pPr algn="ctr">
              <a:buNone/>
            </a:pPr>
            <a:r>
              <a:rPr sz="5400" b="1" i="0">
                <a:solidFill>
                  <a:srgbClr val="1F2933"/>
                </a:solidFill>
                <a:latin typeface="Calibri"/>
                <a:ea typeface="Microsoft YaHei"/>
                <a:cs typeface="Microsoft YaHei"/>
              </a:rPr>
              <a:t>为什么</a:t>
            </a:r>
            <a:r>
              <a:rPr sz="1600" b="0" i="1">
                <a:solidFill>
                  <a:srgbClr val="6B7683"/>
                </a:solidFill>
                <a:latin typeface="Calibri"/>
                <a:ea typeface="Microsoft YaHei"/>
                <a:cs typeface="Microsoft YaHei"/>
              </a:rPr>
              <a:t>  pron.</a:t>
            </a:r>
          </a:p>
          <a:p>
            <a:pPr algn="ctr">
              <a:spcBef>
                <a:spcPts val="600"/>
              </a:spcBef>
              <a:buNone/>
            </a:pPr>
            <a:r>
              <a:rPr sz="2200" b="0" i="1">
                <a:solidFill>
                  <a:srgbClr val="8E2B20"/>
                </a:solidFill>
                <a:latin typeface="Calibri"/>
                <a:ea typeface="Microsoft YaHei"/>
                <a:cs typeface="Microsoft YaHei"/>
              </a:rPr>
              <a:t>wèishénme</a:t>
            </a:r>
          </a:p>
          <a:p>
            <a:pPr algn="ctr">
              <a:spcBef>
                <a:spcPts val="400"/>
              </a:spcBef>
              <a:buNone/>
            </a:pPr>
            <a:r>
              <a:rPr sz="1800" b="0" i="0">
                <a:solidFill>
                  <a:srgbClr val="1F2933"/>
                </a:solidFill>
                <a:latin typeface="Calibri"/>
                <a:ea typeface="Microsoft YaHei"/>
                <a:cs typeface="Microsoft YaHei"/>
              </a:rPr>
              <a:t>tại sao</a:t>
            </a:r>
          </a:p>
        </p:txBody>
      </p:sp>
      <p:sp>
        <p:nvSpPr>
          <p:cNvPr id="7" name="TextBox 6"/>
          <p:cNvSpPr txBox="1"/>
          <p:nvPr/>
        </p:nvSpPr>
        <p:spPr>
          <a:xfrm>
            <a:off x="5665494" y="1611376"/>
            <a:ext cx="5977561" cy="4880864"/>
          </a:xfrm>
          <a:prstGeom prst="rect">
            <a:avLst/>
          </a:prstGeom>
          <a:noFill/>
        </p:spPr>
        <p:txBody>
          <a:bodyPr wrap="square" anchor="ctr">
            <a:spAutoFit/>
          </a:bodyPr>
          <a:lstStyle/>
          <a:p>
            <a:pPr>
              <a:buNone/>
            </a:pPr>
            <a:r>
              <a:rPr sz="1600" b="1" i="0">
                <a:solidFill>
                  <a:srgbClr val="8E2B20"/>
                </a:solidFill>
                <a:latin typeface="Calibri"/>
                <a:ea typeface="Microsoft YaHei"/>
                <a:cs typeface="Microsoft YaHei"/>
              </a:rPr>
              <a:t>例句</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王一雪为什么想去西安旅游？</a:t>
            </a:r>
          </a:p>
          <a:p>
            <a:pPr>
              <a:spcBef>
                <a:spcPts val="200"/>
              </a:spcBef>
              <a:buNone/>
            </a:pPr>
            <a:r>
              <a:rPr sz="1400" b="0" i="1">
                <a:solidFill>
                  <a:srgbClr val="8E2B20"/>
                </a:solidFill>
                <a:latin typeface="Calibri"/>
                <a:ea typeface="Microsoft YaHei"/>
                <a:cs typeface="Microsoft YaHei"/>
              </a:rPr>
              <a:t>     Wáng Yīxuě wèishénme xiǎng qù Xī'ān lǚyóu?</a:t>
            </a:r>
          </a:p>
          <a:p>
            <a:pPr>
              <a:spcBef>
                <a:spcPts val="100"/>
              </a:spcBef>
              <a:buNone/>
            </a:pPr>
            <a:r>
              <a:rPr sz="1400" b="0" i="0">
                <a:solidFill>
                  <a:srgbClr val="6B7683"/>
                </a:solidFill>
                <a:latin typeface="Calibri"/>
                <a:ea typeface="Microsoft YaHei"/>
                <a:cs typeface="Microsoft YaHei"/>
              </a:rPr>
              <a:t>     Vì sao Vương Nhất Tuyết muốn đi Tây An du lịch?</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你为什么这么累？</a:t>
            </a:r>
          </a:p>
          <a:p>
            <a:pPr>
              <a:spcBef>
                <a:spcPts val="200"/>
              </a:spcBef>
              <a:buNone/>
            </a:pPr>
            <a:r>
              <a:rPr sz="1400" b="0" i="1">
                <a:solidFill>
                  <a:srgbClr val="8E2B20"/>
                </a:solidFill>
                <a:latin typeface="Calibri"/>
                <a:ea typeface="Microsoft YaHei"/>
                <a:cs typeface="Microsoft YaHei"/>
              </a:rPr>
              <a:t>     Nǐ wèishénme zhème lèi?</a:t>
            </a:r>
          </a:p>
          <a:p>
            <a:pPr>
              <a:spcBef>
                <a:spcPts val="100"/>
              </a:spcBef>
              <a:buNone/>
            </a:pPr>
            <a:r>
              <a:rPr sz="1400" b="0" i="0">
                <a:solidFill>
                  <a:srgbClr val="6B7683"/>
                </a:solidFill>
                <a:latin typeface="Calibri"/>
                <a:ea typeface="Microsoft YaHei"/>
                <a:cs typeface="Microsoft YaHei"/>
              </a:rPr>
              <a:t>     Sao bạn mệt vậy?</a:t>
            </a:r>
          </a:p>
        </p:txBody>
      </p:sp>
      <p:pic>
        <p:nvPicPr>
          <p:cNvPr id="8" name="slide13.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1076127" y="320040"/>
            <a:ext cx="566928" cy="566928"/>
          </a:xfrm>
          <a:prstGeom prst="rect">
            <a:avLst/>
          </a:prstGeom>
          <a:ln>
            <a:noFill/>
          </a:ln>
        </p:spPr>
      </p:pic>
      <p:sp>
        <p:nvSpPr>
          <p:cNvPr id="9" name="TextBox 8"/>
          <p:cNvSpPr txBox="1"/>
          <p:nvPr/>
        </p:nvSpPr>
        <p:spPr>
          <a:xfrm>
            <a:off x="548640" y="6492240"/>
            <a:ext cx="11094415" cy="274320"/>
          </a:xfrm>
          <a:prstGeom prst="rect">
            <a:avLst/>
          </a:prstGeom>
          <a:noFill/>
        </p:spPr>
        <p:txBody>
          <a:bodyPr wrap="square" anchor="ctr">
            <a:spAutoFit/>
          </a:bodyPr>
          <a:lstStyle/>
          <a:p>
            <a:pPr>
              <a:buNone/>
            </a:pPr>
            <a:r>
              <a:rPr sz="1100" b="0" i="1">
                <a:solidFill>
                  <a:srgbClr val="6B7683"/>
                </a:solidFill>
                <a:latin typeface="Calibri"/>
                <a:ea typeface="Microsoft YaHei"/>
                <a:cs typeface="Microsoft YaHei"/>
              </a:rPr>
              <a:t>📖 为 vốn là hình bàn tay dắt một con VOI đi làm việc → "làm, vì" → 为什么 = vì cái gì, tại sao</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52083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 12/15</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洗</a:t>
            </a:r>
          </a:p>
        </p:txBody>
      </p:sp>
      <p:pic>
        <p:nvPicPr>
          <p:cNvPr id="6" name="Picture 5" descr="xi.jpg"/>
          <p:cNvPicPr>
            <a:picLocks noChangeAspect="1"/>
          </p:cNvPicPr>
          <p:nvPr/>
        </p:nvPicPr>
        <p:blipFill>
          <a:blip r:embed="rId2"/>
          <a:stretch>
            <a:fillRect/>
          </a:stretch>
        </p:blipFill>
        <p:spPr>
          <a:xfrm>
            <a:off x="1712607" y="1611376"/>
            <a:ext cx="2331720" cy="3108960"/>
          </a:xfrm>
          <a:prstGeom prst="rect">
            <a:avLst/>
          </a:prstGeom>
        </p:spPr>
      </p:pic>
      <p:sp>
        <p:nvSpPr>
          <p:cNvPr id="7" name="TextBox 6"/>
          <p:cNvSpPr txBox="1"/>
          <p:nvPr/>
        </p:nvSpPr>
        <p:spPr>
          <a:xfrm>
            <a:off x="548640" y="4857496"/>
            <a:ext cx="4659654" cy="1634744"/>
          </a:xfrm>
          <a:prstGeom prst="rect">
            <a:avLst/>
          </a:prstGeom>
          <a:noFill/>
        </p:spPr>
        <p:txBody>
          <a:bodyPr wrap="square" anchor="ctr">
            <a:spAutoFit/>
          </a:bodyPr>
          <a:lstStyle/>
          <a:p>
            <a:pPr algn="ctr">
              <a:buNone/>
            </a:pPr>
            <a:r>
              <a:rPr sz="5400" b="1" i="0">
                <a:solidFill>
                  <a:srgbClr val="1F2933"/>
                </a:solidFill>
                <a:latin typeface="Calibri"/>
                <a:ea typeface="Microsoft YaHei"/>
                <a:cs typeface="Microsoft YaHei"/>
              </a:rPr>
              <a:t>洗</a:t>
            </a:r>
            <a:r>
              <a:rPr sz="1600" b="0" i="1">
                <a:solidFill>
                  <a:srgbClr val="6B7683"/>
                </a:solidFill>
                <a:latin typeface="Calibri"/>
                <a:ea typeface="Microsoft YaHei"/>
                <a:cs typeface="Microsoft YaHei"/>
              </a:rPr>
              <a:t>  v.</a:t>
            </a:r>
          </a:p>
          <a:p>
            <a:pPr algn="ctr">
              <a:spcBef>
                <a:spcPts val="600"/>
              </a:spcBef>
              <a:buNone/>
            </a:pPr>
            <a:r>
              <a:rPr sz="2200" b="0" i="1">
                <a:solidFill>
                  <a:srgbClr val="8E2B20"/>
                </a:solidFill>
                <a:latin typeface="Calibri"/>
                <a:ea typeface="Microsoft YaHei"/>
                <a:cs typeface="Microsoft YaHei"/>
              </a:rPr>
              <a:t>xǐ</a:t>
            </a:r>
          </a:p>
          <a:p>
            <a:pPr algn="ctr">
              <a:spcBef>
                <a:spcPts val="400"/>
              </a:spcBef>
              <a:buNone/>
            </a:pPr>
            <a:r>
              <a:rPr sz="1800" b="0" i="0">
                <a:solidFill>
                  <a:srgbClr val="1F2933"/>
                </a:solidFill>
                <a:latin typeface="Calibri"/>
                <a:ea typeface="Microsoft YaHei"/>
                <a:cs typeface="Microsoft YaHei"/>
              </a:rPr>
              <a:t>rửa, giặt, tắm</a:t>
            </a:r>
          </a:p>
        </p:txBody>
      </p:sp>
      <p:sp>
        <p:nvSpPr>
          <p:cNvPr id="8" name="TextBox 7"/>
          <p:cNvSpPr txBox="1"/>
          <p:nvPr/>
        </p:nvSpPr>
        <p:spPr>
          <a:xfrm>
            <a:off x="5665494" y="1611376"/>
            <a:ext cx="5977561" cy="4880864"/>
          </a:xfrm>
          <a:prstGeom prst="rect">
            <a:avLst/>
          </a:prstGeom>
          <a:noFill/>
        </p:spPr>
        <p:txBody>
          <a:bodyPr wrap="square" anchor="ctr">
            <a:spAutoFit/>
          </a:bodyPr>
          <a:lstStyle/>
          <a:p>
            <a:pPr>
              <a:buNone/>
            </a:pPr>
            <a:r>
              <a:rPr sz="1600" b="1" i="0">
                <a:solidFill>
                  <a:srgbClr val="8E2B20"/>
                </a:solidFill>
                <a:latin typeface="Calibri"/>
                <a:ea typeface="Microsoft YaHei"/>
                <a:cs typeface="Microsoft YaHei"/>
              </a:rPr>
              <a:t>例句</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吃个苹果吧，我都洗好了。</a:t>
            </a:r>
          </a:p>
          <a:p>
            <a:pPr>
              <a:spcBef>
                <a:spcPts val="200"/>
              </a:spcBef>
              <a:buNone/>
            </a:pPr>
            <a:r>
              <a:rPr sz="1400" b="0" i="1">
                <a:solidFill>
                  <a:srgbClr val="8E2B20"/>
                </a:solidFill>
                <a:latin typeface="Calibri"/>
                <a:ea typeface="Microsoft YaHei"/>
                <a:cs typeface="Microsoft YaHei"/>
              </a:rPr>
              <a:t>     Chī gè píngguǒ ba, wǒ dōu xǐhǎo le.</a:t>
            </a:r>
          </a:p>
          <a:p>
            <a:pPr>
              <a:spcBef>
                <a:spcPts val="100"/>
              </a:spcBef>
              <a:buNone/>
            </a:pPr>
            <a:r>
              <a:rPr sz="1400" b="0" i="0">
                <a:solidFill>
                  <a:srgbClr val="6B7683"/>
                </a:solidFill>
                <a:latin typeface="Calibri"/>
                <a:ea typeface="Microsoft YaHei"/>
                <a:cs typeface="Microsoft YaHei"/>
              </a:rPr>
              <a:t>     Ăn quả táo đi, tôi rửa xong cả rồi.</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吃饭前要洗手。</a:t>
            </a:r>
          </a:p>
          <a:p>
            <a:pPr>
              <a:spcBef>
                <a:spcPts val="200"/>
              </a:spcBef>
              <a:buNone/>
            </a:pPr>
            <a:r>
              <a:rPr sz="1400" b="0" i="1">
                <a:solidFill>
                  <a:srgbClr val="8E2B20"/>
                </a:solidFill>
                <a:latin typeface="Calibri"/>
                <a:ea typeface="Microsoft YaHei"/>
                <a:cs typeface="Microsoft YaHei"/>
              </a:rPr>
              <a:t>     Chīfàn qián yào xǐ shǒu.</a:t>
            </a:r>
          </a:p>
          <a:p>
            <a:pPr>
              <a:spcBef>
                <a:spcPts val="100"/>
              </a:spcBef>
              <a:buNone/>
            </a:pPr>
            <a:r>
              <a:rPr sz="1400" b="0" i="0">
                <a:solidFill>
                  <a:srgbClr val="6B7683"/>
                </a:solidFill>
                <a:latin typeface="Calibri"/>
                <a:ea typeface="Microsoft YaHei"/>
                <a:cs typeface="Microsoft YaHei"/>
              </a:rPr>
              <a:t>     Trước khi ăn phải rửa tay.</a:t>
            </a:r>
          </a:p>
        </p:txBody>
      </p:sp>
      <p:pic>
        <p:nvPicPr>
          <p:cNvPr id="9" name="slide14.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076127" y="320040"/>
            <a:ext cx="566928" cy="566928"/>
          </a:xfrm>
          <a:prstGeom prst="rect">
            <a:avLst/>
          </a:prstGeom>
          <a:ln>
            <a:noFill/>
          </a:ln>
        </p:spPr>
      </p:pic>
      <p:sp>
        <p:nvSpPr>
          <p:cNvPr id="10" name="TextBox 9"/>
          <p:cNvSpPr txBox="1"/>
          <p:nvPr/>
        </p:nvSpPr>
        <p:spPr>
          <a:xfrm>
            <a:off x="548640" y="6492240"/>
            <a:ext cx="11094415" cy="274320"/>
          </a:xfrm>
          <a:prstGeom prst="rect">
            <a:avLst/>
          </a:prstGeom>
          <a:noFill/>
        </p:spPr>
        <p:txBody>
          <a:bodyPr wrap="square" anchor="ctr">
            <a:spAutoFit/>
          </a:bodyPr>
          <a:lstStyle/>
          <a:p>
            <a:pPr>
              <a:buNone/>
            </a:pPr>
            <a:r>
              <a:rPr sz="1100" b="0" i="1">
                <a:solidFill>
                  <a:srgbClr val="6B7683"/>
                </a:solidFill>
                <a:latin typeface="Calibri"/>
                <a:ea typeface="Microsoft YaHei"/>
                <a:cs typeface="Microsoft YaHei"/>
              </a:rPr>
              <a:t>📖 洗 = 氵(shuǐ, nước) + 先(xiān, trước) → dùng NƯỚC TRƯỚC tiên để làm sạch → "rửa"</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52083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 13/15</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一起</a:t>
            </a:r>
          </a:p>
        </p:txBody>
      </p:sp>
      <p:sp>
        <p:nvSpPr>
          <p:cNvPr id="6" name="TextBox 5"/>
          <p:cNvSpPr txBox="1"/>
          <p:nvPr/>
        </p:nvSpPr>
        <p:spPr>
          <a:xfrm>
            <a:off x="548640" y="1611376"/>
            <a:ext cx="4659654" cy="4880864"/>
          </a:xfrm>
          <a:prstGeom prst="rect">
            <a:avLst/>
          </a:prstGeom>
          <a:noFill/>
        </p:spPr>
        <p:txBody>
          <a:bodyPr wrap="square" anchor="ctr">
            <a:spAutoFit/>
          </a:bodyPr>
          <a:lstStyle/>
          <a:p>
            <a:pPr algn="ctr">
              <a:buNone/>
            </a:pPr>
            <a:r>
              <a:rPr sz="5400" b="1" i="0">
                <a:solidFill>
                  <a:srgbClr val="1F2933"/>
                </a:solidFill>
                <a:latin typeface="Calibri"/>
                <a:ea typeface="Microsoft YaHei"/>
                <a:cs typeface="Microsoft YaHei"/>
              </a:rPr>
              <a:t>一起</a:t>
            </a:r>
            <a:r>
              <a:rPr sz="1600" b="0" i="1">
                <a:solidFill>
                  <a:srgbClr val="6B7683"/>
                </a:solidFill>
                <a:latin typeface="Calibri"/>
                <a:ea typeface="Microsoft YaHei"/>
                <a:cs typeface="Microsoft YaHei"/>
              </a:rPr>
              <a:t>  adv.</a:t>
            </a:r>
          </a:p>
          <a:p>
            <a:pPr algn="ctr">
              <a:spcBef>
                <a:spcPts val="600"/>
              </a:spcBef>
              <a:buNone/>
            </a:pPr>
            <a:r>
              <a:rPr sz="2200" b="0" i="1">
                <a:solidFill>
                  <a:srgbClr val="8E2B20"/>
                </a:solidFill>
                <a:latin typeface="Calibri"/>
                <a:ea typeface="Microsoft YaHei"/>
                <a:cs typeface="Microsoft YaHei"/>
              </a:rPr>
              <a:t>yìqǐ</a:t>
            </a:r>
          </a:p>
          <a:p>
            <a:pPr algn="ctr">
              <a:spcBef>
                <a:spcPts val="400"/>
              </a:spcBef>
              <a:buNone/>
            </a:pPr>
            <a:r>
              <a:rPr sz="1800" b="0" i="0">
                <a:solidFill>
                  <a:srgbClr val="1F2933"/>
                </a:solidFill>
                <a:latin typeface="Calibri"/>
                <a:ea typeface="Microsoft YaHei"/>
                <a:cs typeface="Microsoft YaHei"/>
              </a:rPr>
              <a:t>cùng nhau</a:t>
            </a:r>
          </a:p>
        </p:txBody>
      </p:sp>
      <p:sp>
        <p:nvSpPr>
          <p:cNvPr id="7" name="TextBox 6"/>
          <p:cNvSpPr txBox="1"/>
          <p:nvPr/>
        </p:nvSpPr>
        <p:spPr>
          <a:xfrm>
            <a:off x="5665494" y="1611376"/>
            <a:ext cx="5977561" cy="4880864"/>
          </a:xfrm>
          <a:prstGeom prst="rect">
            <a:avLst/>
          </a:prstGeom>
          <a:noFill/>
        </p:spPr>
        <p:txBody>
          <a:bodyPr wrap="square" anchor="ctr">
            <a:spAutoFit/>
          </a:bodyPr>
          <a:lstStyle/>
          <a:p>
            <a:pPr>
              <a:buNone/>
            </a:pPr>
            <a:r>
              <a:rPr sz="1600" b="1" i="0">
                <a:solidFill>
                  <a:srgbClr val="8E2B20"/>
                </a:solidFill>
                <a:latin typeface="Calibri"/>
                <a:ea typeface="Microsoft YaHei"/>
                <a:cs typeface="Microsoft YaHei"/>
              </a:rPr>
              <a:t>例句</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好啊，我也很想一起出去玩。</a:t>
            </a:r>
          </a:p>
          <a:p>
            <a:pPr>
              <a:spcBef>
                <a:spcPts val="200"/>
              </a:spcBef>
              <a:buNone/>
            </a:pPr>
            <a:r>
              <a:rPr sz="1400" b="0" i="1">
                <a:solidFill>
                  <a:srgbClr val="8E2B20"/>
                </a:solidFill>
                <a:latin typeface="Calibri"/>
                <a:ea typeface="Microsoft YaHei"/>
                <a:cs typeface="Microsoft YaHei"/>
              </a:rPr>
              <a:t>     Hǎo a, wǒ yě hěn xiǎng yìqǐ chūqù wán.</a:t>
            </a:r>
          </a:p>
          <a:p>
            <a:pPr>
              <a:spcBef>
                <a:spcPts val="100"/>
              </a:spcBef>
              <a:buNone/>
            </a:pPr>
            <a:r>
              <a:rPr sz="1400" b="0" i="0">
                <a:solidFill>
                  <a:srgbClr val="6B7683"/>
                </a:solidFill>
                <a:latin typeface="Calibri"/>
                <a:ea typeface="Microsoft YaHei"/>
                <a:cs typeface="Microsoft YaHei"/>
              </a:rPr>
              <a:t>     Được đấy, tôi cũng rất muốn cùng đi chơi.</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我们一起去看电影吧。</a:t>
            </a:r>
          </a:p>
          <a:p>
            <a:pPr>
              <a:spcBef>
                <a:spcPts val="200"/>
              </a:spcBef>
              <a:buNone/>
            </a:pPr>
            <a:r>
              <a:rPr sz="1400" b="0" i="1">
                <a:solidFill>
                  <a:srgbClr val="8E2B20"/>
                </a:solidFill>
                <a:latin typeface="Calibri"/>
                <a:ea typeface="Microsoft YaHei"/>
                <a:cs typeface="Microsoft YaHei"/>
              </a:rPr>
              <a:t>     Wǒmen yìqǐ qù kàn diànyǐng ba.</a:t>
            </a:r>
          </a:p>
          <a:p>
            <a:pPr>
              <a:spcBef>
                <a:spcPts val="100"/>
              </a:spcBef>
              <a:buNone/>
            </a:pPr>
            <a:r>
              <a:rPr sz="1400" b="0" i="0">
                <a:solidFill>
                  <a:srgbClr val="6B7683"/>
                </a:solidFill>
                <a:latin typeface="Calibri"/>
                <a:ea typeface="Microsoft YaHei"/>
                <a:cs typeface="Microsoft YaHei"/>
              </a:rPr>
              <a:t>     Chúng ta cùng đi xem phim đi.</a:t>
            </a:r>
          </a:p>
        </p:txBody>
      </p:sp>
      <p:pic>
        <p:nvPicPr>
          <p:cNvPr id="8" name="slide15.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1076127" y="320040"/>
            <a:ext cx="566928" cy="566928"/>
          </a:xfrm>
          <a:prstGeom prst="rect">
            <a:avLst/>
          </a:prstGeom>
          <a:ln>
            <a:noFill/>
          </a:ln>
        </p:spPr>
      </p:pic>
      <p:sp>
        <p:nvSpPr>
          <p:cNvPr id="9" name="TextBox 8"/>
          <p:cNvSpPr txBox="1"/>
          <p:nvPr/>
        </p:nvSpPr>
        <p:spPr>
          <a:xfrm>
            <a:off x="548640" y="6492240"/>
            <a:ext cx="11094415" cy="274320"/>
          </a:xfrm>
          <a:prstGeom prst="rect">
            <a:avLst/>
          </a:prstGeom>
          <a:noFill/>
        </p:spPr>
        <p:txBody>
          <a:bodyPr wrap="square" anchor="ctr">
            <a:spAutoFit/>
          </a:bodyPr>
          <a:lstStyle/>
          <a:p>
            <a:pPr>
              <a:buNone/>
            </a:pPr>
            <a:r>
              <a:rPr sz="1100" b="0" i="1">
                <a:solidFill>
                  <a:srgbClr val="6B7683"/>
                </a:solidFill>
                <a:latin typeface="Calibri"/>
                <a:ea typeface="Microsoft YaHei"/>
                <a:cs typeface="Microsoft YaHei"/>
              </a:rPr>
              <a:t>📖 起 = 走(zǒu, đi/chạy) + 己(jǐ, bản thân) → TỰ MÌNH đứng dậy và bước đi → "dậy, bắt đầu" → 一起 = cùng nhau</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52083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 14/15</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这么</a:t>
            </a:r>
          </a:p>
        </p:txBody>
      </p:sp>
      <p:sp>
        <p:nvSpPr>
          <p:cNvPr id="6" name="TextBox 5"/>
          <p:cNvSpPr txBox="1"/>
          <p:nvPr/>
        </p:nvSpPr>
        <p:spPr>
          <a:xfrm>
            <a:off x="548640" y="1611376"/>
            <a:ext cx="4659654" cy="4880864"/>
          </a:xfrm>
          <a:prstGeom prst="rect">
            <a:avLst/>
          </a:prstGeom>
          <a:noFill/>
        </p:spPr>
        <p:txBody>
          <a:bodyPr wrap="square" anchor="ctr">
            <a:spAutoFit/>
          </a:bodyPr>
          <a:lstStyle/>
          <a:p>
            <a:pPr algn="ctr">
              <a:buNone/>
            </a:pPr>
            <a:r>
              <a:rPr sz="5400" b="1" i="0">
                <a:solidFill>
                  <a:srgbClr val="1F2933"/>
                </a:solidFill>
                <a:latin typeface="Calibri"/>
                <a:ea typeface="Microsoft YaHei"/>
                <a:cs typeface="Microsoft YaHei"/>
              </a:rPr>
              <a:t>这么</a:t>
            </a:r>
            <a:r>
              <a:rPr sz="1600" b="0" i="1">
                <a:solidFill>
                  <a:srgbClr val="6B7683"/>
                </a:solidFill>
                <a:latin typeface="Calibri"/>
                <a:ea typeface="Microsoft YaHei"/>
                <a:cs typeface="Microsoft YaHei"/>
              </a:rPr>
              <a:t>  pron.</a:t>
            </a:r>
          </a:p>
          <a:p>
            <a:pPr algn="ctr">
              <a:spcBef>
                <a:spcPts val="600"/>
              </a:spcBef>
              <a:buNone/>
            </a:pPr>
            <a:r>
              <a:rPr sz="2200" b="0" i="1">
                <a:solidFill>
                  <a:srgbClr val="8E2B20"/>
                </a:solidFill>
                <a:latin typeface="Calibri"/>
                <a:ea typeface="Microsoft YaHei"/>
                <a:cs typeface="Microsoft YaHei"/>
              </a:rPr>
              <a:t>zhème</a:t>
            </a:r>
          </a:p>
          <a:p>
            <a:pPr algn="ctr">
              <a:spcBef>
                <a:spcPts val="400"/>
              </a:spcBef>
              <a:buNone/>
            </a:pPr>
            <a:r>
              <a:rPr sz="1800" b="0" i="0">
                <a:solidFill>
                  <a:srgbClr val="1F2933"/>
                </a:solidFill>
                <a:latin typeface="Calibri"/>
                <a:ea typeface="Microsoft YaHei"/>
                <a:cs typeface="Microsoft YaHei"/>
              </a:rPr>
              <a:t>như thế này</a:t>
            </a:r>
          </a:p>
        </p:txBody>
      </p:sp>
      <p:sp>
        <p:nvSpPr>
          <p:cNvPr id="7" name="TextBox 6"/>
          <p:cNvSpPr txBox="1"/>
          <p:nvPr/>
        </p:nvSpPr>
        <p:spPr>
          <a:xfrm>
            <a:off x="5665494" y="1611376"/>
            <a:ext cx="5977561" cy="4880864"/>
          </a:xfrm>
          <a:prstGeom prst="rect">
            <a:avLst/>
          </a:prstGeom>
          <a:noFill/>
        </p:spPr>
        <p:txBody>
          <a:bodyPr wrap="square" anchor="ctr">
            <a:spAutoFit/>
          </a:bodyPr>
          <a:lstStyle/>
          <a:p>
            <a:pPr>
              <a:buNone/>
            </a:pPr>
            <a:r>
              <a:rPr sz="1600" b="1" i="0">
                <a:solidFill>
                  <a:srgbClr val="8E2B20"/>
                </a:solidFill>
                <a:latin typeface="Calibri"/>
                <a:ea typeface="Microsoft YaHei"/>
                <a:cs typeface="Microsoft YaHei"/>
              </a:rPr>
              <a:t>例句</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今天回来这么晚啊！</a:t>
            </a:r>
          </a:p>
          <a:p>
            <a:pPr>
              <a:spcBef>
                <a:spcPts val="200"/>
              </a:spcBef>
              <a:buNone/>
            </a:pPr>
            <a:r>
              <a:rPr sz="1400" b="0" i="1">
                <a:solidFill>
                  <a:srgbClr val="8E2B20"/>
                </a:solidFill>
                <a:latin typeface="Calibri"/>
                <a:ea typeface="Microsoft YaHei"/>
                <a:cs typeface="Microsoft YaHei"/>
              </a:rPr>
              <a:t>     Jīntiān huílái zhème wǎn a!</a:t>
            </a:r>
          </a:p>
          <a:p>
            <a:pPr>
              <a:spcBef>
                <a:spcPts val="100"/>
              </a:spcBef>
              <a:buNone/>
            </a:pPr>
            <a:r>
              <a:rPr sz="1400" b="0" i="0">
                <a:solidFill>
                  <a:srgbClr val="6B7683"/>
                </a:solidFill>
                <a:latin typeface="Calibri"/>
                <a:ea typeface="Microsoft YaHei"/>
                <a:cs typeface="Microsoft YaHei"/>
              </a:rPr>
              <a:t>     Hôm nay về muộn thế!</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天气这么好，我们出去走走吧。</a:t>
            </a:r>
          </a:p>
          <a:p>
            <a:pPr>
              <a:spcBef>
                <a:spcPts val="200"/>
              </a:spcBef>
              <a:buNone/>
            </a:pPr>
            <a:r>
              <a:rPr sz="1400" b="0" i="1">
                <a:solidFill>
                  <a:srgbClr val="8E2B20"/>
                </a:solidFill>
                <a:latin typeface="Calibri"/>
                <a:ea typeface="Microsoft YaHei"/>
                <a:cs typeface="Microsoft YaHei"/>
              </a:rPr>
              <a:t>     Tiānqì zhème hǎo, wǒmen chūqù zǒuzǒu ba.</a:t>
            </a:r>
          </a:p>
          <a:p>
            <a:pPr>
              <a:spcBef>
                <a:spcPts val="100"/>
              </a:spcBef>
              <a:buNone/>
            </a:pPr>
            <a:r>
              <a:rPr sz="1400" b="0" i="0">
                <a:solidFill>
                  <a:srgbClr val="6B7683"/>
                </a:solidFill>
                <a:latin typeface="Calibri"/>
                <a:ea typeface="Microsoft YaHei"/>
                <a:cs typeface="Microsoft YaHei"/>
              </a:rPr>
              <a:t>     Thời tiết đẹp thế này, chúng ta ra ngoài đi dạo đi.</a:t>
            </a:r>
          </a:p>
        </p:txBody>
      </p:sp>
      <p:pic>
        <p:nvPicPr>
          <p:cNvPr id="8" name="slide16.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1076127" y="320040"/>
            <a:ext cx="566928" cy="566928"/>
          </a:xfrm>
          <a:prstGeom prst="rect">
            <a:avLst/>
          </a:prstGeom>
          <a:ln>
            <a:noFill/>
          </a:ln>
        </p:spPr>
      </p:pic>
      <p:sp>
        <p:nvSpPr>
          <p:cNvPr id="9" name="TextBox 8"/>
          <p:cNvSpPr txBox="1"/>
          <p:nvPr/>
        </p:nvSpPr>
        <p:spPr>
          <a:xfrm>
            <a:off x="548640" y="6492240"/>
            <a:ext cx="11094415" cy="274320"/>
          </a:xfrm>
          <a:prstGeom prst="rect">
            <a:avLst/>
          </a:prstGeom>
          <a:noFill/>
        </p:spPr>
        <p:txBody>
          <a:bodyPr wrap="square" anchor="ctr">
            <a:spAutoFit/>
          </a:bodyPr>
          <a:lstStyle/>
          <a:p>
            <a:pPr>
              <a:buNone/>
            </a:pPr>
            <a:r>
              <a:rPr sz="1100" b="0" i="1">
                <a:solidFill>
                  <a:srgbClr val="6B7683"/>
                </a:solidFill>
                <a:latin typeface="Calibri"/>
                <a:ea typeface="Microsoft YaHei"/>
                <a:cs typeface="Microsoft YaHei"/>
              </a:rPr>
              <a:t>📖 么 giản thể từ 幺(yāo, sợi tơ nhỏ bé) → hậu tố NHỎ NHẸ dùng hỏi mức độ → 这么 = thế này, như vậy</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52083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 15/15</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自己</a:t>
            </a:r>
          </a:p>
        </p:txBody>
      </p:sp>
      <p:sp>
        <p:nvSpPr>
          <p:cNvPr id="6" name="TextBox 5"/>
          <p:cNvSpPr txBox="1"/>
          <p:nvPr/>
        </p:nvSpPr>
        <p:spPr>
          <a:xfrm>
            <a:off x="548640" y="1611376"/>
            <a:ext cx="4659654" cy="4880864"/>
          </a:xfrm>
          <a:prstGeom prst="rect">
            <a:avLst/>
          </a:prstGeom>
          <a:noFill/>
        </p:spPr>
        <p:txBody>
          <a:bodyPr wrap="square" anchor="ctr">
            <a:spAutoFit/>
          </a:bodyPr>
          <a:lstStyle/>
          <a:p>
            <a:pPr algn="ctr">
              <a:buNone/>
            </a:pPr>
            <a:r>
              <a:rPr sz="5400" b="1" i="0">
                <a:solidFill>
                  <a:srgbClr val="1F2933"/>
                </a:solidFill>
                <a:latin typeface="Calibri"/>
                <a:ea typeface="Microsoft YaHei"/>
                <a:cs typeface="Microsoft YaHei"/>
              </a:rPr>
              <a:t>自己</a:t>
            </a:r>
            <a:r>
              <a:rPr sz="1600" b="0" i="1">
                <a:solidFill>
                  <a:srgbClr val="6B7683"/>
                </a:solidFill>
                <a:latin typeface="Calibri"/>
                <a:ea typeface="Microsoft YaHei"/>
                <a:cs typeface="Microsoft YaHei"/>
              </a:rPr>
              <a:t>  pron.</a:t>
            </a:r>
          </a:p>
          <a:p>
            <a:pPr algn="ctr">
              <a:spcBef>
                <a:spcPts val="600"/>
              </a:spcBef>
              <a:buNone/>
            </a:pPr>
            <a:r>
              <a:rPr sz="2200" b="0" i="1">
                <a:solidFill>
                  <a:srgbClr val="8E2B20"/>
                </a:solidFill>
                <a:latin typeface="Calibri"/>
                <a:ea typeface="Microsoft YaHei"/>
                <a:cs typeface="Microsoft YaHei"/>
              </a:rPr>
              <a:t>zìjǐ</a:t>
            </a:r>
          </a:p>
          <a:p>
            <a:pPr algn="ctr">
              <a:spcBef>
                <a:spcPts val="400"/>
              </a:spcBef>
              <a:buNone/>
            </a:pPr>
            <a:r>
              <a:rPr sz="1800" b="0" i="0">
                <a:solidFill>
                  <a:srgbClr val="1F2933"/>
                </a:solidFill>
                <a:latin typeface="Calibri"/>
                <a:ea typeface="Microsoft YaHei"/>
                <a:cs typeface="Microsoft YaHei"/>
              </a:rPr>
              <a:t>bản thân, tự mình</a:t>
            </a:r>
          </a:p>
        </p:txBody>
      </p:sp>
      <p:sp>
        <p:nvSpPr>
          <p:cNvPr id="7" name="TextBox 6"/>
          <p:cNvSpPr txBox="1"/>
          <p:nvPr/>
        </p:nvSpPr>
        <p:spPr>
          <a:xfrm>
            <a:off x="5665494" y="1611376"/>
            <a:ext cx="5977561" cy="4880864"/>
          </a:xfrm>
          <a:prstGeom prst="rect">
            <a:avLst/>
          </a:prstGeom>
          <a:noFill/>
        </p:spPr>
        <p:txBody>
          <a:bodyPr wrap="square" anchor="ctr">
            <a:spAutoFit/>
          </a:bodyPr>
          <a:lstStyle/>
          <a:p>
            <a:pPr>
              <a:buNone/>
            </a:pPr>
            <a:r>
              <a:rPr sz="1600" b="1" i="0">
                <a:solidFill>
                  <a:srgbClr val="8E2B20"/>
                </a:solidFill>
                <a:latin typeface="Calibri"/>
                <a:ea typeface="Microsoft YaHei"/>
                <a:cs typeface="Microsoft YaHei"/>
              </a:rPr>
              <a:t>例句</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就在桌子上，你自己拿。</a:t>
            </a:r>
          </a:p>
          <a:p>
            <a:pPr>
              <a:spcBef>
                <a:spcPts val="200"/>
              </a:spcBef>
              <a:buNone/>
            </a:pPr>
            <a:r>
              <a:rPr sz="1400" b="0" i="1">
                <a:solidFill>
                  <a:srgbClr val="8E2B20"/>
                </a:solidFill>
                <a:latin typeface="Calibri"/>
                <a:ea typeface="Microsoft YaHei"/>
                <a:cs typeface="Microsoft YaHei"/>
              </a:rPr>
              <a:t>     Jiù zài zhuōzi shàng, nǐ zìjǐ ná.</a:t>
            </a:r>
          </a:p>
          <a:p>
            <a:pPr>
              <a:spcBef>
                <a:spcPts val="100"/>
              </a:spcBef>
              <a:buNone/>
            </a:pPr>
            <a:r>
              <a:rPr sz="1400" b="0" i="0">
                <a:solidFill>
                  <a:srgbClr val="6B7683"/>
                </a:solidFill>
                <a:latin typeface="Calibri"/>
                <a:ea typeface="Microsoft YaHei"/>
                <a:cs typeface="Microsoft YaHei"/>
              </a:rPr>
              <a:t>     Ở trên bàn đấy, bạn tự lấy.</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这件事我自己可以做。</a:t>
            </a:r>
          </a:p>
          <a:p>
            <a:pPr>
              <a:spcBef>
                <a:spcPts val="200"/>
              </a:spcBef>
              <a:buNone/>
            </a:pPr>
            <a:r>
              <a:rPr sz="1400" b="0" i="1">
                <a:solidFill>
                  <a:srgbClr val="8E2B20"/>
                </a:solidFill>
                <a:latin typeface="Calibri"/>
                <a:ea typeface="Microsoft YaHei"/>
                <a:cs typeface="Microsoft YaHei"/>
              </a:rPr>
              <a:t>     Zhè jiàn shì wǒ zìjǐ kěyǐ zuò.</a:t>
            </a:r>
          </a:p>
          <a:p>
            <a:pPr>
              <a:spcBef>
                <a:spcPts val="100"/>
              </a:spcBef>
              <a:buNone/>
            </a:pPr>
            <a:r>
              <a:rPr sz="1400" b="0" i="0">
                <a:solidFill>
                  <a:srgbClr val="6B7683"/>
                </a:solidFill>
                <a:latin typeface="Calibri"/>
                <a:ea typeface="Microsoft YaHei"/>
                <a:cs typeface="Microsoft YaHei"/>
              </a:rPr>
              <a:t>     Việc này tôi tự mình có thể làm.</a:t>
            </a:r>
          </a:p>
        </p:txBody>
      </p:sp>
      <p:pic>
        <p:nvPicPr>
          <p:cNvPr id="8" name="slide17.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1076127" y="320040"/>
            <a:ext cx="566928" cy="566928"/>
          </a:xfrm>
          <a:prstGeom prst="rect">
            <a:avLst/>
          </a:prstGeom>
          <a:ln>
            <a:noFill/>
          </a:ln>
        </p:spPr>
      </p:pic>
      <p:sp>
        <p:nvSpPr>
          <p:cNvPr id="9" name="TextBox 8"/>
          <p:cNvSpPr txBox="1"/>
          <p:nvPr/>
        </p:nvSpPr>
        <p:spPr>
          <a:xfrm>
            <a:off x="548640" y="6492240"/>
            <a:ext cx="11094415" cy="274320"/>
          </a:xfrm>
          <a:prstGeom prst="rect">
            <a:avLst/>
          </a:prstGeom>
          <a:noFill/>
        </p:spPr>
        <p:txBody>
          <a:bodyPr wrap="square" anchor="ctr">
            <a:spAutoFit/>
          </a:bodyPr>
          <a:lstStyle/>
          <a:p>
            <a:pPr>
              <a:buNone/>
            </a:pPr>
            <a:r>
              <a:rPr sz="1100" b="0" i="1">
                <a:solidFill>
                  <a:srgbClr val="6B7683"/>
                </a:solidFill>
                <a:latin typeface="Calibri"/>
                <a:ea typeface="Microsoft YaHei"/>
                <a:cs typeface="Microsoft YaHei"/>
              </a:rPr>
              <a:t>📖 自 vốn là hình vẽ CÁI MŨI (người Hoa cổ chỉ vào mũi khi nói "tôi") → "tự, bản thân" → 自己 = tự mình</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1094415" cy="2103120"/>
          </a:xfrm>
          <a:prstGeom prst="rect">
            <a:avLst/>
          </a:prstGeom>
          <a:noFill/>
        </p:spPr>
        <p:txBody>
          <a:bodyPr wrap="square" anchor="ctr">
            <a:spAutoFit/>
          </a:bodyPr>
          <a:lstStyle/>
          <a:p>
            <a:pPr algn="ctr">
              <a:buNone/>
            </a:pPr>
            <a:r>
              <a:rPr sz="3600" b="1" i="0">
                <a:solidFill>
                  <a:srgbClr val="8E2B20"/>
                </a:solidFill>
                <a:latin typeface="Calibri"/>
                <a:ea typeface="Microsoft YaHei"/>
                <a:cs typeface="Microsoft YaHei"/>
              </a:rPr>
              <a:t>生词拓展 · 订酒店</a:t>
            </a:r>
          </a:p>
          <a:p>
            <a:pPr algn="ctr">
              <a:spcBef>
                <a:spcPts val="1000"/>
              </a:spcBef>
              <a:buNone/>
            </a:pPr>
            <a:r>
              <a:rPr sz="1800" b="0" i="0">
                <a:solidFill>
                  <a:srgbClr val="6B7683"/>
                </a:solidFill>
                <a:latin typeface="Calibri"/>
                <a:ea typeface="Microsoft YaHei"/>
                <a:cs typeface="Microsoft YaHei"/>
              </a:rPr>
              <a:t>Đặt phòng khách sạn — ngoài sách chính, bổ sung theo yêu cầu thực dụng cá nhân (⚠️ ngoài chuẩn thi HSK2 chính thức)</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73931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生词拓展 1/6</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预订</a:t>
            </a:r>
          </a:p>
        </p:txBody>
      </p:sp>
      <p:sp>
        <p:nvSpPr>
          <p:cNvPr id="6" name="TextBox 5"/>
          <p:cNvSpPr txBox="1"/>
          <p:nvPr/>
        </p:nvSpPr>
        <p:spPr>
          <a:xfrm>
            <a:off x="548640" y="1611376"/>
            <a:ext cx="4659654" cy="4880864"/>
          </a:xfrm>
          <a:prstGeom prst="rect">
            <a:avLst/>
          </a:prstGeom>
          <a:noFill/>
        </p:spPr>
        <p:txBody>
          <a:bodyPr wrap="square" anchor="ctr">
            <a:spAutoFit/>
          </a:bodyPr>
          <a:lstStyle/>
          <a:p>
            <a:pPr algn="ctr">
              <a:buNone/>
            </a:pPr>
            <a:r>
              <a:rPr sz="5400" b="1" i="0">
                <a:solidFill>
                  <a:srgbClr val="1F2933"/>
                </a:solidFill>
                <a:latin typeface="Calibri"/>
                <a:ea typeface="Microsoft YaHei"/>
                <a:cs typeface="Microsoft YaHei"/>
              </a:rPr>
              <a:t>预订</a:t>
            </a:r>
            <a:r>
              <a:rPr sz="1600" b="0" i="1">
                <a:solidFill>
                  <a:srgbClr val="6B7683"/>
                </a:solidFill>
                <a:latin typeface="Calibri"/>
                <a:ea typeface="Microsoft YaHei"/>
                <a:cs typeface="Microsoft YaHei"/>
              </a:rPr>
              <a:t>  v.</a:t>
            </a:r>
          </a:p>
          <a:p>
            <a:pPr algn="ctr">
              <a:spcBef>
                <a:spcPts val="600"/>
              </a:spcBef>
              <a:buNone/>
            </a:pPr>
            <a:r>
              <a:rPr sz="2200" b="0" i="1">
                <a:solidFill>
                  <a:srgbClr val="8E2B20"/>
                </a:solidFill>
                <a:latin typeface="Calibri"/>
                <a:ea typeface="Microsoft YaHei"/>
                <a:cs typeface="Microsoft YaHei"/>
              </a:rPr>
              <a:t>yùdìng</a:t>
            </a:r>
          </a:p>
          <a:p>
            <a:pPr algn="ctr">
              <a:spcBef>
                <a:spcPts val="400"/>
              </a:spcBef>
              <a:buNone/>
            </a:pPr>
            <a:r>
              <a:rPr sz="1800" b="0" i="0">
                <a:solidFill>
                  <a:srgbClr val="1F2933"/>
                </a:solidFill>
                <a:latin typeface="Calibri"/>
                <a:ea typeface="Microsoft YaHei"/>
                <a:cs typeface="Microsoft YaHei"/>
              </a:rPr>
              <a:t>đặt trước (phòng/vé)</a:t>
            </a:r>
          </a:p>
        </p:txBody>
      </p:sp>
      <p:sp>
        <p:nvSpPr>
          <p:cNvPr id="7" name="TextBox 6"/>
          <p:cNvSpPr txBox="1"/>
          <p:nvPr/>
        </p:nvSpPr>
        <p:spPr>
          <a:xfrm>
            <a:off x="5665494" y="1611376"/>
            <a:ext cx="5977561" cy="4880864"/>
          </a:xfrm>
          <a:prstGeom prst="rect">
            <a:avLst/>
          </a:prstGeom>
          <a:noFill/>
        </p:spPr>
        <p:txBody>
          <a:bodyPr wrap="square" anchor="ctr">
            <a:spAutoFit/>
          </a:bodyPr>
          <a:lstStyle/>
          <a:p>
            <a:pPr>
              <a:buNone/>
            </a:pPr>
            <a:r>
              <a:rPr sz="1600" b="1" i="0">
                <a:solidFill>
                  <a:srgbClr val="8E2B20"/>
                </a:solidFill>
                <a:latin typeface="Calibri"/>
                <a:ea typeface="Microsoft YaHei"/>
                <a:cs typeface="Microsoft YaHei"/>
              </a:rPr>
              <a:t>例句</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你好，我想预订一个房间。</a:t>
            </a:r>
          </a:p>
          <a:p>
            <a:pPr>
              <a:spcBef>
                <a:spcPts val="200"/>
              </a:spcBef>
              <a:buNone/>
            </a:pPr>
            <a:r>
              <a:rPr sz="1400" b="0" i="1">
                <a:solidFill>
                  <a:srgbClr val="8E2B20"/>
                </a:solidFill>
                <a:latin typeface="Calibri"/>
                <a:ea typeface="Microsoft YaHei"/>
                <a:cs typeface="Microsoft YaHei"/>
              </a:rPr>
              <a:t>     Nǐhǎo, wǒ xiǎng yùdìng yí ge fángjiān.</a:t>
            </a:r>
          </a:p>
          <a:p>
            <a:pPr>
              <a:spcBef>
                <a:spcPts val="100"/>
              </a:spcBef>
              <a:buNone/>
            </a:pPr>
            <a:r>
              <a:rPr sz="1400" b="0" i="0">
                <a:solidFill>
                  <a:srgbClr val="6B7683"/>
                </a:solidFill>
                <a:latin typeface="Calibri"/>
                <a:ea typeface="Microsoft YaHei"/>
                <a:cs typeface="Microsoft YaHei"/>
              </a:rPr>
              <a:t>     Xin chào, tôi muốn đặt một phòng.</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去西安旅游，最好提前预订酒店。</a:t>
            </a:r>
          </a:p>
          <a:p>
            <a:pPr>
              <a:spcBef>
                <a:spcPts val="200"/>
              </a:spcBef>
              <a:buNone/>
            </a:pPr>
            <a:r>
              <a:rPr sz="1400" b="0" i="1">
                <a:solidFill>
                  <a:srgbClr val="8E2B20"/>
                </a:solidFill>
                <a:latin typeface="Calibri"/>
                <a:ea typeface="Microsoft YaHei"/>
                <a:cs typeface="Microsoft YaHei"/>
              </a:rPr>
              <a:t>     Qù Xī'ān lǚyóu, zuìhǎo tíqián yùdìng jiǔdiàn.</a:t>
            </a:r>
          </a:p>
          <a:p>
            <a:pPr>
              <a:spcBef>
                <a:spcPts val="100"/>
              </a:spcBef>
              <a:buNone/>
            </a:pPr>
            <a:r>
              <a:rPr sz="1400" b="0" i="0">
                <a:solidFill>
                  <a:srgbClr val="6B7683"/>
                </a:solidFill>
                <a:latin typeface="Calibri"/>
                <a:ea typeface="Microsoft YaHei"/>
                <a:cs typeface="Microsoft YaHei"/>
              </a:rPr>
              <a:t>     Đi du lịch Tây An, tốt nhất nên đặt khách sạn trước.</a:t>
            </a:r>
          </a:p>
        </p:txBody>
      </p:sp>
      <p:pic>
        <p:nvPicPr>
          <p:cNvPr id="8" name="slide19.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1076127" y="320040"/>
            <a:ext cx="566928" cy="566928"/>
          </a:xfrm>
          <a:prstGeom prst="rect">
            <a:avLst/>
          </a:prstGeom>
          <a:ln>
            <a:noFill/>
          </a:ln>
        </p:spPr>
      </p:pic>
      <p:sp>
        <p:nvSpPr>
          <p:cNvPr id="9" name="TextBox 8"/>
          <p:cNvSpPr txBox="1"/>
          <p:nvPr/>
        </p:nvSpPr>
        <p:spPr>
          <a:xfrm>
            <a:off x="548640" y="6492240"/>
            <a:ext cx="11094415" cy="274320"/>
          </a:xfrm>
          <a:prstGeom prst="rect">
            <a:avLst/>
          </a:prstGeom>
          <a:noFill/>
        </p:spPr>
        <p:txBody>
          <a:bodyPr wrap="square" anchor="ctr">
            <a:spAutoFit/>
          </a:bodyPr>
          <a:lstStyle/>
          <a:p>
            <a:pPr>
              <a:buNone/>
            </a:pPr>
            <a:r>
              <a:rPr sz="1100" b="0" i="1">
                <a:solidFill>
                  <a:srgbClr val="6B7683"/>
                </a:solidFill>
                <a:latin typeface="Calibri"/>
                <a:ea typeface="Microsoft YaHei"/>
                <a:cs typeface="Microsoft YaHei"/>
              </a:rPr>
              <a:t>📖 订 = 讠(yán, lời nói) + 丁(dīng, hình CÁI ĐINH) → dùng LỜI nói ĐÓNG CHẶT một thỏa thuận → "đặt, hẹn trước"</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73931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生词拓展 2/6</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房间</a:t>
            </a:r>
          </a:p>
        </p:txBody>
      </p:sp>
      <p:pic>
        <p:nvPicPr>
          <p:cNvPr id="6" name="Picture 5" descr="fangjian.jpg"/>
          <p:cNvPicPr>
            <a:picLocks noChangeAspect="1"/>
          </p:cNvPicPr>
          <p:nvPr/>
        </p:nvPicPr>
        <p:blipFill>
          <a:blip r:embed="rId2"/>
          <a:stretch>
            <a:fillRect/>
          </a:stretch>
        </p:blipFill>
        <p:spPr>
          <a:xfrm>
            <a:off x="1323987" y="1999996"/>
            <a:ext cx="3108960" cy="2331720"/>
          </a:xfrm>
          <a:prstGeom prst="rect">
            <a:avLst/>
          </a:prstGeom>
        </p:spPr>
      </p:pic>
      <p:sp>
        <p:nvSpPr>
          <p:cNvPr id="7" name="TextBox 6"/>
          <p:cNvSpPr txBox="1"/>
          <p:nvPr/>
        </p:nvSpPr>
        <p:spPr>
          <a:xfrm>
            <a:off x="548640" y="4857496"/>
            <a:ext cx="4659654" cy="1634744"/>
          </a:xfrm>
          <a:prstGeom prst="rect">
            <a:avLst/>
          </a:prstGeom>
          <a:noFill/>
        </p:spPr>
        <p:txBody>
          <a:bodyPr wrap="square" anchor="ctr">
            <a:spAutoFit/>
          </a:bodyPr>
          <a:lstStyle/>
          <a:p>
            <a:pPr algn="ctr">
              <a:buNone/>
            </a:pPr>
            <a:r>
              <a:rPr sz="5400" b="1" i="0">
                <a:solidFill>
                  <a:srgbClr val="1F2933"/>
                </a:solidFill>
                <a:latin typeface="Calibri"/>
                <a:ea typeface="Microsoft YaHei"/>
                <a:cs typeface="Microsoft YaHei"/>
              </a:rPr>
              <a:t>房间</a:t>
            </a:r>
            <a:r>
              <a:rPr sz="1600" b="0" i="1">
                <a:solidFill>
                  <a:srgbClr val="6B7683"/>
                </a:solidFill>
                <a:latin typeface="Calibri"/>
                <a:ea typeface="Microsoft YaHei"/>
                <a:cs typeface="Microsoft YaHei"/>
              </a:rPr>
              <a:t>  n.</a:t>
            </a:r>
          </a:p>
          <a:p>
            <a:pPr algn="ctr">
              <a:spcBef>
                <a:spcPts val="600"/>
              </a:spcBef>
              <a:buNone/>
            </a:pPr>
            <a:r>
              <a:rPr sz="2200" b="0" i="1">
                <a:solidFill>
                  <a:srgbClr val="8E2B20"/>
                </a:solidFill>
                <a:latin typeface="Calibri"/>
                <a:ea typeface="Microsoft YaHei"/>
                <a:cs typeface="Microsoft YaHei"/>
              </a:rPr>
              <a:t>fángjiān</a:t>
            </a:r>
          </a:p>
          <a:p>
            <a:pPr algn="ctr">
              <a:spcBef>
                <a:spcPts val="400"/>
              </a:spcBef>
              <a:buNone/>
            </a:pPr>
            <a:r>
              <a:rPr sz="1800" b="0" i="0">
                <a:solidFill>
                  <a:srgbClr val="1F2933"/>
                </a:solidFill>
                <a:latin typeface="Calibri"/>
                <a:ea typeface="Microsoft YaHei"/>
                <a:cs typeface="Microsoft YaHei"/>
              </a:rPr>
              <a:t>phòng</a:t>
            </a:r>
          </a:p>
        </p:txBody>
      </p:sp>
      <p:sp>
        <p:nvSpPr>
          <p:cNvPr id="8" name="TextBox 7"/>
          <p:cNvSpPr txBox="1"/>
          <p:nvPr/>
        </p:nvSpPr>
        <p:spPr>
          <a:xfrm>
            <a:off x="5665494" y="1611376"/>
            <a:ext cx="5977561" cy="4880864"/>
          </a:xfrm>
          <a:prstGeom prst="rect">
            <a:avLst/>
          </a:prstGeom>
          <a:noFill/>
        </p:spPr>
        <p:txBody>
          <a:bodyPr wrap="square" anchor="ctr">
            <a:spAutoFit/>
          </a:bodyPr>
          <a:lstStyle/>
          <a:p>
            <a:pPr>
              <a:buNone/>
            </a:pPr>
            <a:r>
              <a:rPr sz="1600" b="1" i="0">
                <a:solidFill>
                  <a:srgbClr val="8E2B20"/>
                </a:solidFill>
                <a:latin typeface="Calibri"/>
                <a:ea typeface="Microsoft YaHei"/>
                <a:cs typeface="Microsoft YaHei"/>
              </a:rPr>
              <a:t>例句</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请问您要预订什么时候的房间？</a:t>
            </a:r>
          </a:p>
          <a:p>
            <a:pPr>
              <a:spcBef>
                <a:spcPts val="200"/>
              </a:spcBef>
              <a:buNone/>
            </a:pPr>
            <a:r>
              <a:rPr sz="1400" b="0" i="1">
                <a:solidFill>
                  <a:srgbClr val="8E2B20"/>
                </a:solidFill>
                <a:latin typeface="Calibri"/>
                <a:ea typeface="Microsoft YaHei"/>
                <a:cs typeface="Microsoft YaHei"/>
              </a:rPr>
              <a:t>     Qǐngwèn nín yào yùdìng shénme shíhou de fángjiān?</a:t>
            </a:r>
          </a:p>
          <a:p>
            <a:pPr>
              <a:spcBef>
                <a:spcPts val="100"/>
              </a:spcBef>
              <a:buNone/>
            </a:pPr>
            <a:r>
              <a:rPr sz="1400" b="0" i="0">
                <a:solidFill>
                  <a:srgbClr val="6B7683"/>
                </a:solidFill>
                <a:latin typeface="Calibri"/>
                <a:ea typeface="Microsoft YaHei"/>
                <a:cs typeface="Microsoft YaHei"/>
              </a:rPr>
              <a:t>     Xin hỏi anh muốn đặt phòng lúc nào?</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这个房间很干净。</a:t>
            </a:r>
          </a:p>
          <a:p>
            <a:pPr>
              <a:spcBef>
                <a:spcPts val="200"/>
              </a:spcBef>
              <a:buNone/>
            </a:pPr>
            <a:r>
              <a:rPr sz="1400" b="0" i="1">
                <a:solidFill>
                  <a:srgbClr val="8E2B20"/>
                </a:solidFill>
                <a:latin typeface="Calibri"/>
                <a:ea typeface="Microsoft YaHei"/>
                <a:cs typeface="Microsoft YaHei"/>
              </a:rPr>
              <a:t>     Zhège fángjiān hěn gānjìng.</a:t>
            </a:r>
          </a:p>
          <a:p>
            <a:pPr>
              <a:spcBef>
                <a:spcPts val="100"/>
              </a:spcBef>
              <a:buNone/>
            </a:pPr>
            <a:r>
              <a:rPr sz="1400" b="0" i="0">
                <a:solidFill>
                  <a:srgbClr val="6B7683"/>
                </a:solidFill>
                <a:latin typeface="Calibri"/>
                <a:ea typeface="Microsoft YaHei"/>
                <a:cs typeface="Microsoft YaHei"/>
              </a:rPr>
              <a:t>     Phòng này rất sạch.</a:t>
            </a:r>
          </a:p>
        </p:txBody>
      </p:sp>
      <p:pic>
        <p:nvPicPr>
          <p:cNvPr id="9" name="slide20.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076127" y="320040"/>
            <a:ext cx="566928" cy="566928"/>
          </a:xfrm>
          <a:prstGeom prst="rect">
            <a:avLst/>
          </a:prstGeom>
          <a:ln>
            <a:noFill/>
          </a:ln>
        </p:spPr>
      </p:pic>
      <p:sp>
        <p:nvSpPr>
          <p:cNvPr id="10" name="TextBox 9"/>
          <p:cNvSpPr txBox="1"/>
          <p:nvPr/>
        </p:nvSpPr>
        <p:spPr>
          <a:xfrm>
            <a:off x="548640" y="6492240"/>
            <a:ext cx="11094415" cy="274320"/>
          </a:xfrm>
          <a:prstGeom prst="rect">
            <a:avLst/>
          </a:prstGeom>
          <a:noFill/>
        </p:spPr>
        <p:txBody>
          <a:bodyPr wrap="square" anchor="ctr">
            <a:spAutoFit/>
          </a:bodyPr>
          <a:lstStyle/>
          <a:p>
            <a:pPr>
              <a:buNone/>
            </a:pPr>
            <a:r>
              <a:rPr sz="1100" b="0" i="1">
                <a:solidFill>
                  <a:srgbClr val="6B7683"/>
                </a:solidFill>
                <a:latin typeface="Calibri"/>
                <a:ea typeface="Microsoft YaHei"/>
                <a:cs typeface="Microsoft YaHei"/>
              </a:rPr>
              <a:t>📖 房 = 户(hù, cửa một cánh) + 方(fāng, vuông vắn) → cửa dẫn vào không gian VUÔNG VẮN → "phòng"</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73931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生词拓展 3/6</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单人间</a:t>
            </a:r>
          </a:p>
        </p:txBody>
      </p:sp>
      <p:sp>
        <p:nvSpPr>
          <p:cNvPr id="6" name="TextBox 5"/>
          <p:cNvSpPr txBox="1"/>
          <p:nvPr/>
        </p:nvSpPr>
        <p:spPr>
          <a:xfrm>
            <a:off x="548640" y="1611376"/>
            <a:ext cx="4659654" cy="4880864"/>
          </a:xfrm>
          <a:prstGeom prst="rect">
            <a:avLst/>
          </a:prstGeom>
          <a:noFill/>
        </p:spPr>
        <p:txBody>
          <a:bodyPr wrap="square" anchor="ctr">
            <a:spAutoFit/>
          </a:bodyPr>
          <a:lstStyle/>
          <a:p>
            <a:pPr algn="ctr">
              <a:buNone/>
            </a:pPr>
            <a:r>
              <a:rPr sz="5400" b="1" i="0">
                <a:solidFill>
                  <a:srgbClr val="1F2933"/>
                </a:solidFill>
                <a:latin typeface="Calibri"/>
                <a:ea typeface="Microsoft YaHei"/>
                <a:cs typeface="Microsoft YaHei"/>
              </a:rPr>
              <a:t>单人间</a:t>
            </a:r>
            <a:r>
              <a:rPr sz="1600" b="0" i="1">
                <a:solidFill>
                  <a:srgbClr val="6B7683"/>
                </a:solidFill>
                <a:latin typeface="Calibri"/>
                <a:ea typeface="Microsoft YaHei"/>
                <a:cs typeface="Microsoft YaHei"/>
              </a:rPr>
              <a:t>  n.</a:t>
            </a:r>
          </a:p>
          <a:p>
            <a:pPr algn="ctr">
              <a:spcBef>
                <a:spcPts val="600"/>
              </a:spcBef>
              <a:buNone/>
            </a:pPr>
            <a:r>
              <a:rPr sz="2200" b="0" i="1">
                <a:solidFill>
                  <a:srgbClr val="8E2B20"/>
                </a:solidFill>
                <a:latin typeface="Calibri"/>
                <a:ea typeface="Microsoft YaHei"/>
                <a:cs typeface="Microsoft YaHei"/>
              </a:rPr>
              <a:t>dānrénjiān</a:t>
            </a:r>
          </a:p>
          <a:p>
            <a:pPr algn="ctr">
              <a:spcBef>
                <a:spcPts val="400"/>
              </a:spcBef>
              <a:buNone/>
            </a:pPr>
            <a:r>
              <a:rPr sz="1800" b="0" i="0">
                <a:solidFill>
                  <a:srgbClr val="1F2933"/>
                </a:solidFill>
                <a:latin typeface="Calibri"/>
                <a:ea typeface="Microsoft YaHei"/>
                <a:cs typeface="Microsoft YaHei"/>
              </a:rPr>
              <a:t>phòng đơn</a:t>
            </a:r>
          </a:p>
        </p:txBody>
      </p:sp>
      <p:sp>
        <p:nvSpPr>
          <p:cNvPr id="7" name="TextBox 6"/>
          <p:cNvSpPr txBox="1"/>
          <p:nvPr/>
        </p:nvSpPr>
        <p:spPr>
          <a:xfrm>
            <a:off x="5665494" y="1611376"/>
            <a:ext cx="5977561" cy="4880864"/>
          </a:xfrm>
          <a:prstGeom prst="rect">
            <a:avLst/>
          </a:prstGeom>
          <a:noFill/>
        </p:spPr>
        <p:txBody>
          <a:bodyPr wrap="square" anchor="ctr">
            <a:spAutoFit/>
          </a:bodyPr>
          <a:lstStyle/>
          <a:p>
            <a:pPr>
              <a:buNone/>
            </a:pPr>
            <a:r>
              <a:rPr sz="1600" b="1" i="0">
                <a:solidFill>
                  <a:srgbClr val="8E2B20"/>
                </a:solidFill>
                <a:latin typeface="Calibri"/>
                <a:ea typeface="Microsoft YaHei"/>
                <a:cs typeface="Microsoft YaHei"/>
              </a:rPr>
              <a:t>例句</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您要单人间还是双人间？</a:t>
            </a:r>
          </a:p>
          <a:p>
            <a:pPr>
              <a:spcBef>
                <a:spcPts val="200"/>
              </a:spcBef>
              <a:buNone/>
            </a:pPr>
            <a:r>
              <a:rPr sz="1400" b="0" i="1">
                <a:solidFill>
                  <a:srgbClr val="8E2B20"/>
                </a:solidFill>
                <a:latin typeface="Calibri"/>
                <a:ea typeface="Microsoft YaHei"/>
                <a:cs typeface="Microsoft YaHei"/>
              </a:rPr>
              <a:t>     Nín yào dānrénjiān háishi shuāngrénjiān?</a:t>
            </a:r>
          </a:p>
          <a:p>
            <a:pPr>
              <a:spcBef>
                <a:spcPts val="100"/>
              </a:spcBef>
              <a:buNone/>
            </a:pPr>
            <a:r>
              <a:rPr sz="1400" b="0" i="0">
                <a:solidFill>
                  <a:srgbClr val="6B7683"/>
                </a:solidFill>
                <a:latin typeface="Calibri"/>
                <a:ea typeface="Microsoft YaHei"/>
                <a:cs typeface="Microsoft YaHei"/>
              </a:rPr>
              <a:t>     Anh muốn phòng đơn hay phòng đôi?</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单人间一晚三百八十块钱。</a:t>
            </a:r>
          </a:p>
          <a:p>
            <a:pPr>
              <a:spcBef>
                <a:spcPts val="200"/>
              </a:spcBef>
              <a:buNone/>
            </a:pPr>
            <a:r>
              <a:rPr sz="1400" b="0" i="1">
                <a:solidFill>
                  <a:srgbClr val="8E2B20"/>
                </a:solidFill>
                <a:latin typeface="Calibri"/>
                <a:ea typeface="Microsoft YaHei"/>
                <a:cs typeface="Microsoft YaHei"/>
              </a:rPr>
              <a:t>     Dānrénjiān yì wǎn sānbǎi bāshí kuài qián.</a:t>
            </a:r>
          </a:p>
          <a:p>
            <a:pPr>
              <a:spcBef>
                <a:spcPts val="100"/>
              </a:spcBef>
              <a:buNone/>
            </a:pPr>
            <a:r>
              <a:rPr sz="1400" b="0" i="0">
                <a:solidFill>
                  <a:srgbClr val="6B7683"/>
                </a:solidFill>
                <a:latin typeface="Calibri"/>
                <a:ea typeface="Microsoft YaHei"/>
                <a:cs typeface="Microsoft YaHei"/>
              </a:rPr>
              <a:t>     Phòng đơn một đêm 380 tệ.</a:t>
            </a:r>
          </a:p>
        </p:txBody>
      </p:sp>
      <p:pic>
        <p:nvPicPr>
          <p:cNvPr id="8" name="slide21.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1076127" y="320040"/>
            <a:ext cx="566928" cy="566928"/>
          </a:xfrm>
          <a:prstGeom prst="rect">
            <a:avLst/>
          </a:prstGeom>
          <a:ln>
            <a:noFill/>
          </a:ln>
        </p:spPr>
      </p:pic>
      <p:sp>
        <p:nvSpPr>
          <p:cNvPr id="9" name="TextBox 8"/>
          <p:cNvSpPr txBox="1"/>
          <p:nvPr/>
        </p:nvSpPr>
        <p:spPr>
          <a:xfrm>
            <a:off x="548640" y="6492240"/>
            <a:ext cx="11094415" cy="274320"/>
          </a:xfrm>
          <a:prstGeom prst="rect">
            <a:avLst/>
          </a:prstGeom>
          <a:noFill/>
        </p:spPr>
        <p:txBody>
          <a:bodyPr wrap="square" anchor="ctr">
            <a:spAutoFit/>
          </a:bodyPr>
          <a:lstStyle/>
          <a:p>
            <a:pPr>
              <a:buNone/>
            </a:pPr>
            <a:r>
              <a:rPr sz="1100" b="0" i="1">
                <a:solidFill>
                  <a:srgbClr val="6B7683"/>
                </a:solidFill>
                <a:latin typeface="Calibri"/>
                <a:ea typeface="Microsoft YaHei"/>
                <a:cs typeface="Microsoft YaHei"/>
              </a:rPr>
              <a:t>📖 单 vốn là hình cái NÁ/chạc săn bắn có một cán → về sau chuyển nghĩa "đơn lẻ, một" → 单人间 = phòng cho 1 người</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73931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生词拓展 4/6</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前台</a:t>
            </a:r>
          </a:p>
        </p:txBody>
      </p:sp>
      <p:pic>
        <p:nvPicPr>
          <p:cNvPr id="6" name="Picture 5" descr="qiantai.jpg"/>
          <p:cNvPicPr>
            <a:picLocks noChangeAspect="1"/>
          </p:cNvPicPr>
          <p:nvPr/>
        </p:nvPicPr>
        <p:blipFill>
          <a:blip r:embed="rId2"/>
          <a:stretch>
            <a:fillRect/>
          </a:stretch>
        </p:blipFill>
        <p:spPr>
          <a:xfrm>
            <a:off x="1323987" y="2129030"/>
            <a:ext cx="3108960" cy="2073652"/>
          </a:xfrm>
          <a:prstGeom prst="rect">
            <a:avLst/>
          </a:prstGeom>
        </p:spPr>
      </p:pic>
      <p:sp>
        <p:nvSpPr>
          <p:cNvPr id="7" name="TextBox 6"/>
          <p:cNvSpPr txBox="1"/>
          <p:nvPr/>
        </p:nvSpPr>
        <p:spPr>
          <a:xfrm>
            <a:off x="548640" y="4857496"/>
            <a:ext cx="4659654" cy="1634744"/>
          </a:xfrm>
          <a:prstGeom prst="rect">
            <a:avLst/>
          </a:prstGeom>
          <a:noFill/>
        </p:spPr>
        <p:txBody>
          <a:bodyPr wrap="square" anchor="ctr">
            <a:spAutoFit/>
          </a:bodyPr>
          <a:lstStyle/>
          <a:p>
            <a:pPr algn="ctr">
              <a:buNone/>
            </a:pPr>
            <a:r>
              <a:rPr sz="5400" b="1" i="0">
                <a:solidFill>
                  <a:srgbClr val="1F2933"/>
                </a:solidFill>
                <a:latin typeface="Calibri"/>
                <a:ea typeface="Microsoft YaHei"/>
                <a:cs typeface="Microsoft YaHei"/>
              </a:rPr>
              <a:t>前台</a:t>
            </a:r>
            <a:r>
              <a:rPr sz="1600" b="0" i="1">
                <a:solidFill>
                  <a:srgbClr val="6B7683"/>
                </a:solidFill>
                <a:latin typeface="Calibri"/>
                <a:ea typeface="Microsoft YaHei"/>
                <a:cs typeface="Microsoft YaHei"/>
              </a:rPr>
              <a:t>  n.</a:t>
            </a:r>
          </a:p>
          <a:p>
            <a:pPr algn="ctr">
              <a:spcBef>
                <a:spcPts val="600"/>
              </a:spcBef>
              <a:buNone/>
            </a:pPr>
            <a:r>
              <a:rPr sz="2200" b="0" i="1">
                <a:solidFill>
                  <a:srgbClr val="8E2B20"/>
                </a:solidFill>
                <a:latin typeface="Calibri"/>
                <a:ea typeface="Microsoft YaHei"/>
                <a:cs typeface="Microsoft YaHei"/>
              </a:rPr>
              <a:t>qiántái</a:t>
            </a:r>
          </a:p>
          <a:p>
            <a:pPr algn="ctr">
              <a:spcBef>
                <a:spcPts val="400"/>
              </a:spcBef>
              <a:buNone/>
            </a:pPr>
            <a:r>
              <a:rPr sz="1800" b="0" i="0">
                <a:solidFill>
                  <a:srgbClr val="1F2933"/>
                </a:solidFill>
                <a:latin typeface="Calibri"/>
                <a:ea typeface="Microsoft YaHei"/>
                <a:cs typeface="Microsoft YaHei"/>
              </a:rPr>
              <a:t>lễ tân, quầy tiếp tân</a:t>
            </a:r>
          </a:p>
        </p:txBody>
      </p:sp>
      <p:sp>
        <p:nvSpPr>
          <p:cNvPr id="8" name="TextBox 7"/>
          <p:cNvSpPr txBox="1"/>
          <p:nvPr/>
        </p:nvSpPr>
        <p:spPr>
          <a:xfrm>
            <a:off x="5665494" y="1611376"/>
            <a:ext cx="5977561" cy="4880864"/>
          </a:xfrm>
          <a:prstGeom prst="rect">
            <a:avLst/>
          </a:prstGeom>
          <a:noFill/>
        </p:spPr>
        <p:txBody>
          <a:bodyPr wrap="square" anchor="ctr">
            <a:spAutoFit/>
          </a:bodyPr>
          <a:lstStyle/>
          <a:p>
            <a:pPr>
              <a:buNone/>
            </a:pPr>
            <a:r>
              <a:rPr sz="1600" b="1" i="0">
                <a:solidFill>
                  <a:srgbClr val="8E2B20"/>
                </a:solidFill>
                <a:latin typeface="Calibri"/>
                <a:ea typeface="Microsoft YaHei"/>
                <a:cs typeface="Microsoft YaHei"/>
              </a:rPr>
              <a:t>例句</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有问题可以问前台。</a:t>
            </a:r>
          </a:p>
          <a:p>
            <a:pPr>
              <a:spcBef>
                <a:spcPts val="200"/>
              </a:spcBef>
              <a:buNone/>
            </a:pPr>
            <a:r>
              <a:rPr sz="1400" b="0" i="1">
                <a:solidFill>
                  <a:srgbClr val="8E2B20"/>
                </a:solidFill>
                <a:latin typeface="Calibri"/>
                <a:ea typeface="Microsoft YaHei"/>
                <a:cs typeface="Microsoft YaHei"/>
              </a:rPr>
              <a:t>     Yǒu wèntí kěyǐ wèn qiántái.</a:t>
            </a:r>
          </a:p>
          <a:p>
            <a:pPr>
              <a:spcBef>
                <a:spcPts val="100"/>
              </a:spcBef>
              <a:buNone/>
            </a:pPr>
            <a:r>
              <a:rPr sz="1400" b="0" i="0">
                <a:solidFill>
                  <a:srgbClr val="6B7683"/>
                </a:solidFill>
                <a:latin typeface="Calibri"/>
                <a:ea typeface="Microsoft YaHei"/>
                <a:cs typeface="Microsoft YaHei"/>
              </a:rPr>
              <a:t>     Có vấn đề gì có thể hỏi lễ tân.</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前台就在大门口。</a:t>
            </a:r>
          </a:p>
          <a:p>
            <a:pPr>
              <a:spcBef>
                <a:spcPts val="200"/>
              </a:spcBef>
              <a:buNone/>
            </a:pPr>
            <a:r>
              <a:rPr sz="1400" b="0" i="1">
                <a:solidFill>
                  <a:srgbClr val="8E2B20"/>
                </a:solidFill>
                <a:latin typeface="Calibri"/>
                <a:ea typeface="Microsoft YaHei"/>
                <a:cs typeface="Microsoft YaHei"/>
              </a:rPr>
              <a:t>     Qiántái jiù zài dàménkǒu.</a:t>
            </a:r>
          </a:p>
          <a:p>
            <a:pPr>
              <a:spcBef>
                <a:spcPts val="100"/>
              </a:spcBef>
              <a:buNone/>
            </a:pPr>
            <a:r>
              <a:rPr sz="1400" b="0" i="0">
                <a:solidFill>
                  <a:srgbClr val="6B7683"/>
                </a:solidFill>
                <a:latin typeface="Calibri"/>
                <a:ea typeface="Microsoft YaHei"/>
                <a:cs typeface="Microsoft YaHei"/>
              </a:rPr>
              <a:t>     Quầy lễ tân ở ngay cửa chính.</a:t>
            </a:r>
          </a:p>
        </p:txBody>
      </p:sp>
      <p:pic>
        <p:nvPicPr>
          <p:cNvPr id="9" name="slide22.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076127" y="320040"/>
            <a:ext cx="566928" cy="566928"/>
          </a:xfrm>
          <a:prstGeom prst="rect">
            <a:avLst/>
          </a:prstGeom>
          <a:ln>
            <a:noFill/>
          </a:ln>
        </p:spPr>
      </p:pic>
      <p:sp>
        <p:nvSpPr>
          <p:cNvPr id="10" name="TextBox 9"/>
          <p:cNvSpPr txBox="1"/>
          <p:nvPr/>
        </p:nvSpPr>
        <p:spPr>
          <a:xfrm>
            <a:off x="548640" y="6492240"/>
            <a:ext cx="11094415" cy="274320"/>
          </a:xfrm>
          <a:prstGeom prst="rect">
            <a:avLst/>
          </a:prstGeom>
          <a:noFill/>
        </p:spPr>
        <p:txBody>
          <a:bodyPr wrap="square" anchor="ctr">
            <a:spAutoFit/>
          </a:bodyPr>
          <a:lstStyle/>
          <a:p>
            <a:pPr>
              <a:buNone/>
            </a:pPr>
            <a:r>
              <a:rPr sz="1100" b="0" i="1">
                <a:solidFill>
                  <a:srgbClr val="6B7683"/>
                </a:solidFill>
                <a:latin typeface="Calibri"/>
                <a:ea typeface="Microsoft YaHei"/>
                <a:cs typeface="Microsoft YaHei"/>
              </a:rPr>
              <a:t>📖 前 vốn có 止(chân) ở trên, hình bước chân LÊN một con thuyền → tiến về phía trước → "trước" → 前台 = quầy lễ tân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73931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生词拓展 5/6</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入住</a:t>
            </a:r>
          </a:p>
        </p:txBody>
      </p:sp>
      <p:pic>
        <p:nvPicPr>
          <p:cNvPr id="6" name="Picture 5" descr="ruzhu.jpg"/>
          <p:cNvPicPr>
            <a:picLocks noChangeAspect="1"/>
          </p:cNvPicPr>
          <p:nvPr/>
        </p:nvPicPr>
        <p:blipFill>
          <a:blip r:embed="rId2"/>
          <a:stretch>
            <a:fillRect/>
          </a:stretch>
        </p:blipFill>
        <p:spPr>
          <a:xfrm>
            <a:off x="1323987" y="2214007"/>
            <a:ext cx="3108960" cy="1903697"/>
          </a:xfrm>
          <a:prstGeom prst="rect">
            <a:avLst/>
          </a:prstGeom>
        </p:spPr>
      </p:pic>
      <p:sp>
        <p:nvSpPr>
          <p:cNvPr id="7" name="TextBox 6"/>
          <p:cNvSpPr txBox="1"/>
          <p:nvPr/>
        </p:nvSpPr>
        <p:spPr>
          <a:xfrm>
            <a:off x="548640" y="4857496"/>
            <a:ext cx="4659654" cy="1634744"/>
          </a:xfrm>
          <a:prstGeom prst="rect">
            <a:avLst/>
          </a:prstGeom>
          <a:noFill/>
        </p:spPr>
        <p:txBody>
          <a:bodyPr wrap="square" anchor="ctr">
            <a:spAutoFit/>
          </a:bodyPr>
          <a:lstStyle/>
          <a:p>
            <a:pPr algn="ctr">
              <a:buNone/>
            </a:pPr>
            <a:r>
              <a:rPr sz="5400" b="1" i="0">
                <a:solidFill>
                  <a:srgbClr val="1F2933"/>
                </a:solidFill>
                <a:latin typeface="Calibri"/>
                <a:ea typeface="Microsoft YaHei"/>
                <a:cs typeface="Microsoft YaHei"/>
              </a:rPr>
              <a:t>入住</a:t>
            </a:r>
            <a:r>
              <a:rPr sz="1600" b="0" i="1">
                <a:solidFill>
                  <a:srgbClr val="6B7683"/>
                </a:solidFill>
                <a:latin typeface="Calibri"/>
                <a:ea typeface="Microsoft YaHei"/>
                <a:cs typeface="Microsoft YaHei"/>
              </a:rPr>
              <a:t>  v.</a:t>
            </a:r>
          </a:p>
          <a:p>
            <a:pPr algn="ctr">
              <a:spcBef>
                <a:spcPts val="600"/>
              </a:spcBef>
              <a:buNone/>
            </a:pPr>
            <a:r>
              <a:rPr sz="2200" b="0" i="1">
                <a:solidFill>
                  <a:srgbClr val="8E2B20"/>
                </a:solidFill>
                <a:latin typeface="Calibri"/>
                <a:ea typeface="Microsoft YaHei"/>
                <a:cs typeface="Microsoft YaHei"/>
              </a:rPr>
              <a:t>rùzhù</a:t>
            </a:r>
          </a:p>
          <a:p>
            <a:pPr algn="ctr">
              <a:spcBef>
                <a:spcPts val="400"/>
              </a:spcBef>
              <a:buNone/>
            </a:pPr>
            <a:r>
              <a:rPr sz="1800" b="0" i="0">
                <a:solidFill>
                  <a:srgbClr val="1F2933"/>
                </a:solidFill>
                <a:latin typeface="Calibri"/>
                <a:ea typeface="Microsoft YaHei"/>
                <a:cs typeface="Microsoft YaHei"/>
              </a:rPr>
              <a:t>nhận phòng, check-in</a:t>
            </a:r>
          </a:p>
        </p:txBody>
      </p:sp>
      <p:sp>
        <p:nvSpPr>
          <p:cNvPr id="8" name="TextBox 7"/>
          <p:cNvSpPr txBox="1"/>
          <p:nvPr/>
        </p:nvSpPr>
        <p:spPr>
          <a:xfrm>
            <a:off x="5665494" y="1611376"/>
            <a:ext cx="5977561" cy="4880864"/>
          </a:xfrm>
          <a:prstGeom prst="rect">
            <a:avLst/>
          </a:prstGeom>
          <a:noFill/>
        </p:spPr>
        <p:txBody>
          <a:bodyPr wrap="square" anchor="ctr">
            <a:spAutoFit/>
          </a:bodyPr>
          <a:lstStyle/>
          <a:p>
            <a:pPr>
              <a:buNone/>
            </a:pPr>
            <a:r>
              <a:rPr sz="1600" b="1" i="0">
                <a:solidFill>
                  <a:srgbClr val="8E2B20"/>
                </a:solidFill>
                <a:latin typeface="Calibri"/>
                <a:ea typeface="Microsoft YaHei"/>
                <a:cs typeface="Microsoft YaHei"/>
              </a:rPr>
              <a:t>例句</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几点可以入住？</a:t>
            </a:r>
          </a:p>
          <a:p>
            <a:pPr>
              <a:spcBef>
                <a:spcPts val="200"/>
              </a:spcBef>
              <a:buNone/>
            </a:pPr>
            <a:r>
              <a:rPr sz="1400" b="0" i="1">
                <a:solidFill>
                  <a:srgbClr val="8E2B20"/>
                </a:solidFill>
                <a:latin typeface="Calibri"/>
                <a:ea typeface="Microsoft YaHei"/>
                <a:cs typeface="Microsoft YaHei"/>
              </a:rPr>
              <a:t>     Jǐ diǎn kěyǐ rùzhù?</a:t>
            </a:r>
          </a:p>
          <a:p>
            <a:pPr>
              <a:spcBef>
                <a:spcPts val="100"/>
              </a:spcBef>
              <a:buNone/>
            </a:pPr>
            <a:r>
              <a:rPr sz="1400" b="0" i="0">
                <a:solidFill>
                  <a:srgbClr val="6B7683"/>
                </a:solidFill>
                <a:latin typeface="Calibri"/>
                <a:ea typeface="Microsoft YaHei"/>
                <a:cs typeface="Microsoft YaHei"/>
              </a:rPr>
              <a:t>     Mấy giờ có thể check-in?</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下午两点以后就能入住。</a:t>
            </a:r>
          </a:p>
          <a:p>
            <a:pPr>
              <a:spcBef>
                <a:spcPts val="200"/>
              </a:spcBef>
              <a:buNone/>
            </a:pPr>
            <a:r>
              <a:rPr sz="1400" b="0" i="1">
                <a:solidFill>
                  <a:srgbClr val="8E2B20"/>
                </a:solidFill>
                <a:latin typeface="Calibri"/>
                <a:ea typeface="Microsoft YaHei"/>
                <a:cs typeface="Microsoft YaHei"/>
              </a:rPr>
              <a:t>     Xiàwǔ liǎng diǎn yǐhòu jiù néng rùzhù.</a:t>
            </a:r>
          </a:p>
          <a:p>
            <a:pPr>
              <a:spcBef>
                <a:spcPts val="100"/>
              </a:spcBef>
              <a:buNone/>
            </a:pPr>
            <a:r>
              <a:rPr sz="1400" b="0" i="0">
                <a:solidFill>
                  <a:srgbClr val="6B7683"/>
                </a:solidFill>
                <a:latin typeface="Calibri"/>
                <a:ea typeface="Microsoft YaHei"/>
                <a:cs typeface="Microsoft YaHei"/>
              </a:rPr>
              <a:t>     Sau 2 giờ chiều là có thể check-in.</a:t>
            </a:r>
          </a:p>
        </p:txBody>
      </p:sp>
      <p:pic>
        <p:nvPicPr>
          <p:cNvPr id="9" name="slide23.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076127" y="320040"/>
            <a:ext cx="566928" cy="566928"/>
          </a:xfrm>
          <a:prstGeom prst="rect">
            <a:avLst/>
          </a:prstGeom>
          <a:ln>
            <a:noFill/>
          </a:ln>
        </p:spPr>
      </p:pic>
      <p:sp>
        <p:nvSpPr>
          <p:cNvPr id="10" name="TextBox 9"/>
          <p:cNvSpPr txBox="1"/>
          <p:nvPr/>
        </p:nvSpPr>
        <p:spPr>
          <a:xfrm>
            <a:off x="548640" y="6492240"/>
            <a:ext cx="11094415" cy="274320"/>
          </a:xfrm>
          <a:prstGeom prst="rect">
            <a:avLst/>
          </a:prstGeom>
          <a:noFill/>
        </p:spPr>
        <p:txBody>
          <a:bodyPr wrap="square" anchor="ctr">
            <a:spAutoFit/>
          </a:bodyPr>
          <a:lstStyle/>
          <a:p>
            <a:pPr>
              <a:buNone/>
            </a:pPr>
            <a:r>
              <a:rPr sz="1100" b="0" i="1">
                <a:solidFill>
                  <a:srgbClr val="6B7683"/>
                </a:solidFill>
                <a:latin typeface="Calibri"/>
                <a:ea typeface="Microsoft YaHei"/>
                <a:cs typeface="Microsoft YaHei"/>
              </a:rPr>
              <a:t>📖 入 vốn là hình MŨI TÊN nhọn cắm VÀO → "vào" → 入住 = vào ở, nhận phòng</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73931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生词拓展 6/6</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退房</a:t>
            </a:r>
          </a:p>
        </p:txBody>
      </p:sp>
      <p:pic>
        <p:nvPicPr>
          <p:cNvPr id="6" name="Picture 5" descr="tuifang.jpg"/>
          <p:cNvPicPr>
            <a:picLocks noChangeAspect="1"/>
          </p:cNvPicPr>
          <p:nvPr/>
        </p:nvPicPr>
        <p:blipFill>
          <a:blip r:embed="rId2"/>
          <a:stretch>
            <a:fillRect/>
          </a:stretch>
        </p:blipFill>
        <p:spPr>
          <a:xfrm>
            <a:off x="1323987" y="1999996"/>
            <a:ext cx="3108960" cy="2331720"/>
          </a:xfrm>
          <a:prstGeom prst="rect">
            <a:avLst/>
          </a:prstGeom>
        </p:spPr>
      </p:pic>
      <p:sp>
        <p:nvSpPr>
          <p:cNvPr id="7" name="TextBox 6"/>
          <p:cNvSpPr txBox="1"/>
          <p:nvPr/>
        </p:nvSpPr>
        <p:spPr>
          <a:xfrm>
            <a:off x="548640" y="4857496"/>
            <a:ext cx="4659654" cy="1634744"/>
          </a:xfrm>
          <a:prstGeom prst="rect">
            <a:avLst/>
          </a:prstGeom>
          <a:noFill/>
        </p:spPr>
        <p:txBody>
          <a:bodyPr wrap="square" anchor="ctr">
            <a:spAutoFit/>
          </a:bodyPr>
          <a:lstStyle/>
          <a:p>
            <a:pPr algn="ctr">
              <a:buNone/>
            </a:pPr>
            <a:r>
              <a:rPr sz="5400" b="1" i="0">
                <a:solidFill>
                  <a:srgbClr val="1F2933"/>
                </a:solidFill>
                <a:latin typeface="Calibri"/>
                <a:ea typeface="Microsoft YaHei"/>
                <a:cs typeface="Microsoft YaHei"/>
              </a:rPr>
              <a:t>退房</a:t>
            </a:r>
            <a:r>
              <a:rPr sz="1600" b="0" i="1">
                <a:solidFill>
                  <a:srgbClr val="6B7683"/>
                </a:solidFill>
                <a:latin typeface="Calibri"/>
                <a:ea typeface="Microsoft YaHei"/>
                <a:cs typeface="Microsoft YaHei"/>
              </a:rPr>
              <a:t>  v.</a:t>
            </a:r>
          </a:p>
          <a:p>
            <a:pPr algn="ctr">
              <a:spcBef>
                <a:spcPts val="600"/>
              </a:spcBef>
              <a:buNone/>
            </a:pPr>
            <a:r>
              <a:rPr sz="2200" b="0" i="1">
                <a:solidFill>
                  <a:srgbClr val="8E2B20"/>
                </a:solidFill>
                <a:latin typeface="Calibri"/>
                <a:ea typeface="Microsoft YaHei"/>
                <a:cs typeface="Microsoft YaHei"/>
              </a:rPr>
              <a:t>tuìfáng</a:t>
            </a:r>
          </a:p>
          <a:p>
            <a:pPr algn="ctr">
              <a:spcBef>
                <a:spcPts val="400"/>
              </a:spcBef>
              <a:buNone/>
            </a:pPr>
            <a:r>
              <a:rPr sz="1800" b="0" i="0">
                <a:solidFill>
                  <a:srgbClr val="1F2933"/>
                </a:solidFill>
                <a:latin typeface="Calibri"/>
                <a:ea typeface="Microsoft YaHei"/>
                <a:cs typeface="Microsoft YaHei"/>
              </a:rPr>
              <a:t>trả phòng, check-out</a:t>
            </a:r>
          </a:p>
        </p:txBody>
      </p:sp>
      <p:sp>
        <p:nvSpPr>
          <p:cNvPr id="8" name="TextBox 7"/>
          <p:cNvSpPr txBox="1"/>
          <p:nvPr/>
        </p:nvSpPr>
        <p:spPr>
          <a:xfrm>
            <a:off x="5665494" y="1611376"/>
            <a:ext cx="5977561" cy="4880864"/>
          </a:xfrm>
          <a:prstGeom prst="rect">
            <a:avLst/>
          </a:prstGeom>
          <a:noFill/>
        </p:spPr>
        <p:txBody>
          <a:bodyPr wrap="square" anchor="ctr">
            <a:spAutoFit/>
          </a:bodyPr>
          <a:lstStyle/>
          <a:p>
            <a:pPr>
              <a:buNone/>
            </a:pPr>
            <a:r>
              <a:rPr sz="1600" b="1" i="0">
                <a:solidFill>
                  <a:srgbClr val="8E2B20"/>
                </a:solidFill>
                <a:latin typeface="Calibri"/>
                <a:ea typeface="Microsoft YaHei"/>
                <a:cs typeface="Microsoft YaHei"/>
              </a:rPr>
              <a:t>例句</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中午十二点前退房。</a:t>
            </a:r>
          </a:p>
          <a:p>
            <a:pPr>
              <a:spcBef>
                <a:spcPts val="200"/>
              </a:spcBef>
              <a:buNone/>
            </a:pPr>
            <a:r>
              <a:rPr sz="1400" b="0" i="1">
                <a:solidFill>
                  <a:srgbClr val="8E2B20"/>
                </a:solidFill>
                <a:latin typeface="Calibri"/>
                <a:ea typeface="Microsoft YaHei"/>
                <a:cs typeface="Microsoft YaHei"/>
              </a:rPr>
              <a:t>     Zhōngwǔ shí'èr diǎn qián tuìfáng.</a:t>
            </a:r>
          </a:p>
          <a:p>
            <a:pPr>
              <a:spcBef>
                <a:spcPts val="100"/>
              </a:spcBef>
              <a:buNone/>
            </a:pPr>
            <a:r>
              <a:rPr sz="1400" b="0" i="0">
                <a:solidFill>
                  <a:srgbClr val="6B7683"/>
                </a:solidFill>
                <a:latin typeface="Calibri"/>
                <a:ea typeface="Microsoft YaHei"/>
                <a:cs typeface="Microsoft YaHei"/>
              </a:rPr>
              <a:t>     Trước 12 giờ trưa phải check-out.</a:t>
            </a:r>
          </a:p>
          <a:p>
            <a:pPr>
              <a:spcBef>
                <a:spcPts val="2200"/>
              </a:spcBef>
              <a:buNone/>
            </a:pPr>
            <a:r>
              <a:rPr sz="1800" b="1" i="0">
                <a:solidFill>
                  <a:srgbClr val="8E2B20"/>
                </a:solidFill>
                <a:latin typeface="Calibri"/>
                <a:ea typeface="Microsoft YaHei"/>
                <a:cs typeface="Microsoft YaHei"/>
              </a:rPr>
              <a:t>•  </a:t>
            </a:r>
            <a:r>
              <a:rPr sz="2000" b="1" i="0">
                <a:solidFill>
                  <a:srgbClr val="1F2933"/>
                </a:solidFill>
                <a:latin typeface="Calibri"/>
                <a:ea typeface="Microsoft YaHei"/>
                <a:cs typeface="Microsoft YaHei"/>
              </a:rPr>
              <a:t>我要退房，麻烦帮我看一下。</a:t>
            </a:r>
          </a:p>
          <a:p>
            <a:pPr>
              <a:spcBef>
                <a:spcPts val="200"/>
              </a:spcBef>
              <a:buNone/>
            </a:pPr>
            <a:r>
              <a:rPr sz="1400" b="0" i="1">
                <a:solidFill>
                  <a:srgbClr val="8E2B20"/>
                </a:solidFill>
                <a:latin typeface="Calibri"/>
                <a:ea typeface="Microsoft YaHei"/>
                <a:cs typeface="Microsoft YaHei"/>
              </a:rPr>
              <a:t>     Wǒ yào tuìfáng, máfan bāng wǒ kàn yíxià.</a:t>
            </a:r>
          </a:p>
          <a:p>
            <a:pPr>
              <a:spcBef>
                <a:spcPts val="100"/>
              </a:spcBef>
              <a:buNone/>
            </a:pPr>
            <a:r>
              <a:rPr sz="1400" b="0" i="0">
                <a:solidFill>
                  <a:srgbClr val="6B7683"/>
                </a:solidFill>
                <a:latin typeface="Calibri"/>
                <a:ea typeface="Microsoft YaHei"/>
                <a:cs typeface="Microsoft YaHei"/>
              </a:rPr>
              <a:t>     Tôi muốn check-out, làm ơn giúp tôi xem qua.</a:t>
            </a:r>
          </a:p>
        </p:txBody>
      </p:sp>
      <p:pic>
        <p:nvPicPr>
          <p:cNvPr id="9" name="slide24.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076127" y="320040"/>
            <a:ext cx="566928" cy="566928"/>
          </a:xfrm>
          <a:prstGeom prst="rect">
            <a:avLst/>
          </a:prstGeom>
          <a:ln>
            <a:noFill/>
          </a:ln>
        </p:spPr>
      </p:pic>
      <p:sp>
        <p:nvSpPr>
          <p:cNvPr id="10" name="TextBox 9"/>
          <p:cNvSpPr txBox="1"/>
          <p:nvPr/>
        </p:nvSpPr>
        <p:spPr>
          <a:xfrm>
            <a:off x="548640" y="6492240"/>
            <a:ext cx="11094415" cy="274320"/>
          </a:xfrm>
          <a:prstGeom prst="rect">
            <a:avLst/>
          </a:prstGeom>
          <a:noFill/>
        </p:spPr>
        <p:txBody>
          <a:bodyPr wrap="square" anchor="ctr">
            <a:spAutoFit/>
          </a:bodyPr>
          <a:lstStyle/>
          <a:p>
            <a:pPr>
              <a:buNone/>
            </a:pPr>
            <a:r>
              <a:rPr sz="1100" b="0" i="1">
                <a:solidFill>
                  <a:srgbClr val="6B7683"/>
                </a:solidFill>
                <a:latin typeface="Calibri"/>
                <a:ea typeface="Microsoft YaHei"/>
                <a:cs typeface="Microsoft YaHei"/>
              </a:rPr>
              <a:t>📖 退 = 辶(chuò, đi) + 艮(gèn, dừng lại/cứng) → ĐI nhưng bị CẢN lại, phải LÙI → "lùi, trả lại" → 退房 = trả phòng</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9"/>
                </p:tgtEl>
              </p:cMediaNode>
            </p:video>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775968"/>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37160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情景对话</a:t>
            </a:r>
          </a:p>
        </p:txBody>
      </p:sp>
      <p:sp>
        <p:nvSpPr>
          <p:cNvPr id="5" name="TextBox 4"/>
          <p:cNvSpPr txBox="1"/>
          <p:nvPr/>
        </p:nvSpPr>
        <p:spPr>
          <a:xfrm>
            <a:off x="548640" y="566928"/>
            <a:ext cx="11094415" cy="1081024"/>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预订酒店房间 — Đặt phòng khách sạn qua điện thoại</a:t>
            </a:r>
          </a:p>
        </p:txBody>
      </p:sp>
      <p:pic>
        <p:nvPicPr>
          <p:cNvPr id="6" name="Picture 5" descr="hotel_call.jpg"/>
          <p:cNvPicPr>
            <a:picLocks noChangeAspect="1"/>
          </p:cNvPicPr>
          <p:nvPr/>
        </p:nvPicPr>
        <p:blipFill>
          <a:blip r:embed="rId2"/>
          <a:stretch>
            <a:fillRect/>
          </a:stretch>
        </p:blipFill>
        <p:spPr>
          <a:xfrm>
            <a:off x="548640" y="3003606"/>
            <a:ext cx="3840480" cy="2535316"/>
          </a:xfrm>
          <a:prstGeom prst="rect">
            <a:avLst/>
          </a:prstGeom>
        </p:spPr>
      </p:pic>
      <p:sp>
        <p:nvSpPr>
          <p:cNvPr id="7" name="Rounded Rectangle 6"/>
          <p:cNvSpPr/>
          <p:nvPr/>
        </p:nvSpPr>
        <p:spPr>
          <a:xfrm>
            <a:off x="4754880" y="2050288"/>
            <a:ext cx="3376930" cy="390197"/>
          </a:xfrm>
          <a:prstGeom prst="roundRect">
            <a:avLst/>
          </a:prstGeom>
          <a:solidFill>
            <a:srgbClr val="F4F5F7"/>
          </a:solidFill>
          <a:ln w="6350">
            <a:solidFill>
              <a:srgbClr val="6B7683"/>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100" b="1" i="0">
                <a:solidFill>
                  <a:srgbClr val="8E2B20"/>
                </a:solidFill>
                <a:latin typeface="Calibri"/>
                <a:ea typeface="Microsoft YaHei"/>
                <a:cs typeface="Microsoft YaHei"/>
              </a:rPr>
              <a:t>刘明: </a:t>
            </a:r>
            <a:r>
              <a:rPr sz="1500" b="1" i="0">
                <a:solidFill>
                  <a:srgbClr val="1F2933"/>
                </a:solidFill>
                <a:latin typeface="Calibri"/>
                <a:ea typeface="Microsoft YaHei"/>
                <a:cs typeface="Microsoft YaHei"/>
              </a:rPr>
              <a:t>你好，我想预订一个房间。</a:t>
            </a:r>
          </a:p>
          <a:p>
            <a:pPr algn="l">
              <a:buNone/>
            </a:pPr>
            <a:r>
              <a:rPr sz="1100" b="0" i="1">
                <a:solidFill>
                  <a:srgbClr val="8E2B20"/>
                </a:solidFill>
                <a:latin typeface="Calibri"/>
                <a:ea typeface="Microsoft YaHei"/>
                <a:cs typeface="Microsoft YaHei"/>
              </a:rPr>
              <a:t>Nǐhǎo, wǒ xiǎng yùdìng yí ge fángjiān.</a:t>
            </a:r>
          </a:p>
        </p:txBody>
      </p:sp>
      <p:sp>
        <p:nvSpPr>
          <p:cNvPr id="8" name="Oval 7"/>
          <p:cNvSpPr/>
          <p:nvPr/>
        </p:nvSpPr>
        <p:spPr>
          <a:xfrm>
            <a:off x="4653272" y="1982549"/>
            <a:ext cx="241922" cy="241922"/>
          </a:xfrm>
          <a:prstGeom prst="ellipse">
            <a:avLst/>
          </a:prstGeom>
          <a:solidFill>
            <a:srgbClr val="2980B9"/>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200" b="1" i="0">
                <a:solidFill>
                  <a:srgbClr val="FFFFFF"/>
                </a:solidFill>
                <a:latin typeface="Calibri"/>
                <a:ea typeface="Microsoft YaHei"/>
                <a:cs typeface="Microsoft YaHei"/>
              </a:rPr>
              <a:t>刘</a:t>
            </a:r>
          </a:p>
        </p:txBody>
      </p:sp>
      <p:sp>
        <p:nvSpPr>
          <p:cNvPr id="9" name="Rounded Rectangle 8"/>
          <p:cNvSpPr/>
          <p:nvPr/>
        </p:nvSpPr>
        <p:spPr>
          <a:xfrm>
            <a:off x="6806260" y="2497241"/>
            <a:ext cx="4836795" cy="390197"/>
          </a:xfrm>
          <a:prstGeom prst="roundRect">
            <a:avLst/>
          </a:prstGeom>
          <a:solidFill>
            <a:srgbClr val="F7E4E1"/>
          </a:solidFill>
          <a:ln w="6350">
            <a:solidFill>
              <a:srgbClr val="8E2B20"/>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100" b="1" i="0">
                <a:solidFill>
                  <a:srgbClr val="8E2B20"/>
                </a:solidFill>
                <a:latin typeface="Calibri"/>
                <a:ea typeface="Microsoft YaHei"/>
                <a:cs typeface="Microsoft YaHei"/>
              </a:rPr>
              <a:t>前台: </a:t>
            </a:r>
            <a:r>
              <a:rPr sz="1500" b="1" i="0">
                <a:solidFill>
                  <a:srgbClr val="1F2933"/>
                </a:solidFill>
                <a:latin typeface="Calibri"/>
                <a:ea typeface="Microsoft YaHei"/>
                <a:cs typeface="Microsoft YaHei"/>
              </a:rPr>
              <a:t>您好，请问您要预订什么时候的房间？</a:t>
            </a:r>
          </a:p>
          <a:p>
            <a:pPr algn="l">
              <a:buNone/>
            </a:pPr>
            <a:r>
              <a:rPr sz="1100" b="0" i="1">
                <a:solidFill>
                  <a:srgbClr val="8E2B20"/>
                </a:solidFill>
                <a:latin typeface="Calibri"/>
                <a:ea typeface="Microsoft YaHei"/>
                <a:cs typeface="Microsoft YaHei"/>
              </a:rPr>
              <a:t>Nínhǎo, qǐngwèn nín yào yùdìng shénme shíhou de fángjiān?</a:t>
            </a:r>
          </a:p>
        </p:txBody>
      </p:sp>
      <p:sp>
        <p:nvSpPr>
          <p:cNvPr id="10" name="Oval 9"/>
          <p:cNvSpPr/>
          <p:nvPr/>
        </p:nvSpPr>
        <p:spPr>
          <a:xfrm>
            <a:off x="11502740" y="2429502"/>
            <a:ext cx="241922" cy="241922"/>
          </a:xfrm>
          <a:prstGeom prst="ellipse">
            <a:avLst/>
          </a:prstGeom>
          <a:solidFill>
            <a:srgbClr val="27AE6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200" b="1" i="0">
                <a:solidFill>
                  <a:srgbClr val="FFFFFF"/>
                </a:solidFill>
                <a:latin typeface="Calibri"/>
                <a:ea typeface="Microsoft YaHei"/>
                <a:cs typeface="Microsoft YaHei"/>
              </a:rPr>
              <a:t>前</a:t>
            </a:r>
          </a:p>
        </p:txBody>
      </p:sp>
      <p:sp>
        <p:nvSpPr>
          <p:cNvPr id="11" name="Rounded Rectangle 10"/>
          <p:cNvSpPr/>
          <p:nvPr/>
        </p:nvSpPr>
        <p:spPr>
          <a:xfrm>
            <a:off x="4754880" y="2944194"/>
            <a:ext cx="3684270" cy="390197"/>
          </a:xfrm>
          <a:prstGeom prst="roundRect">
            <a:avLst/>
          </a:prstGeom>
          <a:solidFill>
            <a:srgbClr val="F4F5F7"/>
          </a:solidFill>
          <a:ln w="6350">
            <a:solidFill>
              <a:srgbClr val="6B7683"/>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100" b="1" i="0">
                <a:solidFill>
                  <a:srgbClr val="8E2B20"/>
                </a:solidFill>
                <a:latin typeface="Calibri"/>
                <a:ea typeface="Microsoft YaHei"/>
                <a:cs typeface="Microsoft YaHei"/>
              </a:rPr>
              <a:t>刘明: </a:t>
            </a:r>
            <a:r>
              <a:rPr sz="1500" b="1" i="0">
                <a:solidFill>
                  <a:srgbClr val="1F2933"/>
                </a:solidFill>
                <a:latin typeface="Calibri"/>
                <a:ea typeface="Microsoft YaHei"/>
                <a:cs typeface="Microsoft YaHei"/>
              </a:rPr>
              <a:t>下周三到下周五，住两晚。</a:t>
            </a:r>
          </a:p>
          <a:p>
            <a:pPr algn="l">
              <a:buNone/>
            </a:pPr>
            <a:r>
              <a:rPr sz="1100" b="0" i="1">
                <a:solidFill>
                  <a:srgbClr val="8E2B20"/>
                </a:solidFill>
                <a:latin typeface="Calibri"/>
                <a:ea typeface="Microsoft YaHei"/>
                <a:cs typeface="Microsoft YaHei"/>
              </a:rPr>
              <a:t>Xià zhōusān dào xià zhōuwǔ, zhù liǎng wǎn.</a:t>
            </a:r>
          </a:p>
        </p:txBody>
      </p:sp>
      <p:sp>
        <p:nvSpPr>
          <p:cNvPr id="12" name="Oval 11"/>
          <p:cNvSpPr/>
          <p:nvPr/>
        </p:nvSpPr>
        <p:spPr>
          <a:xfrm>
            <a:off x="4653272" y="2876455"/>
            <a:ext cx="241922" cy="241922"/>
          </a:xfrm>
          <a:prstGeom prst="ellipse">
            <a:avLst/>
          </a:prstGeom>
          <a:solidFill>
            <a:srgbClr val="2980B9"/>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200" b="1" i="0">
                <a:solidFill>
                  <a:srgbClr val="FFFFFF"/>
                </a:solidFill>
                <a:latin typeface="Calibri"/>
                <a:ea typeface="Microsoft YaHei"/>
                <a:cs typeface="Microsoft YaHei"/>
              </a:rPr>
              <a:t>刘</a:t>
            </a:r>
          </a:p>
        </p:txBody>
      </p:sp>
      <p:sp>
        <p:nvSpPr>
          <p:cNvPr id="13" name="Rounded Rectangle 12"/>
          <p:cNvSpPr/>
          <p:nvPr/>
        </p:nvSpPr>
        <p:spPr>
          <a:xfrm>
            <a:off x="7497775" y="3391147"/>
            <a:ext cx="4145280" cy="390197"/>
          </a:xfrm>
          <a:prstGeom prst="roundRect">
            <a:avLst/>
          </a:prstGeom>
          <a:solidFill>
            <a:srgbClr val="F7E4E1"/>
          </a:solidFill>
          <a:ln w="6350">
            <a:solidFill>
              <a:srgbClr val="8E2B20"/>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100" b="1" i="0">
                <a:solidFill>
                  <a:srgbClr val="8E2B20"/>
                </a:solidFill>
                <a:latin typeface="Calibri"/>
                <a:ea typeface="Microsoft YaHei"/>
                <a:cs typeface="Microsoft YaHei"/>
              </a:rPr>
              <a:t>前台: </a:t>
            </a:r>
            <a:r>
              <a:rPr sz="1500" b="1" i="0">
                <a:solidFill>
                  <a:srgbClr val="1F2933"/>
                </a:solidFill>
                <a:latin typeface="Calibri"/>
                <a:ea typeface="Microsoft YaHei"/>
                <a:cs typeface="Microsoft YaHei"/>
              </a:rPr>
              <a:t>好的，您要单人间还是双人间？</a:t>
            </a:r>
          </a:p>
          <a:p>
            <a:pPr algn="l">
              <a:buNone/>
            </a:pPr>
            <a:r>
              <a:rPr sz="1100" b="0" i="1">
                <a:solidFill>
                  <a:srgbClr val="8E2B20"/>
                </a:solidFill>
                <a:latin typeface="Calibri"/>
                <a:ea typeface="Microsoft YaHei"/>
                <a:cs typeface="Microsoft YaHei"/>
              </a:rPr>
              <a:t>Hǎo de, nín yào dānrénjiān háishi shuāngrénjiān?</a:t>
            </a:r>
          </a:p>
        </p:txBody>
      </p:sp>
      <p:sp>
        <p:nvSpPr>
          <p:cNvPr id="14" name="Oval 13"/>
          <p:cNvSpPr/>
          <p:nvPr/>
        </p:nvSpPr>
        <p:spPr>
          <a:xfrm>
            <a:off x="11502740" y="3323408"/>
            <a:ext cx="241922" cy="241922"/>
          </a:xfrm>
          <a:prstGeom prst="ellipse">
            <a:avLst/>
          </a:prstGeom>
          <a:solidFill>
            <a:srgbClr val="27AE6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200" b="1" i="0">
                <a:solidFill>
                  <a:srgbClr val="FFFFFF"/>
                </a:solidFill>
                <a:latin typeface="Calibri"/>
                <a:ea typeface="Microsoft YaHei"/>
                <a:cs typeface="Microsoft YaHei"/>
              </a:rPr>
              <a:t>前</a:t>
            </a:r>
          </a:p>
        </p:txBody>
      </p:sp>
      <p:sp>
        <p:nvSpPr>
          <p:cNvPr id="15" name="Rounded Rectangle 14"/>
          <p:cNvSpPr/>
          <p:nvPr/>
        </p:nvSpPr>
        <p:spPr>
          <a:xfrm>
            <a:off x="4754880" y="3838100"/>
            <a:ext cx="2685415" cy="390197"/>
          </a:xfrm>
          <a:prstGeom prst="roundRect">
            <a:avLst/>
          </a:prstGeom>
          <a:solidFill>
            <a:srgbClr val="F4F5F7"/>
          </a:solidFill>
          <a:ln w="6350">
            <a:solidFill>
              <a:srgbClr val="6B7683"/>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100" b="1" i="0">
                <a:solidFill>
                  <a:srgbClr val="8E2B20"/>
                </a:solidFill>
                <a:latin typeface="Calibri"/>
                <a:ea typeface="Microsoft YaHei"/>
                <a:cs typeface="Microsoft YaHei"/>
              </a:rPr>
              <a:t>刘明: </a:t>
            </a:r>
            <a:r>
              <a:rPr sz="1500" b="1" i="0">
                <a:solidFill>
                  <a:srgbClr val="1F2933"/>
                </a:solidFill>
                <a:latin typeface="Calibri"/>
                <a:ea typeface="Microsoft YaHei"/>
                <a:cs typeface="Microsoft YaHei"/>
              </a:rPr>
              <a:t>单人间，我一个人住。</a:t>
            </a:r>
          </a:p>
          <a:p>
            <a:pPr algn="l">
              <a:buNone/>
            </a:pPr>
            <a:r>
              <a:rPr sz="1100" b="0" i="1">
                <a:solidFill>
                  <a:srgbClr val="8E2B20"/>
                </a:solidFill>
                <a:latin typeface="Calibri"/>
                <a:ea typeface="Microsoft YaHei"/>
                <a:cs typeface="Microsoft YaHei"/>
              </a:rPr>
              <a:t>Dānrénjiān, wǒ yí ge rén zhù.</a:t>
            </a:r>
          </a:p>
        </p:txBody>
      </p:sp>
      <p:sp>
        <p:nvSpPr>
          <p:cNvPr id="16" name="Oval 15"/>
          <p:cNvSpPr/>
          <p:nvPr/>
        </p:nvSpPr>
        <p:spPr>
          <a:xfrm>
            <a:off x="4653272" y="3770361"/>
            <a:ext cx="241922" cy="241922"/>
          </a:xfrm>
          <a:prstGeom prst="ellipse">
            <a:avLst/>
          </a:prstGeom>
          <a:solidFill>
            <a:srgbClr val="2980B9"/>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200" b="1" i="0">
                <a:solidFill>
                  <a:srgbClr val="FFFFFF"/>
                </a:solidFill>
                <a:latin typeface="Calibri"/>
                <a:ea typeface="Microsoft YaHei"/>
                <a:cs typeface="Microsoft YaHei"/>
              </a:rPr>
              <a:t>刘</a:t>
            </a:r>
          </a:p>
        </p:txBody>
      </p:sp>
      <p:sp>
        <p:nvSpPr>
          <p:cNvPr id="17" name="Rounded Rectangle 16"/>
          <p:cNvSpPr/>
          <p:nvPr/>
        </p:nvSpPr>
        <p:spPr>
          <a:xfrm>
            <a:off x="7344105" y="4285053"/>
            <a:ext cx="4298950" cy="390197"/>
          </a:xfrm>
          <a:prstGeom prst="roundRect">
            <a:avLst/>
          </a:prstGeom>
          <a:solidFill>
            <a:srgbClr val="F7E4E1"/>
          </a:solidFill>
          <a:ln w="6350">
            <a:solidFill>
              <a:srgbClr val="8E2B20"/>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100" b="1" i="0">
                <a:solidFill>
                  <a:srgbClr val="8E2B20"/>
                </a:solidFill>
                <a:latin typeface="Calibri"/>
                <a:ea typeface="Microsoft YaHei"/>
                <a:cs typeface="Microsoft YaHei"/>
              </a:rPr>
              <a:t>前台: </a:t>
            </a:r>
            <a:r>
              <a:rPr sz="1500" b="1" i="0">
                <a:solidFill>
                  <a:srgbClr val="1F2933"/>
                </a:solidFill>
                <a:latin typeface="Calibri"/>
                <a:ea typeface="Microsoft YaHei"/>
                <a:cs typeface="Microsoft YaHei"/>
              </a:rPr>
              <a:t>没问题，一晚三百八十块钱，可以吗？</a:t>
            </a:r>
          </a:p>
          <a:p>
            <a:pPr algn="l">
              <a:buNone/>
            </a:pPr>
            <a:r>
              <a:rPr sz="1100" b="0" i="1">
                <a:solidFill>
                  <a:srgbClr val="8E2B20"/>
                </a:solidFill>
                <a:latin typeface="Calibri"/>
                <a:ea typeface="Microsoft YaHei"/>
                <a:cs typeface="Microsoft YaHei"/>
              </a:rPr>
              <a:t>Méi wèntí, yì wǎn sānbǎi bāshí kuài qián, kěyǐ ma?</a:t>
            </a:r>
          </a:p>
        </p:txBody>
      </p:sp>
      <p:sp>
        <p:nvSpPr>
          <p:cNvPr id="18" name="Oval 17"/>
          <p:cNvSpPr/>
          <p:nvPr/>
        </p:nvSpPr>
        <p:spPr>
          <a:xfrm>
            <a:off x="11502740" y="4217314"/>
            <a:ext cx="241922" cy="241922"/>
          </a:xfrm>
          <a:prstGeom prst="ellipse">
            <a:avLst/>
          </a:prstGeom>
          <a:solidFill>
            <a:srgbClr val="27AE6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200" b="1" i="0">
                <a:solidFill>
                  <a:srgbClr val="FFFFFF"/>
                </a:solidFill>
                <a:latin typeface="Calibri"/>
                <a:ea typeface="Microsoft YaHei"/>
                <a:cs typeface="Microsoft YaHei"/>
              </a:rPr>
              <a:t>前</a:t>
            </a:r>
          </a:p>
        </p:txBody>
      </p:sp>
      <p:sp>
        <p:nvSpPr>
          <p:cNvPr id="19" name="Rounded Rectangle 18"/>
          <p:cNvSpPr/>
          <p:nvPr/>
        </p:nvSpPr>
        <p:spPr>
          <a:xfrm>
            <a:off x="4754880" y="4732006"/>
            <a:ext cx="2378075" cy="532087"/>
          </a:xfrm>
          <a:prstGeom prst="roundRect">
            <a:avLst/>
          </a:prstGeom>
          <a:solidFill>
            <a:srgbClr val="F4F5F7"/>
          </a:solidFill>
          <a:ln w="6350">
            <a:solidFill>
              <a:srgbClr val="6B7683"/>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100" b="1" i="0">
                <a:solidFill>
                  <a:srgbClr val="8E2B20"/>
                </a:solidFill>
                <a:latin typeface="Calibri"/>
                <a:ea typeface="Microsoft YaHei"/>
                <a:cs typeface="Microsoft YaHei"/>
              </a:rPr>
              <a:t>刘明: </a:t>
            </a:r>
            <a:r>
              <a:rPr sz="1500" b="1" i="0">
                <a:solidFill>
                  <a:srgbClr val="1F2933"/>
                </a:solidFill>
                <a:latin typeface="Calibri"/>
                <a:ea typeface="Microsoft YaHei"/>
                <a:cs typeface="Microsoft YaHei"/>
              </a:rPr>
              <a:t>可以。几点可以入住？</a:t>
            </a:r>
          </a:p>
          <a:p>
            <a:pPr algn="l">
              <a:buNone/>
            </a:pPr>
            <a:r>
              <a:rPr sz="1100" b="0" i="1">
                <a:solidFill>
                  <a:srgbClr val="8E2B20"/>
                </a:solidFill>
                <a:latin typeface="Calibri"/>
                <a:ea typeface="Microsoft YaHei"/>
                <a:cs typeface="Microsoft YaHei"/>
              </a:rPr>
              <a:t>Kěyǐ. Jǐ diǎn kěyǐ rùzhù?</a:t>
            </a:r>
          </a:p>
        </p:txBody>
      </p:sp>
      <p:sp>
        <p:nvSpPr>
          <p:cNvPr id="20" name="Oval 19"/>
          <p:cNvSpPr/>
          <p:nvPr/>
        </p:nvSpPr>
        <p:spPr>
          <a:xfrm>
            <a:off x="4616324" y="4639635"/>
            <a:ext cx="329893" cy="329893"/>
          </a:xfrm>
          <a:prstGeom prst="ellipse">
            <a:avLst/>
          </a:prstGeom>
          <a:solidFill>
            <a:srgbClr val="2980B9"/>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200" b="1" i="0">
                <a:solidFill>
                  <a:srgbClr val="FFFFFF"/>
                </a:solidFill>
                <a:latin typeface="Calibri"/>
                <a:ea typeface="Microsoft YaHei"/>
                <a:cs typeface="Microsoft YaHei"/>
              </a:rPr>
              <a:t>刘</a:t>
            </a:r>
          </a:p>
        </p:txBody>
      </p:sp>
      <p:sp>
        <p:nvSpPr>
          <p:cNvPr id="21" name="Rounded Rectangle 20"/>
          <p:cNvSpPr/>
          <p:nvPr/>
        </p:nvSpPr>
        <p:spPr>
          <a:xfrm>
            <a:off x="5653735" y="5320849"/>
            <a:ext cx="5989320" cy="390197"/>
          </a:xfrm>
          <a:prstGeom prst="roundRect">
            <a:avLst/>
          </a:prstGeom>
          <a:solidFill>
            <a:srgbClr val="F7E4E1"/>
          </a:solidFill>
          <a:ln w="6350">
            <a:solidFill>
              <a:srgbClr val="8E2B20"/>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100" b="1" i="0">
                <a:solidFill>
                  <a:srgbClr val="8E2B20"/>
                </a:solidFill>
                <a:latin typeface="Calibri"/>
                <a:ea typeface="Microsoft YaHei"/>
                <a:cs typeface="Microsoft YaHei"/>
              </a:rPr>
              <a:t>前台: </a:t>
            </a:r>
            <a:r>
              <a:rPr sz="1500" b="1" i="0">
                <a:solidFill>
                  <a:srgbClr val="1F2933"/>
                </a:solidFill>
                <a:latin typeface="Calibri"/>
                <a:ea typeface="Microsoft YaHei"/>
                <a:cs typeface="Microsoft YaHei"/>
              </a:rPr>
              <a:t>下午两点以后就能入住，中午十二点前退房。</a:t>
            </a:r>
          </a:p>
          <a:p>
            <a:pPr algn="l">
              <a:buNone/>
            </a:pPr>
            <a:r>
              <a:rPr sz="1100" b="0" i="1">
                <a:solidFill>
                  <a:srgbClr val="8E2B20"/>
                </a:solidFill>
                <a:latin typeface="Calibri"/>
                <a:ea typeface="Microsoft YaHei"/>
                <a:cs typeface="Microsoft YaHei"/>
              </a:rPr>
              <a:t>Xiàwǔ liǎng diǎn yǐhòu jiù néng rùzhù, zhōngwǔ shí'èr diǎn qián tuìfáng.</a:t>
            </a:r>
          </a:p>
        </p:txBody>
      </p:sp>
      <p:sp>
        <p:nvSpPr>
          <p:cNvPr id="22" name="Oval 21"/>
          <p:cNvSpPr/>
          <p:nvPr/>
        </p:nvSpPr>
        <p:spPr>
          <a:xfrm>
            <a:off x="11502740" y="5253110"/>
            <a:ext cx="241922" cy="241922"/>
          </a:xfrm>
          <a:prstGeom prst="ellipse">
            <a:avLst/>
          </a:prstGeom>
          <a:solidFill>
            <a:srgbClr val="27AE6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200" b="1" i="0">
                <a:solidFill>
                  <a:srgbClr val="FFFFFF"/>
                </a:solidFill>
                <a:latin typeface="Calibri"/>
                <a:ea typeface="Microsoft YaHei"/>
                <a:cs typeface="Microsoft YaHei"/>
              </a:rPr>
              <a:t>前</a:t>
            </a:r>
          </a:p>
        </p:txBody>
      </p:sp>
      <p:sp>
        <p:nvSpPr>
          <p:cNvPr id="23" name="Rounded Rectangle 22"/>
          <p:cNvSpPr/>
          <p:nvPr/>
        </p:nvSpPr>
        <p:spPr>
          <a:xfrm>
            <a:off x="4754880" y="5767802"/>
            <a:ext cx="1737360" cy="390197"/>
          </a:xfrm>
          <a:prstGeom prst="roundRect">
            <a:avLst/>
          </a:prstGeom>
          <a:solidFill>
            <a:srgbClr val="F4F5F7"/>
          </a:solidFill>
          <a:ln w="6350">
            <a:solidFill>
              <a:srgbClr val="6B7683"/>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100" b="1" i="0">
                <a:solidFill>
                  <a:srgbClr val="8E2B20"/>
                </a:solidFill>
                <a:latin typeface="Calibri"/>
                <a:ea typeface="Microsoft YaHei"/>
                <a:cs typeface="Microsoft YaHei"/>
              </a:rPr>
              <a:t>刘明: </a:t>
            </a:r>
            <a:r>
              <a:rPr sz="1500" b="1" i="0">
                <a:solidFill>
                  <a:srgbClr val="1F2933"/>
                </a:solidFill>
                <a:latin typeface="Calibri"/>
                <a:ea typeface="Microsoft YaHei"/>
                <a:cs typeface="Microsoft YaHei"/>
              </a:rPr>
              <a:t>好，谢谢你。</a:t>
            </a:r>
          </a:p>
          <a:p>
            <a:pPr algn="l">
              <a:buNone/>
            </a:pPr>
            <a:r>
              <a:rPr sz="1100" b="0" i="1">
                <a:solidFill>
                  <a:srgbClr val="8E2B20"/>
                </a:solidFill>
                <a:latin typeface="Calibri"/>
                <a:ea typeface="Microsoft YaHei"/>
                <a:cs typeface="Microsoft YaHei"/>
              </a:rPr>
              <a:t>Hǎo, xièxie nǐ.</a:t>
            </a:r>
          </a:p>
        </p:txBody>
      </p:sp>
      <p:sp>
        <p:nvSpPr>
          <p:cNvPr id="24" name="Oval 23"/>
          <p:cNvSpPr/>
          <p:nvPr/>
        </p:nvSpPr>
        <p:spPr>
          <a:xfrm>
            <a:off x="4653272" y="5700063"/>
            <a:ext cx="241922" cy="241922"/>
          </a:xfrm>
          <a:prstGeom prst="ellipse">
            <a:avLst/>
          </a:prstGeom>
          <a:solidFill>
            <a:srgbClr val="2980B9"/>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200" b="1" i="0">
                <a:solidFill>
                  <a:srgbClr val="FFFFFF"/>
                </a:solidFill>
                <a:latin typeface="Calibri"/>
                <a:ea typeface="Microsoft YaHei"/>
                <a:cs typeface="Microsoft YaHei"/>
              </a:rPr>
              <a:t>刘</a:t>
            </a:r>
          </a:p>
        </p:txBody>
      </p:sp>
      <p:pic>
        <p:nvPicPr>
          <p:cNvPr id="25" name="slide25.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076127" y="320040"/>
            <a:ext cx="566928" cy="566928"/>
          </a:xfrm>
          <a:prstGeom prst="rect">
            <a:avLst/>
          </a:prstGeom>
          <a:ln>
            <a:noFill/>
          </a:ln>
        </p:spPr>
      </p:pic>
    </p:spTree>
  </p:cSld>
  <p:clrMapOvr>
    <a:masterClrMapping/>
  </p:clrMapOvr>
  <p:timing>
    <p:tnLst>
      <p:par>
        <p:cTn id="1" dur="indefinite" restart="never" nodeType="tmRoot">
          <p:childTnLst>
            <p:video>
              <p:cMediaNode vol="80000">
                <p:cTn id="2" fill="hold" display="0">
                  <p:stCondLst>
                    <p:cond delay="indefinite"/>
                  </p:stCondLst>
                </p:cTn>
                <p:tgtEl>
                  <p:spTgt spid="25"/>
                </p:tgtEl>
              </p:cMediaNode>
            </p:video>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775968"/>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37160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课文1</a:t>
            </a:r>
          </a:p>
        </p:txBody>
      </p:sp>
      <p:sp>
        <p:nvSpPr>
          <p:cNvPr id="5" name="TextBox 4"/>
          <p:cNvSpPr txBox="1"/>
          <p:nvPr/>
        </p:nvSpPr>
        <p:spPr>
          <a:xfrm>
            <a:off x="548640" y="566928"/>
            <a:ext cx="11094415" cy="1081024"/>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刘明回家晚了 — Lưu Minh về nhà muộn</a:t>
            </a:r>
          </a:p>
        </p:txBody>
      </p:sp>
      <p:pic>
        <p:nvPicPr>
          <p:cNvPr id="6" name="Picture 5" descr="home_evening.jpg"/>
          <p:cNvPicPr>
            <a:picLocks noChangeAspect="1"/>
          </p:cNvPicPr>
          <p:nvPr/>
        </p:nvPicPr>
        <p:blipFill>
          <a:blip r:embed="rId2"/>
          <a:stretch>
            <a:fillRect/>
          </a:stretch>
        </p:blipFill>
        <p:spPr>
          <a:xfrm>
            <a:off x="548640" y="2990479"/>
            <a:ext cx="3840480" cy="2561570"/>
          </a:xfrm>
          <a:prstGeom prst="rect">
            <a:avLst/>
          </a:prstGeom>
        </p:spPr>
      </p:pic>
      <p:sp>
        <p:nvSpPr>
          <p:cNvPr id="7" name="Rounded Rectangle 6"/>
          <p:cNvSpPr/>
          <p:nvPr/>
        </p:nvSpPr>
        <p:spPr>
          <a:xfrm>
            <a:off x="4754880" y="2050288"/>
            <a:ext cx="2531745" cy="762495"/>
          </a:xfrm>
          <a:prstGeom prst="roundRect">
            <a:avLst/>
          </a:prstGeom>
          <a:solidFill>
            <a:srgbClr val="F4F5F7"/>
          </a:solidFill>
          <a:ln w="6350">
            <a:solidFill>
              <a:srgbClr val="6B7683"/>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100" b="1" i="0">
                <a:solidFill>
                  <a:srgbClr val="8E2B20"/>
                </a:solidFill>
                <a:latin typeface="Calibri"/>
                <a:ea typeface="Microsoft YaHei"/>
                <a:cs typeface="Microsoft YaHei"/>
              </a:rPr>
              <a:t>王一雪: </a:t>
            </a:r>
            <a:r>
              <a:rPr sz="1600" b="1" i="0">
                <a:solidFill>
                  <a:srgbClr val="1F2933"/>
                </a:solidFill>
                <a:latin typeface="Calibri"/>
                <a:ea typeface="Microsoft YaHei"/>
                <a:cs typeface="Microsoft YaHei"/>
              </a:rPr>
              <a:t>今天回来这么晚啊！</a:t>
            </a:r>
          </a:p>
          <a:p>
            <a:pPr algn="l">
              <a:buNone/>
            </a:pPr>
            <a:r>
              <a:rPr sz="1100" b="0" i="1">
                <a:solidFill>
                  <a:srgbClr val="8E2B20"/>
                </a:solidFill>
                <a:latin typeface="Calibri"/>
                <a:ea typeface="Microsoft YaHei"/>
                <a:cs typeface="Microsoft YaHei"/>
              </a:rPr>
              <a:t>Jīntiān huílái zhème wǎn a!</a:t>
            </a:r>
          </a:p>
        </p:txBody>
      </p:sp>
      <p:sp>
        <p:nvSpPr>
          <p:cNvPr id="8" name="Oval 7"/>
          <p:cNvSpPr/>
          <p:nvPr/>
        </p:nvSpPr>
        <p:spPr>
          <a:xfrm>
            <a:off x="4578217" y="1932513"/>
            <a:ext cx="420624" cy="420624"/>
          </a:xfrm>
          <a:prstGeom prst="ellipse">
            <a:avLst/>
          </a:prstGeom>
          <a:solidFill>
            <a:srgbClr val="2980B9"/>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300" b="1" i="0">
                <a:solidFill>
                  <a:srgbClr val="FFFFFF"/>
                </a:solidFill>
                <a:latin typeface="Calibri"/>
                <a:ea typeface="Microsoft YaHei"/>
                <a:cs typeface="Microsoft YaHei"/>
              </a:rPr>
              <a:t>王</a:t>
            </a:r>
          </a:p>
        </p:txBody>
      </p:sp>
      <p:sp>
        <p:nvSpPr>
          <p:cNvPr id="9" name="Rounded Rectangle 8"/>
          <p:cNvSpPr/>
          <p:nvPr/>
        </p:nvSpPr>
        <p:spPr>
          <a:xfrm>
            <a:off x="7497775" y="2923691"/>
            <a:ext cx="4145280" cy="762495"/>
          </a:xfrm>
          <a:prstGeom prst="roundRect">
            <a:avLst/>
          </a:prstGeom>
          <a:solidFill>
            <a:srgbClr val="F7E4E1"/>
          </a:solidFill>
          <a:ln w="6350">
            <a:solidFill>
              <a:srgbClr val="8E2B20"/>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100" b="1" i="0">
                <a:solidFill>
                  <a:srgbClr val="8E2B20"/>
                </a:solidFill>
                <a:latin typeface="Calibri"/>
                <a:ea typeface="Microsoft YaHei"/>
                <a:cs typeface="Microsoft YaHei"/>
              </a:rPr>
              <a:t>刘明: </a:t>
            </a:r>
            <a:r>
              <a:rPr sz="1600" b="1" i="0">
                <a:solidFill>
                  <a:srgbClr val="1F2933"/>
                </a:solidFill>
                <a:latin typeface="Calibri"/>
                <a:ea typeface="Microsoft YaHei"/>
                <a:cs typeface="Microsoft YaHei"/>
              </a:rPr>
              <a:t>工作太多了，下班的时候没做完。</a:t>
            </a:r>
          </a:p>
          <a:p>
            <a:pPr algn="l">
              <a:buNone/>
            </a:pPr>
            <a:r>
              <a:rPr sz="1100" b="0" i="1">
                <a:solidFill>
                  <a:srgbClr val="8E2B20"/>
                </a:solidFill>
                <a:latin typeface="Calibri"/>
                <a:ea typeface="Microsoft YaHei"/>
                <a:cs typeface="Microsoft YaHei"/>
              </a:rPr>
              <a:t>Gōngzuò tài duō le, xiàbān de shíhòu méi zuòwán.</a:t>
            </a:r>
          </a:p>
        </p:txBody>
      </p:sp>
      <p:sp>
        <p:nvSpPr>
          <p:cNvPr id="10" name="Oval 9"/>
          <p:cNvSpPr/>
          <p:nvPr/>
        </p:nvSpPr>
        <p:spPr>
          <a:xfrm>
            <a:off x="11399093" y="2805916"/>
            <a:ext cx="420624" cy="420624"/>
          </a:xfrm>
          <a:prstGeom prst="ellipse">
            <a:avLst/>
          </a:prstGeom>
          <a:solidFill>
            <a:srgbClr val="27AE6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300" b="1" i="0">
                <a:solidFill>
                  <a:srgbClr val="FFFFFF"/>
                </a:solidFill>
                <a:latin typeface="Calibri"/>
                <a:ea typeface="Microsoft YaHei"/>
                <a:cs typeface="Microsoft YaHei"/>
              </a:rPr>
              <a:t>刘</a:t>
            </a:r>
          </a:p>
        </p:txBody>
      </p:sp>
      <p:sp>
        <p:nvSpPr>
          <p:cNvPr id="11" name="Rounded Rectangle 10"/>
          <p:cNvSpPr/>
          <p:nvPr/>
        </p:nvSpPr>
        <p:spPr>
          <a:xfrm>
            <a:off x="4754880" y="3797094"/>
            <a:ext cx="3223260" cy="762495"/>
          </a:xfrm>
          <a:prstGeom prst="roundRect">
            <a:avLst/>
          </a:prstGeom>
          <a:solidFill>
            <a:srgbClr val="F4F5F7"/>
          </a:solidFill>
          <a:ln w="6350">
            <a:solidFill>
              <a:srgbClr val="6B7683"/>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100" b="1" i="0">
                <a:solidFill>
                  <a:srgbClr val="8E2B20"/>
                </a:solidFill>
                <a:latin typeface="Calibri"/>
                <a:ea typeface="Microsoft YaHei"/>
                <a:cs typeface="Microsoft YaHei"/>
              </a:rPr>
              <a:t>王一雪: </a:t>
            </a:r>
            <a:r>
              <a:rPr sz="1600" b="1" i="0">
                <a:solidFill>
                  <a:srgbClr val="1F2933"/>
                </a:solidFill>
                <a:latin typeface="Calibri"/>
                <a:ea typeface="Microsoft YaHei"/>
                <a:cs typeface="Microsoft YaHei"/>
              </a:rPr>
              <a:t>菜都做好了，过来吃饭吧。</a:t>
            </a:r>
          </a:p>
          <a:p>
            <a:pPr algn="l">
              <a:buNone/>
            </a:pPr>
            <a:r>
              <a:rPr sz="1100" b="0" i="1">
                <a:solidFill>
                  <a:srgbClr val="8E2B20"/>
                </a:solidFill>
                <a:latin typeface="Calibri"/>
                <a:ea typeface="Microsoft YaHei"/>
                <a:cs typeface="Microsoft YaHei"/>
              </a:rPr>
              <a:t>Cài dōu zuòhǎo le, guòlái chīfàn ba.</a:t>
            </a:r>
          </a:p>
        </p:txBody>
      </p:sp>
      <p:sp>
        <p:nvSpPr>
          <p:cNvPr id="12" name="Oval 11"/>
          <p:cNvSpPr/>
          <p:nvPr/>
        </p:nvSpPr>
        <p:spPr>
          <a:xfrm>
            <a:off x="4578217" y="3679319"/>
            <a:ext cx="420624" cy="420624"/>
          </a:xfrm>
          <a:prstGeom prst="ellipse">
            <a:avLst/>
          </a:prstGeom>
          <a:solidFill>
            <a:srgbClr val="2980B9"/>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300" b="1" i="0">
                <a:solidFill>
                  <a:srgbClr val="FFFFFF"/>
                </a:solidFill>
                <a:latin typeface="Calibri"/>
                <a:ea typeface="Microsoft YaHei"/>
                <a:cs typeface="Microsoft YaHei"/>
              </a:rPr>
              <a:t>王</a:t>
            </a:r>
          </a:p>
        </p:txBody>
      </p:sp>
      <p:sp>
        <p:nvSpPr>
          <p:cNvPr id="13" name="Rounded Rectangle 12"/>
          <p:cNvSpPr/>
          <p:nvPr/>
        </p:nvSpPr>
        <p:spPr>
          <a:xfrm>
            <a:off x="8573465" y="4670497"/>
            <a:ext cx="3069590" cy="762495"/>
          </a:xfrm>
          <a:prstGeom prst="roundRect">
            <a:avLst/>
          </a:prstGeom>
          <a:solidFill>
            <a:srgbClr val="F7E4E1"/>
          </a:solidFill>
          <a:ln w="6350">
            <a:solidFill>
              <a:srgbClr val="8E2B20"/>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100" b="1" i="0">
                <a:solidFill>
                  <a:srgbClr val="8E2B20"/>
                </a:solidFill>
                <a:latin typeface="Calibri"/>
                <a:ea typeface="Microsoft YaHei"/>
                <a:cs typeface="Microsoft YaHei"/>
              </a:rPr>
              <a:t>刘明: </a:t>
            </a:r>
            <a:r>
              <a:rPr sz="1600" b="1" i="0">
                <a:solidFill>
                  <a:srgbClr val="1F2933"/>
                </a:solidFill>
                <a:latin typeface="Calibri"/>
                <a:ea typeface="Microsoft YaHei"/>
                <a:cs typeface="Microsoft YaHei"/>
              </a:rPr>
              <a:t>我想休息一下，喝杯水。</a:t>
            </a:r>
          </a:p>
          <a:p>
            <a:pPr algn="l">
              <a:buNone/>
            </a:pPr>
            <a:r>
              <a:rPr sz="1100" b="0" i="1">
                <a:solidFill>
                  <a:srgbClr val="8E2B20"/>
                </a:solidFill>
                <a:latin typeface="Calibri"/>
                <a:ea typeface="Microsoft YaHei"/>
                <a:cs typeface="Microsoft YaHei"/>
              </a:rPr>
              <a:t>Wǒ xiǎng xiūxi yíxià, hē bēi shuǐ.</a:t>
            </a:r>
          </a:p>
        </p:txBody>
      </p:sp>
      <p:sp>
        <p:nvSpPr>
          <p:cNvPr id="14" name="Oval 13"/>
          <p:cNvSpPr/>
          <p:nvPr/>
        </p:nvSpPr>
        <p:spPr>
          <a:xfrm>
            <a:off x="11399093" y="4552722"/>
            <a:ext cx="420624" cy="420624"/>
          </a:xfrm>
          <a:prstGeom prst="ellipse">
            <a:avLst/>
          </a:prstGeom>
          <a:solidFill>
            <a:srgbClr val="27AE6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300" b="1" i="0">
                <a:solidFill>
                  <a:srgbClr val="FFFFFF"/>
                </a:solidFill>
                <a:latin typeface="Calibri"/>
                <a:ea typeface="Microsoft YaHei"/>
                <a:cs typeface="Microsoft YaHei"/>
              </a:rPr>
              <a:t>刘</a:t>
            </a:r>
          </a:p>
        </p:txBody>
      </p:sp>
      <p:sp>
        <p:nvSpPr>
          <p:cNvPr id="15" name="Rounded Rectangle 14"/>
          <p:cNvSpPr/>
          <p:nvPr/>
        </p:nvSpPr>
        <p:spPr>
          <a:xfrm>
            <a:off x="4754880" y="5543900"/>
            <a:ext cx="1737360" cy="762495"/>
          </a:xfrm>
          <a:prstGeom prst="roundRect">
            <a:avLst/>
          </a:prstGeom>
          <a:solidFill>
            <a:srgbClr val="F4F5F7"/>
          </a:solidFill>
          <a:ln w="6350">
            <a:solidFill>
              <a:srgbClr val="6B7683"/>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100" b="1" i="0">
                <a:solidFill>
                  <a:srgbClr val="8E2B20"/>
                </a:solidFill>
                <a:latin typeface="Calibri"/>
                <a:ea typeface="Microsoft YaHei"/>
                <a:cs typeface="Microsoft YaHei"/>
              </a:rPr>
              <a:t>王一雪: </a:t>
            </a:r>
            <a:r>
              <a:rPr sz="1600" b="1" i="0">
                <a:solidFill>
                  <a:srgbClr val="1F2933"/>
                </a:solidFill>
                <a:latin typeface="Calibri"/>
                <a:ea typeface="Microsoft YaHei"/>
                <a:cs typeface="Microsoft YaHei"/>
              </a:rPr>
              <a:t>好的。</a:t>
            </a:r>
          </a:p>
          <a:p>
            <a:pPr algn="l">
              <a:buNone/>
            </a:pPr>
            <a:r>
              <a:rPr sz="1100" b="0" i="1">
                <a:solidFill>
                  <a:srgbClr val="8E2B20"/>
                </a:solidFill>
                <a:latin typeface="Calibri"/>
                <a:ea typeface="Microsoft YaHei"/>
                <a:cs typeface="Microsoft YaHei"/>
              </a:rPr>
              <a:t>Hǎo de.</a:t>
            </a:r>
          </a:p>
        </p:txBody>
      </p:sp>
      <p:sp>
        <p:nvSpPr>
          <p:cNvPr id="16" name="Oval 15"/>
          <p:cNvSpPr/>
          <p:nvPr/>
        </p:nvSpPr>
        <p:spPr>
          <a:xfrm>
            <a:off x="4578217" y="5426125"/>
            <a:ext cx="420624" cy="420624"/>
          </a:xfrm>
          <a:prstGeom prst="ellipse">
            <a:avLst/>
          </a:prstGeom>
          <a:solidFill>
            <a:srgbClr val="2980B9"/>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300" b="1" i="0">
                <a:solidFill>
                  <a:srgbClr val="FFFFFF"/>
                </a:solidFill>
                <a:latin typeface="Calibri"/>
                <a:ea typeface="Microsoft YaHei"/>
                <a:cs typeface="Microsoft YaHei"/>
              </a:rPr>
              <a:t>王</a:t>
            </a:r>
          </a:p>
        </p:txBody>
      </p:sp>
      <p:pic>
        <p:nvPicPr>
          <p:cNvPr id="17" name="slide26.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076127" y="320040"/>
            <a:ext cx="566928" cy="566928"/>
          </a:xfrm>
          <a:prstGeom prst="rect">
            <a:avLst/>
          </a:prstGeom>
          <a:ln>
            <a:noFill/>
          </a:ln>
        </p:spPr>
      </p:pic>
    </p:spTree>
  </p:cSld>
  <p:clrMapOvr>
    <a:masterClrMapping/>
  </p:clrMapOvr>
  <p:timing>
    <p:tnLst>
      <p:par>
        <p:cTn id="1" dur="indefinite" restart="never" nodeType="tmRoot">
          <p:childTnLst>
            <p:video>
              <p:cMediaNode vol="80000">
                <p:cTn id="2" fill="hold" display="0">
                  <p:stCondLst>
                    <p:cond delay="indefinite"/>
                  </p:stCondLst>
                </p:cTn>
                <p:tgtEl>
                  <p:spTgt spid="17"/>
                </p:tgtEl>
              </p:cMediaNode>
            </p:video>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775968"/>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37160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课文2</a:t>
            </a:r>
          </a:p>
        </p:txBody>
      </p:sp>
      <p:sp>
        <p:nvSpPr>
          <p:cNvPr id="5" name="TextBox 4"/>
          <p:cNvSpPr txBox="1"/>
          <p:nvPr/>
        </p:nvSpPr>
        <p:spPr>
          <a:xfrm>
            <a:off x="548640" y="566928"/>
            <a:ext cx="11094415" cy="1081024"/>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商量去旅游 — Bàn chuyện đi du lịch</a:t>
            </a:r>
          </a:p>
        </p:txBody>
      </p:sp>
      <p:pic>
        <p:nvPicPr>
          <p:cNvPr id="6" name="Picture 5" descr="travel_planning.jpg"/>
          <p:cNvPicPr>
            <a:picLocks noChangeAspect="1"/>
          </p:cNvPicPr>
          <p:nvPr/>
        </p:nvPicPr>
        <p:blipFill>
          <a:blip r:embed="rId2"/>
          <a:stretch>
            <a:fillRect/>
          </a:stretch>
        </p:blipFill>
        <p:spPr>
          <a:xfrm>
            <a:off x="548640" y="2439532"/>
            <a:ext cx="3840480" cy="3663463"/>
          </a:xfrm>
          <a:prstGeom prst="rect">
            <a:avLst/>
          </a:prstGeom>
        </p:spPr>
      </p:pic>
      <p:sp>
        <p:nvSpPr>
          <p:cNvPr id="7" name="Rounded Rectangle 6"/>
          <p:cNvSpPr/>
          <p:nvPr/>
        </p:nvSpPr>
        <p:spPr>
          <a:xfrm>
            <a:off x="4754880" y="2050288"/>
            <a:ext cx="3684270" cy="718547"/>
          </a:xfrm>
          <a:prstGeom prst="roundRect">
            <a:avLst/>
          </a:prstGeom>
          <a:solidFill>
            <a:srgbClr val="F4F5F7"/>
          </a:solidFill>
          <a:ln w="6350">
            <a:solidFill>
              <a:srgbClr val="6B7683"/>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100" b="1" i="0">
                <a:solidFill>
                  <a:srgbClr val="8E2B20"/>
                </a:solidFill>
                <a:latin typeface="Calibri"/>
                <a:ea typeface="Microsoft YaHei"/>
                <a:cs typeface="Microsoft YaHei"/>
              </a:rPr>
              <a:t>刘明: </a:t>
            </a:r>
            <a:r>
              <a:rPr sz="1500" b="1" i="0">
                <a:solidFill>
                  <a:srgbClr val="1F2933"/>
                </a:solidFill>
                <a:latin typeface="Calibri"/>
                <a:ea typeface="Microsoft YaHei"/>
                <a:cs typeface="Microsoft YaHei"/>
              </a:rPr>
              <a:t>我们找个时间去旅游，怎么样？</a:t>
            </a:r>
          </a:p>
          <a:p>
            <a:pPr algn="l">
              <a:buNone/>
            </a:pPr>
            <a:r>
              <a:rPr sz="1100" b="0" i="1">
                <a:solidFill>
                  <a:srgbClr val="8E2B20"/>
                </a:solidFill>
                <a:latin typeface="Calibri"/>
                <a:ea typeface="Microsoft YaHei"/>
                <a:cs typeface="Microsoft YaHei"/>
              </a:rPr>
              <a:t>Wǒmen zhǎo gè shíjiān qù lǚyóu, zěnmeyàng?</a:t>
            </a:r>
          </a:p>
        </p:txBody>
      </p:sp>
      <p:sp>
        <p:nvSpPr>
          <p:cNvPr id="8" name="Oval 7"/>
          <p:cNvSpPr/>
          <p:nvPr/>
        </p:nvSpPr>
        <p:spPr>
          <a:xfrm>
            <a:off x="4578217" y="1932513"/>
            <a:ext cx="420624" cy="420624"/>
          </a:xfrm>
          <a:prstGeom prst="ellipse">
            <a:avLst/>
          </a:prstGeom>
          <a:solidFill>
            <a:srgbClr val="2980B9"/>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300" b="1" i="0">
                <a:solidFill>
                  <a:srgbClr val="FFFFFF"/>
                </a:solidFill>
                <a:latin typeface="Calibri"/>
                <a:ea typeface="Microsoft YaHei"/>
                <a:cs typeface="Microsoft YaHei"/>
              </a:rPr>
              <a:t>刘</a:t>
            </a:r>
          </a:p>
        </p:txBody>
      </p:sp>
      <p:sp>
        <p:nvSpPr>
          <p:cNvPr id="9" name="Rounded Rectangle 8"/>
          <p:cNvSpPr/>
          <p:nvPr/>
        </p:nvSpPr>
        <p:spPr>
          <a:xfrm>
            <a:off x="8266125" y="2873351"/>
            <a:ext cx="3376930" cy="718547"/>
          </a:xfrm>
          <a:prstGeom prst="roundRect">
            <a:avLst/>
          </a:prstGeom>
          <a:solidFill>
            <a:srgbClr val="F7E4E1"/>
          </a:solidFill>
          <a:ln w="6350">
            <a:solidFill>
              <a:srgbClr val="8E2B20"/>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100" b="1" i="0">
                <a:solidFill>
                  <a:srgbClr val="8E2B20"/>
                </a:solidFill>
                <a:latin typeface="Calibri"/>
                <a:ea typeface="Microsoft YaHei"/>
                <a:cs typeface="Microsoft YaHei"/>
              </a:rPr>
              <a:t>王一雪: </a:t>
            </a:r>
            <a:r>
              <a:rPr sz="1500" b="1" i="0">
                <a:solidFill>
                  <a:srgbClr val="1F2933"/>
                </a:solidFill>
                <a:latin typeface="Calibri"/>
                <a:ea typeface="Microsoft YaHei"/>
                <a:cs typeface="Microsoft YaHei"/>
              </a:rPr>
              <a:t>好啊，我也很想一起出去玩。</a:t>
            </a:r>
          </a:p>
          <a:p>
            <a:pPr algn="l">
              <a:buNone/>
            </a:pPr>
            <a:r>
              <a:rPr sz="1100" b="0" i="1">
                <a:solidFill>
                  <a:srgbClr val="8E2B20"/>
                </a:solidFill>
                <a:latin typeface="Calibri"/>
                <a:ea typeface="Microsoft YaHei"/>
                <a:cs typeface="Microsoft YaHei"/>
              </a:rPr>
              <a:t>Hǎo a, wǒ yě hěn xiǎng yìqǐ chūqù wán.</a:t>
            </a:r>
          </a:p>
        </p:txBody>
      </p:sp>
      <p:sp>
        <p:nvSpPr>
          <p:cNvPr id="10" name="Oval 9"/>
          <p:cNvSpPr/>
          <p:nvPr/>
        </p:nvSpPr>
        <p:spPr>
          <a:xfrm>
            <a:off x="11399093" y="2755576"/>
            <a:ext cx="420624" cy="420624"/>
          </a:xfrm>
          <a:prstGeom prst="ellipse">
            <a:avLst/>
          </a:prstGeom>
          <a:solidFill>
            <a:srgbClr val="27AE6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300" b="1" i="0">
                <a:solidFill>
                  <a:srgbClr val="FFFFFF"/>
                </a:solidFill>
                <a:latin typeface="Calibri"/>
                <a:ea typeface="Microsoft YaHei"/>
                <a:cs typeface="Microsoft YaHei"/>
              </a:rPr>
              <a:t>王</a:t>
            </a:r>
          </a:p>
        </p:txBody>
      </p:sp>
      <p:sp>
        <p:nvSpPr>
          <p:cNvPr id="11" name="Rounded Rectangle 10"/>
          <p:cNvSpPr/>
          <p:nvPr/>
        </p:nvSpPr>
        <p:spPr>
          <a:xfrm>
            <a:off x="4754880" y="3696414"/>
            <a:ext cx="1737360" cy="718547"/>
          </a:xfrm>
          <a:prstGeom prst="roundRect">
            <a:avLst/>
          </a:prstGeom>
          <a:solidFill>
            <a:srgbClr val="F4F5F7"/>
          </a:solidFill>
          <a:ln w="6350">
            <a:solidFill>
              <a:srgbClr val="6B7683"/>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100" b="1" i="0">
                <a:solidFill>
                  <a:srgbClr val="8E2B20"/>
                </a:solidFill>
                <a:latin typeface="Calibri"/>
                <a:ea typeface="Microsoft YaHei"/>
                <a:cs typeface="Microsoft YaHei"/>
              </a:rPr>
              <a:t>刘明: </a:t>
            </a:r>
            <a:r>
              <a:rPr sz="1500" b="1" i="0">
                <a:solidFill>
                  <a:srgbClr val="1F2933"/>
                </a:solidFill>
                <a:latin typeface="Calibri"/>
                <a:ea typeface="Microsoft YaHei"/>
                <a:cs typeface="Microsoft YaHei"/>
              </a:rPr>
              <a:t>你想去哪儿？</a:t>
            </a:r>
          </a:p>
          <a:p>
            <a:pPr algn="l">
              <a:buNone/>
            </a:pPr>
            <a:r>
              <a:rPr sz="1100" b="0" i="1">
                <a:solidFill>
                  <a:srgbClr val="8E2B20"/>
                </a:solidFill>
                <a:latin typeface="Calibri"/>
                <a:ea typeface="Microsoft YaHei"/>
                <a:cs typeface="Microsoft YaHei"/>
              </a:rPr>
              <a:t>Nǐ xiǎng qù nǎr?</a:t>
            </a:r>
          </a:p>
        </p:txBody>
      </p:sp>
      <p:sp>
        <p:nvSpPr>
          <p:cNvPr id="12" name="Oval 11"/>
          <p:cNvSpPr/>
          <p:nvPr/>
        </p:nvSpPr>
        <p:spPr>
          <a:xfrm>
            <a:off x="4578217" y="3578639"/>
            <a:ext cx="420624" cy="420624"/>
          </a:xfrm>
          <a:prstGeom prst="ellipse">
            <a:avLst/>
          </a:prstGeom>
          <a:solidFill>
            <a:srgbClr val="2980B9"/>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300" b="1" i="0">
                <a:solidFill>
                  <a:srgbClr val="FFFFFF"/>
                </a:solidFill>
                <a:latin typeface="Calibri"/>
                <a:ea typeface="Microsoft YaHei"/>
                <a:cs typeface="Microsoft YaHei"/>
              </a:rPr>
              <a:t>刘</a:t>
            </a:r>
          </a:p>
        </p:txBody>
      </p:sp>
      <p:sp>
        <p:nvSpPr>
          <p:cNvPr id="13" name="Rounded Rectangle 12"/>
          <p:cNvSpPr/>
          <p:nvPr/>
        </p:nvSpPr>
        <p:spPr>
          <a:xfrm>
            <a:off x="9418650" y="4519477"/>
            <a:ext cx="2224405" cy="718547"/>
          </a:xfrm>
          <a:prstGeom prst="roundRect">
            <a:avLst/>
          </a:prstGeom>
          <a:solidFill>
            <a:srgbClr val="F7E4E1"/>
          </a:solidFill>
          <a:ln w="6350">
            <a:solidFill>
              <a:srgbClr val="8E2B20"/>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100" b="1" i="0">
                <a:solidFill>
                  <a:srgbClr val="8E2B20"/>
                </a:solidFill>
                <a:latin typeface="Calibri"/>
                <a:ea typeface="Microsoft YaHei"/>
                <a:cs typeface="Microsoft YaHei"/>
              </a:rPr>
              <a:t>王一雪: </a:t>
            </a:r>
            <a:r>
              <a:rPr sz="1500" b="1" i="0">
                <a:solidFill>
                  <a:srgbClr val="1F2933"/>
                </a:solidFill>
                <a:latin typeface="Calibri"/>
                <a:ea typeface="Microsoft YaHei"/>
                <a:cs typeface="Microsoft YaHei"/>
              </a:rPr>
              <a:t>我还没想好呢。</a:t>
            </a:r>
          </a:p>
          <a:p>
            <a:pPr algn="l">
              <a:buNone/>
            </a:pPr>
            <a:r>
              <a:rPr sz="1100" b="0" i="1">
                <a:solidFill>
                  <a:srgbClr val="8E2B20"/>
                </a:solidFill>
                <a:latin typeface="Calibri"/>
                <a:ea typeface="Microsoft YaHei"/>
                <a:cs typeface="Microsoft YaHei"/>
              </a:rPr>
              <a:t>Wǒ hái méi xiǎnghǎo ne.</a:t>
            </a:r>
          </a:p>
        </p:txBody>
      </p:sp>
      <p:sp>
        <p:nvSpPr>
          <p:cNvPr id="14" name="Oval 13"/>
          <p:cNvSpPr/>
          <p:nvPr/>
        </p:nvSpPr>
        <p:spPr>
          <a:xfrm>
            <a:off x="11399093" y="4401702"/>
            <a:ext cx="420624" cy="420624"/>
          </a:xfrm>
          <a:prstGeom prst="ellipse">
            <a:avLst/>
          </a:prstGeom>
          <a:solidFill>
            <a:srgbClr val="27AE6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300" b="1" i="0">
                <a:solidFill>
                  <a:srgbClr val="FFFFFF"/>
                </a:solidFill>
                <a:latin typeface="Calibri"/>
                <a:ea typeface="Microsoft YaHei"/>
                <a:cs typeface="Microsoft YaHei"/>
              </a:rPr>
              <a:t>王</a:t>
            </a:r>
          </a:p>
        </p:txBody>
      </p:sp>
      <p:sp>
        <p:nvSpPr>
          <p:cNvPr id="15" name="Rounded Rectangle 14"/>
          <p:cNvSpPr/>
          <p:nvPr/>
        </p:nvSpPr>
        <p:spPr>
          <a:xfrm>
            <a:off x="4754880" y="5342540"/>
            <a:ext cx="4913630" cy="718547"/>
          </a:xfrm>
          <a:prstGeom prst="roundRect">
            <a:avLst/>
          </a:prstGeom>
          <a:solidFill>
            <a:srgbClr val="F4F5F7"/>
          </a:solidFill>
          <a:ln w="6350">
            <a:solidFill>
              <a:srgbClr val="6B7683"/>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100" b="1" i="0">
                <a:solidFill>
                  <a:srgbClr val="8E2B20"/>
                </a:solidFill>
                <a:latin typeface="Calibri"/>
                <a:ea typeface="Microsoft YaHei"/>
                <a:cs typeface="Microsoft YaHei"/>
              </a:rPr>
              <a:t>刘明: </a:t>
            </a:r>
            <a:r>
              <a:rPr sz="1500" b="1" i="0">
                <a:solidFill>
                  <a:srgbClr val="1F2933"/>
                </a:solidFill>
                <a:latin typeface="Calibri"/>
                <a:ea typeface="Microsoft YaHei"/>
                <a:cs typeface="Microsoft YaHei"/>
              </a:rPr>
              <a:t>那你再想一想，你想好了，我来买票。</a:t>
            </a:r>
          </a:p>
          <a:p>
            <a:pPr algn="l">
              <a:buNone/>
            </a:pPr>
            <a:r>
              <a:rPr sz="1100" b="0" i="1">
                <a:solidFill>
                  <a:srgbClr val="8E2B20"/>
                </a:solidFill>
                <a:latin typeface="Calibri"/>
                <a:ea typeface="Microsoft YaHei"/>
                <a:cs typeface="Microsoft YaHei"/>
              </a:rPr>
              <a:t>Nà nǐ zài xiǎng yi xiǎng, nǐ xiǎnghǎo le, wǒ lái mǎi piào.</a:t>
            </a:r>
          </a:p>
        </p:txBody>
      </p:sp>
      <p:sp>
        <p:nvSpPr>
          <p:cNvPr id="16" name="Oval 15"/>
          <p:cNvSpPr/>
          <p:nvPr/>
        </p:nvSpPr>
        <p:spPr>
          <a:xfrm>
            <a:off x="4578217" y="5224765"/>
            <a:ext cx="420624" cy="420624"/>
          </a:xfrm>
          <a:prstGeom prst="ellipse">
            <a:avLst/>
          </a:prstGeom>
          <a:solidFill>
            <a:srgbClr val="2980B9"/>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300" b="1" i="0">
                <a:solidFill>
                  <a:srgbClr val="FFFFFF"/>
                </a:solidFill>
                <a:latin typeface="Calibri"/>
                <a:ea typeface="Microsoft YaHei"/>
                <a:cs typeface="Microsoft YaHei"/>
              </a:rPr>
              <a:t>刘</a:t>
            </a:r>
          </a:p>
        </p:txBody>
      </p:sp>
      <p:pic>
        <p:nvPicPr>
          <p:cNvPr id="17" name="slide27.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076127" y="320040"/>
            <a:ext cx="566928" cy="566928"/>
          </a:xfrm>
          <a:prstGeom prst="rect">
            <a:avLst/>
          </a:prstGeom>
          <a:ln>
            <a:noFill/>
          </a:ln>
        </p:spPr>
      </p:pic>
    </p:spTree>
  </p:cSld>
  <p:clrMapOvr>
    <a:masterClrMapping/>
  </p:clrMapOvr>
  <p:timing>
    <p:tnLst>
      <p:par>
        <p:cTn id="1" dur="indefinite" restart="never" nodeType="tmRoot">
          <p:childTnLst>
            <p:video>
              <p:cMediaNode vol="80000">
                <p:cTn id="2" fill="hold" display="0">
                  <p:stCondLst>
                    <p:cond delay="indefinite"/>
                  </p:stCondLst>
                </p:cTn>
                <p:tgtEl>
                  <p:spTgt spid="17"/>
                </p:tgtEl>
              </p:cMediaNode>
            </p:video>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37160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课文3</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决定去西安 — Quyết định đi Tây An</a:t>
            </a:r>
          </a:p>
        </p:txBody>
      </p:sp>
      <p:pic>
        <p:nvPicPr>
          <p:cNvPr id="6" name="Picture 5" descr="xian_online.jpg"/>
          <p:cNvPicPr>
            <a:picLocks noChangeAspect="1"/>
          </p:cNvPicPr>
          <p:nvPr/>
        </p:nvPicPr>
        <p:blipFill>
          <a:blip r:embed="rId2"/>
          <a:stretch>
            <a:fillRect/>
          </a:stretch>
        </p:blipFill>
        <p:spPr>
          <a:xfrm>
            <a:off x="548640" y="2772928"/>
            <a:ext cx="3840480" cy="2557759"/>
          </a:xfrm>
          <a:prstGeom prst="rect">
            <a:avLst/>
          </a:prstGeom>
        </p:spPr>
      </p:pic>
      <p:sp>
        <p:nvSpPr>
          <p:cNvPr id="7" name="Rounded Rectangle 6"/>
          <p:cNvSpPr/>
          <p:nvPr/>
        </p:nvSpPr>
        <p:spPr>
          <a:xfrm>
            <a:off x="4754880" y="1611376"/>
            <a:ext cx="3146425" cy="745167"/>
          </a:xfrm>
          <a:prstGeom prst="roundRect">
            <a:avLst/>
          </a:prstGeom>
          <a:solidFill>
            <a:srgbClr val="F4F5F7"/>
          </a:solidFill>
          <a:ln w="6350">
            <a:solidFill>
              <a:srgbClr val="6B7683"/>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100" b="1" i="0">
                <a:solidFill>
                  <a:srgbClr val="8E2B20"/>
                </a:solidFill>
                <a:latin typeface="Calibri"/>
                <a:ea typeface="Microsoft YaHei"/>
                <a:cs typeface="Microsoft YaHei"/>
              </a:rPr>
              <a:t>刘明: </a:t>
            </a:r>
            <a:r>
              <a:rPr sz="1600" b="1" i="0">
                <a:solidFill>
                  <a:srgbClr val="1F2933"/>
                </a:solidFill>
                <a:latin typeface="Calibri"/>
                <a:ea typeface="Microsoft YaHei"/>
                <a:cs typeface="Microsoft YaHei"/>
              </a:rPr>
              <a:t>吃个苹果吧，我都洗好了。</a:t>
            </a:r>
          </a:p>
          <a:p>
            <a:pPr algn="l">
              <a:buNone/>
            </a:pPr>
            <a:r>
              <a:rPr sz="1100" b="0" i="1">
                <a:solidFill>
                  <a:srgbClr val="8E2B20"/>
                </a:solidFill>
                <a:latin typeface="Calibri"/>
                <a:ea typeface="Microsoft YaHei"/>
                <a:cs typeface="Microsoft YaHei"/>
              </a:rPr>
              <a:t>Chī gè píngguǒ ba, wǒ dōu xǐhǎo le.</a:t>
            </a:r>
          </a:p>
        </p:txBody>
      </p:sp>
      <p:sp>
        <p:nvSpPr>
          <p:cNvPr id="8" name="Oval 7"/>
          <p:cNvSpPr/>
          <p:nvPr/>
        </p:nvSpPr>
        <p:spPr>
          <a:xfrm>
            <a:off x="4578217" y="1493601"/>
            <a:ext cx="420624" cy="420624"/>
          </a:xfrm>
          <a:prstGeom prst="ellipse">
            <a:avLst/>
          </a:prstGeom>
          <a:solidFill>
            <a:srgbClr val="2980B9"/>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300" b="1" i="0">
                <a:solidFill>
                  <a:srgbClr val="FFFFFF"/>
                </a:solidFill>
                <a:latin typeface="Calibri"/>
                <a:ea typeface="Microsoft YaHei"/>
                <a:cs typeface="Microsoft YaHei"/>
              </a:rPr>
              <a:t>刘</a:t>
            </a:r>
          </a:p>
        </p:txBody>
      </p:sp>
      <p:sp>
        <p:nvSpPr>
          <p:cNvPr id="9" name="Rounded Rectangle 8"/>
          <p:cNvSpPr/>
          <p:nvPr/>
        </p:nvSpPr>
        <p:spPr>
          <a:xfrm>
            <a:off x="9905695" y="2464931"/>
            <a:ext cx="1737360" cy="745167"/>
          </a:xfrm>
          <a:prstGeom prst="roundRect">
            <a:avLst/>
          </a:prstGeom>
          <a:solidFill>
            <a:srgbClr val="F7E4E1"/>
          </a:solidFill>
          <a:ln w="6350">
            <a:solidFill>
              <a:srgbClr val="8E2B20"/>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100" b="1" i="0">
                <a:solidFill>
                  <a:srgbClr val="8E2B20"/>
                </a:solidFill>
                <a:latin typeface="Calibri"/>
                <a:ea typeface="Microsoft YaHei"/>
                <a:cs typeface="Microsoft YaHei"/>
              </a:rPr>
              <a:t>王一雪: </a:t>
            </a:r>
            <a:r>
              <a:rPr sz="1600" b="1" i="0">
                <a:solidFill>
                  <a:srgbClr val="1F2933"/>
                </a:solidFill>
                <a:latin typeface="Calibri"/>
                <a:ea typeface="Microsoft YaHei"/>
                <a:cs typeface="Microsoft YaHei"/>
              </a:rPr>
              <a:t>好的。</a:t>
            </a:r>
          </a:p>
          <a:p>
            <a:pPr algn="l">
              <a:buNone/>
            </a:pPr>
            <a:r>
              <a:rPr sz="1100" b="0" i="1">
                <a:solidFill>
                  <a:srgbClr val="8E2B20"/>
                </a:solidFill>
                <a:latin typeface="Calibri"/>
                <a:ea typeface="Microsoft YaHei"/>
                <a:cs typeface="Microsoft YaHei"/>
              </a:rPr>
              <a:t>Hǎo de.</a:t>
            </a:r>
          </a:p>
        </p:txBody>
      </p:sp>
      <p:sp>
        <p:nvSpPr>
          <p:cNvPr id="10" name="Oval 9"/>
          <p:cNvSpPr/>
          <p:nvPr/>
        </p:nvSpPr>
        <p:spPr>
          <a:xfrm>
            <a:off x="11399093" y="2347156"/>
            <a:ext cx="420624" cy="420624"/>
          </a:xfrm>
          <a:prstGeom prst="ellipse">
            <a:avLst/>
          </a:prstGeom>
          <a:solidFill>
            <a:srgbClr val="27AE6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300" b="1" i="0">
                <a:solidFill>
                  <a:srgbClr val="FFFFFF"/>
                </a:solidFill>
                <a:latin typeface="Calibri"/>
                <a:ea typeface="Microsoft YaHei"/>
                <a:cs typeface="Microsoft YaHei"/>
              </a:rPr>
              <a:t>王</a:t>
            </a:r>
          </a:p>
        </p:txBody>
      </p:sp>
      <p:sp>
        <p:nvSpPr>
          <p:cNvPr id="11" name="Rounded Rectangle 10"/>
          <p:cNvSpPr/>
          <p:nvPr/>
        </p:nvSpPr>
        <p:spPr>
          <a:xfrm>
            <a:off x="4754880" y="3318486"/>
            <a:ext cx="2992755" cy="745167"/>
          </a:xfrm>
          <a:prstGeom prst="roundRect">
            <a:avLst/>
          </a:prstGeom>
          <a:solidFill>
            <a:srgbClr val="F4F5F7"/>
          </a:solidFill>
          <a:ln w="6350">
            <a:solidFill>
              <a:srgbClr val="6B7683"/>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100" b="1" i="0">
                <a:solidFill>
                  <a:srgbClr val="8E2B20"/>
                </a:solidFill>
                <a:latin typeface="Calibri"/>
                <a:ea typeface="Microsoft YaHei"/>
                <a:cs typeface="Microsoft YaHei"/>
              </a:rPr>
              <a:t>刘明: </a:t>
            </a:r>
            <a:r>
              <a:rPr sz="1600" b="1" i="0">
                <a:solidFill>
                  <a:srgbClr val="1F2933"/>
                </a:solidFill>
                <a:latin typeface="Calibri"/>
                <a:ea typeface="Microsoft YaHei"/>
                <a:cs typeface="Microsoft YaHei"/>
              </a:rPr>
              <a:t>就在桌子上，你自己拿。</a:t>
            </a:r>
          </a:p>
          <a:p>
            <a:pPr algn="l">
              <a:buNone/>
            </a:pPr>
            <a:r>
              <a:rPr sz="1100" b="0" i="1">
                <a:solidFill>
                  <a:srgbClr val="8E2B20"/>
                </a:solidFill>
                <a:latin typeface="Calibri"/>
                <a:ea typeface="Microsoft YaHei"/>
                <a:cs typeface="Microsoft YaHei"/>
              </a:rPr>
              <a:t>Jiù zài zhuōzi shàng, nǐ zìjǐ ná.</a:t>
            </a:r>
          </a:p>
        </p:txBody>
      </p:sp>
      <p:sp>
        <p:nvSpPr>
          <p:cNvPr id="12" name="Oval 11"/>
          <p:cNvSpPr/>
          <p:nvPr/>
        </p:nvSpPr>
        <p:spPr>
          <a:xfrm>
            <a:off x="4578217" y="3200711"/>
            <a:ext cx="420624" cy="420624"/>
          </a:xfrm>
          <a:prstGeom prst="ellipse">
            <a:avLst/>
          </a:prstGeom>
          <a:solidFill>
            <a:srgbClr val="2980B9"/>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300" b="1" i="0">
                <a:solidFill>
                  <a:srgbClr val="FFFFFF"/>
                </a:solidFill>
                <a:latin typeface="Calibri"/>
                <a:ea typeface="Microsoft YaHei"/>
                <a:cs typeface="Microsoft YaHei"/>
              </a:rPr>
              <a:t>刘</a:t>
            </a:r>
          </a:p>
        </p:txBody>
      </p:sp>
      <p:sp>
        <p:nvSpPr>
          <p:cNvPr id="13" name="Rounded Rectangle 12"/>
          <p:cNvSpPr/>
          <p:nvPr/>
        </p:nvSpPr>
        <p:spPr>
          <a:xfrm>
            <a:off x="4754880" y="4172041"/>
            <a:ext cx="4759960" cy="1016137"/>
          </a:xfrm>
          <a:prstGeom prst="roundRect">
            <a:avLst/>
          </a:prstGeom>
          <a:solidFill>
            <a:srgbClr val="F4F5F7"/>
          </a:solidFill>
          <a:ln w="6350">
            <a:solidFill>
              <a:srgbClr val="6B7683"/>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100" b="1" i="0">
                <a:solidFill>
                  <a:srgbClr val="8E2B20"/>
                </a:solidFill>
                <a:latin typeface="Calibri"/>
                <a:ea typeface="Microsoft YaHei"/>
                <a:cs typeface="Microsoft YaHei"/>
              </a:rPr>
              <a:t>刘明: </a:t>
            </a:r>
            <a:r>
              <a:rPr sz="1600" b="1" i="0">
                <a:solidFill>
                  <a:srgbClr val="1F2933"/>
                </a:solidFill>
                <a:latin typeface="Calibri"/>
                <a:ea typeface="Microsoft YaHei"/>
                <a:cs typeface="Microsoft YaHei"/>
              </a:rPr>
              <a:t>我去洗洗手。对了，我们去西安旅游，怎么样？</a:t>
            </a:r>
          </a:p>
          <a:p>
            <a:pPr algn="l">
              <a:buNone/>
            </a:pPr>
            <a:r>
              <a:rPr sz="1100" b="0" i="1">
                <a:solidFill>
                  <a:srgbClr val="8E2B20"/>
                </a:solidFill>
                <a:latin typeface="Calibri"/>
                <a:ea typeface="Microsoft YaHei"/>
                <a:cs typeface="Microsoft YaHei"/>
              </a:rPr>
              <a:t>Wǒ qù xǐxi shǒu. Duìle, wǒmen qù Xī'ān lǚyóu, zěnmeyàng?</a:t>
            </a:r>
          </a:p>
        </p:txBody>
      </p:sp>
      <p:sp>
        <p:nvSpPr>
          <p:cNvPr id="14" name="Oval 13"/>
          <p:cNvSpPr/>
          <p:nvPr/>
        </p:nvSpPr>
        <p:spPr>
          <a:xfrm>
            <a:off x="4578217" y="4054266"/>
            <a:ext cx="420624" cy="420624"/>
          </a:xfrm>
          <a:prstGeom prst="ellipse">
            <a:avLst/>
          </a:prstGeom>
          <a:solidFill>
            <a:srgbClr val="2980B9"/>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300" b="1" i="0">
                <a:solidFill>
                  <a:srgbClr val="FFFFFF"/>
                </a:solidFill>
                <a:latin typeface="Calibri"/>
                <a:ea typeface="Microsoft YaHei"/>
                <a:cs typeface="Microsoft YaHei"/>
              </a:rPr>
              <a:t>刘</a:t>
            </a:r>
          </a:p>
        </p:txBody>
      </p:sp>
      <p:sp>
        <p:nvSpPr>
          <p:cNvPr id="15" name="Rounded Rectangle 14"/>
          <p:cNvSpPr/>
          <p:nvPr/>
        </p:nvSpPr>
        <p:spPr>
          <a:xfrm>
            <a:off x="4754880" y="5296566"/>
            <a:ext cx="5605145" cy="745167"/>
          </a:xfrm>
          <a:prstGeom prst="roundRect">
            <a:avLst/>
          </a:prstGeom>
          <a:solidFill>
            <a:srgbClr val="F4F5F7"/>
          </a:solidFill>
          <a:ln w="6350">
            <a:solidFill>
              <a:srgbClr val="6B7683"/>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tIns="63500" bIns="63500"/>
          <a:lstStyle/>
          <a:p>
            <a:pPr algn="l">
              <a:buNone/>
            </a:pPr>
            <a:r>
              <a:rPr sz="1100" b="1" i="0">
                <a:solidFill>
                  <a:srgbClr val="8E2B20"/>
                </a:solidFill>
                <a:latin typeface="Calibri"/>
                <a:ea typeface="Microsoft YaHei"/>
                <a:cs typeface="Microsoft YaHei"/>
              </a:rPr>
              <a:t>刘明: </a:t>
            </a:r>
            <a:r>
              <a:rPr sz="1600" b="1" i="0">
                <a:solidFill>
                  <a:srgbClr val="1F2933"/>
                </a:solidFill>
                <a:latin typeface="Calibri"/>
                <a:ea typeface="Microsoft YaHei"/>
                <a:cs typeface="Microsoft YaHei"/>
              </a:rPr>
              <a:t>我看了看网上的介绍，这个时候去西安很不错！</a:t>
            </a:r>
          </a:p>
          <a:p>
            <a:pPr algn="l">
              <a:buNone/>
            </a:pPr>
            <a:r>
              <a:rPr sz="1100" b="0" i="1">
                <a:solidFill>
                  <a:srgbClr val="8E2B20"/>
                </a:solidFill>
                <a:latin typeface="Calibri"/>
                <a:ea typeface="Microsoft YaHei"/>
                <a:cs typeface="Microsoft YaHei"/>
              </a:rPr>
              <a:t>Wǒ kànle kàn wǎngshàng de jièshào, zhège shíhòu qù Xī'ān hěn búcuò!</a:t>
            </a:r>
          </a:p>
        </p:txBody>
      </p:sp>
      <p:sp>
        <p:nvSpPr>
          <p:cNvPr id="16" name="Oval 15"/>
          <p:cNvSpPr/>
          <p:nvPr/>
        </p:nvSpPr>
        <p:spPr>
          <a:xfrm>
            <a:off x="4578217" y="5178791"/>
            <a:ext cx="420624" cy="420624"/>
          </a:xfrm>
          <a:prstGeom prst="ellipse">
            <a:avLst/>
          </a:prstGeom>
          <a:solidFill>
            <a:srgbClr val="2980B9"/>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buNone/>
            </a:pPr>
            <a:r>
              <a:rPr sz="1300" b="1" i="0">
                <a:solidFill>
                  <a:srgbClr val="FFFFFF"/>
                </a:solidFill>
                <a:latin typeface="Calibri"/>
                <a:ea typeface="Microsoft YaHei"/>
                <a:cs typeface="Microsoft YaHei"/>
              </a:rPr>
              <a:t>刘</a:t>
            </a:r>
          </a:p>
        </p:txBody>
      </p:sp>
      <p:pic>
        <p:nvPicPr>
          <p:cNvPr id="17" name="slide28.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076127" y="320040"/>
            <a:ext cx="566928" cy="566928"/>
          </a:xfrm>
          <a:prstGeom prst="rect">
            <a:avLst/>
          </a:prstGeom>
          <a:ln>
            <a:noFill/>
          </a:ln>
        </p:spPr>
      </p:pic>
    </p:spTree>
  </p:cSld>
  <p:clrMapOvr>
    <a:masterClrMapping/>
  </p:clrMapOvr>
  <p:timing>
    <p:tnLst>
      <p:par>
        <p:cTn id="1" dur="indefinite" restart="never" nodeType="tmRoot">
          <p:childTnLst>
            <p:video>
              <p:cMediaNode vol="80000">
                <p:cTn id="2" fill="hold" display="0">
                  <p:stCondLst>
                    <p:cond delay="indefinite"/>
                  </p:stCondLst>
                </p:cTn>
                <p:tgtEl>
                  <p:spTgt spid="17"/>
                </p:tgtEl>
              </p:cMediaNode>
            </p:video>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37160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课文4</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王一雪心疼刘明</a:t>
            </a:r>
          </a:p>
        </p:txBody>
      </p:sp>
      <p:pic>
        <p:nvPicPr>
          <p:cNvPr id="6" name="Picture 5" descr="hospital_call.jpg"/>
          <p:cNvPicPr>
            <a:picLocks noChangeAspect="1"/>
          </p:cNvPicPr>
          <p:nvPr/>
        </p:nvPicPr>
        <p:blipFill>
          <a:blip r:embed="rId2"/>
          <a:stretch>
            <a:fillRect/>
          </a:stretch>
        </p:blipFill>
        <p:spPr>
          <a:xfrm>
            <a:off x="5053239" y="1611376"/>
            <a:ext cx="2085216" cy="1561876"/>
          </a:xfrm>
          <a:prstGeom prst="rect">
            <a:avLst/>
          </a:prstGeom>
        </p:spPr>
      </p:pic>
      <p:sp>
        <p:nvSpPr>
          <p:cNvPr id="7" name="TextBox 6"/>
          <p:cNvSpPr txBox="1"/>
          <p:nvPr/>
        </p:nvSpPr>
        <p:spPr>
          <a:xfrm>
            <a:off x="548640" y="3374420"/>
            <a:ext cx="11094415" cy="3117820"/>
          </a:xfrm>
          <a:prstGeom prst="rect">
            <a:avLst/>
          </a:prstGeom>
          <a:noFill/>
        </p:spPr>
        <p:txBody>
          <a:bodyPr wrap="square" anchor="ctr">
            <a:spAutoFit/>
          </a:bodyPr>
          <a:lstStyle/>
          <a:p>
            <a:pPr>
              <a:buNone/>
            </a:pPr>
            <a:r>
              <a:rPr sz="2000" b="1" i="0">
                <a:solidFill>
                  <a:srgbClr val="8E2B20"/>
                </a:solidFill>
                <a:latin typeface="Calibri"/>
                <a:ea typeface="Microsoft YaHei"/>
                <a:cs typeface="Microsoft YaHei"/>
              </a:rPr>
              <a:t>① </a:t>
            </a:r>
            <a:r>
              <a:rPr sz="2000" b="1" i="0">
                <a:solidFill>
                  <a:srgbClr val="1F2933"/>
                </a:solidFill>
                <a:latin typeface="Calibri"/>
                <a:ea typeface="Microsoft YaHei"/>
                <a:cs typeface="Microsoft YaHei"/>
              </a:rPr>
              <a:t>早上，刘明开车送孩子去学校，送完孩子回家后，医院就来电话了，</a:t>
            </a:r>
          </a:p>
          <a:p>
            <a:pPr>
              <a:spcBef>
                <a:spcPts val="100"/>
              </a:spcBef>
              <a:buNone/>
            </a:pPr>
            <a:r>
              <a:rPr sz="1300" b="0" i="1">
                <a:solidFill>
                  <a:srgbClr val="8E2B20"/>
                </a:solidFill>
                <a:latin typeface="Calibri"/>
                <a:ea typeface="Microsoft YaHei"/>
                <a:cs typeface="Microsoft YaHei"/>
              </a:rPr>
              <a:t>Zǎoshang, Liú Míng kāichē sòng háizi qù xuéxiào, sòngwán háizi huí jiā hòu, yīyuàn jiù lái diànhuà le,</a:t>
            </a:r>
          </a:p>
          <a:p>
            <a:pPr>
              <a:spcBef>
                <a:spcPts val="100"/>
              </a:spcBef>
              <a:buNone/>
            </a:pPr>
            <a:r>
              <a:rPr sz="1300" b="0" i="0">
                <a:solidFill>
                  <a:srgbClr val="6B7683"/>
                </a:solidFill>
                <a:latin typeface="Calibri"/>
                <a:ea typeface="Microsoft YaHei"/>
                <a:cs typeface="Microsoft YaHei"/>
              </a:rPr>
              <a:t>Sáng nay, Lưu Minh lái xe đưa con đến trường, đưa con xong về nhà thì bệnh viện gọi điện,</a:t>
            </a:r>
          </a:p>
          <a:p>
            <a:pPr>
              <a:spcBef>
                <a:spcPts val="1400"/>
              </a:spcBef>
              <a:buNone/>
            </a:pPr>
            <a:r>
              <a:rPr sz="2000" b="1" i="0">
                <a:solidFill>
                  <a:srgbClr val="8E2B20"/>
                </a:solidFill>
                <a:latin typeface="Calibri"/>
                <a:ea typeface="Microsoft YaHei"/>
                <a:cs typeface="Microsoft YaHei"/>
              </a:rPr>
              <a:t>② </a:t>
            </a:r>
            <a:r>
              <a:rPr sz="2000" b="1" i="0">
                <a:solidFill>
                  <a:srgbClr val="1F2933"/>
                </a:solidFill>
                <a:latin typeface="Calibri"/>
                <a:ea typeface="Microsoft YaHei"/>
                <a:cs typeface="Microsoft YaHei"/>
              </a:rPr>
              <a:t>让他回去上班。我觉得他这个月每天都很累，真想让他休息休息。</a:t>
            </a:r>
          </a:p>
          <a:p>
            <a:pPr>
              <a:spcBef>
                <a:spcPts val="100"/>
              </a:spcBef>
              <a:buNone/>
            </a:pPr>
            <a:r>
              <a:rPr sz="1300" b="0" i="1">
                <a:solidFill>
                  <a:srgbClr val="8E2B20"/>
                </a:solidFill>
                <a:latin typeface="Calibri"/>
                <a:ea typeface="Microsoft YaHei"/>
                <a:cs typeface="Microsoft YaHei"/>
              </a:rPr>
              <a:t>ràng tā huíqù shàngbān. Wǒ juéde tā zhège yuè měitiān dōu hěn lèi, zhēn xiǎng ràng tā xiūxi xiūxi.</a:t>
            </a:r>
          </a:p>
          <a:p>
            <a:pPr>
              <a:spcBef>
                <a:spcPts val="100"/>
              </a:spcBef>
              <a:buNone/>
            </a:pPr>
            <a:r>
              <a:rPr sz="1300" b="0" i="0">
                <a:solidFill>
                  <a:srgbClr val="6B7683"/>
                </a:solidFill>
                <a:latin typeface="Calibri"/>
                <a:ea typeface="Microsoft YaHei"/>
                <a:cs typeface="Microsoft YaHei"/>
              </a:rPr>
              <a:t>bảo anh về đi làm. Tôi thấy tháng này ngày nào anh cũng mệt, thật muốn để anh nghỉ ngơi một chút.</a:t>
            </a:r>
          </a:p>
        </p:txBody>
      </p:sp>
      <p:pic>
        <p:nvPicPr>
          <p:cNvPr id="8" name="slide29.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076127" y="320040"/>
            <a:ext cx="566928" cy="566928"/>
          </a:xfrm>
          <a:prstGeom prst="rect">
            <a:avLst/>
          </a:prstGeom>
          <a:ln>
            <a:noFill/>
          </a:ln>
        </p:spPr>
      </p:pic>
    </p:spTree>
  </p:cSld>
  <p:clrMapOvr>
    <a:masterClrMapping/>
  </p:clrMapOvr>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37160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语法</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结果补语</a:t>
            </a:r>
          </a:p>
        </p:txBody>
      </p:sp>
      <p:sp>
        <p:nvSpPr>
          <p:cNvPr id="6" name="TextBox 5"/>
          <p:cNvSpPr txBox="1"/>
          <p:nvPr/>
        </p:nvSpPr>
        <p:spPr>
          <a:xfrm>
            <a:off x="548640" y="1611376"/>
            <a:ext cx="6430975" cy="4880864"/>
          </a:xfrm>
          <a:prstGeom prst="rect">
            <a:avLst/>
          </a:prstGeom>
          <a:noFill/>
        </p:spPr>
        <p:txBody>
          <a:bodyPr wrap="square" anchor="t">
            <a:spAutoFit/>
          </a:bodyPr>
          <a:lstStyle/>
          <a:p>
            <a:pPr>
              <a:buNone/>
            </a:pPr>
            <a:r>
              <a:rPr sz="1300" b="1" i="0">
                <a:solidFill>
                  <a:srgbClr val="1F2933"/>
                </a:solidFill>
                <a:latin typeface="Calibri"/>
                <a:ea typeface="Microsoft YaHei"/>
                <a:cs typeface="Microsoft YaHei"/>
              </a:rPr>
              <a:t>Một số động từ/tính từ đặt SAU động từ chính để biểu thị KẾT QUẢ của hành động.</a:t>
            </a:r>
          </a:p>
          <a:p>
            <a:pPr>
              <a:spcBef>
                <a:spcPts val="252"/>
              </a:spcBef>
              <a:buNone/>
            </a:pPr>
            <a:r>
              <a:rPr sz="1300" b="1" i="0">
                <a:solidFill>
                  <a:srgbClr val="1F2933"/>
                </a:solidFill>
                <a:latin typeface="Calibri"/>
                <a:ea typeface="Microsoft YaHei"/>
                <a:cs typeface="Microsoft YaHei"/>
              </a:rPr>
              <a:t>Phủ định: thêm 「没(有)」trước động từ, đồng thời BỎ 「了」.</a:t>
            </a:r>
          </a:p>
          <a:p>
            <a:pPr>
              <a:spcBef>
                <a:spcPts val="252"/>
              </a:spcBef>
              <a:buNone/>
            </a:pPr>
            <a:r>
              <a:rPr sz="1300" b="1" i="0">
                <a:solidFill>
                  <a:srgbClr val="1F2933"/>
                </a:solidFill>
                <a:latin typeface="Calibri"/>
                <a:ea typeface="Microsoft YaHei"/>
                <a:cs typeface="Microsoft YaHei"/>
              </a:rPr>
              <a:t>Nghi vấn có 3 cách: (1) thêm 「了吗」cuối câu; (2) thêm 「(了)没有」cuối câu; (3) V+没+V+bổ ngữ kết quả.</a:t>
            </a:r>
          </a:p>
          <a:p>
            <a:pPr>
              <a:spcBef>
                <a:spcPts val="1260"/>
              </a:spcBef>
              <a:buNone/>
            </a:pPr>
            <a:r>
              <a:rPr sz="1600" b="1" i="0">
                <a:solidFill>
                  <a:srgbClr val="1F2933"/>
                </a:solidFill>
                <a:latin typeface="Calibri"/>
                <a:ea typeface="Microsoft YaHei"/>
                <a:cs typeface="Microsoft YaHei"/>
              </a:rPr>
              <a:t>菜都做好了。</a:t>
            </a:r>
          </a:p>
          <a:p>
            <a:pPr>
              <a:spcBef>
                <a:spcPts val="189"/>
              </a:spcBef>
              <a:buNone/>
            </a:pPr>
            <a:r>
              <a:rPr sz="1100" b="0" i="1">
                <a:solidFill>
                  <a:srgbClr val="8E2B20"/>
                </a:solidFill>
                <a:latin typeface="Calibri"/>
                <a:ea typeface="Microsoft YaHei"/>
                <a:cs typeface="Microsoft YaHei"/>
              </a:rPr>
              <a:t>Cài dōu zuòhǎo le.</a:t>
            </a:r>
          </a:p>
          <a:p>
            <a:pPr>
              <a:spcBef>
                <a:spcPts val="189"/>
              </a:spcBef>
              <a:buNone/>
            </a:pPr>
            <a:r>
              <a:rPr sz="1100" b="0" i="0">
                <a:solidFill>
                  <a:srgbClr val="6B7683"/>
                </a:solidFill>
                <a:latin typeface="Calibri"/>
                <a:ea typeface="Microsoft YaHei"/>
                <a:cs typeface="Microsoft YaHei"/>
              </a:rPr>
              <a:t>Cơm nước xong cả rồi.</a:t>
            </a:r>
          </a:p>
          <a:p>
            <a:pPr>
              <a:spcBef>
                <a:spcPts val="1260"/>
              </a:spcBef>
              <a:buNone/>
            </a:pPr>
            <a:r>
              <a:rPr sz="1600" b="1" i="0">
                <a:solidFill>
                  <a:srgbClr val="1F2933"/>
                </a:solidFill>
                <a:latin typeface="Calibri"/>
                <a:ea typeface="Microsoft YaHei"/>
                <a:cs typeface="Microsoft YaHei"/>
              </a:rPr>
              <a:t>我没吃完饭。</a:t>
            </a:r>
          </a:p>
          <a:p>
            <a:pPr>
              <a:spcBef>
                <a:spcPts val="189"/>
              </a:spcBef>
              <a:buNone/>
            </a:pPr>
            <a:r>
              <a:rPr sz="1100" b="0" i="1">
                <a:solidFill>
                  <a:srgbClr val="8E2B20"/>
                </a:solidFill>
                <a:latin typeface="Calibri"/>
                <a:ea typeface="Microsoft YaHei"/>
                <a:cs typeface="Microsoft YaHei"/>
              </a:rPr>
              <a:t>Wǒ méi chīwán fàn.</a:t>
            </a:r>
          </a:p>
          <a:p>
            <a:pPr>
              <a:spcBef>
                <a:spcPts val="189"/>
              </a:spcBef>
              <a:buNone/>
            </a:pPr>
            <a:r>
              <a:rPr sz="1100" b="0" i="0">
                <a:solidFill>
                  <a:srgbClr val="6B7683"/>
                </a:solidFill>
                <a:latin typeface="Calibri"/>
                <a:ea typeface="Microsoft YaHei"/>
                <a:cs typeface="Microsoft YaHei"/>
              </a:rPr>
              <a:t>Tôi chưa ăn xong cơm.</a:t>
            </a:r>
          </a:p>
          <a:p>
            <a:pPr>
              <a:spcBef>
                <a:spcPts val="1260"/>
              </a:spcBef>
              <a:buNone/>
            </a:pPr>
            <a:r>
              <a:rPr sz="1600" b="1" i="0">
                <a:solidFill>
                  <a:srgbClr val="1F2933"/>
                </a:solidFill>
                <a:latin typeface="Calibri"/>
                <a:ea typeface="Microsoft YaHei"/>
                <a:cs typeface="Microsoft YaHei"/>
              </a:rPr>
              <a:t>小雪来晚了没有？</a:t>
            </a:r>
          </a:p>
          <a:p>
            <a:pPr>
              <a:spcBef>
                <a:spcPts val="189"/>
              </a:spcBef>
              <a:buNone/>
            </a:pPr>
            <a:r>
              <a:rPr sz="1100" b="0" i="1">
                <a:solidFill>
                  <a:srgbClr val="8E2B20"/>
                </a:solidFill>
                <a:latin typeface="Calibri"/>
                <a:ea typeface="Microsoft YaHei"/>
                <a:cs typeface="Microsoft YaHei"/>
              </a:rPr>
              <a:t>Xiǎoxuě lái wǎn le méiyǒu?</a:t>
            </a:r>
          </a:p>
          <a:p>
            <a:pPr>
              <a:spcBef>
                <a:spcPts val="189"/>
              </a:spcBef>
              <a:buNone/>
            </a:pPr>
            <a:r>
              <a:rPr sz="1100" b="0" i="0">
                <a:solidFill>
                  <a:srgbClr val="6B7683"/>
                </a:solidFill>
                <a:latin typeface="Calibri"/>
                <a:ea typeface="Microsoft YaHei"/>
                <a:cs typeface="Microsoft YaHei"/>
              </a:rPr>
              <a:t>Tiểu Tuyết có đến muộn không?</a:t>
            </a:r>
          </a:p>
          <a:p>
            <a:pPr>
              <a:spcBef>
                <a:spcPts val="756"/>
              </a:spcBef>
              <a:buNone/>
            </a:pPr>
            <a:r>
              <a:rPr sz="1000" b="0" i="1">
                <a:solidFill>
                  <a:srgbClr val="6B7683"/>
                </a:solidFill>
                <a:latin typeface="Calibri"/>
                <a:ea typeface="Microsoft YaHei"/>
                <a:cs typeface="Microsoft YaHei"/>
              </a:rPr>
              <a:t>📖 New HSK Course 2, Bài 3</a:t>
            </a:r>
          </a:p>
        </p:txBody>
      </p:sp>
      <p:pic>
        <p:nvPicPr>
          <p:cNvPr id="7" name="Picture 6" descr="checkmark.jpg"/>
          <p:cNvPicPr>
            <a:picLocks noChangeAspect="1"/>
          </p:cNvPicPr>
          <p:nvPr/>
        </p:nvPicPr>
        <p:blipFill>
          <a:blip r:embed="rId2"/>
          <a:stretch>
            <a:fillRect/>
          </a:stretch>
        </p:blipFill>
        <p:spPr>
          <a:xfrm>
            <a:off x="7345375" y="2383519"/>
            <a:ext cx="4297680" cy="3336577"/>
          </a:xfrm>
          <a:prstGeom prst="rect">
            <a:avLst/>
          </a:prstGeom>
        </p:spPr>
      </p:pic>
      <p:pic>
        <p:nvPicPr>
          <p:cNvPr id="8" name="slide30.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076127" y="320040"/>
            <a:ext cx="566928" cy="566928"/>
          </a:xfrm>
          <a:prstGeom prst="rect">
            <a:avLst/>
          </a:prstGeom>
          <a:ln>
            <a:noFill/>
          </a:ln>
        </p:spPr>
      </p:pic>
    </p:spTree>
  </p:cSld>
  <p:clrMapOvr>
    <a:masterClrMapping/>
  </p:clrMapOvr>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37160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语法</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动词重叠(1) — việc CHƯA xảy ra</a:t>
            </a:r>
          </a:p>
        </p:txBody>
      </p:sp>
      <p:sp>
        <p:nvSpPr>
          <p:cNvPr id="6" name="TextBox 5"/>
          <p:cNvSpPr txBox="1"/>
          <p:nvPr/>
        </p:nvSpPr>
        <p:spPr>
          <a:xfrm>
            <a:off x="548640" y="1611376"/>
            <a:ext cx="6430975" cy="4880864"/>
          </a:xfrm>
          <a:prstGeom prst="rect">
            <a:avLst/>
          </a:prstGeom>
          <a:noFill/>
        </p:spPr>
        <p:txBody>
          <a:bodyPr wrap="square" anchor="t">
            <a:spAutoFit/>
          </a:bodyPr>
          <a:lstStyle/>
          <a:p>
            <a:pPr>
              <a:buNone/>
            </a:pPr>
            <a:r>
              <a:rPr sz="1300" b="1" i="0">
                <a:solidFill>
                  <a:srgbClr val="1F2933"/>
                </a:solidFill>
                <a:latin typeface="Calibri"/>
                <a:ea typeface="Microsoft YaHei"/>
                <a:cs typeface="Microsoft YaHei"/>
              </a:rPr>
              <a:t>Động từ có tính động tác, lặp lại/kéo dài được → trùng điệp để biểu thị: thời gian ngắn, số lượng ít, thử làm — giọng nhẹ nhàng, tuỳ ý, hay dùng khẩu ngữ.</a:t>
            </a:r>
          </a:p>
          <a:p>
            <a:pPr>
              <a:spcBef>
                <a:spcPts val="241"/>
              </a:spcBef>
              <a:buNone/>
            </a:pPr>
            <a:r>
              <a:rPr sz="1300" b="1" i="0">
                <a:solidFill>
                  <a:srgbClr val="1F2933"/>
                </a:solidFill>
                <a:latin typeface="Calibri"/>
                <a:ea typeface="Microsoft YaHei"/>
                <a:cs typeface="Microsoft YaHei"/>
              </a:rPr>
              <a:t>Đơn âm tiết: A(一)A · Song âm tiết: ABAB · Từ ly hợp: AAB.</a:t>
            </a:r>
          </a:p>
          <a:p>
            <a:pPr>
              <a:spcBef>
                <a:spcPts val="241"/>
              </a:spcBef>
              <a:buNone/>
            </a:pPr>
            <a:r>
              <a:rPr sz="1300" b="1" i="0">
                <a:solidFill>
                  <a:srgbClr val="1F2933"/>
                </a:solidFill>
                <a:latin typeface="Calibri"/>
                <a:ea typeface="Microsoft YaHei"/>
                <a:cs typeface="Microsoft YaHei"/>
              </a:rPr>
              <a:t>Dùng cho việc CHƯA xảy ra / sắp làm.</a:t>
            </a:r>
          </a:p>
          <a:p>
            <a:pPr>
              <a:spcBef>
                <a:spcPts val="1209"/>
              </a:spcBef>
              <a:buNone/>
            </a:pPr>
            <a:r>
              <a:rPr sz="1600" b="1" i="0">
                <a:solidFill>
                  <a:srgbClr val="1F2933"/>
                </a:solidFill>
                <a:latin typeface="Calibri"/>
                <a:ea typeface="Microsoft YaHei"/>
                <a:cs typeface="Microsoft YaHei"/>
              </a:rPr>
              <a:t>你再想一想。</a:t>
            </a:r>
          </a:p>
          <a:p>
            <a:pPr>
              <a:spcBef>
                <a:spcPts val="181"/>
              </a:spcBef>
              <a:buNone/>
            </a:pPr>
            <a:r>
              <a:rPr sz="1100" b="0" i="1">
                <a:solidFill>
                  <a:srgbClr val="8E2B20"/>
                </a:solidFill>
                <a:latin typeface="Calibri"/>
                <a:ea typeface="Microsoft YaHei"/>
                <a:cs typeface="Microsoft YaHei"/>
              </a:rPr>
              <a:t>Nǐ zài xiǎng yi xiǎng.</a:t>
            </a:r>
          </a:p>
          <a:p>
            <a:pPr>
              <a:spcBef>
                <a:spcPts val="181"/>
              </a:spcBef>
              <a:buNone/>
            </a:pPr>
            <a:r>
              <a:rPr sz="1100" b="0" i="0">
                <a:solidFill>
                  <a:srgbClr val="6B7683"/>
                </a:solidFill>
                <a:latin typeface="Calibri"/>
                <a:ea typeface="Microsoft YaHei"/>
                <a:cs typeface="Microsoft YaHei"/>
              </a:rPr>
              <a:t>Bạn nghĩ thêm chút xem.</a:t>
            </a:r>
          </a:p>
          <a:p>
            <a:pPr>
              <a:spcBef>
                <a:spcPts val="1209"/>
              </a:spcBef>
              <a:buNone/>
            </a:pPr>
            <a:r>
              <a:rPr sz="1600" b="1" i="0">
                <a:solidFill>
                  <a:srgbClr val="1F2933"/>
                </a:solidFill>
                <a:latin typeface="Calibri"/>
                <a:ea typeface="Microsoft YaHei"/>
                <a:cs typeface="Microsoft YaHei"/>
              </a:rPr>
              <a:t>我想休息休息。</a:t>
            </a:r>
          </a:p>
          <a:p>
            <a:pPr>
              <a:spcBef>
                <a:spcPts val="181"/>
              </a:spcBef>
              <a:buNone/>
            </a:pPr>
            <a:r>
              <a:rPr sz="1100" b="0" i="1">
                <a:solidFill>
                  <a:srgbClr val="8E2B20"/>
                </a:solidFill>
                <a:latin typeface="Calibri"/>
                <a:ea typeface="Microsoft YaHei"/>
                <a:cs typeface="Microsoft YaHei"/>
              </a:rPr>
              <a:t>Wǒ xiǎng xiūxi xiūxi.</a:t>
            </a:r>
          </a:p>
          <a:p>
            <a:pPr>
              <a:spcBef>
                <a:spcPts val="181"/>
              </a:spcBef>
              <a:buNone/>
            </a:pPr>
            <a:r>
              <a:rPr sz="1100" b="0" i="0">
                <a:solidFill>
                  <a:srgbClr val="6B7683"/>
                </a:solidFill>
                <a:latin typeface="Calibri"/>
                <a:ea typeface="Microsoft YaHei"/>
                <a:cs typeface="Microsoft YaHei"/>
              </a:rPr>
              <a:t>Tôi muốn nghỉ ngơi một chút.</a:t>
            </a:r>
          </a:p>
          <a:p>
            <a:pPr>
              <a:spcBef>
                <a:spcPts val="1209"/>
              </a:spcBef>
              <a:buNone/>
            </a:pPr>
            <a:r>
              <a:rPr sz="1600" b="1" i="0">
                <a:solidFill>
                  <a:srgbClr val="1F2933"/>
                </a:solidFill>
                <a:latin typeface="Calibri"/>
                <a:ea typeface="Microsoft YaHei"/>
                <a:cs typeface="Microsoft YaHei"/>
              </a:rPr>
              <a:t>你能过来帮帮忙吗？</a:t>
            </a:r>
          </a:p>
          <a:p>
            <a:pPr>
              <a:spcBef>
                <a:spcPts val="181"/>
              </a:spcBef>
              <a:buNone/>
            </a:pPr>
            <a:r>
              <a:rPr sz="1100" b="0" i="1">
                <a:solidFill>
                  <a:srgbClr val="8E2B20"/>
                </a:solidFill>
                <a:latin typeface="Calibri"/>
                <a:ea typeface="Microsoft YaHei"/>
                <a:cs typeface="Microsoft YaHei"/>
              </a:rPr>
              <a:t>Nǐ néng guòlái bāngbāngmáng ma?</a:t>
            </a:r>
          </a:p>
          <a:p>
            <a:pPr>
              <a:spcBef>
                <a:spcPts val="181"/>
              </a:spcBef>
              <a:buNone/>
            </a:pPr>
            <a:r>
              <a:rPr sz="1100" b="0" i="0">
                <a:solidFill>
                  <a:srgbClr val="6B7683"/>
                </a:solidFill>
                <a:latin typeface="Calibri"/>
                <a:ea typeface="Microsoft YaHei"/>
                <a:cs typeface="Microsoft YaHei"/>
              </a:rPr>
              <a:t>Bạn qua giúp một tay được không?</a:t>
            </a:r>
          </a:p>
          <a:p>
            <a:pPr>
              <a:spcBef>
                <a:spcPts val="725"/>
              </a:spcBef>
              <a:buNone/>
            </a:pPr>
            <a:r>
              <a:rPr sz="1000" b="0" i="1">
                <a:solidFill>
                  <a:srgbClr val="6B7683"/>
                </a:solidFill>
                <a:latin typeface="Calibri"/>
                <a:ea typeface="Microsoft YaHei"/>
                <a:cs typeface="Microsoft YaHei"/>
              </a:rPr>
              <a:t>📖 New HSK Course 2, Bài 3</a:t>
            </a:r>
          </a:p>
        </p:txBody>
      </p:sp>
      <p:pic>
        <p:nvPicPr>
          <p:cNvPr id="7" name="Picture 6" descr="relax_break.jpg"/>
          <p:cNvPicPr>
            <a:picLocks noChangeAspect="1"/>
          </p:cNvPicPr>
          <p:nvPr/>
        </p:nvPicPr>
        <p:blipFill>
          <a:blip r:embed="rId2"/>
          <a:stretch>
            <a:fillRect/>
          </a:stretch>
        </p:blipFill>
        <p:spPr>
          <a:xfrm>
            <a:off x="7345375" y="2618549"/>
            <a:ext cx="4297680" cy="2866518"/>
          </a:xfrm>
          <a:prstGeom prst="rect">
            <a:avLst/>
          </a:prstGeom>
        </p:spPr>
      </p:pic>
      <p:pic>
        <p:nvPicPr>
          <p:cNvPr id="8" name="slide31.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076127" y="320040"/>
            <a:ext cx="566928" cy="566928"/>
          </a:xfrm>
          <a:prstGeom prst="rect">
            <a:avLst/>
          </a:prstGeom>
          <a:ln>
            <a:noFill/>
          </a:ln>
        </p:spPr>
      </p:pic>
    </p:spTree>
  </p:cSld>
  <p:clrMapOvr>
    <a:masterClrMapping/>
  </p:clrMapOvr>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37160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语法</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动词重叠(2) — việc ĐÃ xảy ra</a:t>
            </a:r>
          </a:p>
        </p:txBody>
      </p:sp>
      <p:sp>
        <p:nvSpPr>
          <p:cNvPr id="6" name="TextBox 5"/>
          <p:cNvSpPr txBox="1"/>
          <p:nvPr/>
        </p:nvSpPr>
        <p:spPr>
          <a:xfrm>
            <a:off x="548640" y="1611376"/>
            <a:ext cx="11094415" cy="4880864"/>
          </a:xfrm>
          <a:prstGeom prst="rect">
            <a:avLst/>
          </a:prstGeom>
          <a:noFill/>
        </p:spPr>
        <p:txBody>
          <a:bodyPr wrap="square" anchor="t">
            <a:spAutoFit/>
          </a:bodyPr>
          <a:lstStyle/>
          <a:p>
            <a:pPr>
              <a:buNone/>
            </a:pPr>
            <a:r>
              <a:rPr sz="1900" b="1" i="0">
                <a:solidFill>
                  <a:srgbClr val="1F2933"/>
                </a:solidFill>
                <a:latin typeface="Calibri"/>
                <a:ea typeface="Microsoft YaHei"/>
                <a:cs typeface="Microsoft YaHei"/>
              </a:rPr>
              <a:t>Biểu thị việc ĐÃ xảy ra: đơn âm tiết → A了A; song âm tiết KHÔNG trùng điệp được, dùng AB了一下; từ ly hợp → A了AB.</a:t>
            </a:r>
          </a:p>
          <a:p>
            <a:pPr>
              <a:spcBef>
                <a:spcPts val="1935"/>
              </a:spcBef>
              <a:buNone/>
            </a:pPr>
            <a:r>
              <a:rPr sz="2500" b="1" i="0">
                <a:solidFill>
                  <a:srgbClr val="1F2933"/>
                </a:solidFill>
                <a:latin typeface="Calibri"/>
                <a:ea typeface="Microsoft YaHei"/>
                <a:cs typeface="Microsoft YaHei"/>
              </a:rPr>
              <a:t>我看了看网上的介绍。</a:t>
            </a:r>
          </a:p>
          <a:p>
            <a:pPr>
              <a:spcBef>
                <a:spcPts val="290"/>
              </a:spcBef>
              <a:buNone/>
            </a:pPr>
            <a:r>
              <a:rPr sz="1400" b="0" i="1">
                <a:solidFill>
                  <a:srgbClr val="8E2B20"/>
                </a:solidFill>
                <a:latin typeface="Calibri"/>
                <a:ea typeface="Microsoft YaHei"/>
                <a:cs typeface="Microsoft YaHei"/>
              </a:rPr>
              <a:t>Wǒ kànle kàn wǎngshàng de jièshào.</a:t>
            </a:r>
          </a:p>
          <a:p>
            <a:pPr>
              <a:spcBef>
                <a:spcPts val="290"/>
              </a:spcBef>
              <a:buNone/>
            </a:pPr>
            <a:r>
              <a:rPr sz="1400" b="0" i="0">
                <a:solidFill>
                  <a:srgbClr val="6B7683"/>
                </a:solidFill>
                <a:latin typeface="Calibri"/>
                <a:ea typeface="Microsoft YaHei"/>
                <a:cs typeface="Microsoft YaHei"/>
              </a:rPr>
              <a:t>Tôi xem qua giới thiệu trên mạng.</a:t>
            </a:r>
          </a:p>
          <a:p>
            <a:pPr>
              <a:spcBef>
                <a:spcPts val="1935"/>
              </a:spcBef>
              <a:buNone/>
            </a:pPr>
            <a:r>
              <a:rPr sz="2500" b="1" i="0">
                <a:solidFill>
                  <a:srgbClr val="1F2933"/>
                </a:solidFill>
                <a:latin typeface="Calibri"/>
                <a:ea typeface="Microsoft YaHei"/>
                <a:cs typeface="Microsoft YaHei"/>
              </a:rPr>
              <a:t>我休息了一下，现在不累了。</a:t>
            </a:r>
          </a:p>
          <a:p>
            <a:pPr>
              <a:spcBef>
                <a:spcPts val="290"/>
              </a:spcBef>
              <a:buNone/>
            </a:pPr>
            <a:r>
              <a:rPr sz="1400" b="0" i="1">
                <a:solidFill>
                  <a:srgbClr val="8E2B20"/>
                </a:solidFill>
                <a:latin typeface="Calibri"/>
                <a:ea typeface="Microsoft YaHei"/>
                <a:cs typeface="Microsoft YaHei"/>
              </a:rPr>
              <a:t>Wǒ xiūxi le yíxià, xiànzài bú lèi le.</a:t>
            </a:r>
          </a:p>
          <a:p>
            <a:pPr>
              <a:spcBef>
                <a:spcPts val="290"/>
              </a:spcBef>
              <a:buNone/>
            </a:pPr>
            <a:r>
              <a:rPr sz="1400" b="0" i="0">
                <a:solidFill>
                  <a:srgbClr val="6B7683"/>
                </a:solidFill>
                <a:latin typeface="Calibri"/>
                <a:ea typeface="Microsoft YaHei"/>
                <a:cs typeface="Microsoft YaHei"/>
              </a:rPr>
              <a:t>Tôi nghỉ một chút, giờ không mệt nữa.</a:t>
            </a:r>
          </a:p>
          <a:p>
            <a:pPr>
              <a:spcBef>
                <a:spcPts val="1935"/>
              </a:spcBef>
              <a:buNone/>
            </a:pPr>
            <a:r>
              <a:rPr sz="2500" b="1" i="0">
                <a:solidFill>
                  <a:srgbClr val="1F2933"/>
                </a:solidFill>
                <a:latin typeface="Calibri"/>
                <a:ea typeface="Microsoft YaHei"/>
                <a:cs typeface="Microsoft YaHei"/>
              </a:rPr>
              <a:t>他昨天来帮了帮忙。</a:t>
            </a:r>
          </a:p>
          <a:p>
            <a:pPr>
              <a:spcBef>
                <a:spcPts val="290"/>
              </a:spcBef>
              <a:buNone/>
            </a:pPr>
            <a:r>
              <a:rPr sz="1400" b="0" i="1">
                <a:solidFill>
                  <a:srgbClr val="8E2B20"/>
                </a:solidFill>
                <a:latin typeface="Calibri"/>
                <a:ea typeface="Microsoft YaHei"/>
                <a:cs typeface="Microsoft YaHei"/>
              </a:rPr>
              <a:t>Tā zuótiān lái bāngle bāngmáng.</a:t>
            </a:r>
          </a:p>
          <a:p>
            <a:pPr>
              <a:spcBef>
                <a:spcPts val="290"/>
              </a:spcBef>
              <a:buNone/>
            </a:pPr>
            <a:r>
              <a:rPr sz="1400" b="0" i="0">
                <a:solidFill>
                  <a:srgbClr val="6B7683"/>
                </a:solidFill>
                <a:latin typeface="Calibri"/>
                <a:ea typeface="Microsoft YaHei"/>
                <a:cs typeface="Microsoft YaHei"/>
              </a:rPr>
              <a:t>Hôm qua anh ấy đến giúp một tay.</a:t>
            </a:r>
          </a:p>
          <a:p>
            <a:pPr>
              <a:spcBef>
                <a:spcPts val="1161"/>
              </a:spcBef>
              <a:buNone/>
            </a:pPr>
            <a:r>
              <a:rPr sz="1100" b="0" i="1">
                <a:solidFill>
                  <a:srgbClr val="6B7683"/>
                </a:solidFill>
                <a:latin typeface="Calibri"/>
                <a:ea typeface="Microsoft YaHei"/>
                <a:cs typeface="Microsoft YaHei"/>
              </a:rPr>
              <a:t>📖 New HSK Course 2, Bài 3</a:t>
            </a:r>
          </a:p>
        </p:txBody>
      </p:sp>
      <p:pic>
        <p:nvPicPr>
          <p:cNvPr id="7" name="slide32.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1076127" y="320040"/>
            <a:ext cx="566928" cy="566928"/>
          </a:xfrm>
          <a:prstGeom prst="rect">
            <a:avLst/>
          </a:prstGeom>
          <a:ln>
            <a:noFill/>
          </a:ln>
        </p:spPr>
      </p:pic>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775968"/>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371600"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口语</a:t>
            </a:r>
          </a:p>
        </p:txBody>
      </p:sp>
      <p:sp>
        <p:nvSpPr>
          <p:cNvPr id="5" name="TextBox 4"/>
          <p:cNvSpPr txBox="1"/>
          <p:nvPr/>
        </p:nvSpPr>
        <p:spPr>
          <a:xfrm>
            <a:off x="548640" y="566928"/>
            <a:ext cx="11094415" cy="1081024"/>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10 câu khẩu ngữ đời thường (du lịch · đặt khách sạn)</a:t>
            </a:r>
          </a:p>
        </p:txBody>
      </p:sp>
      <p:graphicFrame>
        <p:nvGraphicFramePr>
          <p:cNvPr id="6" name="Table 5"/>
          <p:cNvGraphicFramePr>
            <a:graphicFrameLocks noGrp="1"/>
          </p:cNvGraphicFramePr>
          <p:nvPr/>
        </p:nvGraphicFramePr>
        <p:xfrm>
          <a:off x="548640" y="2050288"/>
          <a:ext cx="11094414" cy="4441951"/>
        </p:xfrm>
        <a:graphic>
          <a:graphicData uri="http://schemas.openxmlformats.org/drawingml/2006/table">
            <a:tbl>
              <a:tblPr firstRow="1" bandRow="1">
                <a:tableStyleId>{5C22544A-7EE6-4342-B048-85BDC9FD1C3A}</a:tableStyleId>
              </a:tblPr>
              <a:tblGrid>
                <a:gridCol w="2525093"/>
                <a:gridCol w="4456047"/>
                <a:gridCol w="4113274"/>
              </a:tblGrid>
              <a:tr h="365894">
                <a:tc>
                  <a:txBody>
                    <a:bodyPr wrap="square"/>
                    <a:lstStyle/>
                    <a:p>
                      <a:pPr algn="ctr">
                        <a:buNone/>
                      </a:pPr>
                      <a:r>
                        <a:rPr sz="1300" b="1" i="0">
                          <a:solidFill>
                            <a:srgbClr val="FFFFFF"/>
                          </a:solidFill>
                          <a:latin typeface="Calibri"/>
                          <a:ea typeface="Microsoft YaHei"/>
                          <a:cs typeface="Microsoft YaHei"/>
                        </a:rPr>
                        <a:t>中文</a:t>
                      </a:r>
                    </a:p>
                  </a:txBody>
                  <a:tcPr anchor="ctr" marL="127000" marR="101600" marT="38100" marB="38100">
                    <a:solidFill>
                      <a:srgbClr val="8E2B20"/>
                    </a:solidFill>
                  </a:tcPr>
                </a:tc>
                <a:tc>
                  <a:txBody>
                    <a:bodyPr wrap="square"/>
                    <a:lstStyle/>
                    <a:p>
                      <a:pPr algn="ctr">
                        <a:buNone/>
                      </a:pPr>
                      <a:r>
                        <a:rPr sz="1300" b="1" i="0">
                          <a:solidFill>
                            <a:srgbClr val="FFFFFF"/>
                          </a:solidFill>
                          <a:latin typeface="Calibri"/>
                          <a:ea typeface="Microsoft YaHei"/>
                          <a:cs typeface="Microsoft YaHei"/>
                        </a:rPr>
                        <a:t>Pinyin</a:t>
                      </a:r>
                    </a:p>
                  </a:txBody>
                  <a:tcPr anchor="ctr" marL="127000" marR="101600" marT="38100" marB="38100">
                    <a:solidFill>
                      <a:srgbClr val="8E2B20"/>
                    </a:solidFill>
                  </a:tcPr>
                </a:tc>
                <a:tc>
                  <a:txBody>
                    <a:bodyPr wrap="square"/>
                    <a:lstStyle/>
                    <a:p>
                      <a:pPr algn="ctr">
                        <a:buNone/>
                      </a:pPr>
                      <a:r>
                        <a:rPr sz="1300" b="1" i="0">
                          <a:solidFill>
                            <a:srgbClr val="FFFFFF"/>
                          </a:solidFill>
                          <a:latin typeface="Calibri"/>
                          <a:ea typeface="Microsoft YaHei"/>
                          <a:cs typeface="Microsoft YaHei"/>
                        </a:rPr>
                        <a:t>Tiếng Việt</a:t>
                      </a:r>
                    </a:p>
                  </a:txBody>
                  <a:tcPr anchor="ctr" marL="127000" marR="101600" marT="38100" marB="38100">
                    <a:solidFill>
                      <a:srgbClr val="8E2B20"/>
                    </a:solidFill>
                  </a:tcPr>
                </a:tc>
              </a:tr>
              <a:tr h="504933">
                <a:tc>
                  <a:txBody>
                    <a:bodyPr wrap="square"/>
                    <a:lstStyle/>
                    <a:p>
                      <a:pPr algn="l">
                        <a:buNone/>
                      </a:pPr>
                      <a:r>
                        <a:rPr sz="1300" b="1" i="0">
                          <a:solidFill>
                            <a:srgbClr val="1F2933"/>
                          </a:solidFill>
                          <a:latin typeface="Calibri"/>
                          <a:ea typeface="Microsoft YaHei"/>
                          <a:cs typeface="Microsoft YaHei"/>
                        </a:rPr>
                        <a:t>您好，我想预订一个房间。</a:t>
                      </a:r>
                    </a:p>
                  </a:txBody>
                  <a:tcPr anchor="ctr" marL="127000" marR="101600" marT="38100" marB="38100">
                    <a:solidFill>
                      <a:srgbClr val="FFFFFF"/>
                    </a:solidFill>
                  </a:tcPr>
                </a:tc>
                <a:tc>
                  <a:txBody>
                    <a:bodyPr wrap="square"/>
                    <a:lstStyle/>
                    <a:p>
                      <a:pPr algn="l">
                        <a:buNone/>
                      </a:pPr>
                      <a:r>
                        <a:rPr sz="1300" b="0" i="0">
                          <a:solidFill>
                            <a:srgbClr val="1F2933"/>
                          </a:solidFill>
                          <a:latin typeface="Calibri"/>
                          <a:ea typeface="Microsoft YaHei"/>
                          <a:cs typeface="Microsoft YaHei"/>
                        </a:rPr>
                        <a:t>Nínhǎo, wǒ xiǎng yùdìng yí ge fángjiān.</a:t>
                      </a:r>
                    </a:p>
                  </a:txBody>
                  <a:tcPr anchor="ctr" marL="127000" marR="101600" marT="38100" marB="38100">
                    <a:solidFill>
                      <a:srgbClr val="FFFFFF"/>
                    </a:solidFill>
                  </a:tcPr>
                </a:tc>
                <a:tc>
                  <a:txBody>
                    <a:bodyPr wrap="square"/>
                    <a:lstStyle/>
                    <a:p>
                      <a:pPr algn="l">
                        <a:buNone/>
                      </a:pPr>
                      <a:r>
                        <a:rPr sz="1300" b="0" i="0">
                          <a:solidFill>
                            <a:srgbClr val="1F2933"/>
                          </a:solidFill>
                          <a:latin typeface="Calibri"/>
                          <a:ea typeface="Microsoft YaHei"/>
                          <a:cs typeface="Microsoft YaHei"/>
                        </a:rPr>
                        <a:t>Xin chào, tôi muốn đặt một phòng.</a:t>
                      </a:r>
                    </a:p>
                  </a:txBody>
                  <a:tcPr anchor="ctr" marL="127000" marR="101600" marT="38100" marB="38100">
                    <a:solidFill>
                      <a:srgbClr val="FFFFFF"/>
                    </a:solidFill>
                  </a:tcPr>
                </a:tc>
              </a:tr>
              <a:tr h="365894">
                <a:tc>
                  <a:txBody>
                    <a:bodyPr wrap="square"/>
                    <a:lstStyle/>
                    <a:p>
                      <a:pPr algn="l">
                        <a:buNone/>
                      </a:pPr>
                      <a:r>
                        <a:rPr sz="1300" b="1" i="0">
                          <a:solidFill>
                            <a:srgbClr val="1F2933"/>
                          </a:solidFill>
                          <a:latin typeface="Calibri"/>
                          <a:ea typeface="Microsoft YaHei"/>
                          <a:cs typeface="Microsoft YaHei"/>
                        </a:rPr>
                        <a:t>一晚多少钱？</a:t>
                      </a:r>
                    </a:p>
                  </a:txBody>
                  <a:tcPr anchor="ctr" marL="127000" marR="101600" marT="38100" marB="38100">
                    <a:solidFill>
                      <a:srgbClr val="F4F5F7"/>
                    </a:solidFill>
                  </a:tcPr>
                </a:tc>
                <a:tc>
                  <a:txBody>
                    <a:bodyPr wrap="square"/>
                    <a:lstStyle/>
                    <a:p>
                      <a:pPr algn="l">
                        <a:buNone/>
                      </a:pPr>
                      <a:r>
                        <a:rPr sz="1300" b="0" i="0">
                          <a:solidFill>
                            <a:srgbClr val="1F2933"/>
                          </a:solidFill>
                          <a:latin typeface="Calibri"/>
                          <a:ea typeface="Microsoft YaHei"/>
                          <a:cs typeface="Microsoft YaHei"/>
                        </a:rPr>
                        <a:t>Yì wǎn duōshao qián?</a:t>
                      </a:r>
                    </a:p>
                  </a:txBody>
                  <a:tcPr anchor="ctr" marL="127000" marR="101600" marT="38100" marB="38100">
                    <a:solidFill>
                      <a:srgbClr val="F4F5F7"/>
                    </a:solidFill>
                  </a:tcPr>
                </a:tc>
                <a:tc>
                  <a:txBody>
                    <a:bodyPr wrap="square"/>
                    <a:lstStyle/>
                    <a:p>
                      <a:pPr algn="l">
                        <a:buNone/>
                      </a:pPr>
                      <a:r>
                        <a:rPr sz="1300" b="0" i="0">
                          <a:solidFill>
                            <a:srgbClr val="1F2933"/>
                          </a:solidFill>
                          <a:latin typeface="Calibri"/>
                          <a:ea typeface="Microsoft YaHei"/>
                          <a:cs typeface="Microsoft YaHei"/>
                        </a:rPr>
                        <a:t>Một đêm bao nhiêu tiền?</a:t>
                      </a:r>
                    </a:p>
                  </a:txBody>
                  <a:tcPr anchor="ctr" marL="127000" marR="101600" marT="38100" marB="38100">
                    <a:solidFill>
                      <a:srgbClr val="F4F5F7"/>
                    </a:solidFill>
                  </a:tcPr>
                </a:tc>
              </a:tr>
              <a:tr h="365894">
                <a:tc>
                  <a:txBody>
                    <a:bodyPr wrap="square"/>
                    <a:lstStyle/>
                    <a:p>
                      <a:pPr algn="l">
                        <a:buNone/>
                      </a:pPr>
                      <a:r>
                        <a:rPr sz="1300" b="1" i="0">
                          <a:solidFill>
                            <a:srgbClr val="1F2933"/>
                          </a:solidFill>
                          <a:latin typeface="Calibri"/>
                          <a:ea typeface="Microsoft YaHei"/>
                          <a:cs typeface="Microsoft YaHei"/>
                        </a:rPr>
                        <a:t>可以刷卡吗？</a:t>
                      </a:r>
                    </a:p>
                  </a:txBody>
                  <a:tcPr anchor="ctr" marL="127000" marR="101600" marT="38100" marB="38100">
                    <a:solidFill>
                      <a:srgbClr val="FFFFFF"/>
                    </a:solidFill>
                  </a:tcPr>
                </a:tc>
                <a:tc>
                  <a:txBody>
                    <a:bodyPr wrap="square"/>
                    <a:lstStyle/>
                    <a:p>
                      <a:pPr algn="l">
                        <a:buNone/>
                      </a:pPr>
                      <a:r>
                        <a:rPr sz="1300" b="0" i="0">
                          <a:solidFill>
                            <a:srgbClr val="1F2933"/>
                          </a:solidFill>
                          <a:latin typeface="Calibri"/>
                          <a:ea typeface="Microsoft YaHei"/>
                          <a:cs typeface="Microsoft YaHei"/>
                        </a:rPr>
                        <a:t>Kěyǐ shuākǎ ma?</a:t>
                      </a:r>
                    </a:p>
                  </a:txBody>
                  <a:tcPr anchor="ctr" marL="127000" marR="101600" marT="38100" marB="38100">
                    <a:solidFill>
                      <a:srgbClr val="FFFFFF"/>
                    </a:solidFill>
                  </a:tcPr>
                </a:tc>
                <a:tc>
                  <a:txBody>
                    <a:bodyPr wrap="square"/>
                    <a:lstStyle/>
                    <a:p>
                      <a:pPr algn="l">
                        <a:buNone/>
                      </a:pPr>
                      <a:r>
                        <a:rPr sz="1300" b="0" i="0">
                          <a:solidFill>
                            <a:srgbClr val="1F2933"/>
                          </a:solidFill>
                          <a:latin typeface="Calibri"/>
                          <a:ea typeface="Microsoft YaHei"/>
                          <a:cs typeface="Microsoft YaHei"/>
                        </a:rPr>
                        <a:t>Có thể quẹt thẻ không?</a:t>
                      </a:r>
                    </a:p>
                  </a:txBody>
                  <a:tcPr anchor="ctr" marL="127000" marR="101600" marT="38100" marB="38100">
                    <a:solidFill>
                      <a:srgbClr val="FFFFFF"/>
                    </a:solidFill>
                  </a:tcPr>
                </a:tc>
              </a:tr>
              <a:tr h="365894">
                <a:tc>
                  <a:txBody>
                    <a:bodyPr wrap="square"/>
                    <a:lstStyle/>
                    <a:p>
                      <a:pPr algn="l">
                        <a:buNone/>
                      </a:pPr>
                      <a:r>
                        <a:rPr sz="1300" b="1" i="0">
                          <a:solidFill>
                            <a:srgbClr val="1F2933"/>
                          </a:solidFill>
                          <a:latin typeface="Calibri"/>
                          <a:ea typeface="Microsoft YaHei"/>
                          <a:cs typeface="Microsoft YaHei"/>
                        </a:rPr>
                        <a:t>我们几点能入住？</a:t>
                      </a:r>
                    </a:p>
                  </a:txBody>
                  <a:tcPr anchor="ctr" marL="127000" marR="101600" marT="38100" marB="38100">
                    <a:solidFill>
                      <a:srgbClr val="F4F5F7"/>
                    </a:solidFill>
                  </a:tcPr>
                </a:tc>
                <a:tc>
                  <a:txBody>
                    <a:bodyPr wrap="square"/>
                    <a:lstStyle/>
                    <a:p>
                      <a:pPr algn="l">
                        <a:buNone/>
                      </a:pPr>
                      <a:r>
                        <a:rPr sz="1300" b="0" i="0">
                          <a:solidFill>
                            <a:srgbClr val="1F2933"/>
                          </a:solidFill>
                          <a:latin typeface="Calibri"/>
                          <a:ea typeface="Microsoft YaHei"/>
                          <a:cs typeface="Microsoft YaHei"/>
                        </a:rPr>
                        <a:t>Wǒmen jǐ diǎn néng rùzhù?</a:t>
                      </a:r>
                    </a:p>
                  </a:txBody>
                  <a:tcPr anchor="ctr" marL="127000" marR="101600" marT="38100" marB="38100">
                    <a:solidFill>
                      <a:srgbClr val="F4F5F7"/>
                    </a:solidFill>
                  </a:tcPr>
                </a:tc>
                <a:tc>
                  <a:txBody>
                    <a:bodyPr wrap="square"/>
                    <a:lstStyle/>
                    <a:p>
                      <a:pPr algn="l">
                        <a:buNone/>
                      </a:pPr>
                      <a:r>
                        <a:rPr sz="1300" b="0" i="0">
                          <a:solidFill>
                            <a:srgbClr val="1F2933"/>
                          </a:solidFill>
                          <a:latin typeface="Calibri"/>
                          <a:ea typeface="Microsoft YaHei"/>
                          <a:cs typeface="Microsoft YaHei"/>
                        </a:rPr>
                        <a:t>Mấy giờ chúng tôi có thể check-in?</a:t>
                      </a:r>
                    </a:p>
                  </a:txBody>
                  <a:tcPr anchor="ctr" marL="127000" marR="101600" marT="38100" marB="38100">
                    <a:solidFill>
                      <a:srgbClr val="F4F5F7"/>
                    </a:solidFill>
                  </a:tcPr>
                </a:tc>
              </a:tr>
              <a:tr h="365894">
                <a:tc>
                  <a:txBody>
                    <a:bodyPr wrap="square"/>
                    <a:lstStyle/>
                    <a:p>
                      <a:pPr algn="l">
                        <a:buNone/>
                      </a:pPr>
                      <a:r>
                        <a:rPr sz="1300" b="1" i="0">
                          <a:solidFill>
                            <a:srgbClr val="1F2933"/>
                          </a:solidFill>
                          <a:latin typeface="Calibri"/>
                          <a:ea typeface="Microsoft YaHei"/>
                          <a:cs typeface="Microsoft YaHei"/>
                        </a:rPr>
                        <a:t>我想退房，麻烦你了。</a:t>
                      </a:r>
                    </a:p>
                  </a:txBody>
                  <a:tcPr anchor="ctr" marL="127000" marR="101600" marT="38100" marB="38100">
                    <a:solidFill>
                      <a:srgbClr val="FFFFFF"/>
                    </a:solidFill>
                  </a:tcPr>
                </a:tc>
                <a:tc>
                  <a:txBody>
                    <a:bodyPr wrap="square"/>
                    <a:lstStyle/>
                    <a:p>
                      <a:pPr algn="l">
                        <a:buNone/>
                      </a:pPr>
                      <a:r>
                        <a:rPr sz="1300" b="0" i="0">
                          <a:solidFill>
                            <a:srgbClr val="1F2933"/>
                          </a:solidFill>
                          <a:latin typeface="Calibri"/>
                          <a:ea typeface="Microsoft YaHei"/>
                          <a:cs typeface="Microsoft YaHei"/>
                        </a:rPr>
                        <a:t>Wǒ xiǎng tuìfáng, máfan nǐ le.</a:t>
                      </a:r>
                    </a:p>
                  </a:txBody>
                  <a:tcPr anchor="ctr" marL="127000" marR="101600" marT="38100" marB="38100">
                    <a:solidFill>
                      <a:srgbClr val="FFFFFF"/>
                    </a:solidFill>
                  </a:tcPr>
                </a:tc>
                <a:tc>
                  <a:txBody>
                    <a:bodyPr wrap="square"/>
                    <a:lstStyle/>
                    <a:p>
                      <a:pPr algn="l">
                        <a:buNone/>
                      </a:pPr>
                      <a:r>
                        <a:rPr sz="1300" b="0" i="0">
                          <a:solidFill>
                            <a:srgbClr val="1F2933"/>
                          </a:solidFill>
                          <a:latin typeface="Calibri"/>
                          <a:ea typeface="Microsoft YaHei"/>
                          <a:cs typeface="Microsoft YaHei"/>
                        </a:rPr>
                        <a:t>Tôi muốn trả phòng, làm ơn giúp tôi.</a:t>
                      </a:r>
                    </a:p>
                  </a:txBody>
                  <a:tcPr anchor="ctr" marL="127000" marR="101600" marT="38100" marB="38100">
                    <a:solidFill>
                      <a:srgbClr val="FFFFFF"/>
                    </a:solidFill>
                  </a:tcPr>
                </a:tc>
              </a:tr>
              <a:tr h="504933">
                <a:tc>
                  <a:txBody>
                    <a:bodyPr wrap="square"/>
                    <a:lstStyle/>
                    <a:p>
                      <a:pPr algn="l">
                        <a:buNone/>
                      </a:pPr>
                      <a:r>
                        <a:rPr sz="1300" b="1" i="0">
                          <a:solidFill>
                            <a:srgbClr val="1F2933"/>
                          </a:solidFill>
                          <a:latin typeface="Calibri"/>
                          <a:ea typeface="Microsoft YaHei"/>
                          <a:cs typeface="Microsoft YaHei"/>
                        </a:rPr>
                        <a:t>附近有没有好吃的饭馆？</a:t>
                      </a:r>
                    </a:p>
                  </a:txBody>
                  <a:tcPr anchor="ctr" marL="127000" marR="101600" marT="38100" marB="38100">
                    <a:solidFill>
                      <a:srgbClr val="F4F5F7"/>
                    </a:solidFill>
                  </a:tcPr>
                </a:tc>
                <a:tc>
                  <a:txBody>
                    <a:bodyPr wrap="square"/>
                    <a:lstStyle/>
                    <a:p>
                      <a:pPr algn="l">
                        <a:buNone/>
                      </a:pPr>
                      <a:r>
                        <a:rPr sz="1300" b="0" i="0">
                          <a:solidFill>
                            <a:srgbClr val="1F2933"/>
                          </a:solidFill>
                          <a:latin typeface="Calibri"/>
                          <a:ea typeface="Microsoft YaHei"/>
                          <a:cs typeface="Microsoft YaHei"/>
                        </a:rPr>
                        <a:t>Fùjìn yǒu méiyǒu hǎochī de fànguǎn?</a:t>
                      </a:r>
                    </a:p>
                  </a:txBody>
                  <a:tcPr anchor="ctr" marL="127000" marR="101600" marT="38100" marB="38100">
                    <a:solidFill>
                      <a:srgbClr val="F4F5F7"/>
                    </a:solidFill>
                  </a:tcPr>
                </a:tc>
                <a:tc>
                  <a:txBody>
                    <a:bodyPr wrap="square"/>
                    <a:lstStyle/>
                    <a:p>
                      <a:pPr algn="l">
                        <a:buNone/>
                      </a:pPr>
                      <a:r>
                        <a:rPr sz="1300" b="0" i="0">
                          <a:solidFill>
                            <a:srgbClr val="1F2933"/>
                          </a:solidFill>
                          <a:latin typeface="Calibri"/>
                          <a:ea typeface="Microsoft YaHei"/>
                          <a:cs typeface="Microsoft YaHei"/>
                        </a:rPr>
                        <a:t>Gần đây có quán ăn ngon không?</a:t>
                      </a:r>
                    </a:p>
                  </a:txBody>
                  <a:tcPr anchor="ctr" marL="127000" marR="101600" marT="38100" marB="38100">
                    <a:solidFill>
                      <a:srgbClr val="F4F5F7"/>
                    </a:solidFill>
                  </a:tcPr>
                </a:tc>
              </a:tr>
              <a:tr h="504933">
                <a:tc>
                  <a:txBody>
                    <a:bodyPr wrap="square"/>
                    <a:lstStyle/>
                    <a:p>
                      <a:pPr algn="l">
                        <a:buNone/>
                      </a:pPr>
                      <a:r>
                        <a:rPr sz="1300" b="1" i="0">
                          <a:solidFill>
                            <a:srgbClr val="1F2933"/>
                          </a:solidFill>
                          <a:latin typeface="Calibri"/>
                          <a:ea typeface="Microsoft YaHei"/>
                          <a:cs typeface="Microsoft YaHei"/>
                        </a:rPr>
                        <a:t>这儿有什么好玩儿的地方吗？</a:t>
                      </a:r>
                    </a:p>
                  </a:txBody>
                  <a:tcPr anchor="ctr" marL="127000" marR="101600" marT="38100" marB="38100">
                    <a:solidFill>
                      <a:srgbClr val="FFFFFF"/>
                    </a:solidFill>
                  </a:tcPr>
                </a:tc>
                <a:tc>
                  <a:txBody>
                    <a:bodyPr wrap="square"/>
                    <a:lstStyle/>
                    <a:p>
                      <a:pPr algn="l">
                        <a:buNone/>
                      </a:pPr>
                      <a:r>
                        <a:rPr sz="1300" b="0" i="0">
                          <a:solidFill>
                            <a:srgbClr val="1F2933"/>
                          </a:solidFill>
                          <a:latin typeface="Calibri"/>
                          <a:ea typeface="Microsoft YaHei"/>
                          <a:cs typeface="Microsoft YaHei"/>
                        </a:rPr>
                        <a:t>Zhèr yǒu shénme hǎowánr de dìfang ma?</a:t>
                      </a:r>
                    </a:p>
                  </a:txBody>
                  <a:tcPr anchor="ctr" marL="127000" marR="101600" marT="38100" marB="38100">
                    <a:solidFill>
                      <a:srgbClr val="FFFFFF"/>
                    </a:solidFill>
                  </a:tcPr>
                </a:tc>
                <a:tc>
                  <a:txBody>
                    <a:bodyPr wrap="square"/>
                    <a:lstStyle/>
                    <a:p>
                      <a:pPr algn="l">
                        <a:buNone/>
                      </a:pPr>
                      <a:r>
                        <a:rPr sz="1300" b="0" i="0">
                          <a:solidFill>
                            <a:srgbClr val="1F2933"/>
                          </a:solidFill>
                          <a:latin typeface="Calibri"/>
                          <a:ea typeface="Microsoft YaHei"/>
                          <a:cs typeface="Microsoft YaHei"/>
                        </a:rPr>
                        <a:t>Ở đây có chỗ nào hay để chơi không?</a:t>
                      </a:r>
                    </a:p>
                  </a:txBody>
                  <a:tcPr anchor="ctr" marL="127000" marR="101600" marT="38100" marB="38100">
                    <a:solidFill>
                      <a:srgbClr val="FFFFFF"/>
                    </a:solidFill>
                  </a:tcPr>
                </a:tc>
              </a:tr>
              <a:tr h="365894">
                <a:tc>
                  <a:txBody>
                    <a:bodyPr wrap="square"/>
                    <a:lstStyle/>
                    <a:p>
                      <a:pPr algn="l">
                        <a:buNone/>
                      </a:pPr>
                      <a:r>
                        <a:rPr sz="1300" b="1" i="0">
                          <a:solidFill>
                            <a:srgbClr val="1F2933"/>
                          </a:solidFill>
                          <a:latin typeface="Calibri"/>
                          <a:ea typeface="Microsoft YaHei"/>
                          <a:cs typeface="Microsoft YaHei"/>
                        </a:rPr>
                        <a:t>这儿可以拍照吗？</a:t>
                      </a:r>
                    </a:p>
                  </a:txBody>
                  <a:tcPr anchor="ctr" marL="127000" marR="101600" marT="38100" marB="38100">
                    <a:solidFill>
                      <a:srgbClr val="F4F5F7"/>
                    </a:solidFill>
                  </a:tcPr>
                </a:tc>
                <a:tc>
                  <a:txBody>
                    <a:bodyPr wrap="square"/>
                    <a:lstStyle/>
                    <a:p>
                      <a:pPr algn="l">
                        <a:buNone/>
                      </a:pPr>
                      <a:r>
                        <a:rPr sz="1300" b="0" i="0">
                          <a:solidFill>
                            <a:srgbClr val="1F2933"/>
                          </a:solidFill>
                          <a:latin typeface="Calibri"/>
                          <a:ea typeface="Microsoft YaHei"/>
                          <a:cs typeface="Microsoft YaHei"/>
                        </a:rPr>
                        <a:t>Zhèr kěyǐ pāizhào ma?</a:t>
                      </a:r>
                    </a:p>
                  </a:txBody>
                  <a:tcPr anchor="ctr" marL="127000" marR="101600" marT="38100" marB="38100">
                    <a:solidFill>
                      <a:srgbClr val="F4F5F7"/>
                    </a:solidFill>
                  </a:tcPr>
                </a:tc>
                <a:tc>
                  <a:txBody>
                    <a:bodyPr wrap="square"/>
                    <a:lstStyle/>
                    <a:p>
                      <a:pPr algn="l">
                        <a:buNone/>
                      </a:pPr>
                      <a:r>
                        <a:rPr sz="1300" b="0" i="0">
                          <a:solidFill>
                            <a:srgbClr val="1F2933"/>
                          </a:solidFill>
                          <a:latin typeface="Calibri"/>
                          <a:ea typeface="Microsoft YaHei"/>
                          <a:cs typeface="Microsoft YaHei"/>
                        </a:rPr>
                        <a:t>Ở đây có được chụp ảnh không?</a:t>
                      </a:r>
                    </a:p>
                  </a:txBody>
                  <a:tcPr anchor="ctr" marL="127000" marR="101600" marT="38100" marB="38100">
                    <a:solidFill>
                      <a:srgbClr val="F4F5F7"/>
                    </a:solidFill>
                  </a:tcPr>
                </a:tc>
              </a:tr>
              <a:tr h="365894">
                <a:tc>
                  <a:txBody>
                    <a:bodyPr wrap="square"/>
                    <a:lstStyle/>
                    <a:p>
                      <a:pPr algn="l">
                        <a:buNone/>
                      </a:pPr>
                      <a:r>
                        <a:rPr sz="1300" b="1" i="0">
                          <a:solidFill>
                            <a:srgbClr val="1F2933"/>
                          </a:solidFill>
                          <a:latin typeface="Calibri"/>
                          <a:ea typeface="Microsoft YaHei"/>
                          <a:cs typeface="Microsoft YaHei"/>
                        </a:rPr>
                        <a:t>今天会不会下雨？</a:t>
                      </a:r>
                    </a:p>
                  </a:txBody>
                  <a:tcPr anchor="ctr" marL="127000" marR="101600" marT="38100" marB="38100">
                    <a:solidFill>
                      <a:srgbClr val="FFFFFF"/>
                    </a:solidFill>
                  </a:tcPr>
                </a:tc>
                <a:tc>
                  <a:txBody>
                    <a:bodyPr wrap="square"/>
                    <a:lstStyle/>
                    <a:p>
                      <a:pPr algn="l">
                        <a:buNone/>
                      </a:pPr>
                      <a:r>
                        <a:rPr sz="1300" b="0" i="0">
                          <a:solidFill>
                            <a:srgbClr val="1F2933"/>
                          </a:solidFill>
                          <a:latin typeface="Calibri"/>
                          <a:ea typeface="Microsoft YaHei"/>
                          <a:cs typeface="Microsoft YaHei"/>
                        </a:rPr>
                        <a:t>Jīntiān huì bu huì xiàyǔ?</a:t>
                      </a:r>
                    </a:p>
                  </a:txBody>
                  <a:tcPr anchor="ctr" marL="127000" marR="101600" marT="38100" marB="38100">
                    <a:solidFill>
                      <a:srgbClr val="FFFFFF"/>
                    </a:solidFill>
                  </a:tcPr>
                </a:tc>
                <a:tc>
                  <a:txBody>
                    <a:bodyPr wrap="square"/>
                    <a:lstStyle/>
                    <a:p>
                      <a:pPr algn="l">
                        <a:buNone/>
                      </a:pPr>
                      <a:r>
                        <a:rPr sz="1300" b="0" i="0">
                          <a:solidFill>
                            <a:srgbClr val="1F2933"/>
                          </a:solidFill>
                          <a:latin typeface="Calibri"/>
                          <a:ea typeface="Microsoft YaHei"/>
                          <a:cs typeface="Microsoft YaHei"/>
                        </a:rPr>
                        <a:t>Hôm nay có mưa không?</a:t>
                      </a:r>
                    </a:p>
                  </a:txBody>
                  <a:tcPr anchor="ctr" marL="127000" marR="101600" marT="38100" marB="38100">
                    <a:solidFill>
                      <a:srgbClr val="FFFFFF"/>
                    </a:solidFill>
                  </a:tcPr>
                </a:tc>
              </a:tr>
              <a:tr h="365894">
                <a:tc>
                  <a:txBody>
                    <a:bodyPr wrap="square"/>
                    <a:lstStyle/>
                    <a:p>
                      <a:pPr algn="l">
                        <a:buNone/>
                      </a:pPr>
                      <a:r>
                        <a:rPr sz="1300" b="1" i="0">
                          <a:solidFill>
                            <a:srgbClr val="1F2933"/>
                          </a:solidFill>
                          <a:latin typeface="Calibri"/>
                          <a:ea typeface="Microsoft YaHei"/>
                          <a:cs typeface="Microsoft YaHei"/>
                        </a:rPr>
                        <a:t>祝你旅途愉快！</a:t>
                      </a:r>
                    </a:p>
                  </a:txBody>
                  <a:tcPr anchor="ctr" marL="127000" marR="101600" marT="38100" marB="38100">
                    <a:solidFill>
                      <a:srgbClr val="F4F5F7"/>
                    </a:solidFill>
                  </a:tcPr>
                </a:tc>
                <a:tc>
                  <a:txBody>
                    <a:bodyPr wrap="square"/>
                    <a:lstStyle/>
                    <a:p>
                      <a:pPr algn="l">
                        <a:buNone/>
                      </a:pPr>
                      <a:r>
                        <a:rPr sz="1300" b="0" i="0">
                          <a:solidFill>
                            <a:srgbClr val="1F2933"/>
                          </a:solidFill>
                          <a:latin typeface="Calibri"/>
                          <a:ea typeface="Microsoft YaHei"/>
                          <a:cs typeface="Microsoft YaHei"/>
                        </a:rPr>
                        <a:t>Zhù nǐ lǚtú yúkuài!</a:t>
                      </a:r>
                    </a:p>
                  </a:txBody>
                  <a:tcPr anchor="ctr" marL="127000" marR="101600" marT="38100" marB="38100">
                    <a:solidFill>
                      <a:srgbClr val="F4F5F7"/>
                    </a:solidFill>
                  </a:tcPr>
                </a:tc>
                <a:tc>
                  <a:txBody>
                    <a:bodyPr wrap="square"/>
                    <a:lstStyle/>
                    <a:p>
                      <a:pPr algn="l">
                        <a:buNone/>
                      </a:pPr>
                      <a:r>
                        <a:rPr sz="1300" b="0" i="0">
                          <a:solidFill>
                            <a:srgbClr val="1F2933"/>
                          </a:solidFill>
                          <a:latin typeface="Calibri"/>
                          <a:ea typeface="Microsoft YaHei"/>
                          <a:cs typeface="Microsoft YaHei"/>
                        </a:rPr>
                        <a:t>Chúc bạn có chuyến đi vui vẻ!</a:t>
                      </a:r>
                    </a:p>
                  </a:txBody>
                  <a:tcPr anchor="ctr" marL="127000" marR="101600" marT="38100" marB="38100">
                    <a:solidFill>
                      <a:srgbClr val="F4F5F7"/>
                    </a:solidFill>
                  </a:tcPr>
                </a:tc>
              </a:tr>
            </a:tbl>
          </a:graphicData>
        </a:graphic>
      </p:graphicFrame>
      <p:pic>
        <p:nvPicPr>
          <p:cNvPr id="7" name="slide33.mp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1076127" y="320040"/>
            <a:ext cx="566928" cy="566928"/>
          </a:xfrm>
          <a:prstGeom prst="rect">
            <a:avLst/>
          </a:prstGeom>
          <a:ln>
            <a:noFill/>
          </a:ln>
        </p:spPr>
      </p:pic>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511726"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易错点 1/3</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Quên/thừa 「了」với 结果补语</a:t>
            </a:r>
          </a:p>
        </p:txBody>
      </p:sp>
      <p:sp>
        <p:nvSpPr>
          <p:cNvPr id="6" name="TextBox 5"/>
          <p:cNvSpPr txBox="1"/>
          <p:nvPr/>
        </p:nvSpPr>
        <p:spPr>
          <a:xfrm>
            <a:off x="548640" y="1611376"/>
            <a:ext cx="6522415" cy="4880864"/>
          </a:xfrm>
          <a:prstGeom prst="rect">
            <a:avLst/>
          </a:prstGeom>
          <a:noFill/>
        </p:spPr>
        <p:txBody>
          <a:bodyPr wrap="square" anchor="t">
            <a:spAutoFit/>
          </a:bodyPr>
          <a:lstStyle/>
          <a:p>
            <a:pPr>
              <a:spcBef>
                <a:spcPts val="1944"/>
              </a:spcBef>
              <a:buNone/>
            </a:pPr>
            <a:r>
              <a:rPr sz="1600" b="1" i="0">
                <a:solidFill>
                  <a:srgbClr val="8E2B20"/>
                </a:solidFill>
                <a:latin typeface="Calibri"/>
                <a:ea typeface="Microsoft YaHei"/>
                <a:cs typeface="Microsoft YaHei"/>
              </a:rPr>
              <a:t>•  </a:t>
            </a:r>
            <a:r>
              <a:rPr sz="1600" b="1" i="0">
                <a:solidFill>
                  <a:srgbClr val="1F2933"/>
                </a:solidFill>
                <a:latin typeface="Calibri"/>
                <a:ea typeface="Microsoft YaHei"/>
                <a:cs typeface="Microsoft YaHei"/>
              </a:rPr>
              <a:t>❌ 我吃完饭 — thiếu 了 khi câu khẳng định đã hoàn thành.</a:t>
            </a:r>
          </a:p>
          <a:p>
            <a:pPr>
              <a:spcBef>
                <a:spcPts val="1944"/>
              </a:spcBef>
              <a:buNone/>
            </a:pPr>
            <a:r>
              <a:rPr sz="1600" b="1" i="0">
                <a:solidFill>
                  <a:srgbClr val="8E2B20"/>
                </a:solidFill>
                <a:latin typeface="Calibri"/>
                <a:ea typeface="Microsoft YaHei"/>
                <a:cs typeface="Microsoft YaHei"/>
              </a:rPr>
              <a:t>•  </a:t>
            </a:r>
            <a:r>
              <a:rPr sz="1600" b="1" i="0">
                <a:solidFill>
                  <a:srgbClr val="1F2933"/>
                </a:solidFill>
                <a:latin typeface="Calibri"/>
                <a:ea typeface="Microsoft YaHei"/>
                <a:cs typeface="Microsoft YaHei"/>
              </a:rPr>
              <a:t>✔ 我吃完饭了。</a:t>
            </a:r>
          </a:p>
          <a:p>
            <a:pPr>
              <a:spcBef>
                <a:spcPts val="1944"/>
              </a:spcBef>
              <a:buNone/>
            </a:pPr>
            <a:r>
              <a:rPr sz="1600" b="1" i="0">
                <a:solidFill>
                  <a:srgbClr val="8E2B20"/>
                </a:solidFill>
                <a:latin typeface="Calibri"/>
                <a:ea typeface="Microsoft YaHei"/>
                <a:cs typeface="Microsoft YaHei"/>
              </a:rPr>
              <a:t>•  </a:t>
            </a:r>
            <a:r>
              <a:rPr sz="1600" b="1" i="0">
                <a:solidFill>
                  <a:srgbClr val="1F2933"/>
                </a:solidFill>
                <a:latin typeface="Calibri"/>
                <a:ea typeface="Microsoft YaHei"/>
                <a:cs typeface="Microsoft YaHei"/>
              </a:rPr>
              <a:t>❌ 我没吃完饭了 — câu PHỦ ĐỊNH KHÔNG được giữ 了.</a:t>
            </a:r>
          </a:p>
          <a:p>
            <a:pPr>
              <a:spcBef>
                <a:spcPts val="1944"/>
              </a:spcBef>
              <a:buNone/>
            </a:pPr>
            <a:r>
              <a:rPr sz="1600" b="1" i="0">
                <a:solidFill>
                  <a:srgbClr val="8E2B20"/>
                </a:solidFill>
                <a:latin typeface="Calibri"/>
                <a:ea typeface="Microsoft YaHei"/>
                <a:cs typeface="Microsoft YaHei"/>
              </a:rPr>
              <a:t>•  </a:t>
            </a:r>
            <a:r>
              <a:rPr sz="1600" b="1" i="0">
                <a:solidFill>
                  <a:srgbClr val="1F2933"/>
                </a:solidFill>
                <a:latin typeface="Calibri"/>
                <a:ea typeface="Microsoft YaHei"/>
                <a:cs typeface="Microsoft YaHei"/>
              </a:rPr>
              <a:t>✔ 我没吃完饭。</a:t>
            </a:r>
          </a:p>
          <a:p>
            <a:pPr>
              <a:spcBef>
                <a:spcPts val="1944"/>
              </a:spcBef>
              <a:buNone/>
            </a:pPr>
            <a:r>
              <a:rPr sz="1600" b="1" i="0">
                <a:solidFill>
                  <a:srgbClr val="8E2B20"/>
                </a:solidFill>
                <a:latin typeface="Calibri"/>
                <a:ea typeface="Microsoft YaHei"/>
                <a:cs typeface="Microsoft YaHei"/>
              </a:rPr>
              <a:t>•  </a:t>
            </a:r>
            <a:r>
              <a:rPr sz="1600" b="1" i="0">
                <a:solidFill>
                  <a:srgbClr val="1F2933"/>
                </a:solidFill>
                <a:latin typeface="Calibri"/>
                <a:ea typeface="Microsoft YaHei"/>
                <a:cs typeface="Microsoft YaHei"/>
              </a:rPr>
              <a:t>Vì sao hay lẫn: tiếng Việt "đã ăn xong" dùng "đã" cả câu khẳng định lẫn phủ định ("tôi chưa ăn xong" cũng có cấu trúc tương tự), nên hay quên rằng tiếng Trung phủ định phải bỏ 了.</a:t>
            </a:r>
          </a:p>
        </p:txBody>
      </p:sp>
      <p:pic>
        <p:nvPicPr>
          <p:cNvPr id="7" name="Picture 6" descr="error1.jpg"/>
          <p:cNvPicPr>
            <a:picLocks noChangeAspect="1"/>
          </p:cNvPicPr>
          <p:nvPr/>
        </p:nvPicPr>
        <p:blipFill>
          <a:blip r:embed="rId2"/>
          <a:stretch>
            <a:fillRect/>
          </a:stretch>
        </p:blipFill>
        <p:spPr>
          <a:xfrm>
            <a:off x="7436815" y="2534029"/>
            <a:ext cx="4206240" cy="3035557"/>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37056"/>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511726"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易错点 2/3</a:t>
            </a:r>
          </a:p>
        </p:txBody>
      </p:sp>
      <p:sp>
        <p:nvSpPr>
          <p:cNvPr id="5" name="TextBox 4"/>
          <p:cNvSpPr txBox="1"/>
          <p:nvPr/>
        </p:nvSpPr>
        <p:spPr>
          <a:xfrm>
            <a:off x="548640" y="566928"/>
            <a:ext cx="11094415" cy="642112"/>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Lẫn dạng 动词重叠 theo thời điểm</a:t>
            </a:r>
          </a:p>
        </p:txBody>
      </p:sp>
      <p:sp>
        <p:nvSpPr>
          <p:cNvPr id="6" name="TextBox 5"/>
          <p:cNvSpPr txBox="1"/>
          <p:nvPr/>
        </p:nvSpPr>
        <p:spPr>
          <a:xfrm>
            <a:off x="548640" y="1611376"/>
            <a:ext cx="6522415" cy="4880864"/>
          </a:xfrm>
          <a:prstGeom prst="rect">
            <a:avLst/>
          </a:prstGeom>
          <a:noFill/>
        </p:spPr>
        <p:txBody>
          <a:bodyPr wrap="square" anchor="t">
            <a:spAutoFit/>
          </a:bodyPr>
          <a:lstStyle/>
          <a:p>
            <a:pPr>
              <a:spcBef>
                <a:spcPts val="2045"/>
              </a:spcBef>
              <a:buNone/>
            </a:pPr>
            <a:r>
              <a:rPr sz="1700" b="1" i="0">
                <a:solidFill>
                  <a:srgbClr val="8E2B20"/>
                </a:solidFill>
                <a:latin typeface="Calibri"/>
                <a:ea typeface="Microsoft YaHei"/>
                <a:cs typeface="Microsoft YaHei"/>
              </a:rPr>
              <a:t>•  </a:t>
            </a:r>
            <a:r>
              <a:rPr sz="1700" b="1" i="0">
                <a:solidFill>
                  <a:srgbClr val="1F2933"/>
                </a:solidFill>
                <a:latin typeface="Calibri"/>
                <a:ea typeface="Microsoft YaHei"/>
                <a:cs typeface="Microsoft YaHei"/>
              </a:rPr>
              <a:t>❌ 我昨天想想这个问题 — việc ĐÃ xảy ra (昨天) nhưng dùng dạng CHƯA xảy ra (想想).</a:t>
            </a:r>
          </a:p>
          <a:p>
            <a:pPr>
              <a:spcBef>
                <a:spcPts val="2045"/>
              </a:spcBef>
              <a:buNone/>
            </a:pPr>
            <a:r>
              <a:rPr sz="1700" b="1" i="0">
                <a:solidFill>
                  <a:srgbClr val="8E2B20"/>
                </a:solidFill>
                <a:latin typeface="Calibri"/>
                <a:ea typeface="Microsoft YaHei"/>
                <a:cs typeface="Microsoft YaHei"/>
              </a:rPr>
              <a:t>•  </a:t>
            </a:r>
            <a:r>
              <a:rPr sz="1700" b="1" i="0">
                <a:solidFill>
                  <a:srgbClr val="1F2933"/>
                </a:solidFill>
                <a:latin typeface="Calibri"/>
                <a:ea typeface="Microsoft YaHei"/>
                <a:cs typeface="Microsoft YaHei"/>
              </a:rPr>
              <a:t>✔ 我昨天想了想这个问题。</a:t>
            </a:r>
          </a:p>
          <a:p>
            <a:pPr>
              <a:spcBef>
                <a:spcPts val="2045"/>
              </a:spcBef>
              <a:buNone/>
            </a:pPr>
            <a:r>
              <a:rPr sz="1700" b="1" i="0">
                <a:solidFill>
                  <a:srgbClr val="8E2B20"/>
                </a:solidFill>
                <a:latin typeface="Calibri"/>
                <a:ea typeface="Microsoft YaHei"/>
                <a:cs typeface="Microsoft YaHei"/>
              </a:rPr>
              <a:t>•  </a:t>
            </a:r>
            <a:r>
              <a:rPr sz="1700" b="1" i="0">
                <a:solidFill>
                  <a:srgbClr val="1F2933"/>
                </a:solidFill>
                <a:latin typeface="Calibri"/>
                <a:ea typeface="Microsoft YaHei"/>
                <a:cs typeface="Microsoft YaHei"/>
              </a:rPr>
              <a:t>❌ 你想了想吧 — câu ĐỀ NGHỊ (chưa xảy ra) nhưng dùng dạng ĐÃ xảy ra (想了想).</a:t>
            </a:r>
          </a:p>
          <a:p>
            <a:pPr>
              <a:spcBef>
                <a:spcPts val="2045"/>
              </a:spcBef>
              <a:buNone/>
            </a:pPr>
            <a:r>
              <a:rPr sz="1700" b="1" i="0">
                <a:solidFill>
                  <a:srgbClr val="8E2B20"/>
                </a:solidFill>
                <a:latin typeface="Calibri"/>
                <a:ea typeface="Microsoft YaHei"/>
                <a:cs typeface="Microsoft YaHei"/>
              </a:rPr>
              <a:t>•  </a:t>
            </a:r>
            <a:r>
              <a:rPr sz="1700" b="1" i="0">
                <a:solidFill>
                  <a:srgbClr val="1F2933"/>
                </a:solidFill>
                <a:latin typeface="Calibri"/>
                <a:ea typeface="Microsoft YaHei"/>
                <a:cs typeface="Microsoft YaHei"/>
              </a:rPr>
              <a:t>✔ 你想一想吧。</a:t>
            </a:r>
          </a:p>
          <a:p>
            <a:pPr>
              <a:spcBef>
                <a:spcPts val="2045"/>
              </a:spcBef>
              <a:buNone/>
            </a:pPr>
            <a:r>
              <a:rPr sz="1700" b="1" i="0">
                <a:solidFill>
                  <a:srgbClr val="8E2B20"/>
                </a:solidFill>
                <a:latin typeface="Calibri"/>
                <a:ea typeface="Microsoft YaHei"/>
                <a:cs typeface="Microsoft YaHei"/>
              </a:rPr>
              <a:t>•  </a:t>
            </a:r>
            <a:r>
              <a:rPr sz="1700" b="1" i="0">
                <a:solidFill>
                  <a:srgbClr val="1F2933"/>
                </a:solidFill>
                <a:latin typeface="Calibri"/>
                <a:ea typeface="Microsoft YaHei"/>
                <a:cs typeface="Microsoft YaHei"/>
              </a:rPr>
              <a:t>Vì sao hay lẫn: tiếng Việt "thử nghĩ nghĩ xem" không đổi dạng theo thời điểm như tiếng Trung, nên dễ quên phải chọn A(一)A hay A了A cho đúng.</a:t>
            </a:r>
          </a:p>
        </p:txBody>
      </p:sp>
      <p:pic>
        <p:nvPicPr>
          <p:cNvPr id="7" name="Picture 6" descr="error2.jpg"/>
          <p:cNvPicPr>
            <a:picLocks noChangeAspect="1"/>
          </p:cNvPicPr>
          <p:nvPr/>
        </p:nvPicPr>
        <p:blipFill>
          <a:blip r:embed="rId2"/>
          <a:stretch>
            <a:fillRect/>
          </a:stretch>
        </p:blipFill>
        <p:spPr>
          <a:xfrm>
            <a:off x="7919336" y="1611376"/>
            <a:ext cx="3241198" cy="4880864"/>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775968"/>
          </a:xfrm>
          <a:prstGeom prst="rect">
            <a:avLst/>
          </a:prstGeom>
          <a:solidFill>
            <a:srgbClr val="8E2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
            <a:ext cx="1511726" cy="384048"/>
          </a:xfrm>
          <a:prstGeom prst="roundRect">
            <a:avLst/>
          </a:prstGeom>
          <a:solidFill>
            <a:srgbClr val="5F160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25400" bIns="25400"/>
          <a:lstStyle/>
          <a:p>
            <a:pPr algn="ctr">
              <a:buNone/>
            </a:pPr>
            <a:r>
              <a:rPr sz="1600" b="1" i="0">
                <a:solidFill>
                  <a:srgbClr val="FFFFFF"/>
                </a:solidFill>
                <a:latin typeface="Calibri"/>
                <a:ea typeface="Microsoft YaHei"/>
                <a:cs typeface="Microsoft YaHei"/>
              </a:rPr>
              <a:t>易错点 3/3</a:t>
            </a:r>
          </a:p>
        </p:txBody>
      </p:sp>
      <p:sp>
        <p:nvSpPr>
          <p:cNvPr id="5" name="TextBox 4"/>
          <p:cNvSpPr txBox="1"/>
          <p:nvPr/>
        </p:nvSpPr>
        <p:spPr>
          <a:xfrm>
            <a:off x="548640" y="566928"/>
            <a:ext cx="11094415" cy="1081024"/>
          </a:xfrm>
          <a:prstGeom prst="rect">
            <a:avLst/>
          </a:prstGeom>
          <a:noFill/>
        </p:spPr>
        <p:txBody>
          <a:bodyPr wrap="square" anchor="ctr">
            <a:spAutoFit/>
          </a:bodyPr>
          <a:lstStyle/>
          <a:p>
            <a:pPr>
              <a:buNone/>
            </a:pPr>
            <a:r>
              <a:rPr sz="2700" b="1" i="0">
                <a:solidFill>
                  <a:srgbClr val="FFFFFF"/>
                </a:solidFill>
                <a:latin typeface="Calibri"/>
                <a:ea typeface="Microsoft YaHei"/>
                <a:cs typeface="Microsoft YaHei"/>
              </a:rPr>
              <a:t>Sai dạng trùng điệp động từ song âm tiết</a:t>
            </a:r>
          </a:p>
        </p:txBody>
      </p:sp>
      <p:sp>
        <p:nvSpPr>
          <p:cNvPr id="6" name="TextBox 5"/>
          <p:cNvSpPr txBox="1"/>
          <p:nvPr/>
        </p:nvSpPr>
        <p:spPr>
          <a:xfrm>
            <a:off x="548640" y="2050288"/>
            <a:ext cx="6522415" cy="4441952"/>
          </a:xfrm>
          <a:prstGeom prst="rect">
            <a:avLst/>
          </a:prstGeom>
          <a:noFill/>
        </p:spPr>
        <p:txBody>
          <a:bodyPr wrap="square" anchor="t">
            <a:spAutoFit/>
          </a:bodyPr>
          <a:lstStyle/>
          <a:p>
            <a:pPr>
              <a:spcBef>
                <a:spcPts val="2083"/>
              </a:spcBef>
              <a:buNone/>
            </a:pPr>
            <a:r>
              <a:rPr sz="1700" b="1" i="0">
                <a:solidFill>
                  <a:srgbClr val="8E2B20"/>
                </a:solidFill>
                <a:latin typeface="Calibri"/>
                <a:ea typeface="Microsoft YaHei"/>
                <a:cs typeface="Microsoft YaHei"/>
              </a:rPr>
              <a:t>•  </a:t>
            </a:r>
            <a:r>
              <a:rPr sz="1700" b="1" i="0">
                <a:solidFill>
                  <a:srgbClr val="1F2933"/>
                </a:solidFill>
                <a:latin typeface="Calibri"/>
                <a:ea typeface="Microsoft YaHei"/>
                <a:cs typeface="Microsoft YaHei"/>
              </a:rPr>
              <a:t>❌ 休休息息 — động từ song âm tiết KHÔNG trùng điệp theo kiểu AABB (như tính từ 高高兴兴).</a:t>
            </a:r>
          </a:p>
          <a:p>
            <a:pPr>
              <a:spcBef>
                <a:spcPts val="2083"/>
              </a:spcBef>
              <a:buNone/>
            </a:pPr>
            <a:r>
              <a:rPr sz="1700" b="1" i="0">
                <a:solidFill>
                  <a:srgbClr val="8E2B20"/>
                </a:solidFill>
                <a:latin typeface="Calibri"/>
                <a:ea typeface="Microsoft YaHei"/>
                <a:cs typeface="Microsoft YaHei"/>
              </a:rPr>
              <a:t>•  </a:t>
            </a:r>
            <a:r>
              <a:rPr sz="1700" b="1" i="0">
                <a:solidFill>
                  <a:srgbClr val="1F2933"/>
                </a:solidFill>
                <a:latin typeface="Calibri"/>
                <a:ea typeface="Microsoft YaHei"/>
                <a:cs typeface="Microsoft YaHei"/>
              </a:rPr>
              <a:t>✔ 休息休息 (chưa xảy ra, ABAB) / 休息了一下 (đã xảy ra, KHÔNG trùng điệp — dùng AB了一下).</a:t>
            </a:r>
          </a:p>
          <a:p>
            <a:pPr>
              <a:spcBef>
                <a:spcPts val="2083"/>
              </a:spcBef>
              <a:buNone/>
            </a:pPr>
            <a:r>
              <a:rPr sz="1700" b="1" i="0">
                <a:solidFill>
                  <a:srgbClr val="8E2B20"/>
                </a:solidFill>
                <a:latin typeface="Calibri"/>
                <a:ea typeface="Microsoft YaHei"/>
                <a:cs typeface="Microsoft YaHei"/>
              </a:rPr>
              <a:t>•  </a:t>
            </a:r>
            <a:r>
              <a:rPr sz="1700" b="1" i="0">
                <a:solidFill>
                  <a:srgbClr val="1F2933"/>
                </a:solidFill>
                <a:latin typeface="Calibri"/>
                <a:ea typeface="Microsoft YaHei"/>
                <a:cs typeface="Microsoft YaHei"/>
              </a:rPr>
              <a:t>Vì sao hay lẫn: người học đã quen dạng trùng điệp AABB của TÍNH TỪ (高高兴兴), nên áp nhầm sang ĐỘNG TỪ song âm tiết — quy tắc 2 loại từ khác nhau.</a:t>
            </a:r>
          </a:p>
        </p:txBody>
      </p:sp>
      <p:pic>
        <p:nvPicPr>
          <p:cNvPr id="7" name="Picture 6" descr="error3.jpg"/>
          <p:cNvPicPr>
            <a:picLocks noChangeAspect="1"/>
          </p:cNvPicPr>
          <p:nvPr/>
        </p:nvPicPr>
        <p:blipFill>
          <a:blip r:embed="rId2"/>
          <a:stretch>
            <a:fillRect/>
          </a:stretch>
        </p:blipFill>
        <p:spPr>
          <a:xfrm>
            <a:off x="7436815" y="2168144"/>
            <a:ext cx="4206240" cy="420624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1094415" cy="2103120"/>
          </a:xfrm>
          <a:prstGeom prst="rect">
            <a:avLst/>
          </a:prstGeom>
          <a:noFill/>
        </p:spPr>
        <p:txBody>
          <a:bodyPr wrap="square" anchor="ctr">
            <a:spAutoFit/>
          </a:bodyPr>
          <a:lstStyle/>
          <a:p>
            <a:pPr algn="ctr">
              <a:buNone/>
            </a:pPr>
            <a:r>
              <a:rPr sz="3600" b="1" i="0">
                <a:solidFill>
                  <a:srgbClr val="8E2B20"/>
                </a:solidFill>
                <a:latin typeface="Calibri"/>
                <a:ea typeface="Microsoft YaHei"/>
                <a:cs typeface="Microsoft YaHei"/>
              </a:rPr>
              <a:t>谢谢！</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