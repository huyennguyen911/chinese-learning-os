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26.mp3" ContentType="audio/mpeg"/>
  <Override PartName="/ppt/media/media27.mp3" ContentType="audio/mpeg"/>
  <Override PartName="/ppt/media/media28.mp3" ContentType="audio/mpeg"/>
  <Override PartName="/ppt/media/media29.mp3" ContentType="audio/mpeg"/>
  <Override PartName="/ppt/media/media3.mp3" ContentType="audio/mpeg"/>
  <Override PartName="/ppt/media/media30.mp3" ContentType="audio/mpeg"/>
  <Override PartName="/ppt/media/media31.mp3" ContentType="audio/mpeg"/>
  <Override PartName="/ppt/media/media32.mp3" ContentType="audio/mpeg"/>
  <Override PartName="/ppt/media/media33.mp3" ContentType="audio/mpeg"/>
  <Override PartName="/ppt/media/media34.mp3" ContentType="audio/mpeg"/>
  <Override PartName="/ppt/media/media35.mp3" ContentType="audio/mpeg"/>
  <Override PartName="/ppt/media/media36.mp3" ContentType="audio/mpeg"/>
  <Override PartName="/ppt/media/media37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3"/><Relationship Id="rId3" Type="http://schemas.openxmlformats.org/officeDocument/2006/relationships/video" Target="../media/media3.mp3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9.mp3"/><Relationship Id="rId4" Type="http://schemas.openxmlformats.org/officeDocument/2006/relationships/video" Target="../media/media9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microsoft.com/office/2007/relationships/media" Target="../media/media11.mp3"/><Relationship Id="rId5" Type="http://schemas.openxmlformats.org/officeDocument/2006/relationships/video" Target="../media/media11.mp3"/><Relationship Id="rId6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microsoft.com/office/2007/relationships/media" Target="../media/media12.mp3"/><Relationship Id="rId5" Type="http://schemas.openxmlformats.org/officeDocument/2006/relationships/video" Target="../media/media12.mp3"/><Relationship Id="rId6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microsoft.com/office/2007/relationships/media" Target="../media/media13.mp3"/><Relationship Id="rId5" Type="http://schemas.openxmlformats.org/officeDocument/2006/relationships/video" Target="../media/media13.mp3"/><Relationship Id="rId6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microsoft.com/office/2007/relationships/media" Target="../media/media15.mp3"/><Relationship Id="rId5" Type="http://schemas.openxmlformats.org/officeDocument/2006/relationships/video" Target="../media/media15.mp3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microsoft.com/office/2007/relationships/media" Target="../media/media16.mp3"/><Relationship Id="rId5" Type="http://schemas.openxmlformats.org/officeDocument/2006/relationships/video" Target="../media/media16.mp3"/><Relationship Id="rId6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microsoft.com/office/2007/relationships/media" Target="../media/media17.mp3"/><Relationship Id="rId5" Type="http://schemas.openxmlformats.org/officeDocument/2006/relationships/video" Target="../media/media17.mp3"/><Relationship Id="rId6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microsoft.com/office/2007/relationships/media" Target="../media/media18.mp3"/><Relationship Id="rId5" Type="http://schemas.openxmlformats.org/officeDocument/2006/relationships/video" Target="../media/media18.mp3"/><Relationship Id="rId6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microsoft.com/office/2007/relationships/media" Target="../media/media19.mp3"/><Relationship Id="rId5" Type="http://schemas.openxmlformats.org/officeDocument/2006/relationships/video" Target="../media/media19.mp3"/><Relationship Id="rId6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microsoft.com/office/2007/relationships/media" Target="../media/media20.mp3"/><Relationship Id="rId5" Type="http://schemas.openxmlformats.org/officeDocument/2006/relationships/video" Target="../media/media20.mp3"/><Relationship Id="rId6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microsoft.com/office/2007/relationships/media" Target="../media/media21.mp3"/><Relationship Id="rId5" Type="http://schemas.openxmlformats.org/officeDocument/2006/relationships/video" Target="../media/media21.mp3"/><Relationship Id="rId6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microsoft.com/office/2007/relationships/media" Target="../media/media23.mp3"/><Relationship Id="rId5" Type="http://schemas.openxmlformats.org/officeDocument/2006/relationships/video" Target="../media/media23.mp3"/><Relationship Id="rId6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microsoft.com/office/2007/relationships/media" Target="../media/media24.mp3"/><Relationship Id="rId5" Type="http://schemas.openxmlformats.org/officeDocument/2006/relationships/video" Target="../media/media24.mp3"/><Relationship Id="rId6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microsoft.com/office/2007/relationships/media" Target="../media/media25.mp3"/><Relationship Id="rId5" Type="http://schemas.openxmlformats.org/officeDocument/2006/relationships/video" Target="../media/media25.mp3"/><Relationship Id="rId6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microsoft.com/office/2007/relationships/media" Target="../media/media26.mp3"/><Relationship Id="rId5" Type="http://schemas.openxmlformats.org/officeDocument/2006/relationships/video" Target="../media/media26.mp3"/><Relationship Id="rId6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microsoft.com/office/2007/relationships/media" Target="../media/media27.mp3"/><Relationship Id="rId5" Type="http://schemas.openxmlformats.org/officeDocument/2006/relationships/video" Target="../media/media27.mp3"/><Relationship Id="rId6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microsoft.com/office/2007/relationships/media" Target="../media/media28.mp3"/><Relationship Id="rId4" Type="http://schemas.openxmlformats.org/officeDocument/2006/relationships/video" Target="../media/media28.mp3"/><Relationship Id="rId5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29.mp3"/><Relationship Id="rId4" Type="http://schemas.openxmlformats.org/officeDocument/2006/relationships/video" Target="../media/media29.mp3"/><Relationship Id="rId5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microsoft.com/office/2007/relationships/media" Target="../media/media30.mp3"/><Relationship Id="rId4" Type="http://schemas.openxmlformats.org/officeDocument/2006/relationships/video" Target="../media/media30.mp3"/><Relationship Id="rId5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microsoft.com/office/2007/relationships/media" Target="../media/media31.mp3"/><Relationship Id="rId4" Type="http://schemas.openxmlformats.org/officeDocument/2006/relationships/video" Target="../media/media31.mp3"/><Relationship Id="rId5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microsoft.com/office/2007/relationships/media" Target="../media/media32.mp3"/><Relationship Id="rId4" Type="http://schemas.openxmlformats.org/officeDocument/2006/relationships/video" Target="../media/media32.mp3"/><Relationship Id="rId5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microsoft.com/office/2007/relationships/media" Target="../media/media33.mp3"/><Relationship Id="rId4" Type="http://schemas.openxmlformats.org/officeDocument/2006/relationships/video" Target="../media/media33.mp3"/><Relationship Id="rId5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microsoft.com/office/2007/relationships/media" Target="../media/media34.mp3"/><Relationship Id="rId4" Type="http://schemas.openxmlformats.org/officeDocument/2006/relationships/video" Target="../media/media34.mp3"/><Relationship Id="rId5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microsoft.com/office/2007/relationships/media" Target="../media/media35.mp3"/><Relationship Id="rId4" Type="http://schemas.openxmlformats.org/officeDocument/2006/relationships/video" Target="../media/media35.mp3"/><Relationship Id="rId5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microsoft.com/office/2007/relationships/media" Target="../media/media36.mp3"/><Relationship Id="rId4" Type="http://schemas.openxmlformats.org/officeDocument/2006/relationships/video" Target="../media/media36.mp3"/><Relationship Id="rId5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7.mp3"/><Relationship Id="rId3" Type="http://schemas.openxmlformats.org/officeDocument/2006/relationships/video" Target="../media/media37.mp3"/><Relationship Id="rId4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你穿红色的很好看</a:t>
            </a:r>
          </a:p>
          <a:p>
            <a:pPr algn="l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Nǐ chuān hóngsè de hěn hǎokàn — Cậu mặc đồ đỏ đẹp lắm</a:t>
            </a:r>
          </a:p>
        </p:txBody>
      </p:sp>
      <p:pic>
        <p:nvPicPr>
          <p:cNvPr id="4" name="Picture 3" descr="sho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43502"/>
            <a:ext cx="4480560" cy="2970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 — nói mình đã TỪNG làm gì (kinh nghiệm)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因为…所以… — nói lý do và kết quả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的字短语 — nói tắt, khỏi lặp lại danh từ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ngoài sách: 把字句 cơ bản — nói rõ đồ vật bị xử lý thế nào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đề: đi mua sắm — trang phục, màu sắc, cặp sách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更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gèng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càng, hơn nữa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我也觉得绿色的更好看。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yě juéde lǜsè de gèng hǎokàn.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Tôi cũng thấy màu xanh lá đẹp hơn.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这个更便宜，我们买这个吧。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Zhège gèng piányi, wǒmen mǎi zhège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Cái này rẻ hơn, ta mua cái này đi.</a:t>
            </a:r>
          </a:p>
        </p:txBody>
      </p:sp>
      <p:pic>
        <p:nvPicPr>
          <p:cNvPr id="8" name="slide0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过去</a:t>
            </a:r>
          </a:p>
        </p:txBody>
      </p:sp>
      <p:pic>
        <p:nvPicPr>
          <p:cNvPr id="6" name="Picture 5" descr="walking_forw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41" y="1611376"/>
            <a:ext cx="2073652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过去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guòqù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 qua, đi tới đó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我们过去看看吧。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guòqù kànkan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qua xem thử đi.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你自己过去吧，我在这儿等你。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zìjǐ guòqù ba, wǒ zài zhèr děng nǐ.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tự qua đó đi, tôi đợi bạn ở đây.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过 = 辶(chuò, bộ đi, liên quan DI CHUYỂN) → "đi qua, vượt qua" → 过去 = đi qua, quá khứ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part.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trợ từ động thái (đã từng)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我们来过这家商场吗？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láiguò zhè jiā shāngchǎng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đến trung tâm thương mại này rồi chưa?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你吃过北京烤鸭吗？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chīguò Běijīng kǎoyā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ăn vịt quay Bắc Kinh chưa?</a:t>
            </a:r>
          </a:p>
        </p:txBody>
      </p:sp>
      <p:pic>
        <p:nvPicPr>
          <p:cNvPr id="8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过 dùng sau động từ (V+过) → liên tưởng: 辶(đi) LƯỚT QUA một lần rồi thôi → "đã từng" (kinh nghiệm)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进去</a:t>
            </a:r>
          </a:p>
        </p:txBody>
      </p:sp>
      <p:pic>
        <p:nvPicPr>
          <p:cNvPr id="6" name="Picture 5" descr="door_op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07586"/>
            <a:ext cx="3108960" cy="2316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进去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jìnqù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đi vào (đó)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我们进去看看吧。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jìnqù kànkan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vào xem thử đi.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里边人太多了，我们别进去了。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Lǐbian rén tài duō le, wǒmen bié jìnqù le.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Bên trong đông người quá, chúng ta đừng vào nữa.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进 = 辶(chuò, đi) + 井(jǐng, giếng nước) → ĐI vòng quanh GIẾNG để tiến vào → "tiến, vào" → 进去 = đi vào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裤子</a:t>
            </a:r>
          </a:p>
        </p:txBody>
      </p:sp>
      <p:pic>
        <p:nvPicPr>
          <p:cNvPr id="6" name="Picture 5" descr="ku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978" y="1611376"/>
            <a:ext cx="1796978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裤子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kùzi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我想买条裤子。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xiǎng mǎi tiáo kùzi.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Con muốn mua một cái quần.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这条裤子有点儿长，能不能换小一点儿的？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 tiáo kùzi yǒudiǎnr cháng, néng bu néng huàn xiǎo yìdiǎnr de?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Cái quần này hơi dài, có thể đổi cái nhỏ hơn không?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裤 = 衤(yī, quần áo) → trang phục mặc phần dưới cơ thể → "quần"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商场</a:t>
            </a:r>
          </a:p>
        </p:txBody>
      </p:sp>
      <p:pic>
        <p:nvPicPr>
          <p:cNvPr id="6" name="Picture 5" descr="shangch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641" y="1611376"/>
            <a:ext cx="2073652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商场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shāngchǎng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trung tâm thương mại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我们来过这家商场吗？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láiguò zhè jiā shāngchǎng ma?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đến trung tâm thương mại này rồi chưa?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这个商场周末人特别多。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Zhège shāngchǎng zhōumò rén tèbié duō.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Trung tâm thương mại này cuối tuần rất đông người.</a:t>
            </a:r>
          </a:p>
        </p:txBody>
      </p:sp>
      <p:pic>
        <p:nvPicPr>
          <p:cNvPr id="9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场 = 土(tǔ, đất) + 勿(wù, cờ phất) → khoảng ĐẤT rộng cắm CỜ để họp chợ → "sân, chợ" → 商场 = trung tâm mua sắm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试</a:t>
            </a:r>
          </a:p>
        </p:txBody>
      </p:sp>
      <p:pic>
        <p:nvPicPr>
          <p:cNvPr id="6" name="Picture 5" descr="trying_cloth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999996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试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你试试那条红色的吧。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shìshi nà tiáo hóngsè de ba.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Con thử cái đỏ kia xem.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你可以先试穿，再决定买不买。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Nǐ kěyǐ xiān shìchuān, zài juédìng mǎi bu mǎi.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Bạn có thể mặc thử trước, rồi quyết định mua hay không.</a:t>
            </a:r>
          </a:p>
        </p:txBody>
      </p:sp>
      <p:pic>
        <p:nvPicPr>
          <p:cNvPr id="9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试 = 讠(yán, lời nói) + 式(shì, khuôn mẫu) → dùng LỜI theo đúng KHUÔN để kiểm tra → "thử, thi"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所以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所以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conj.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suǒyǐ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cho nên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就是因为没穿过，所以要试试啊！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Jiùshì yīnwèi méi chuānguò, suǒyǐ yào shìshi a!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Chính vì chưa mặc bao giờ nên mới phải thử chứ!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今天下雨，所以我们没去公园。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Jīntiān xiàyǔ, suǒyǐ wǒmen méi qù gōngyuán.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Hôm nay mưa nên chúng tôi không đi công viên.</a:t>
            </a:r>
          </a:p>
        </p:txBody>
      </p:sp>
      <p:pic>
        <p:nvPicPr>
          <p:cNvPr id="8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所 = 户(hù, cửa nhà) + 斤(jīn, cái rìu) → dùng RÌU chặt gỗ dựng NHÀ → "nơi chốn" → 所以 = vì vậy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40248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条</a:t>
            </a:r>
          </a:p>
        </p:txBody>
      </p:sp>
      <p:pic>
        <p:nvPicPr>
          <p:cNvPr id="6" name="Picture 5" descr="ku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978" y="1611376"/>
            <a:ext cx="1796978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57496"/>
            <a:ext cx="4659654" cy="1634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条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tiáo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cái, chiếc (lượng từ vật dài mảnh)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我想买条裤子。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xiǎng mǎi tiáo kùzi.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Con muốn mua một cái quần.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那条路很长，走过去要二十分钟。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Nà tiáo lù hěn cháng, zǒu guòqù yào èrshí fēnzhōng.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Con đường đó rất dài, đi bộ qua đó mất 20 phút.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条 = phần dưới là 木(mù, cây) → hình một CÀNH cây dài mảnh rủ xuống → lượng từ đếm vật DÀI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2083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因为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conj.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bởi vì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因为我喜欢白色啊！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Yīnwèi wǒ xǐhuān báisè a!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Vì con thích màu trắng mà!</a:t>
            </a:r>
          </a:p>
          <a:p>
            <a:pPr>
              <a:spcBef>
                <a:spcPts val="22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因为下雨，所以我没出门。</a:t>
            </a:r>
          </a:p>
          <a:p>
            <a:pPr>
              <a:spcBef>
                <a:spcPts val="200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Yīnwèi xiàyǔ, suǒyǐ wǒ méi chūmén.</a:t>
            </a:r>
          </a:p>
          <a:p>
            <a:pPr>
              <a:spcBef>
                <a:spcPts val="1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Vì trời mưa nên tôi không ra ngoài.</a:t>
            </a:r>
          </a:p>
        </p:txBody>
      </p:sp>
      <p:pic>
        <p:nvPicPr>
          <p:cNvPr id="8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因 = 囗(vây quanh) + 大(dà, người dang tay) → có NGƯỜI trong VÒNG vây làm ra chuyện → "nguyên nhân" → 因为 = bởi vì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生词拓展 · 购物进阶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1-2/7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尺码 · 合适</a:t>
            </a:r>
          </a:p>
        </p:txBody>
      </p:sp>
      <p:pic>
        <p:nvPicPr>
          <p:cNvPr id="6" name="Picture 5" descr="chim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851406"/>
            <a:ext cx="1920240" cy="1440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尺码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chǐmǎ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cỡ,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您穿多大尺码？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Nín chuān duōdà chǐmǎ?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Anh/chị mặc size bao nhiêu?</a:t>
            </a:r>
          </a:p>
        </p:txBody>
      </p:sp>
      <p:pic>
        <p:nvPicPr>
          <p:cNvPr id="9" name="Picture 8" descr="he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2169" y="1611376"/>
            <a:ext cx="1268881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合适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héshì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vừa vặn, phù hợp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这条裤子的大小很合适。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tiáo kùzi de dàxiǎo hěn héshì.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quần này kích cỡ vừa vặn lắm.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尺 = 尸(thân người) + 乚 → đo theo CHIỀU DÀI cơ thể → "thước, cỡ" → 尺码 = size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合 = 亼(gộp lại) + 口(kǒu, miệng) → NẮP đậy khớp đúng miệng bình → "hợp, khớp" → 合适 = vừa vặn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3-4/7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深色 · 浅色</a:t>
            </a:r>
          </a:p>
        </p:txBody>
      </p:sp>
      <p:pic>
        <p:nvPicPr>
          <p:cNvPr id="6" name="Picture 5" descr="shen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977047"/>
            <a:ext cx="1920240" cy="11888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深色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shēnsè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màu đậm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我不喜欢深色的衣服。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bù xǐhuān shēnsè de yīfú.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không thích đồ màu đậm.</a:t>
            </a:r>
          </a:p>
        </p:txBody>
      </p:sp>
      <p:pic>
        <p:nvPicPr>
          <p:cNvPr id="9" name="Picture 8" descr="qian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30388"/>
            <a:ext cx="1920240" cy="18822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浅色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qiǎnsè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màu nhạt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浅色比较适合夏天。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Qiǎnsè bǐjiào shìhé xiàtiān.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Màu nhạt hợp mùa hè hơn.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深 = 氵(shuǐ, nước) + 罙(sâu thẳm) → NƯỚC ở nơi sâu thẳm → "sâu" → 深色 = màu đậm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浅 = 氵(shuǐ, nước) → nước NÔNG, không sâu → "nhạt, cạn" → 浅色 = màu nhạt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5-6/7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打折 · 换</a:t>
            </a:r>
          </a:p>
        </p:txBody>
      </p:sp>
      <p:pic>
        <p:nvPicPr>
          <p:cNvPr id="6" name="Picture 5" descr="daz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931103"/>
            <a:ext cx="1920240" cy="12807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打折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dǎzhé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giảm giá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这件衣服打折吗？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jiàn yīfú dǎzhé ma?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Áo này có giảm giá không?</a:t>
            </a:r>
          </a:p>
        </p:txBody>
      </p:sp>
      <p:pic>
        <p:nvPicPr>
          <p:cNvPr id="9" name="Picture 8" descr="exchan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849531"/>
            <a:ext cx="1920240" cy="14439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换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huàn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đổi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可以换一件吗？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Kěyǐ huàn yí jiàn ma?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Đổi cái khác được không?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折 = 扌(shǒu, tay) + 斤(jīn, cái rìu) → dùng TAY và RÌU bẻ gãy → "gãy, giảm" → 打折 = giảm giá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换 = 扌(shǒu, tay) → dùng TAY đổi lấy vật khác → "đổi"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7/7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试衣间</a:t>
            </a:r>
          </a:p>
        </p:txBody>
      </p:sp>
      <p:pic>
        <p:nvPicPr>
          <p:cNvPr id="6" name="Picture 5" descr="trying_cloth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7" y="1851406"/>
            <a:ext cx="1920240" cy="1440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110944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试衣间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shìyījiān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thử đồ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11094415" cy="1662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试衣间在那边，您可以试试。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Shìyījiān zài nàbiān, nín kěyǐ shìshi.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Phòng thử đồ ở đằng kia, anh/chị thử xem.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试衣间 = 试(thử) + 衣(áo) + 间(phòng) → phòng để THỬ ÁO trước khi mua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生词拓展 · 服装种类与风格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1-2/10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睡衣 · 休闲</a:t>
            </a:r>
          </a:p>
        </p:txBody>
      </p:sp>
      <p:pic>
        <p:nvPicPr>
          <p:cNvPr id="6" name="Picture 5" descr="shuiy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752019"/>
            <a:ext cx="1920240" cy="16389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睡衣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shuìyī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 ngủ, pyjama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我睡觉的时候喜欢穿睡衣。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shuìjiào de shíhou xǐhuān chuān shuìyī.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ngủ tôi thích mặc đồ ngủ.</a:t>
            </a:r>
          </a:p>
        </p:txBody>
      </p:sp>
      <p:pic>
        <p:nvPicPr>
          <p:cNvPr id="9" name="Picture 8" descr="xiuxi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851406"/>
            <a:ext cx="1920240" cy="1440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休闲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xiūxián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thường ngày, thoải mái (casual)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周末我喜欢穿得休闲一点儿。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Zhōumò wǒ xǐhuān chuān de xiūxián yìdiǎnr.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Cuối tuần tôi thích ăn mặc thường ngày một chút.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睡 = 目(mù, mắt) + phần dưới như mí mắt RỦ xuống → "ngủ" → 睡衣 = đồ ngủ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休 = 亻(rén, người) + 木(mù, cây) → NGƯỜI dựa vào CÂY để nghỉ → "nghỉ ngơi" → 休闲 = thư giãn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3-4/10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正式 · 西装</a:t>
            </a:r>
          </a:p>
        </p:txBody>
      </p:sp>
      <p:pic>
        <p:nvPicPr>
          <p:cNvPr id="6" name="Picture 5" descr="zheng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932056"/>
            <a:ext cx="1920240" cy="12788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正式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zhèngshì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trang trọng, chính thức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这是正式场合，你得穿正式一点儿。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shì zhèngshì chǎnghé, nǐ děi chuān zhèngshì yìdiǎnr.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dịp trang trọng, bạn phải ăn mặc trang trọng một chút.</a:t>
            </a:r>
          </a:p>
        </p:txBody>
      </p:sp>
      <p:pic>
        <p:nvPicPr>
          <p:cNvPr id="9" name="Picture 8" descr="xizhua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942355"/>
            <a:ext cx="1920240" cy="12582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西装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xīzhuāng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vest, âu phục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面试的时候要穿西装。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Miànshì de shíhou yào chuān xīzhuāng.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Lúc phỏng vấn phải mặc vest.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正 = 一(một đích) + 止(zhǐ, dừng chân) → dừng chân ĐÚNG một đích duy nhất → "ngay thẳng, chính thức"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西 vốn là hình tổ CHIM lúc mặt trời lặn hướng tây → "phương tây" → 西装 = âu phục kiểu Tây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5-6/10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衬衫 · T恤</a:t>
            </a:r>
          </a:p>
        </p:txBody>
      </p:sp>
      <p:pic>
        <p:nvPicPr>
          <p:cNvPr id="6" name="Picture 5" descr="chensh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807338"/>
            <a:ext cx="1920240" cy="15283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衬衫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chènshān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áo sơ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他穿着一件白衬衫。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chuānzhe yí jiàn bái chènshān.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đang mặc áo sơ mi trắng.</a:t>
            </a:r>
          </a:p>
        </p:txBody>
      </p:sp>
      <p:pic>
        <p:nvPicPr>
          <p:cNvPr id="9" name="Picture 8" descr="tshi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11376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T恤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T-xù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áo thun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夏天我喜欢穿T恤。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Xiàtiān wǒ xǐhuān chuān T-xù.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Mùa hè tôi thích mặc áo thun.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衬 = 衤(yī, quần áo) → mảnh VẢI lót bên trong → "áo lót, sơ mi" → 衬衫 = áo sơ mi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T恤 = phiên âm từ tiếng Anh "T-shirt" — chữ 恤 chỉ dùng để ghi lại cách ĐỌC, không liên quan nghĩa gốc "thương xót"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9434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7-8/10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外套 · 配饰</a:t>
            </a:r>
          </a:p>
        </p:txBody>
      </p:sp>
      <p:pic>
        <p:nvPicPr>
          <p:cNvPr id="6" name="Picture 5" descr="wear_jac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628" y="1611376"/>
            <a:ext cx="1278909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外套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wàitào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áo khoác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天太热了，把外套脱下来吧。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 tài rè le, bǎ wàitào tuō xiàlái ba.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nóng quá, cởi áo khoác ra đi.</a:t>
            </a:r>
          </a:p>
        </p:txBody>
      </p:sp>
      <p:pic>
        <p:nvPicPr>
          <p:cNvPr id="9" name="Picture 8" descr="pei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520" y="1611376"/>
            <a:ext cx="144018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配饰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pèishì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phụ kiện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这个配饰跟你的衣服很配。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Zhège pèishì gēn nǐ de yīfú hěn pèi.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Phụ kiện này rất hợp với quần áo của bạn.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套 = 大(to lớn) + 镸(dài lâu) → vật TO bao trùm bên ngoài → "bộ, áo khoác" → 外套 = áo khoác ngoài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配 = 酉(yǒu, rượu/bình) → pha, PHỐI đúng tỷ lệ → "phối hợp" → 配饰 = phụ kiện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21268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9-10/10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时尚 · 过时</a:t>
            </a:r>
          </a:p>
        </p:txBody>
      </p:sp>
      <p:pic>
        <p:nvPicPr>
          <p:cNvPr id="6" name="Picture 5" descr="shish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933916"/>
            <a:ext cx="1920240" cy="12751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时尚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adj./n.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shíshàng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thời trang, hợp mốt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你今天穿得很时尚。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jīntiān chuān de hěn shíshàng.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bạn mặc rất thời trang.</a:t>
            </a:r>
          </a:p>
        </p:txBody>
      </p:sp>
      <p:pic>
        <p:nvPicPr>
          <p:cNvPr id="9" name="Picture 8" descr="guoshi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971421"/>
            <a:ext cx="1920240" cy="1200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过时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guòshí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lỗi mốt, lạc hậu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这件衣服有点儿过时了。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jiàn yīfú yǒudiǎnr guòshí le.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này hơi lỗi mốt rồi.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3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时 = 日(rì, mặt trời) + 寸(cùn, đo lường) → đo THỜI GIAN theo bóng mặt trời → "thời" → 时尚 = thời trang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过 = 辶(chuò, đi) → đã ĐI/trôi qua → 过时 = lỗi thời (đã qua thời)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生词拓展 · 服装种类 (2)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1-2/5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背心 · 泳衣</a:t>
            </a:r>
          </a:p>
        </p:txBody>
      </p:sp>
      <p:pic>
        <p:nvPicPr>
          <p:cNvPr id="6" name="Picture 5" descr="beixin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993" y="1611376"/>
            <a:ext cx="144018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背心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bèixīn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áo ba lỗ, áo gile không tay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夏天运动的时候我喜欢穿背心。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Xiàtiān yùndòng de shíhou wǒ xǐhuān chuān bèixīn.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Mùa hè lúc tập thể thao tôi thích mặc áo ba lỗ.</a:t>
            </a:r>
          </a:p>
        </p:txBody>
      </p:sp>
      <p:pic>
        <p:nvPicPr>
          <p:cNvPr id="9" name="Picture 8" descr="yongy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611376"/>
            <a:ext cx="192024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泳衣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yǒngyī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 bơi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去海边要带泳衣。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Qù hǎibiān yào dài yǒngyī.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Đi biển phải mang đồ bơi.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背 = 北(běi, quay lưng) + phần thân thể → phần THÂN quay lưng lại → "lưng, cõng" → 背心 = áo ba lỗ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泳 = 氵(shuǐ, nước) + 永(yǒng, dòng chảy dài) → bơi theo DÒNG nước dài → "bơi" → 泳衣 = đồ bơi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3-4/5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运动鞋 · 制服</a:t>
            </a:r>
          </a:p>
        </p:txBody>
      </p:sp>
      <p:pic>
        <p:nvPicPr>
          <p:cNvPr id="6" name="Picture 5" descr="yundongx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700" y="1611376"/>
            <a:ext cx="1148765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运动鞋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yùndòngxié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giày thể thao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我今天穿运动鞋去上班。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jīntiān chuān yùndòngxié qù shàngbān.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tôi đi giày thể thao đi làm.</a:t>
            </a:r>
          </a:p>
        </p:txBody>
      </p:sp>
      <p:pic>
        <p:nvPicPr>
          <p:cNvPr id="9" name="Picture 8" descr="zhif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879" y="1611376"/>
            <a:ext cx="699462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制服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zhìfú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đồng phục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他工作的地方要穿制服。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gōngzuò de dìfang yào chuān zhìfú.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Chỗ anh ấy làm việc phải mặc đồng phục.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鞋 = 革(da thuộc) → làm từ DA để đi → "giày" → 运动鞋 = giày thể thao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制 = 巾(jīn, vải) + 刂(dāo, dao) → dùng DAO cắt VẢI theo khuôn → "chế tạo, quy định" → 制服 = đồng phục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内衣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内衣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nèiyī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đồ lót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00096"/>
            <a:ext cx="11094415" cy="369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内衣要经常换洗。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Nèiyī yào jīngcháng huànxǐ.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Đồ lót phải thường xuyên thay giặt.</a:t>
            </a:r>
          </a:p>
        </p:txBody>
      </p:sp>
      <p:pic>
        <p:nvPicPr>
          <p:cNvPr id="8" name="slide2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内 = 冂(bao ngoài) + 人(rén, người) → NGƯỜI ở BÊN TRONG lớp bao ngoài → "bên trong" → 内衣 = đồ lót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生词拓展 · 面料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1-2/4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棉 · 牛仔</a:t>
            </a:r>
          </a:p>
        </p:txBody>
      </p:sp>
      <p:pic>
        <p:nvPicPr>
          <p:cNvPr id="6" name="Picture 5" descr="m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993" y="1611376"/>
            <a:ext cx="144018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棉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mián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vải bông, cotton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这件T恤是棉的，很舒服。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jiàn T-xù shì mián de, hěn shūfu.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thun này là vải cotton, rất thoải mái.</a:t>
            </a:r>
          </a:p>
        </p:txBody>
      </p:sp>
      <p:pic>
        <p:nvPicPr>
          <p:cNvPr id="9" name="Picture 8" descr="niuza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1932979"/>
            <a:ext cx="1920240" cy="12770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牛仔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niúzǎi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denim, bò (牛仔裤 = quần jean)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这条牛仔裤很合适。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tiáo niúzǎikù hěn héshì.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quần jean này vừa vặn lắm.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棉 = 木(cây) + 帛(vải lụa) → CÂY cho ra sợi dệt VẢI → "bông, cotton"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牛 vốn là hình cái ĐẦU TRÂU BÒ nhìn từ trước (có 2 sừng) → "trâu, bò" → 牛仔 = denim, jean (vải bò)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3-4/4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丝绸 · 羊毛</a:t>
            </a:r>
          </a:p>
        </p:txBody>
      </p:sp>
      <p:pic>
        <p:nvPicPr>
          <p:cNvPr id="6" name="Picture 5" descr="sich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851406"/>
            <a:ext cx="1920240" cy="1440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丝绸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sīchóu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lụa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这条丝绸的裙子很漂亮。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tiáo sīchóu de qúnzi hěn piàoliang.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váy lụa này rất đẹp.</a:t>
            </a:r>
          </a:p>
        </p:txBody>
      </p:sp>
      <p:pic>
        <p:nvPicPr>
          <p:cNvPr id="9" name="Picture 8" descr="yangma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520" y="1611376"/>
            <a:ext cx="144018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羊毛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yángmáo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冬天我喜欢穿羊毛衣服。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Dōngtiān wǒ xǐhuān chuān yángmáo yīfú.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Mùa đông tôi thích mặc đồ len.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绸 = 纟(tơ lụa) → sợi TƠ dệt khắp thành tấm → "lụa" → 丝绸 = tơ lụa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羊 vốn là hình cái ĐẦU CON DÊ/CỪU có sừng cong → "dê, cừu" → 羊毛 = len (lông cừu)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生词拓展 · 风格与潮流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1-2/6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经典 · 独特</a:t>
            </a:r>
          </a:p>
        </p:txBody>
      </p:sp>
      <p:pic>
        <p:nvPicPr>
          <p:cNvPr id="6" name="Picture 5" descr="jingdian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218" y="1611376"/>
            <a:ext cx="143973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经典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jīngdiǎn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cổ điển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黑色西装是很经典的选择。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Hēisè xīzhuāng shì hěn jīngdiǎn de xuǎnzé.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Vest đen là lựa chọn rất cổ điển.</a:t>
            </a:r>
          </a:p>
        </p:txBody>
      </p:sp>
      <p:pic>
        <p:nvPicPr>
          <p:cNvPr id="9" name="Picture 8" descr="du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514" y="1611376"/>
            <a:ext cx="1536192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独特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dútè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độc đáo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她的穿衣风格很独特。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de chuānyī fēnggé hěn dútè.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Phong cách ăn mặc của cô ấy rất độc đáo.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典 = 曲(sách cuộn) + 八(hai tay nâng) → SÁCH quý được hai tay NÂNG giữ → "kinh điển, sách mẫu" → 经典 = kinh điển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独 = 犭(quǎn, chó/thú) + 虫(chóng, một con vật) → xưa chỉ MỘT con thú ở riêng lẻ → "đơn độc, độc đáo"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3-4/6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迷人 · 流行</a:t>
            </a:r>
          </a:p>
        </p:txBody>
      </p:sp>
      <p:pic>
        <p:nvPicPr>
          <p:cNvPr id="6" name="Picture 5" descr="mir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63" y="1970735"/>
            <a:ext cx="1920239" cy="12015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迷人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mírén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cuốn hút, mê hoặc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你今天穿得很迷人。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jīntiān chuān de hěn mírén.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Hôm nay bạn mặc rất cuốn hút.</a:t>
            </a:r>
          </a:p>
        </p:txBody>
      </p:sp>
      <p:pic>
        <p:nvPicPr>
          <p:cNvPr id="9" name="Picture 8" descr="liux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161" y="1611376"/>
            <a:ext cx="1884898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流行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adj./v.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liúxíng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thịnh hành, phổ biến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这种颜色现在很流行。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zhǒng yánsè xiànzài hěn liúxíng.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Màu này bây giờ đang rất thịnh hành.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3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迷 = 辶(chuò, đi) → ĐI lạc, không tìm ra lối → "mê, lạc" → 迷人 = quyến rũ (khiến người ta mê)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流 = 氵(nước) → chảy TRÔI lan khắp nơi → "trôi chảy" → 流行 = thịnh hành, lan rộng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75998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5-6/6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有品味 · 百搭</a:t>
            </a:r>
          </a:p>
        </p:txBody>
      </p:sp>
      <p:pic>
        <p:nvPicPr>
          <p:cNvPr id="6" name="Picture 5" descr="youpinwe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003" y="1611376"/>
            <a:ext cx="128016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有品味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phr.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 pǐnwèi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có gu, sành điệu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他穿衣服很有品味。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 chuān yīfú hěn yǒu pǐnwèi.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Anh ấy ăn mặc rất có gu.</a:t>
            </a:r>
          </a:p>
        </p:txBody>
      </p:sp>
      <p:pic>
        <p:nvPicPr>
          <p:cNvPr id="9" name="Picture 8" descr="bai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490" y="2032103"/>
            <a:ext cx="1920239" cy="10787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641344"/>
            <a:ext cx="5272887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4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百搭</a:t>
            </a:r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bǎidā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dễ phối đồ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4830064"/>
            <a:ext cx="5272887" cy="1442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3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 algn="ctr">
              <a:spcBef>
                <a:spcPts val="600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白色很百搭。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Báisè hěn bǎidā.</a:t>
            </a:r>
          </a:p>
          <a:p>
            <a:pPr algn="ctr">
              <a:spcBef>
                <a:spcPts val="2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Màu trắng rất dễ phối đồ.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66140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品 = ba chữ 口(kǒu, miệng) chồng lên nhau → nhiều MIỆNG cùng NẾM, bàn luận → "phẩm chất" → 有品味 = có gu</a:t>
            </a:r>
          </a:p>
          <a:p>
            <a:pPr>
              <a:spcBef>
                <a:spcPts val="200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百 = 一(một) + 白(trắng, rõ ràng) → con số TRÒN đầy đủ → "trăm" → 百搭 = phối được với trăm kiểu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逛商场 — Đi dạo trung tâm thương mại</a:t>
            </a:r>
          </a:p>
        </p:txBody>
      </p:sp>
      <p:pic>
        <p:nvPicPr>
          <p:cNvPr id="6" name="Picture 5" descr="mall_entr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1084"/>
            <a:ext cx="384048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2050288"/>
            <a:ext cx="3607435" cy="63932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妈妈，我们来过这家商场吗？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wǒmen láiguò zhè jiā shāngchǎng ma?</a:t>
            </a:r>
          </a:p>
        </p:txBody>
      </p:sp>
      <p:sp>
        <p:nvSpPr>
          <p:cNvPr id="8" name="Oval 7"/>
          <p:cNvSpPr/>
          <p:nvPr/>
        </p:nvSpPr>
        <p:spPr>
          <a:xfrm>
            <a:off x="4588400" y="1939301"/>
            <a:ext cx="396380" cy="39638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36765" y="2782603"/>
            <a:ext cx="4606290" cy="63932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没来过，这是新开的。我们进去看看吧。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láiguò, zhè shì xīn kāi de. Wǒmen jìnqù kànkan ba.</a:t>
            </a:r>
          </a:p>
        </p:txBody>
      </p:sp>
      <p:sp>
        <p:nvSpPr>
          <p:cNvPr id="10" name="Oval 9"/>
          <p:cNvSpPr/>
          <p:nvPr/>
        </p:nvSpPr>
        <p:spPr>
          <a:xfrm>
            <a:off x="11413154" y="2671616"/>
            <a:ext cx="396380" cy="39638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514918"/>
            <a:ext cx="1737360" cy="63932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a!</a:t>
            </a:r>
          </a:p>
        </p:txBody>
      </p:sp>
      <p:sp>
        <p:nvSpPr>
          <p:cNvPr id="12" name="Oval 11"/>
          <p:cNvSpPr/>
          <p:nvPr/>
        </p:nvSpPr>
        <p:spPr>
          <a:xfrm>
            <a:off x="4588400" y="3403931"/>
            <a:ext cx="396380" cy="39638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8145" y="4247233"/>
            <a:ext cx="2454910" cy="63932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你想买点儿什么？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xiǎng mǎi diǎnr shénme?</a:t>
            </a:r>
          </a:p>
        </p:txBody>
      </p:sp>
      <p:sp>
        <p:nvSpPr>
          <p:cNvPr id="14" name="Oval 13"/>
          <p:cNvSpPr/>
          <p:nvPr/>
        </p:nvSpPr>
        <p:spPr>
          <a:xfrm>
            <a:off x="11413154" y="4136246"/>
            <a:ext cx="396380" cy="39638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979548"/>
            <a:ext cx="2224405" cy="63932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我想买条裤子。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xiǎng mǎi tiáo kùzi.</a:t>
            </a:r>
          </a:p>
        </p:txBody>
      </p:sp>
      <p:sp>
        <p:nvSpPr>
          <p:cNvPr id="16" name="Oval 15"/>
          <p:cNvSpPr/>
          <p:nvPr/>
        </p:nvSpPr>
        <p:spPr>
          <a:xfrm>
            <a:off x="4588400" y="4868561"/>
            <a:ext cx="396380" cy="39638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5695" y="5711863"/>
            <a:ext cx="1737360" cy="63932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没问题。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Méi wèntí.</a:t>
            </a:r>
          </a:p>
        </p:txBody>
      </p:sp>
      <p:sp>
        <p:nvSpPr>
          <p:cNvPr id="18" name="Oval 17"/>
          <p:cNvSpPr/>
          <p:nvPr/>
        </p:nvSpPr>
        <p:spPr>
          <a:xfrm>
            <a:off x="11413154" y="5600876"/>
            <a:ext cx="396380" cy="39638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9" name="slide3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试穿颜色 — Thử màu quần áo</a:t>
            </a:r>
          </a:p>
        </p:txBody>
      </p:sp>
      <p:pic>
        <p:nvPicPr>
          <p:cNvPr id="6" name="Picture 5" descr="trying_cloth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11628"/>
            <a:ext cx="384048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3300095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妈妈，我想买这条白色的。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wǒ xiǎng mǎi zhè tiáo báisè de.</a:t>
            </a:r>
          </a:p>
        </p:txBody>
      </p:sp>
      <p:sp>
        <p:nvSpPr>
          <p:cNvPr id="8" name="Oval 7"/>
          <p:cNvSpPr/>
          <p:nvPr/>
        </p:nvSpPr>
        <p:spPr>
          <a:xfrm>
            <a:off x="4596628" y="1505875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6260" y="2307497"/>
            <a:ext cx="4836795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你有很多白色的衣服，为什么还买白色的？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yǒu hěn duō báisè de yīfú, wèishénme hái mǎi báisè de?</a:t>
            </a:r>
          </a:p>
        </p:txBody>
      </p:sp>
      <p:sp>
        <p:nvSpPr>
          <p:cNvPr id="10" name="Oval 9"/>
          <p:cNvSpPr/>
          <p:nvPr/>
        </p:nvSpPr>
        <p:spPr>
          <a:xfrm>
            <a:off x="11424517" y="2201996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003618"/>
            <a:ext cx="2378075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因为我喜欢白色啊！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 wǒ xǐhuān báisè a!</a:t>
            </a:r>
          </a:p>
        </p:txBody>
      </p:sp>
      <p:sp>
        <p:nvSpPr>
          <p:cNvPr id="12" name="Oval 11"/>
          <p:cNvSpPr/>
          <p:nvPr/>
        </p:nvSpPr>
        <p:spPr>
          <a:xfrm>
            <a:off x="4596628" y="2898117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6900" y="3699739"/>
            <a:ext cx="6066155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我觉得这条白色的不太好看，你试试那条红色的吧。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juéde zhè tiáo báisè de bú tài hǎokàn, nǐ shìshi nà tiáo hóngsè de ba.</a:t>
            </a:r>
          </a:p>
        </p:txBody>
      </p:sp>
      <p:sp>
        <p:nvSpPr>
          <p:cNvPr id="14" name="Oval 13"/>
          <p:cNvSpPr/>
          <p:nvPr/>
        </p:nvSpPr>
        <p:spPr>
          <a:xfrm>
            <a:off x="11424517" y="3594238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395860"/>
            <a:ext cx="4068445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我没穿过红色的，红色的好看吗？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 chuānguò hóngsè de, hóngsè de hǎokàn ma?</a:t>
            </a:r>
          </a:p>
        </p:txBody>
      </p:sp>
      <p:sp>
        <p:nvSpPr>
          <p:cNvPr id="16" name="Oval 15"/>
          <p:cNvSpPr/>
          <p:nvPr/>
        </p:nvSpPr>
        <p:spPr>
          <a:xfrm>
            <a:off x="4596628" y="4290359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4610" y="5091981"/>
            <a:ext cx="4068445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就是因为没穿过，所以要试试啊！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Jiùshì yīnwèi méi chuānguò, suǒyǐ yào shìshi a!</a:t>
            </a:r>
          </a:p>
        </p:txBody>
      </p:sp>
      <p:sp>
        <p:nvSpPr>
          <p:cNvPr id="18" name="Oval 17"/>
          <p:cNvSpPr/>
          <p:nvPr/>
        </p:nvSpPr>
        <p:spPr>
          <a:xfrm>
            <a:off x="11424517" y="4986480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9" name="slide3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买书包 — Mua cặp sách</a:t>
            </a:r>
          </a:p>
        </p:txBody>
      </p:sp>
      <p:pic>
        <p:nvPicPr>
          <p:cNvPr id="6" name="Picture 5" descr="backpac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56" y="1611376"/>
            <a:ext cx="3660647" cy="48808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0" y="1611376"/>
            <a:ext cx="2992755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妈妈，我想买个新书包。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Māma, wǒ xiǎng mǎi gè xīn shūbāo.</a:t>
            </a:r>
          </a:p>
        </p:txBody>
      </p:sp>
      <p:sp>
        <p:nvSpPr>
          <p:cNvPr id="8" name="Oval 7"/>
          <p:cNvSpPr/>
          <p:nvPr/>
        </p:nvSpPr>
        <p:spPr>
          <a:xfrm>
            <a:off x="4596628" y="1505875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1445" y="2307497"/>
            <a:ext cx="3991610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好，那边卖书包，我们过去看看吧。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nàbiān mài shūbāo, wǒmen guòqù kànkan ba.</a:t>
            </a:r>
          </a:p>
        </p:txBody>
      </p:sp>
      <p:sp>
        <p:nvSpPr>
          <p:cNvPr id="10" name="Oval 9"/>
          <p:cNvSpPr/>
          <p:nvPr/>
        </p:nvSpPr>
        <p:spPr>
          <a:xfrm>
            <a:off x="11424517" y="2201996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003618"/>
            <a:ext cx="2762250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这么多漂亮的书包！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Zhème duō piàoliang de shūbāo!</a:t>
            </a:r>
          </a:p>
        </p:txBody>
      </p:sp>
      <p:sp>
        <p:nvSpPr>
          <p:cNvPr id="12" name="Oval 11"/>
          <p:cNvSpPr/>
          <p:nvPr/>
        </p:nvSpPr>
        <p:spPr>
          <a:xfrm>
            <a:off x="4596628" y="2898117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7775" y="3699739"/>
            <a:ext cx="4145280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红色的、绿色的、黑色的，你想买哪个？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Hóngsè de, lǜsè de, hēisè de, nǐ xiǎng mǎi nǎge?</a:t>
            </a:r>
          </a:p>
        </p:txBody>
      </p:sp>
      <p:sp>
        <p:nvSpPr>
          <p:cNvPr id="14" name="Oval 13"/>
          <p:cNvSpPr/>
          <p:nvPr/>
        </p:nvSpPr>
        <p:spPr>
          <a:xfrm>
            <a:off x="11424517" y="3594238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395860"/>
            <a:ext cx="1737360" cy="607725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刘小雪: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绿色的吧。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Lǜsè de ba.</a:t>
            </a:r>
          </a:p>
        </p:txBody>
      </p:sp>
      <p:sp>
        <p:nvSpPr>
          <p:cNvPr id="16" name="Oval 15"/>
          <p:cNvSpPr/>
          <p:nvPr/>
        </p:nvSpPr>
        <p:spPr>
          <a:xfrm>
            <a:off x="4596628" y="4290359"/>
            <a:ext cx="376789" cy="376789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9290" y="5091981"/>
            <a:ext cx="3453765" cy="60772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王一雪: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不错，我也觉得绿色的更好看。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Búcuò, wǒ yě juéde lǜsè de gèng hǎokàn.</a:t>
            </a:r>
          </a:p>
        </p:txBody>
      </p:sp>
      <p:sp>
        <p:nvSpPr>
          <p:cNvPr id="18" name="Oval 17"/>
          <p:cNvSpPr/>
          <p:nvPr/>
        </p:nvSpPr>
        <p:spPr>
          <a:xfrm>
            <a:off x="11424517" y="4986480"/>
            <a:ext cx="376789" cy="376789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9" name="slide3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刘小雪的日记</a:t>
            </a:r>
          </a:p>
        </p:txBody>
      </p:sp>
      <p:pic>
        <p:nvPicPr>
          <p:cNvPr id="6" name="Picture 5" descr="di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97" y="1611376"/>
            <a:ext cx="2082501" cy="1561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374420"/>
            <a:ext cx="11094415" cy="3117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①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我和妈妈去了一家商场。因为是新开的，所以这几天东西很便宜。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hé māma qùle yī jiā shāngchǎng. Yīnwèi shì xīn kāi de, suǒyǐ zhè jǐ tiān dōngxi hěn piányi.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và mẹ đã đến một trung tâm thương mại. Vì mới mở nên mấy ngày này đồ rất rẻ.</a:t>
            </a:r>
          </a:p>
          <a:p>
            <a:pPr>
              <a:spcBef>
                <a:spcPts val="14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②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商场里的衣服颜色很多。我没穿过红色的，妈妈让我试了试，我觉得我穿红色的也很好看。</a:t>
            </a:r>
          </a:p>
          <a:p>
            <a:pPr>
              <a:spcBef>
                <a:spcPts val="10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Shāngchǎng lǐ de yīfú yánsè hěn duō. Wǒ méi chuānguò hóngsè de, māma ràng wǒ shìleshì, wǒ juéde wǒ chuān hóngsè de yě hěn hǎokàn.</a:t>
            </a:r>
          </a:p>
          <a:p>
            <a:pPr>
              <a:spcBef>
                <a:spcPts val="10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Quần áo trong đó có rất nhiều màu. Tôi chưa mặc màu đỏ bao giờ, mẹ bảo tôi thử xem, tôi thấy mình mặc màu đỏ cũng rất đẹp.</a:t>
            </a:r>
          </a:p>
        </p:txBody>
      </p:sp>
      <p:pic>
        <p:nvPicPr>
          <p:cNvPr id="8" name="slide3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动态助词「过」— đã từng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 đặt SAU động từ = đã TỪNG làm việc này (không cần nhớ rõ khi nào, chỉ nói: có kinh nghiệm rồi).</a:t>
            </a:r>
          </a:p>
          <a:p>
            <a:pPr>
              <a:spcBef>
                <a:spcPts val="263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Phủ định: 没(有) + động từ + 过 (vẫn giữ 过, không bỏ).</a:t>
            </a:r>
          </a:p>
          <a:p>
            <a:pPr>
              <a:spcBef>
                <a:spcPts val="263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bằng 1 trong 3 cách: thêm 吗 · thêm 没有 · hoặc V + 没 + V + 过.</a:t>
            </a:r>
          </a:p>
          <a:p>
            <a:pPr>
              <a:spcBef>
                <a:spcPts val="1315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我们来过这家商场吗？</a:t>
            </a:r>
          </a:p>
          <a:p>
            <a:pPr>
              <a:spcBef>
                <a:spcPts val="197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láiguò zhè jiā shāngchǎng ma?</a:t>
            </a:r>
          </a:p>
          <a:p>
            <a:pPr>
              <a:spcBef>
                <a:spcPts val="197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ta đến trung tâm thương mại này rồi chưa?</a:t>
            </a:r>
          </a:p>
          <a:p>
            <a:pPr>
              <a:spcBef>
                <a:spcPts val="1315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我没穿过红色的。</a:t>
            </a:r>
          </a:p>
          <a:p>
            <a:pPr>
              <a:spcBef>
                <a:spcPts val="197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méi chuānguò hóngsè de.</a:t>
            </a:r>
          </a:p>
          <a:p>
            <a:pPr>
              <a:spcBef>
                <a:spcPts val="197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chưa mặc màu đỏ bao giờ.</a:t>
            </a:r>
          </a:p>
          <a:p>
            <a:pPr>
              <a:spcBef>
                <a:spcPts val="1315"/>
              </a:spcBef>
              <a:buNone/>
            </a:pP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你看没看过那个电影？</a:t>
            </a:r>
          </a:p>
          <a:p>
            <a:pPr>
              <a:spcBef>
                <a:spcPts val="197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kàn méi kànguò nàge diànyǐng?</a:t>
            </a:r>
          </a:p>
          <a:p>
            <a:pPr>
              <a:spcBef>
                <a:spcPts val="197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xem chưa xem phim đó rồi?</a:t>
            </a:r>
          </a:p>
          <a:p>
            <a:pPr>
              <a:spcBef>
                <a:spcPts val="789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4</a:t>
            </a:r>
          </a:p>
        </p:txBody>
      </p:sp>
      <p:pic>
        <p:nvPicPr>
          <p:cNvPr id="7" name="Picture 6" descr="passport_stam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18549"/>
            <a:ext cx="4297680" cy="2866518"/>
          </a:xfrm>
          <a:prstGeom prst="rect">
            <a:avLst/>
          </a:prstGeom>
        </p:spPr>
      </p:pic>
      <p:pic>
        <p:nvPicPr>
          <p:cNvPr id="8" name="slide3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Lẫn 「了」 và 「过」khi nói "đã từng"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1863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我去了法国，你呢？ — khi ý muốn hỏi "bạn đã TỪNG đi Pháp chưa" nghe như đang kể 1 chuyến đi cụ thể vừa xảy ra.</a:t>
            </a:r>
          </a:p>
          <a:p>
            <a:pPr>
              <a:spcBef>
                <a:spcPts val="1863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我去过法国，你呢？ — kinh nghiệm: đã từng đi Pháp.</a:t>
            </a:r>
          </a:p>
          <a:p>
            <a:pPr>
              <a:spcBef>
                <a:spcPts val="1863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我去了法国，明天回来。 — hoàn thành: 1 chuyến đi cụ thể, đang/vừa diễn ra.</a:t>
            </a:r>
          </a:p>
          <a:p>
            <a:pPr>
              <a:spcBef>
                <a:spcPts val="1863"/>
              </a:spcBef>
              <a:buNone/>
            </a:pPr>
            <a:r>
              <a:rPr sz="15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 hay lẫn: tiếng Việt chỉ có 1 chữ "đã" cho cả 2 nghĩa, còn tiếng Trung phải chọn đúng 了 hay 过.</a:t>
            </a:r>
          </a:p>
        </p:txBody>
      </p:sp>
      <p:pic>
        <p:nvPicPr>
          <p:cNvPr id="7" name="Picture 6" descr="erro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868910"/>
            <a:ext cx="4206240" cy="280470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因为……，所以……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 = nêu LÝ DO, 所以 = nêu KẾT QUẢ — thứ tự giống tiếng Việt: vì A nên B.</a:t>
            </a:r>
          </a:p>
          <a:p>
            <a:pPr>
              <a:spcBef>
                <a:spcPts val="321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Có thể dùng cả hai, hoặc chỉ dùng một trong hai cũng được.</a:t>
            </a:r>
          </a:p>
          <a:p>
            <a:pPr>
              <a:spcBef>
                <a:spcPts val="1608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就是因为没穿过，所以要试试啊！</a:t>
            </a:r>
          </a:p>
          <a:p>
            <a:pPr>
              <a:spcBef>
                <a:spcPts val="241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Jiùshì yīnwèi méi chuānguò, suǒyǐ yào shìshi a!</a:t>
            </a:r>
          </a:p>
          <a:p>
            <a:pPr>
              <a:spcBef>
                <a:spcPts val="241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Chính vì chưa mặc bao giờ nên mới phải thử chứ!</a:t>
            </a:r>
          </a:p>
          <a:p>
            <a:pPr>
              <a:spcBef>
                <a:spcPts val="1608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因为是新开的，所以这几天东西很便宜。</a:t>
            </a:r>
          </a:p>
          <a:p>
            <a:pPr>
              <a:spcBef>
                <a:spcPts val="241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 shì xīn kāi de, suǒyǐ zhè jǐ tiān dōngxi hěn piányi.</a:t>
            </a:r>
          </a:p>
          <a:p>
            <a:pPr>
              <a:spcBef>
                <a:spcPts val="241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Vì mới mở nên mấy ngày này đồ rất rẻ.</a:t>
            </a:r>
          </a:p>
          <a:p>
            <a:pPr>
              <a:spcBef>
                <a:spcPts val="1608"/>
              </a:spcBef>
              <a:buNone/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因为我生病了，今天没去上班。</a:t>
            </a:r>
          </a:p>
          <a:p>
            <a:pPr>
              <a:spcBef>
                <a:spcPts val="241"/>
              </a:spcBef>
              <a:buNone/>
            </a:pPr>
            <a:r>
              <a:rPr sz="1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Yīnwèi wǒ shēngbìng le, jīntiān méi qù shàngbān.</a:t>
            </a:r>
          </a:p>
          <a:p>
            <a:pPr>
              <a:spcBef>
                <a:spcPts val="241"/>
              </a:spcBef>
              <a:buNone/>
            </a:pPr>
            <a:r>
              <a:rPr sz="12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Vì tôi bị bệnh nên hôm nay không đi làm.</a:t>
            </a:r>
          </a:p>
          <a:p>
            <a:pPr>
              <a:spcBef>
                <a:spcPts val="964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4</a:t>
            </a:r>
          </a:p>
        </p:txBody>
      </p:sp>
      <p:pic>
        <p:nvPicPr>
          <p:cNvPr id="7" name="Picture 6" descr="cause_eff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20647"/>
            <a:ext cx="4297680" cy="2862322"/>
          </a:xfrm>
          <a:prstGeom prst="rect">
            <a:avLst/>
          </a:prstGeom>
        </p:spPr>
      </p:pic>
      <p:pic>
        <p:nvPicPr>
          <p:cNvPr id="8" name="slide4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「的」字短语 — nói tắt khỏi lặp từ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 đặt sau danh từ/động từ/tính từ để nói tắt — khỏi lặp lại danh từ đã nói ở câu trước.</a:t>
            </a:r>
          </a:p>
          <a:p>
            <a:pPr>
              <a:spcBef>
                <a:spcPts val="305"/>
              </a:spcBef>
              <a:buNone/>
            </a:pPr>
            <a:r>
              <a:rPr sz="15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Vd: thay vì nói lại "红色的裤子、绿色的裤子" → chỉ cần nói "红色的、绿色的".</a:t>
            </a:r>
          </a:p>
          <a:p>
            <a:pPr>
              <a:spcBef>
                <a:spcPts val="1526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红色的、绿色的、黑色的，你想买哪个？</a:t>
            </a:r>
          </a:p>
          <a:p>
            <a:pPr>
              <a:spcBef>
                <a:spcPts val="22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Hóngsè de, lǜsè de, hēisè de, nǐ xiǎng mǎi nǎge?</a:t>
            </a:r>
          </a:p>
          <a:p>
            <a:pPr>
              <a:spcBef>
                <a:spcPts val="22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Màu đỏ, màu xanh lá, màu đen, con muốn mua cái nào? (= 红色的书包/绿色的书包/黑色的书包)</a:t>
            </a:r>
          </a:p>
          <a:p>
            <a:pPr>
              <a:spcBef>
                <a:spcPts val="1526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这个面包是爸爸买的，妈妈买的在那儿。</a:t>
            </a:r>
          </a:p>
          <a:p>
            <a:pPr>
              <a:spcBef>
                <a:spcPts val="22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Zhège miànbāo shì bàba mǎi de, māma mǎi de zài nàr.</a:t>
            </a:r>
          </a:p>
          <a:p>
            <a:pPr>
              <a:spcBef>
                <a:spcPts val="22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Bánh mì này là ba mua, cái mẹ mua ở đằng kia.</a:t>
            </a:r>
          </a:p>
          <a:p>
            <a:pPr>
              <a:spcBef>
                <a:spcPts val="1526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这件衣服太贵了，还是买那件便宜的吧。</a:t>
            </a:r>
          </a:p>
          <a:p>
            <a:pPr>
              <a:spcBef>
                <a:spcPts val="228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 jiàn yīfú tài guì le, háishi mǎi nà jiàn piányi de ba.</a:t>
            </a:r>
          </a:p>
          <a:p>
            <a:pPr>
              <a:spcBef>
                <a:spcPts val="228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này đắt quá, thôi mua cái rẻ kia đi.</a:t>
            </a:r>
          </a:p>
          <a:p>
            <a:pPr>
              <a:spcBef>
                <a:spcPts val="915"/>
              </a:spcBef>
              <a:buNone/>
            </a:pPr>
            <a:r>
              <a:rPr sz="10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4</a:t>
            </a:r>
          </a:p>
        </p:txBody>
      </p:sp>
      <p:pic>
        <p:nvPicPr>
          <p:cNvPr id="7" name="Picture 6" descr="color_cho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214" y="1611376"/>
            <a:ext cx="3184001" cy="4880864"/>
          </a:xfrm>
          <a:prstGeom prst="rect">
            <a:avLst/>
          </a:prstGeom>
        </p:spPr>
      </p:pic>
      <p:pic>
        <p:nvPicPr>
          <p:cNvPr id="8" name="slide4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Lặp lại thừa danh từ sau「的」字短语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我要红色的裤子，不要绿色的裤子。 — lặp lại "裤子" 2 lần dù ngữ cảnh đã rõ, không tự nhiên.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我要红色的，不要绿色的。 — bỏ hẳn danh từ, 「的」đã đủ nghĩa.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 hay lẫn: tiếng Việt vẫn nói rõ tên đồ vật, nên hay quên tiếng Trung chỉ cần 的 là đủ.</a:t>
            </a:r>
          </a:p>
        </p:txBody>
      </p:sp>
      <p:pic>
        <p:nvPicPr>
          <p:cNvPr id="7" name="Picture 6" descr="erro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868499"/>
            <a:ext cx="4206240" cy="280552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语法拓展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把字句 (1) — đưa đồ vật đi đâu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643097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把 đưa đồ vật CỤ THỂ (đã biết rõ là cái nào) lên trước động từ, để nói: đồ đó bị làm gì / đưa đi đâu.</a:t>
            </a:r>
          </a:p>
          <a:p>
            <a:pPr>
              <a:spcBef>
                <a:spcPts val="189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Công thức: Ai + 把 + đồ vật cụ thể + Động từ + phần còn lại.</a:t>
            </a:r>
          </a:p>
          <a:p>
            <a:pPr>
              <a:spcBef>
                <a:spcPts val="189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Sau động từ LUÔN phải có thêm gì đó (了/上/下来/在đâu…) — không được dừng ở động từ trơn.</a:t>
            </a:r>
          </a:p>
          <a:p>
            <a:pPr>
              <a:spcBef>
                <a:spcPts val="189"/>
              </a:spcBef>
              <a:buNone/>
            </a:pPr>
            <a:r>
              <a:rPr sz="13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dùng 把 khi đồ vật còn chung chung, chưa rõ là cái nào (vd 我想买条裤子 — chưa biết cái nào, KHÔNG chuyển thành 把字句).</a:t>
            </a:r>
          </a:p>
          <a:p>
            <a:pPr>
              <a:spcBef>
                <a:spcPts val="94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快把衣服穿上。</a:t>
            </a:r>
          </a:p>
          <a:p>
            <a:pPr>
              <a:spcBef>
                <a:spcPts val="141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Kuài bǎ yīfú chuān shàng.</a:t>
            </a:r>
          </a:p>
          <a:p>
            <a:pPr>
              <a:spcBef>
                <a:spcPts val="141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Mặc áo vào nhanh lên.</a:t>
            </a:r>
          </a:p>
          <a:p>
            <a:pPr>
              <a:spcBef>
                <a:spcPts val="94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天太热了，把外套脱下来吧。</a:t>
            </a:r>
          </a:p>
          <a:p>
            <a:pPr>
              <a:spcBef>
                <a:spcPts val="141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 tài rè le, bǎ wàitào tuō xiàlái ba.</a:t>
            </a:r>
          </a:p>
          <a:p>
            <a:pPr>
              <a:spcBef>
                <a:spcPts val="141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Trời nóng quá, cởi áo khoác ra đi.</a:t>
            </a:r>
          </a:p>
          <a:p>
            <a:pPr>
              <a:spcBef>
                <a:spcPts val="94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请把衣服放在床上。</a:t>
            </a:r>
          </a:p>
          <a:p>
            <a:pPr>
              <a:spcBef>
                <a:spcPts val="141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 bǎ yīfú fàng zài chuáng shàng.</a:t>
            </a:r>
          </a:p>
          <a:p>
            <a:pPr>
              <a:spcBef>
                <a:spcPts val="141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Làm ơn để áo lên giường.</a:t>
            </a:r>
          </a:p>
          <a:p>
            <a:pPr>
              <a:spcBef>
                <a:spcPts val="946"/>
              </a:spcBef>
              <a:buNone/>
            </a:pP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妈妈把新买的裤子拿到我房间了。</a:t>
            </a:r>
          </a:p>
          <a:p>
            <a:pPr>
              <a:spcBef>
                <a:spcPts val="141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Māma bǎ xīn mǎi de kùzi ná dào wǒ fángjiān le.</a:t>
            </a:r>
          </a:p>
          <a:p>
            <a:pPr>
              <a:spcBef>
                <a:spcPts val="141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Mẹ đã mang cái quần mới mua vào phòng tôi.</a:t>
            </a:r>
          </a:p>
        </p:txBody>
      </p:sp>
      <p:pic>
        <p:nvPicPr>
          <p:cNvPr id="7" name="Picture 6" descr="wear_jac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849" y="1611376"/>
            <a:ext cx="3250731" cy="4880864"/>
          </a:xfrm>
          <a:prstGeom prst="rect">
            <a:avLst/>
          </a:prstGeom>
        </p:spPr>
      </p:pic>
      <p:pic>
        <p:nvPicPr>
          <p:cNvPr id="8" name="slide4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73931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语法拓展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把字句 (2) — kết quả, phủ định, câu hỏi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43097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把 cũng dùng để nói: đồ vật đó ĐƯỢC LÀM XONG ra sao (sạch/bẩn/vừa...), không chỉ nói đưa đi đâu.</a:t>
            </a:r>
          </a:p>
          <a:p>
            <a:pPr>
              <a:spcBef>
                <a:spcPts val="293"/>
              </a:spcBef>
              <a:buNone/>
            </a:pPr>
            <a:r>
              <a:rPr sz="1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Phủ định: 没 hoặc 别 đứng TRƯỚC 把 (không phải trước động từ).</a:t>
            </a:r>
          </a:p>
          <a:p>
            <a:pPr>
              <a:spcBef>
                <a:spcPts val="1468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你把衣服洗干净了吗？</a:t>
            </a:r>
          </a:p>
          <a:p>
            <a:pPr>
              <a:spcBef>
                <a:spcPts val="220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bǎ yīfú xǐ gānjìng le ma?</a:t>
            </a:r>
          </a:p>
          <a:p>
            <a:pPr>
              <a:spcBef>
                <a:spcPts val="220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giặt sạch áo chưa?</a:t>
            </a:r>
          </a:p>
          <a:p>
            <a:pPr>
              <a:spcBef>
                <a:spcPts val="1468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别把新买的裤子弄脏了。</a:t>
            </a:r>
          </a:p>
          <a:p>
            <a:pPr>
              <a:spcBef>
                <a:spcPts val="220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 bǎ xīn mǎi de kùzi nòng zāng le.</a:t>
            </a:r>
          </a:p>
          <a:p>
            <a:pPr>
              <a:spcBef>
                <a:spcPts val="220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Đừng làm bẩn cái quần mới mua.</a:t>
            </a:r>
          </a:p>
          <a:p>
            <a:pPr>
              <a:spcBef>
                <a:spcPts val="1468"/>
              </a:spcBef>
              <a:buNone/>
            </a:pP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我还没把裤子试穿一下呢。</a:t>
            </a:r>
          </a:p>
          <a:p>
            <a:pPr>
              <a:spcBef>
                <a:spcPts val="220"/>
              </a:spcBef>
              <a:buNone/>
            </a:pPr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hái méi bǎ kùzi shìchuān yíxià ne.</a:t>
            </a:r>
          </a:p>
          <a:p>
            <a:pPr>
              <a:spcBef>
                <a:spcPts val="220"/>
              </a:spcBef>
              <a:buNone/>
            </a:pPr>
            <a:r>
              <a:rPr sz="11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Tôi vẫn chưa thử cái quần đó.</a:t>
            </a:r>
          </a:p>
        </p:txBody>
      </p:sp>
      <p:pic>
        <p:nvPicPr>
          <p:cNvPr id="7" name="Picture 6" descr="laundry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659634"/>
            <a:ext cx="4297680" cy="3223260"/>
          </a:xfrm>
          <a:prstGeom prst="rect">
            <a:avLst/>
          </a:prstGeom>
        </p:spPr>
      </p:pic>
      <p:pic>
        <p:nvPicPr>
          <p:cNvPr id="8" name="slide4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51172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Tránh dùng hoặc đặt sai trật tự 把字句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6522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08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我穿把衣服。 / 穿把衣服上。 — đặt「把」sai vị trí, ghép lộn xộn vì không quen cấu trúc.</a:t>
            </a:r>
          </a:p>
          <a:p>
            <a:pPr>
              <a:spcBef>
                <a:spcPts val="208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快把衣服穿上。 — 把 + đồ vật cụ thể + động từ + phần còn lại, luôn đặt「把+đồ vật」TRƯỚC động từ.</a:t>
            </a:r>
          </a:p>
          <a:p>
            <a:pPr>
              <a:spcBef>
                <a:spcPts val="2083"/>
              </a:spcBef>
              <a:buNone/>
            </a:pPr>
            <a:r>
              <a:rPr sz="17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7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 hay lẫn: tiếng Việt không có cấu trúc tương đương (chỉ nói "mặc áo vào" theo thứ tự thường), nên hay tránh dùng 把 hoặc đặt sai vị trí.</a:t>
            </a:r>
          </a:p>
        </p:txBody>
      </p:sp>
      <p:pic>
        <p:nvPicPr>
          <p:cNvPr id="7" name="Picture 6" descr="error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693924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12 câu khẩu ngữ đời thường (thời trang · hoàn cảnh mặc · mua sắm)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94414" cy="45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61"/>
                <a:gridCol w="4585090"/>
                <a:gridCol w="4209263"/>
              </a:tblGrid>
              <a:tr h="272143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27214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你今天穿得很时尚。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jīntiān chuān de hěn shíshàng.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Hôm nay bạn mặc thời trang quá.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这件衣服有点儿过时了。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jiàn yīfú yǒudiǎnr guòshí le.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áo này hơi lỗi mốt rồi.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明天是正式场合，你得穿正式一点儿。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Míngtiān shì zhèngshì chǎnghé, nǐ děi chuān zhèngshì yìdiǎnr.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Mai là dịp trang trọng, bạn phải ăn mặc trang trọng hơn.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周末我喜欢穿得休闲一点儿。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Zhōumò wǒ xǐhuān chuān de xiūxián yìdiǎnr.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Cuối tuần tôi thích mặc thường ngày thôi.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这条裤子的尺码不合适，能换一条吗？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 tiáo kùzi de chǐmǎ bù héshì, néng huàn yì tiáo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Size quần này không vừa, đổi cái khác được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272143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现在打几折？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Xiànzài dǎ jǐ zhé?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Bây giờ giảm giá mấy phần trăm vậy?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这个配饰跟你的衣服很配。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Zhège pèishì gēn nǐ de yīfú hěn pèi.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Phụ kiện này rất hợp với quần áo bạn.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我们进试衣间看看吧。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Wǒmen jìn shìyījiān kànkan ba.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Chúng ta vào phòng thử đồ xem thử đi.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深色衣服比较耐脏，浅色比较好看。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Shēnsè yīfú bǐjiào nàizāng, qiǎnsè bǐjiào hǎokàn.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Đồ màu đậm đỡ bẩn hơn, màu nhạt đẹp hơn.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因为要面试，所以我想穿得正式一点儿。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Yīnwèi yào miànshì, suǒyǐ wǒ xiǎng chuān de zhèngshì yìdiǎnr.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Vì phải phỏng vấn nên tôi muốn ăn mặc trang trọng hơn.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你穿的这件是什么牌子的？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chuān de zhè jiàn shì shénme páizi de?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Cái bạn đang mặc là hãng gì vậy?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我觉得黑色的更适合这个场合。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juéde hēisè de gèng shìhé zhège chǎnghé.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Tôi thấy màu đen hợp với dịp này hơn.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4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