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第一次去中国朋友家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Dì-yī cì qù Zhōngguó péngyou jiā · Lần đầu đến nhà bạn Trung Quốc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Bài 5 · New HSK Course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Buổi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趋向补语 — nói được hướng đi (来/去, đơn + kép)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都……了 — nhấn mạnh "đã/đến mức"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做客文化 — chào hỏi, ứng xử khi làm khách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assets/img_na.jpg]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拿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ná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cầm, mang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你把书拿过来。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bǎ shū ná guòlái.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Cầm sách qua đây.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拿 = 合(hé, hợp lại) + 手(shǒu, tay) → hai bên HỢP LẠI, dùng TAY nắm giữ → "cầm, lấy"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带</a:t>
            </a:r>
          </a:p>
        </p:txBody>
      </p:sp>
      <p:pic>
        <p:nvPicPr>
          <p:cNvPr id="6" name="Picture 5" descr="img_d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带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mang theo, dẫn theo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别忘了带雨伞出去。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Bié wàng le dài yǔsǎn chūqù.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Đừng quên mang dù ra ngoài.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带 vốn là hình một DẢI THẮT LƯNG vắt qua người, có tua vải rủ xuống → "mang theo, đai"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搬</a:t>
            </a:r>
          </a:p>
        </p:txBody>
      </p:sp>
      <p:pic>
        <p:nvPicPr>
          <p:cNvPr id="6" name="Picture 5" descr="img_b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030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搬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khiêng, dọn (đồ nặng)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我们把桌子搬进来吧。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bǎ zhuōzi bān jìnlái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khiêng cái bàn vào đây đi.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搬 = 扌(shǒu, tay) → dùng TAY di chuyển đồ đạc → "chuyển, dọn"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寄</a:t>
            </a:r>
          </a:p>
        </p:txBody>
      </p:sp>
      <p:pic>
        <p:nvPicPr>
          <p:cNvPr id="6" name="Picture 5" descr="img_j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36429"/>
            <a:ext cx="3108960" cy="22588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寄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gửi (bưu kiện)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我把礼物寄回家了。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bǎ lǐwù jì huí jiā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gửi quà về nhà rồi.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寄 = 宀(mián, mái nhà) → gửi đồ từ NHÀ này sang NHÀ khác → "gửi"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assets/img_reng.jpg]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扔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rēng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vứt, ném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别把垃圾扔出去！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Bié bǎ lājī rēng chūqù!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Đừng vứt rác ra ngoài!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扔 = 扌(shǒu, tay) → dùng TAY quăng đồ đi → "ném, vứt"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摆</a:t>
            </a:r>
          </a:p>
        </p:txBody>
      </p:sp>
      <p:pic>
        <p:nvPicPr>
          <p:cNvPr id="6" name="Picture 5" descr="img_b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641" y="1611376"/>
            <a:ext cx="2073652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摆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bǎi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xếp, bày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把花摆上去。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Bǎ huā bǎi shàngqù.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Bày hoa lên đó.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摆 = 扌(shǒu, tay) → dùng TAY sắp xếp đồ vật ngay ngắn → "bày, xếp"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放</a:t>
            </a:r>
          </a:p>
        </p:txBody>
      </p:sp>
      <p:pic>
        <p:nvPicPr>
          <p:cNvPr id="6" name="Picture 5" descr="img_f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32066"/>
            <a:ext cx="3108960" cy="2067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放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fàng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để, đặt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请把书放回去。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Qǐng bǎ shū fàng huíqù.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Xin để sách về lại chỗ cũ.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放 = 方(fāng, vị trí) + 攵(pū, gõ nhẹ, thúc đẩy) → thúc đồ tới đúng VỊ TRÍ rồi buông ra → "đặt, thả"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挂</a:t>
            </a:r>
          </a:p>
        </p:txBody>
      </p:sp>
      <p:pic>
        <p:nvPicPr>
          <p:cNvPr id="6" name="Picture 5" descr="img_g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030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挂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把画挂起来。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Bǎ huà guà qǐlái.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Treo tranh lên.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挂 = 扌(shǒu, tay) + 圭(guī, ngọc bội xếp chồng) → dùng TAY treo vật lên như xếp CHỒNG ngọc → "treo"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assets/img_tai.jpg]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抬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tái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khiêng, nâng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大家一起把箱子抬上去。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Dàjiā yìqǐ bǎ xiāngzi tái shàngqù.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Mọi người cùng khiêng thùng lên.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抬 = 扌(shǒu, tay) → dùng TAY nâng vật lên → "khiêng, nâng"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assets/img_bao.jpg]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抱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bế, ôm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妈妈把孩子抱起来。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Māma bǎ háizi bào qǐlái.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Mẹ bế con lên.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抱 = 扌(shǒu, tay) + 包(bāo, bọc lại) → dùng TAY BỌC quanh ai đó → "ôm"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assets/img_ti.jpg]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提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xách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他提着包走进来。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tízhe bāo zǒu jìnlái.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Anh ấy xách túi đi vào.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提 = 扌(shǒu, tay) → dùng TAY xách vật đung đưa lên → "xách, nhắc tới"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借</a:t>
            </a:r>
          </a:p>
        </p:txBody>
      </p:sp>
      <p:pic>
        <p:nvPicPr>
          <p:cNvPr id="6" name="Picture 5" descr="img_j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07" y="1611376"/>
            <a:ext cx="23317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借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mượn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我想把这本书借回去看。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xiǎng bǎ zhè běn shū jiè huíqù kàn.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muốn mượn cuốn sách này về xem.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借 = 亻(rén, người) + 昔(xī, ngày xưa) → NGƯỜI ta trao đổi đồ qua lại → "mượn, cho mượn"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还</a:t>
            </a:r>
          </a:p>
        </p:txBody>
      </p:sp>
      <p:pic>
        <p:nvPicPr>
          <p:cNvPr id="6" name="Picture 5" descr="img_h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030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trả lại, hoàn trả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明天把书还回来。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Míngtiān bǎ shū huán huílái.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Ngày mai trả sách lại.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还 = 辶(chuò, đi) → mang đồ ĐI trả lại chỗ cũ → "trả lại" (khác nghĩa "vẫn" ở 还是)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assets/img_mai.jpg]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卖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他把车卖出去了。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bǎ chē mài chūqù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Anh ấy bán xe đi rồi.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卖 = 十(shí, đầy đủ) trên 买(mǎi, mua) → làm cho việc MUA hoàn tất từ phía bên kia → "bán"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15/20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assets/img_pa.jpg]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爬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pá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trèo, bò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孩子爬上去了。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Háizi pá shàngqù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Đứa bé trèo lên rồi.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爬 = 爪(zhǎo, móng vuốt/bàn tay chống) → dùng CHÂN TAY chống để di chuyển → "bò, leo"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assets/img_tiao.jpg]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跳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nhảy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他跳下去了。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tiào xiàqù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Anh ấy nhảy xuống rồi.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跳 = 足(zú, chân) → dùng CHÂN bật lên khỏi mặt đất → "nhảy"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assets/img_dao.jpg]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倒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ngã, đổ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椅子倒下来了。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Yǐzi dǎo xiàlái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Cái ghế đổ xuống rồi.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倒 = 亻(rén, người) + 到(dào, đi tới) → NGƯỜI đi TỚI mức mất thăng bằng → "đổ, ngã"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18/20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assets/img_tui.jpg]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退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tuì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lùi, thoái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车慢慢地退回来了。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Chē mànmàn de tuì huílái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Xe chầm chậm lùi lại.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退 = 辶(chuò, đi) + 艮(gèn, dừng lại/cứng) → ĐI nhưng bị CẢN lại, phải LÙI → "lùi, trả lại"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assets/img_duo.jpg]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躲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duǒ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tránh, trốn, ẩn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他躲进去了。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duǒ jìnqù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Anh ấy trốn vào trong rồi.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躲 = 身(shēn, thân thể) → giấu cả THÂN mình đi → "trốn, núp"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assets/img_chuan.jpg]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传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chuán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truyền, chuyền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请把手机传过来。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Qǐng bǎ shǒujī chuán guòlái.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Xin chuyền điện thoại qua đây.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传 = 亻(rén, người) → NGƯỜI này TRUYỀN lại cho người khác → "truyền, chuyền"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简单趋向补语(1) — Bổ ngữ xu hướng đơn (1)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我不上去了，就在下面等你。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bú shàngqù le, jiù zài xiàmiàn děng nǐ.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không lên nữa, tôi đợi ở dưới.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你起来吧，让小妹妹坐这儿。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qǐlái ba, ràng xiǎo mèimei zuò zhèr.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dậy đi, để em bé ngồi đây.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động từ + 来/去. 来 = hướng VỀ người nói, 去 = hướng RA XA người nói. Ghép được với 8 tổ hợp: 上/下/进/出/回/过/起 (+来/去, riêng 起 không có 起去).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简单趋向补语(2) — Bổ ngữ xu hướng đơn (2)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上课了，你们快进教室来吧。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Shàngkè le, nǐmen kuài jìn jiàoshì lái ba.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Vào học rồi, các bạn nhanh vào lớp đi.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家月给我送来了一本书。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 gěi wǒ sòngláile yì běn shū.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Gia Nguyệt gửi cho tôi một cuốn sách.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Có cả bổ ngữ xu hướng + tân ngữ: tân ngữ NƠI CHỐN → đặt TRƯỚC 来/去 (进教室来); tân ngữ SỰ VẬT → trước hoặc sau đều được (送来一本书 = 送一本书来).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3/4 ·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复合趋向补语 — Bổ ngữ xu hướng KÉP</a:t>
            </a:r>
          </a:p>
          <a:p>
            <a:pPr>
              <a:spcBef>
                <a:spcPts val="131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她笑着走出来了。</a:t>
            </a:r>
          </a:p>
          <a:p>
            <a:pPr>
              <a:spcBef>
                <a:spcPts val="19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xiàozhe zǒu chūlái le.</a:t>
            </a:r>
          </a:p>
          <a:p>
            <a:pPr>
              <a:spcBef>
                <a:spcPts val="19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vừa cười vừa đi ra (về hướng người nói).</a:t>
            </a:r>
          </a:p>
          <a:p>
            <a:pPr>
              <a:spcBef>
                <a:spcPts val="131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孩子们跑过去看看。</a:t>
            </a:r>
          </a:p>
          <a:p>
            <a:pPr>
              <a:spcBef>
                <a:spcPts val="19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Háizimen pǎo guòqù kànkan.</a:t>
            </a:r>
          </a:p>
          <a:p>
            <a:pPr>
              <a:spcBef>
                <a:spcPts val="19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bé chạy qua đó xem thử (hướng ra xa người nói).</a:t>
            </a:r>
          </a:p>
          <a:p>
            <a:pPr>
              <a:spcBef>
                <a:spcPts val="131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奶奶慢慢地站起来了。</a:t>
            </a:r>
          </a:p>
          <a:p>
            <a:pPr>
              <a:spcBef>
                <a:spcPts val="19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Nǎinai mànmàn de zhàn qǐlái le.</a:t>
            </a:r>
          </a:p>
          <a:p>
            <a:pPr>
              <a:spcBef>
                <a:spcPts val="19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Bà nội chầm chậm đứng dậy.</a:t>
            </a:r>
          </a:p>
          <a:p>
            <a:pPr>
              <a:spcBef>
                <a:spcPts val="131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你坐下来吧。</a:t>
            </a:r>
          </a:p>
          <a:p>
            <a:pPr>
              <a:spcBef>
                <a:spcPts val="19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zuò xiàlái ba.</a:t>
            </a:r>
          </a:p>
          <a:p>
            <a:pPr>
              <a:spcBef>
                <a:spcPts val="19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ngồi xuống đi.</a:t>
            </a:r>
          </a:p>
          <a:p>
            <a:pPr>
              <a:spcBef>
                <a:spcPts val="131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小鸟飞回来了。</a:t>
            </a:r>
          </a:p>
          <a:p>
            <a:pPr>
              <a:spcBef>
                <a:spcPts val="19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 niǎo fēi huílái le.</a:t>
            </a:r>
          </a:p>
          <a:p>
            <a:pPr>
              <a:spcBef>
                <a:spcPts val="19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chim nhỏ bay về rồi.</a:t>
            </a:r>
          </a:p>
          <a:p>
            <a:pPr>
              <a:spcBef>
                <a:spcPts val="982"/>
              </a:spcBef>
              <a:buNone/>
            </a:pPr>
            <a:r>
              <a:rPr sz="11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động từ + bổ ngữ xu hướng ĐƠN (上/下/进/出/回/过/起) + 来/去. 5 câu trên dùng động từ ĐÃ HỌC (走/跑/站/坐/飞) — chỉ nâng độ khó ở phần bổ ngữ.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固定格式"都……了" — Mẫu câu nhấn mạnh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都12点了，我们吃饭吧。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Dōu shí'èr diǎn le, wǒmen chī fàn ba.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Đã 12 giờ rồi, ăn cơm thôi.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都8点半了，你还不起床吗？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Dōu bā diǎn bàn le, nǐ hái bù qǐchuáng ma?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Đã 8 giờ rưỡi rồi, cậu còn chưa dậy à?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Diễn tả "đã/đến mức", thường mang giọng nhấn mạnh hoặc không hài lòng — khác "已经……了" trung tính. Đây là điểm ngữ pháp riêng, KHÔNG cùng nhóm 趋向补语 ở 3 slide trước.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Lỗi người Việt thường gặp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你在上面，说"你下来" cho người ở dưới   →   ✅ 你下去 (mình ở trên → hướng ra xa mình = 去)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进来教室   →   ✅ 进教室来 (nơi chốn luôn đứng TRƯỚC 来/去)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都8点了 chỉ hiểu đơn thuần là "đã 8 giờ"   →   ✅ thực ra mang giọng nhắc nhở/sốt ruột, không chỉ báo giờ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10 câu khẩu ngữ dùng ngay (1/2)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麻烦你把箱子搬进来。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Máfan nǐ bǎ xiāngzi bān jìnlái.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Làm ơn khiêng thùng vào đây.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出门别忘带钥匙。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Chūmén bié wàng dài yàoshi.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Ra ngoài đừng quên mang chìa khoá.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这本书你什么时候还回来？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běn shū nǐ shénme shíhou huán huílái?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Cuốn sách này khi nào cậu trả lại?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帮我把外套挂起来。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Bāng wǒ bǎ wàitào guà qǐlái.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Giúp tôi treo áo khoác lên.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你的东西卖出去了吗？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de dōngxi mài chūqù le ma?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Đồ của cậu bán đi chưa?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10 câu khẩu ngữ dùng ngay (2/2)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小心，别摔倒了！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Xiǎoxīn, bié shuāi dǎo le!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Cẩn thận, đừng ngã!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猫爬到树上去了。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Māo pá dào shù shàng qù le.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mèo trèo lên cây rồi.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别往后退，危险！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 wǎng hòu tuì, wēixiǎn!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Đừng lùi về sau, nguy hiểm!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请把球传过去。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 bǎ qiú chuán guòqù.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Xin chuyền bóng qua đó.</a:t>
            </a:r>
          </a:p>
          <a:p>
            <a:pPr>
              <a:spcBef>
                <a:spcPts val="149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别躲了，快出来吧！</a:t>
            </a:r>
          </a:p>
          <a:p>
            <a:pPr>
              <a:spcBef>
                <a:spcPts val="224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 duǒ le, kuài chūlái ba!</a:t>
            </a:r>
          </a:p>
          <a:p>
            <a:pPr>
              <a:spcBef>
                <a:spcPts val="224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Đừng trốn nữa, ra đây nhanh đi!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在宾馆楼下 — Dưới sảnh khách sạn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84048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assets/img_hoithoai1.jpg]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11376"/>
            <a:ext cx="5207000" cy="7813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家月，快下来吧，第一次去中国朋友家，别晚了。</a:t>
            </a:r>
          </a:p>
        </p:txBody>
      </p:sp>
      <p:sp>
        <p:nvSpPr>
          <p:cNvPr id="8" name="Oval 7"/>
          <p:cNvSpPr/>
          <p:nvPr/>
        </p:nvSpPr>
        <p:spPr>
          <a:xfrm>
            <a:off x="457821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6855" y="2506388"/>
            <a:ext cx="2616200" cy="78136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还有时间，你上来吧。</a:t>
            </a:r>
          </a:p>
        </p:txBody>
      </p:sp>
      <p:sp>
        <p:nvSpPr>
          <p:cNvPr id="10" name="Oval 9"/>
          <p:cNvSpPr/>
          <p:nvPr/>
        </p:nvSpPr>
        <p:spPr>
          <a:xfrm>
            <a:off x="11399093" y="238861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401400"/>
            <a:ext cx="3263900" cy="7813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我不上去了，就在下面等你。</a:t>
            </a:r>
          </a:p>
        </p:txBody>
      </p:sp>
      <p:sp>
        <p:nvSpPr>
          <p:cNvPr id="12" name="Oval 11"/>
          <p:cNvSpPr/>
          <p:nvPr/>
        </p:nvSpPr>
        <p:spPr>
          <a:xfrm>
            <a:off x="4578217" y="3283625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2755" y="4296412"/>
            <a:ext cx="2400300" cy="78136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那我一会儿就下去。</a:t>
            </a:r>
          </a:p>
        </p:txBody>
      </p:sp>
      <p:sp>
        <p:nvSpPr>
          <p:cNvPr id="14" name="Oval 13"/>
          <p:cNvSpPr/>
          <p:nvPr/>
        </p:nvSpPr>
        <p:spPr>
          <a:xfrm>
            <a:off x="11399093" y="417863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5191424"/>
            <a:ext cx="1752600" cy="49722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你快点儿吧。</a:t>
            </a:r>
          </a:p>
        </p:txBody>
      </p:sp>
      <p:sp>
        <p:nvSpPr>
          <p:cNvPr id="16" name="Oval 15"/>
          <p:cNvSpPr/>
          <p:nvPr/>
        </p:nvSpPr>
        <p:spPr>
          <a:xfrm>
            <a:off x="4625401" y="5105105"/>
            <a:ext cx="308281" cy="308281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31455" y="5802305"/>
            <a:ext cx="3911600" cy="78136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没事，一雪姐说11点前到就可以。</a:t>
            </a:r>
          </a:p>
        </p:txBody>
      </p:sp>
      <p:sp>
        <p:nvSpPr>
          <p:cNvPr id="18" name="Oval 17"/>
          <p:cNvSpPr/>
          <p:nvPr/>
        </p:nvSpPr>
        <p:spPr>
          <a:xfrm>
            <a:off x="11399093" y="5684530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在王一雪家 — Giới thiệu gia đình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84048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assets/img_hoithoai2a.jpg]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11376"/>
            <a:ext cx="6888175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家月、安妮，快进来！我给你们介绍一下，这是孩子们的爷爷、奶奶。</a:t>
            </a:r>
          </a:p>
        </p:txBody>
      </p:sp>
      <p:sp>
        <p:nvSpPr>
          <p:cNvPr id="8" name="Oval 7"/>
          <p:cNvSpPr/>
          <p:nvPr/>
        </p:nvSpPr>
        <p:spPr>
          <a:xfrm>
            <a:off x="457821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5695" y="2763520"/>
            <a:ext cx="1737360" cy="64008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你们好！</a:t>
            </a:r>
          </a:p>
        </p:txBody>
      </p:sp>
      <p:sp>
        <p:nvSpPr>
          <p:cNvPr id="10" name="Oval 9"/>
          <p:cNvSpPr/>
          <p:nvPr/>
        </p:nvSpPr>
        <p:spPr>
          <a:xfrm>
            <a:off x="11412882" y="2652402"/>
            <a:ext cx="396849" cy="39684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549904"/>
            <a:ext cx="6888175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爸，妈，这是白家月，这是安妮。她们都是一飞的学生。</a:t>
            </a:r>
          </a:p>
        </p:txBody>
      </p:sp>
      <p:sp>
        <p:nvSpPr>
          <p:cNvPr id="12" name="Oval 11"/>
          <p:cNvSpPr/>
          <p:nvPr/>
        </p:nvSpPr>
        <p:spPr>
          <a:xfrm>
            <a:off x="4578217" y="343212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在王一雪家 — Chào ông bà, tặng quà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0288"/>
            <a:ext cx="3840480" cy="444195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assets/img_hoithoai2b.jpg]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050288"/>
            <a:ext cx="325120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刘爷爷: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家月、安妮，你们好！</a:t>
            </a:r>
          </a:p>
        </p:txBody>
      </p:sp>
      <p:sp>
        <p:nvSpPr>
          <p:cNvPr id="8" name="Oval 7"/>
          <p:cNvSpPr/>
          <p:nvPr/>
        </p:nvSpPr>
        <p:spPr>
          <a:xfrm>
            <a:off x="4578217" y="193251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71255" y="3202432"/>
            <a:ext cx="297180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这是送你们的礼物。</a:t>
            </a:r>
          </a:p>
        </p:txBody>
      </p:sp>
      <p:sp>
        <p:nvSpPr>
          <p:cNvPr id="10" name="Oval 9"/>
          <p:cNvSpPr/>
          <p:nvPr/>
        </p:nvSpPr>
        <p:spPr>
          <a:xfrm>
            <a:off x="11399093" y="308465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354576"/>
            <a:ext cx="492760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刘爷爷: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你们太客气了，还拿这么多礼物来！</a:t>
            </a:r>
          </a:p>
        </p:txBody>
      </p:sp>
      <p:sp>
        <p:nvSpPr>
          <p:cNvPr id="12" name="Oval 11"/>
          <p:cNvSpPr/>
          <p:nvPr/>
        </p:nvSpPr>
        <p:spPr>
          <a:xfrm>
            <a:off x="4578217" y="42368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15455" y="5506720"/>
            <a:ext cx="492760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一雪姐，这是给孩子们准备的礼物。</a:t>
            </a:r>
          </a:p>
        </p:txBody>
      </p:sp>
      <p:sp>
        <p:nvSpPr>
          <p:cNvPr id="14" name="Oval 13"/>
          <p:cNvSpPr/>
          <p:nvPr/>
        </p:nvSpPr>
        <p:spPr>
          <a:xfrm>
            <a:off x="11399093" y="53889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吃饭 — Ăn cơm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84048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assets/img_hoithoai3.jpg]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11376"/>
            <a:ext cx="2933700" cy="5513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谢谢！你们别客气，快坐吧！</a:t>
            </a:r>
          </a:p>
        </p:txBody>
      </p:sp>
      <p:sp>
        <p:nvSpPr>
          <p:cNvPr id="8" name="Oval 7"/>
          <p:cNvSpPr/>
          <p:nvPr/>
        </p:nvSpPr>
        <p:spPr>
          <a:xfrm>
            <a:off x="4611305" y="1515659"/>
            <a:ext cx="341845" cy="34184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2938"/>
            <a:ext cx="2743200" cy="5513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都12点了，我们吃饭吧。</a:t>
            </a:r>
          </a:p>
        </p:txBody>
      </p:sp>
      <p:sp>
        <p:nvSpPr>
          <p:cNvPr id="10" name="Oval 9"/>
          <p:cNvSpPr/>
          <p:nvPr/>
        </p:nvSpPr>
        <p:spPr>
          <a:xfrm>
            <a:off x="4611305" y="2147221"/>
            <a:ext cx="341845" cy="34184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09355" y="2874500"/>
            <a:ext cx="2933700" cy="55136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这么多好吃的，您太客气了！</a:t>
            </a:r>
          </a:p>
        </p:txBody>
      </p:sp>
      <p:sp>
        <p:nvSpPr>
          <p:cNvPr id="12" name="Oval 11"/>
          <p:cNvSpPr/>
          <p:nvPr/>
        </p:nvSpPr>
        <p:spPr>
          <a:xfrm>
            <a:off x="11444784" y="2778783"/>
            <a:ext cx="341845" cy="34184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506062"/>
            <a:ext cx="3314700" cy="5513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都是我自己做的，你们多吃点儿。</a:t>
            </a:r>
          </a:p>
        </p:txBody>
      </p:sp>
      <p:sp>
        <p:nvSpPr>
          <p:cNvPr id="14" name="Oval 13"/>
          <p:cNvSpPr/>
          <p:nvPr/>
        </p:nvSpPr>
        <p:spPr>
          <a:xfrm>
            <a:off x="4611305" y="3410345"/>
            <a:ext cx="341845" cy="34184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8355" y="4137624"/>
            <a:ext cx="3314700" cy="55136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奶茶也很好喝，是您自己做的吗？</a:t>
            </a:r>
          </a:p>
        </p:txBody>
      </p:sp>
      <p:sp>
        <p:nvSpPr>
          <p:cNvPr id="16" name="Oval 15"/>
          <p:cNvSpPr/>
          <p:nvPr/>
        </p:nvSpPr>
        <p:spPr>
          <a:xfrm>
            <a:off x="11444784" y="4041907"/>
            <a:ext cx="341845" cy="34184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769186"/>
            <a:ext cx="2552700" cy="5513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不是，奶茶是爷爷买的。</a:t>
            </a:r>
          </a:p>
        </p:txBody>
      </p:sp>
      <p:sp>
        <p:nvSpPr>
          <p:cNvPr id="18" name="Oval 17"/>
          <p:cNvSpPr/>
          <p:nvPr/>
        </p:nvSpPr>
        <p:spPr>
          <a:xfrm>
            <a:off x="4611305" y="4673469"/>
            <a:ext cx="341845" cy="34184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6355" y="5400748"/>
            <a:ext cx="4076700" cy="55136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在哪儿买的？我还没喝过这么好喝的奶茶。</a:t>
            </a:r>
          </a:p>
        </p:txBody>
      </p:sp>
      <p:sp>
        <p:nvSpPr>
          <p:cNvPr id="20" name="Oval 19"/>
          <p:cNvSpPr/>
          <p:nvPr/>
        </p:nvSpPr>
        <p:spPr>
          <a:xfrm>
            <a:off x="11444784" y="5305031"/>
            <a:ext cx="341845" cy="34184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6032310"/>
            <a:ext cx="4457700" cy="5513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就在前边的商场，吃完饭你们可以跟我去看看。</a:t>
            </a:r>
          </a:p>
        </p:txBody>
      </p:sp>
      <p:sp>
        <p:nvSpPr>
          <p:cNvPr id="22" name="Oval 21"/>
          <p:cNvSpPr/>
          <p:nvPr/>
        </p:nvSpPr>
        <p:spPr>
          <a:xfrm>
            <a:off x="4611305" y="5936593"/>
            <a:ext cx="341845" cy="34184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白家月给李文发信息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11094415" cy="156187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assets/img_hoithoai4.jpg]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74420"/>
            <a:ext cx="11094415" cy="3117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回国前一天，我们去一雪姐家了。</a:t>
            </a:r>
          </a:p>
          <a:p>
            <a:pPr>
              <a:spcBef>
                <a:spcPts val="8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Huí guó qián yì tiān, wǒmen qù Yīxuě jiě jiā le.</a:t>
            </a:r>
          </a:p>
          <a:p>
            <a:pPr>
              <a:spcBef>
                <a:spcPts val="8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Ngày trước khi về nước, chúng tớ đến nhà chị Nhất Tuyết.</a:t>
            </a:r>
          </a:p>
          <a:p>
            <a:pPr>
              <a:spcBef>
                <a:spcPts val="1203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到她家的时候，饭菜都做好了。</a:t>
            </a:r>
          </a:p>
          <a:p>
            <a:pPr>
              <a:spcBef>
                <a:spcPts val="8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Dào tā jiā de shíhou, fàncài dōu zuòhǎo le.</a:t>
            </a:r>
          </a:p>
          <a:p>
            <a:pPr>
              <a:spcBef>
                <a:spcPts val="8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đến nhà chị, cơm đã nấu xong rồi.</a:t>
            </a:r>
          </a:p>
          <a:p>
            <a:pPr>
              <a:spcBef>
                <a:spcPts val="1203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刘爷爷还准备了奶茶。</a:t>
            </a:r>
          </a:p>
          <a:p>
            <a:pPr>
              <a:spcBef>
                <a:spcPts val="8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Liú yéye hái zhǔnbèi le nǎichá.</a:t>
            </a:r>
          </a:p>
          <a:p>
            <a:pPr>
              <a:spcBef>
                <a:spcPts val="8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Ông Lưu còn chuẩn bị cả trà sữa.</a:t>
            </a:r>
          </a:p>
          <a:p>
            <a:pPr>
              <a:spcBef>
                <a:spcPts val="1203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因为吃了太多东西，我们吃完饭是走回酒店的。</a:t>
            </a:r>
          </a:p>
          <a:p>
            <a:pPr>
              <a:spcBef>
                <a:spcPts val="8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 chīle tài duō dōngxi, wǒmen chīwán fàn shì zǒuhuí jiǔdiàn de.</a:t>
            </a:r>
          </a:p>
          <a:p>
            <a:pPr>
              <a:spcBef>
                <a:spcPts val="8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Vì ăn quá nhiều, ăn xong chúng tớ đi bộ về khách sạn.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做客文化：8个小习惯</a:t>
            </a:r>
          </a:p>
          <a:p>
            <a:pPr algn="ctr">
              <a:spcBef>
                <a:spcPts val="1000"/>
              </a:spcBef>
              <a:buNone/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Văn hoá làm khách — 8 câu dùng ngay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称呼长辈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叫"爷爷、奶奶"，不叫名字。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 "yéye, nǎinai", bú jiào míngzi.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Gọi "ông, bà", không gọi tên riêng.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🇻🇳 giống nhau: cũng gọi ông/bà/chú/cô, không gọi tên khi mới gặp.</a:t>
            </a:r>
          </a:p>
        </p:txBody>
      </p:sp>
      <p:pic>
        <p:nvPicPr>
          <p:cNvPr id="7" name="Picture 6" descr="van1_danhxu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02968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第一次做客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第一次做客要带礼物。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Dì-yī cì zuòkè yào dài lǐwù.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Lần đầu làm khách phải mang quà.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🇻🇳 tương tự nhưng ít bắt buộc hơn, thường chỉ mang khi có lý do (lễ, Tết).</a:t>
            </a:r>
          </a:p>
        </p:txBody>
      </p:sp>
      <p:pic>
        <p:nvPicPr>
          <p:cNvPr id="7" name="Picture 6" descr="van2_qual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02968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谦虚回应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都是我自己做的。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Dōu shì wǒ zìjǐ zuò de.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Đều là tự tôi làm thôi.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🇻🇳 giống nhau: "có gì đâu" — khiêm nhường khi được khen món ăn.</a:t>
            </a:r>
          </a:p>
        </p:txBody>
      </p:sp>
      <p:pic>
        <p:nvPicPr>
          <p:cNvPr id="7" name="Picture 6" descr="van3_khiemnhuo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02968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让客人多吃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你们多吃点儿。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duō chī diǎnr.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bạn ăn thêm chút đi.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🇻🇳 giống nhau: "ăn thêm đi" mời liên tục suốt bữa.</a:t>
            </a:r>
          </a:p>
        </p:txBody>
      </p:sp>
      <p:pic>
        <p:nvPicPr>
          <p:cNvPr id="7" name="Picture 6" descr="van4_moianth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02968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坐的位置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长辈坐在对着门的位置。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Zhǎngbèi zuò zài duìzhe mén de wèizhì.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Người lớn tuổi ngồi vị trí đối diện cửa.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🇻🇳 chỉ nhường ngồi giữa/đầu bàn, không xét hướng cửa.</a:t>
            </a:r>
          </a:p>
        </p:txBody>
      </p:sp>
      <p:pic>
        <p:nvPicPr>
          <p:cNvPr id="7" name="Picture 6" descr="van5_vitrigng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02968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夸赞食物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这么好喝的奶茶！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Zhème hǎohē de nǎichá!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Trà sữa ngon thế!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🇻🇳 giống nhau: khen món ăn cụ thể là phép lịch sự cơ bản.</a:t>
            </a:r>
          </a:p>
        </p:txBody>
      </p:sp>
      <p:pic>
        <p:nvPicPr>
          <p:cNvPr id="7" name="Picture 6" descr="van6_khenmon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02968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双手送礼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双手把礼物送给长辈。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Shuāngshǒu bǎ lǐwù sòng gěi zhǎngbèi.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Dùng hai tay tặng quà cho người lớn tuổi.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🇻🇳 giống nhau: cũng dùng hai tay tặng/nhận quà, nhất là ngày Tết.</a:t>
            </a:r>
          </a:p>
        </p:txBody>
      </p:sp>
      <p:pic>
        <p:nvPicPr>
          <p:cNvPr id="7" name="Picture 6" descr="van7_qua2t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620681"/>
            <a:ext cx="4297680" cy="286225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文化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给长辈倒茶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先给长辈倒茶，自己再喝。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Xiān gěi zhǎngbèi dào chá, zìjǐ zài hē.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Rót trà cho người lớn trước, mình mới uống.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🇻🇳 cũng rót trà mời người lớn trước, nhưng không có tục gõ ngón tay cảm ơn.</a:t>
            </a:r>
          </a:p>
        </p:txBody>
      </p:sp>
      <p:pic>
        <p:nvPicPr>
          <p:cNvPr id="7" name="Picture 6" descr="van8_rott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02968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