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5.mp3"/><Relationship Id="rId3" Type="http://schemas.openxmlformats.org/officeDocument/2006/relationships/video" Target="../media/media25.mp3"/><Relationship Id="rId4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6.mp3"/><Relationship Id="rId3" Type="http://schemas.openxmlformats.org/officeDocument/2006/relationships/video" Target="../media/media26.mp3"/><Relationship Id="rId4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7.mp3"/><Relationship Id="rId3" Type="http://schemas.openxmlformats.org/officeDocument/2006/relationships/video" Target="../media/media27.mp3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小雪，生日快乐！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Xiǎoxuě, shēngrì kuàilè! — Chúc mừng sinh nhật Tiểu Tuyết</a:t>
            </a:r>
          </a:p>
        </p:txBody>
      </p:sp>
      <p:pic>
        <p:nvPicPr>
          <p:cNvPr id="4" name="Picture 3" descr="birthday_par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46304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状态补语 (得) — nói ai làm việc gì "như thế nào" (giỏi/dở/nhanh/chậm...)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Phân biệt 3 chữ "de": 的 · 地 · 得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 vựng: sinh nhật, tiệc, chúc mừng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rộng: lời chúc theo đối tượng + phong tục sinh nhật ở Trung Quốc</a:t>
            </a:r>
          </a:p>
        </p:txBody>
      </p:sp>
      <p:pic>
        <p:nvPicPr>
          <p:cNvPr id="7" name="Picture 6" descr="placeholder_go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49043"/>
            <a:ext cx="4206240" cy="28055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长</a:t>
            </a:r>
          </a:p>
        </p:txBody>
      </p:sp>
      <p:pic>
        <p:nvPicPr>
          <p:cNvPr id="6" name="Picture 5" descr="chang_ad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4977"/>
            <a:ext cx="3108960" cy="2081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长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cháng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生日会开得时间不长，两个小时就结束了。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Shēngrì huì kāi de shíjiān bù cháng, liǎng ge xiǎoshí jiù jiéshù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Tiệc sinh nhật tổ chức không lâu, hai tiếng là kết thúc.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她的头发很长。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de tóufa hěn cháng.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Tóc cô ấy rất dài.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长 vốn là hình MÁI TÓC dài buông xuống → "dài"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蜡烛</a:t>
            </a:r>
          </a:p>
        </p:txBody>
      </p:sp>
      <p:pic>
        <p:nvPicPr>
          <p:cNvPr id="6" name="Picture 5" descr="laz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蜡烛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làzhú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生日蛋糕上有几根蜡烛？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Shēngrì dàngāo shàng yǒu jǐ gēn làzhú?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Trên bánh sinh nhật có mấy cây nến?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请你帮我点一下蜡烛。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Qǐng nǐ bāng wǒ diǎn yíxià làzhú.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giúp tôi đốt nến nhé.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烛 = 火(huǒ, lửa) → vật thắp LỬA sáng → "nến, đuốc" → 蜡烛 = cây nến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打开</a:t>
            </a:r>
          </a:p>
        </p:txBody>
      </p:sp>
      <p:pic>
        <p:nvPicPr>
          <p:cNvPr id="6" name="Picture 5" descr="dak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232864"/>
            <a:ext cx="3108960" cy="1865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打开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dǎkāi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我们一起打开礼物吧！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yìqǐ dǎkāi lǐwù ba!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cùng mở quà đi!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你可以帮我打开这个盒子吗？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kěyǐ bāng wǒ dǎkāi zhège hézi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có thể giúp tôi mở cái hộp này không?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开 = 一(chốt cửa) + 廾(gǒng, hai bàn tay) → hai tay NÂNG chốt cửa lên → "mở" → 打开 = mở 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蛋糕</a:t>
            </a:r>
          </a:p>
        </p:txBody>
      </p:sp>
      <p:pic>
        <p:nvPicPr>
          <p:cNvPr id="6" name="Picture 5" descr="dang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07" y="1611376"/>
            <a:ext cx="23317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蛋糕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dàngāo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bánh kem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妈妈给我买了一个巧克力蛋糕。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Māma gěi wǒ mǎile yí ge qiǎokèlì dàngāo.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Mẹ mua cho tôi một cái bánh kem sô-cô-la.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这个蛋糕看起来很好吃。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Zhège dàngāo kànqǐlái hěn hǎochī.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Cái bánh kem này nhìn có vẻ rất ngon.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糕 = 米(mǐ, gạo) → bánh làm từ bột GẠO hấp lên cao → "bánh" → 蛋糕 = bánh gato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地</a:t>
            </a:r>
          </a:p>
        </p:txBody>
      </p:sp>
      <p:pic>
        <p:nvPicPr>
          <p:cNvPr id="6" name="Picture 5" descr="de_parti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07" y="1611376"/>
            <a:ext cx="23317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part.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de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trợ từ kết cấu (ôn lại từ bài 5, đứng trước động từ)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大家高兴地唱生日歌。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Dàjiā gāoxìng de chàng shēngrì gē.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Mọi người vui vẻ hát bài hát sinh nhật.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她慢慢地走进来。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mànmàn de zǒu jìnlái.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Cô ấy chậm chậm bước vào.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地 = 土(tǔ, đất) + 也(yě, cũng) → mặt ĐẤT cũng là nơi hành động diễn ra → nối trạng ngữ + động từ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唱</a:t>
            </a:r>
          </a:p>
        </p:txBody>
      </p:sp>
      <p:pic>
        <p:nvPicPr>
          <p:cNvPr id="6" name="Picture 5" descr="chang_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859" y="1611376"/>
            <a:ext cx="3059216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唱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chàng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我们一起唱生日歌吧！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yìqǐ chàng shēngrì gē ba!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cùng hát bài sinh nhật đi!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你会唱这首歌吗？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huì chàng zhè shǒu gē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biết hát bài này không?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唱 = 口(kǒu, miệng) + 昌(chāng, rực rỡ) → MIỆNG cất tiếng rực rỡ vang xa → "hát"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画</a:t>
            </a:r>
          </a:p>
        </p:txBody>
      </p:sp>
      <p:pic>
        <p:nvPicPr>
          <p:cNvPr id="6" name="Picture 5" descr="h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v./n.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vẽ; bức tranh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我给你画了一张生日卡片。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gěi nǐ huàle yì zhāng shēngrì kǎpiàn.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vẽ cho bạn một tấm thiệp sinh nhật.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墙上有一幅画。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Qiáng shàng yǒu yì fú huà.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Trên tường có một bức tranh.</a:t>
            </a:r>
          </a:p>
        </p:txBody>
      </p:sp>
      <p:pic>
        <p:nvPicPr>
          <p:cNvPr id="9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画 = khung 凵 bao quanh 田(tián, ô ruộng) → nét vẽ tạo thành các Ô hình → "vẽ, tranh"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画笔</a:t>
            </a:r>
          </a:p>
        </p:txBody>
      </p:sp>
      <p:pic>
        <p:nvPicPr>
          <p:cNvPr id="6" name="Picture 5" descr="huab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画笔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huàbǐ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bút vẽ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这是我送你的生日礼物——一套画笔。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wǒ sòng nǐ de shēngrì lǐwù — yí tào huàbǐ.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quà sinh nhật tôi tặng bạn — một bộ bút vẽ.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这支画笔是新的。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zhī huàbǐ shì xīn de.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Cây bút vẽ này còn mới.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笔 = 竹(zhú, tre) + 毛(máo, lông) → cán TRE gắn LÔNG để viết/vẽ → "bút" → 画笔 = bút vẽ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快乐</a:t>
            </a:r>
          </a:p>
        </p:txBody>
      </p:sp>
      <p:pic>
        <p:nvPicPr>
          <p:cNvPr id="6" name="Picture 5" descr="kua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5442"/>
            <a:ext cx="3108960" cy="2340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快乐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kuàilè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vui vẻ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祝你生日快乐！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Zhù nǐ shēngrì kuàilè!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Chúc bạn sinh nhật vui vẻ!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今天大家都很快乐。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Jīntiān dàjiā dōu hěn kuàilè.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Hôm nay mọi người đều rất vui.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快 = 忄(xīn, trái tim) + 夬(dứt khoát) → trái tim DỨT KHOÁT, nhẹ nhõm → "nhanh, vui" → 快乐 = vui vẻ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肉</a:t>
            </a:r>
          </a:p>
        </p:txBody>
      </p:sp>
      <p:pic>
        <p:nvPicPr>
          <p:cNvPr id="6" name="Picture 5" descr="r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4977"/>
            <a:ext cx="3108960" cy="2081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肉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ròu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thịt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生日聚会上有很多肉和鱼。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Shēngrì jùhuì shàng yǒu hěn duō ròu hé yú.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Tiệc sinh nhật có nhiều thịt và cá.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我不太喜欢吃肉。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bú tài xǐhuan chī ròu.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không thích ăn thịt lắm.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肉 vốn là hình một MIẾNG THỊT có vân gân bên trong → "thịt"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生日</a:t>
            </a:r>
          </a:p>
        </p:txBody>
      </p:sp>
      <p:pic>
        <p:nvPicPr>
          <p:cNvPr id="6" name="Picture 5" descr="sheng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07" y="1611376"/>
            <a:ext cx="23317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shēngrì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sinh nhật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你的生日是几月几号？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de shēngrì shì jǐ yuè jǐ hào?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Sinh nhật bạn là ngày mấy tháng mấy?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今天是我的生日。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Jīntiān shì wǒ de shēngrì.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Hôm nay là sinh nhật của tôi.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生 = mầm cây mọc lên khỏi mặt ĐẤT (土) → "sinh ra, sống" → 生日 = ngày sinh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舒服</a:t>
            </a:r>
          </a:p>
        </p:txBody>
      </p:sp>
      <p:pic>
        <p:nvPicPr>
          <p:cNvPr id="6" name="Picture 5" descr="shu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舒服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shūfu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thoải mái, dễ chịu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过生日的时候，穿得舒服最重要。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Guò shēngrì de shíhou, chuān de shūfu zuì zhòngyào.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Khi ăn mừng sinh nhật, mặc thoải mái là quan trọng nhất.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你今天看起来不太舒服。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jīntiān kànqǐlái bú tài shūfu.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Hôm nay trông bạn không thoải mái lắm.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舒 = 舍(nhà trọ, nghỉ ngơi) + 予(cho) → được NGHỈ NGƠI thư thái → "thoải mái"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忘</a:t>
            </a:r>
          </a:p>
        </p:txBody>
      </p:sp>
      <p:pic>
        <p:nvPicPr>
          <p:cNvPr id="6" name="Picture 5" descr="w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忘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你忘了我的生日吗？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wàngle wǒ de shēngrì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quên sinh nhật tôi rồi sao?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我忘了带钥匙。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wàngle dài yàoshi.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quên mang chìa khoá.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忘 = 亡(wáng, mất) + 心(xīn, tim) → trong TIM đã MẤT đi điều gì đó → "quên"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鱼</a:t>
            </a:r>
          </a:p>
        </p:txBody>
      </p:sp>
      <p:pic>
        <p:nvPicPr>
          <p:cNvPr id="6" name="Picture 5" descr="y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鱼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cá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生日的时候，奶奶做了一条鱼。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Shēngrì de shíhou, nǎinai zuòle yì tiáo yú.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Vào sinh nhật, bà làm một con cá.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这条鱼很新鲜。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tiáo yú hěn xīnxiān.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Con cá này rất tươi.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鱼 vốn là hình con CÁ nhìn nghiêng (đầu, vây, đuôi) → "cá"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3130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生日聚会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pic>
        <p:nvPicPr>
          <p:cNvPr id="6" name="Picture 5" descr="vocab_ext_cand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209" y="1611376"/>
            <a:ext cx="2013356" cy="268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8335" y="1611377"/>
            <a:ext cx="3474720" cy="106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吹蜡烛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chuī làzhú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thổi nến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884645"/>
            <a:ext cx="3474720" cy="106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shēngrì gē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bài hát sinh nhật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157913"/>
            <a:ext cx="3474720" cy="106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惊喜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jīngxǐ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bất ngờ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335" y="5431181"/>
            <a:ext cx="3474720" cy="106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聚会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jùhuì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buổi tiệc, họp mặt</a:t>
            </a:r>
          </a:p>
        </p:txBody>
      </p:sp>
      <p:pic>
        <p:nvPicPr>
          <p:cNvPr id="11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Mở rộng ngoài sách chính — nhóm từ thực dụng khi nói về tiệc sinh nhật.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祝福语 · 对长辈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Lời chúc — Với người lớn</a:t>
            </a:r>
          </a:p>
        </p:txBody>
      </p:sp>
      <p:pic>
        <p:nvPicPr>
          <p:cNvPr id="6" name="Picture 5" descr="greet_e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237" y="1611376"/>
            <a:ext cx="3579300" cy="268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8335" y="2543048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祝您福如东海，寿比南山！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Zhù nín fú rú dōnghǎi, shòu bǐ nánshān!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Chúc người phúc như biển Đông, thọ như núi Nam.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88968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祝您身体健康，万事如意！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Zhù nín shēntǐ jiànkāng, wànshì rúyì!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Chúc người sức khoẻ dồi dào, mọi sự như ý.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0371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祝福语 · 对同龄人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Lời chúc — Với bạn bè</a:t>
            </a:r>
          </a:p>
        </p:txBody>
      </p:sp>
      <p:pic>
        <p:nvPicPr>
          <p:cNvPr id="6" name="Picture 5" descr="greet_fri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237" y="1611376"/>
            <a:ext cx="3579300" cy="268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8335" y="2543048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祝你生日快乐，心想事成！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Zhù nǐ shēngrì kuàilè, xīnxiǎng shìchéng!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Chúc sinh nhật vui vẻ, điều ước thành hiện thực.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88968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越长越漂亮（帅）！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Yuè zhǎng yuè piàoliang (shuài)!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Càng lớn càng đẹp (đẹp trai)!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0371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祝福语 · 对小朋友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Lời chúc — Với em nhỏ</a:t>
            </a:r>
          </a:p>
        </p:txBody>
      </p:sp>
      <p:pic>
        <p:nvPicPr>
          <p:cNvPr id="6" name="Picture 5" descr="greet_k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13" y="1611376"/>
            <a:ext cx="4024747" cy="268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8335" y="2543048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祝你生日快乐，快快长大！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Zhù nǐ shēngrì kuàilè, kuàikuài zhǎngdà!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Chúc sinh nhật vui vẻ, mau ăn mau lớn.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88968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祝你天天开心，好好学习！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Zhù nǐ tiāntiān kāixīn, hǎohǎo xuéxí!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Chúc ngày nào cũng vui, học tập chăm chỉ.</a:t>
            </a:r>
          </a:p>
        </p:txBody>
      </p:sp>
      <p:pic>
        <p:nvPicPr>
          <p:cNvPr id="9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长寿面 (chángshòu miàn) — Mì trường thọ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Ăn một sợi mì dài không cắt đứt, biểu tượng cho tuổi thọ kéo dài.</a:t>
            </a:r>
          </a:p>
        </p:txBody>
      </p:sp>
      <p:pic>
        <p:nvPicPr>
          <p:cNvPr id="7" name="Picture 6" descr="culture_nood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93924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红鸡蛋 (hóng jīdàn) — Trứng nhuộm đỏ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Tượng trưng cho sự viên mãn, may mắn và đổi mới.</a:t>
            </a:r>
          </a:p>
        </p:txBody>
      </p:sp>
      <p:pic>
        <p:nvPicPr>
          <p:cNvPr id="7" name="Picture 6" descr="culture_eg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862338"/>
            <a:ext cx="4206240" cy="28178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过农历生日 (guò nónglì shēngrì) — Sinh nhật âm lịch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Người lớn tuổi thường tổ chức sinh nhật theo ngày âm lịch truyền thống hơn dương lịch.</a:t>
            </a:r>
          </a:p>
        </p:txBody>
      </p:sp>
      <p:pic>
        <p:nvPicPr>
          <p:cNvPr id="7" name="Picture 6" descr="culture_lun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827387"/>
            <a:ext cx="4206240" cy="28877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过大寿 (guò dàshòu) — Mừng thọ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Các mốc tuổi như 60, 70, 80 được tổ chức rất lớn để con cháu thể hiện lòng hiếu thảo.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送礼禁忌 (sònglǐ jìnjì) — Kiêng tặng quà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526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不送钟/表 (zhōng/biǎo — đồng hồ) — âm giống 终 (zhōng, kết thúc)</a:t>
            </a:r>
          </a:p>
          <a:p>
            <a:pPr>
              <a:spcBef>
                <a:spcPts val="2526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不送毛巾 (máojīn — khăn) — gắn với tang lễ</a:t>
            </a:r>
          </a:p>
          <a:p>
            <a:pPr>
              <a:spcBef>
                <a:spcPts val="2526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不送鞋 (xié — giày) — âm giống 邪 (xié, xua đuổi/chia xa)</a:t>
            </a:r>
          </a:p>
          <a:p>
            <a:pPr>
              <a:spcBef>
                <a:spcPts val="2526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不送梨 (lí — lê) — âm giống 离 (lí, ly biệt)</a:t>
            </a:r>
          </a:p>
        </p:txBody>
      </p:sp>
      <p:pic>
        <p:nvPicPr>
          <p:cNvPr id="7" name="Picture 6" descr="culture_gi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20895"/>
            <a:ext cx="4206240" cy="33007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8089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885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1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本命年与忌讳数字 (běnmìngnián yǔ jìhuì shùzì) — Năm bổn mệnh &amp; số kiêng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55216"/>
            <a:ext cx="6522415" cy="4637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177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本命年 (běnmìngnián) — năm trùng con giáp sinh (cứ 12 năm lặp lại, vd 12/24/36/48/60 tuổi), dân gian tin dễ gặp xui rủi → nhiều người mặc đồ đỏ/đeo dây đỏ để hoá giải.</a:t>
            </a:r>
          </a:p>
          <a:p>
            <a:pPr>
              <a:spcBef>
                <a:spcPts val="2177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Dân gian còn kiêng riêng theo tuổi: 女怕三十三，男怕三十四 (nǚ pà sānshísān, nán pà sānshísì — "nữ sợ 33, nam sợ 34") — mốc tuổi được cho là dễ gặp trắc trở, nên cẩn trọng hơn trong năm đó.</a:t>
            </a:r>
          </a:p>
        </p:txBody>
      </p:sp>
      <p:pic>
        <p:nvPicPr>
          <p:cNvPr id="7" name="Picture 6" descr="culture_zodi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70963"/>
            <a:ext cx="4206240" cy="28055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情景对话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生日惊喜 — Bất ngờ sinh nhật</a:t>
            </a:r>
          </a:p>
        </p:txBody>
      </p:sp>
      <p:pic>
        <p:nvPicPr>
          <p:cNvPr id="6" name="Picture 5" descr="birthday_surpr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2898"/>
            <a:ext cx="3840480" cy="25578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1611376"/>
            <a:ext cx="2301240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小雪，生日快乐！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Xiǎoxuě, shēngrì kuàilè!</a:t>
            </a:r>
          </a:p>
        </p:txBody>
      </p:sp>
      <p:sp>
        <p:nvSpPr>
          <p:cNvPr id="8" name="Oval 7"/>
          <p:cNvSpPr/>
          <p:nvPr/>
        </p:nvSpPr>
        <p:spPr>
          <a:xfrm>
            <a:off x="4596628" y="1505875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50300" y="2307497"/>
            <a:ext cx="2992755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谢谢你还记得我的生日！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 nǐ hái jìde wǒ de shēngrì!</a:t>
            </a:r>
          </a:p>
        </p:txBody>
      </p:sp>
      <p:sp>
        <p:nvSpPr>
          <p:cNvPr id="10" name="Oval 9"/>
          <p:cNvSpPr/>
          <p:nvPr/>
        </p:nvSpPr>
        <p:spPr>
          <a:xfrm>
            <a:off x="11424517" y="2201996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003618"/>
            <a:ext cx="5220970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我怎么会忘呢？这是我给你画的生日卡片。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zěnme huì wàng ne? Zhè shì wǒ gěi nǐ huà de shēngrì kǎpiàn.</a:t>
            </a:r>
          </a:p>
        </p:txBody>
      </p:sp>
      <p:sp>
        <p:nvSpPr>
          <p:cNvPr id="12" name="Oval 11"/>
          <p:cNvSpPr/>
          <p:nvPr/>
        </p:nvSpPr>
        <p:spPr>
          <a:xfrm>
            <a:off x="4596628" y="2898117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650" y="3699739"/>
            <a:ext cx="2224405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哇，你画得真好！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Wa, nǐ huà de zhēn hǎo!</a:t>
            </a:r>
          </a:p>
        </p:txBody>
      </p:sp>
      <p:sp>
        <p:nvSpPr>
          <p:cNvPr id="14" name="Oval 13"/>
          <p:cNvSpPr/>
          <p:nvPr/>
        </p:nvSpPr>
        <p:spPr>
          <a:xfrm>
            <a:off x="11424517" y="3594238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395860"/>
            <a:ext cx="2992755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我们一起打开这个蛋糕吧？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yìqǐ dǎkāi zhège dàngāo ba?</a:t>
            </a:r>
          </a:p>
        </p:txBody>
      </p:sp>
      <p:sp>
        <p:nvSpPr>
          <p:cNvPr id="16" name="Oval 15"/>
          <p:cNvSpPr/>
          <p:nvPr/>
        </p:nvSpPr>
        <p:spPr>
          <a:xfrm>
            <a:off x="4596628" y="4290359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6260" y="5091981"/>
            <a:ext cx="4836795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好啊，还有鱼和肉，今天可以吃得很开心！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a, hái yǒu yú hé ròu, jīntiān kěyǐ chī de hěn kāixīn!</a:t>
            </a:r>
          </a:p>
        </p:txBody>
      </p:sp>
      <p:sp>
        <p:nvSpPr>
          <p:cNvPr id="18" name="Oval 17"/>
          <p:cNvSpPr/>
          <p:nvPr/>
        </p:nvSpPr>
        <p:spPr>
          <a:xfrm>
            <a:off x="11424517" y="4986480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19" name="slide2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状态补语 (1) — V/Adj + 得 + tính từ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 (dé/de) đặt SAU động từ, TRƯỚC tính từ, để nói hành động đó "làm như thế nào" (giỏi/nhanh/tốt...).</a:t>
            </a:r>
          </a:p>
          <a:p>
            <a:pPr>
              <a:spcBef>
                <a:spcPts val="220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Cấu trúc: Chủ ngữ + Động từ + 得 + (很/太...) + Tính từ.</a:t>
            </a:r>
          </a:p>
          <a:p>
            <a:pPr>
              <a:spcBef>
                <a:spcPts val="220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Đây là 1 trong 3 chữ "de" — khác 的 (的字短语, đứng trước danh từ) và 地 (đứng trước động từ, đã học bài 5).</a:t>
            </a:r>
          </a:p>
          <a:p>
            <a:pPr>
              <a:spcBef>
                <a:spcPts val="1100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她画得很好。</a:t>
            </a:r>
          </a:p>
          <a:p>
            <a:pPr>
              <a:spcBef>
                <a:spcPts val="16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huà de hěn hǎo.</a:t>
            </a:r>
          </a:p>
          <a:p>
            <a:pPr>
              <a:spcBef>
                <a:spcPts val="16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vẽ rất đẹp.</a:t>
            </a:r>
          </a:p>
          <a:p>
            <a:pPr>
              <a:spcBef>
                <a:spcPts val="1100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蛋糕做得真漂亮！</a:t>
            </a:r>
          </a:p>
          <a:p>
            <a:pPr>
              <a:spcBef>
                <a:spcPts val="16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Dàngāo zuò de zhēn piàoliang!</a:t>
            </a:r>
          </a:p>
          <a:p>
            <a:pPr>
              <a:spcBef>
                <a:spcPts val="16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Bánh kem làm đẹp thật!</a:t>
            </a:r>
          </a:p>
          <a:p>
            <a:pPr>
              <a:spcBef>
                <a:spcPts val="1100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你昨晚睡得舒服吗？</a:t>
            </a:r>
          </a:p>
          <a:p>
            <a:pPr>
              <a:spcBef>
                <a:spcPts val="16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zuówǎn shuì de shūfu ma?</a:t>
            </a:r>
          </a:p>
          <a:p>
            <a:pPr>
              <a:spcBef>
                <a:spcPts val="16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Đêm qua bạn ngủ ngon không?</a:t>
            </a:r>
          </a:p>
          <a:p>
            <a:pPr>
              <a:spcBef>
                <a:spcPts val="66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6</a:t>
            </a:r>
          </a:p>
        </p:txBody>
      </p:sp>
      <p:pic>
        <p:nvPicPr>
          <p:cNvPr id="7" name="Picture 6" descr="h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59634"/>
            <a:ext cx="4297680" cy="3223260"/>
          </a:xfrm>
          <a:prstGeom prst="rect">
            <a:avLst/>
          </a:prstGeom>
        </p:spPr>
      </p:pic>
      <p:pic>
        <p:nvPicPr>
          <p:cNvPr id="8" name="slide2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状态补语 (2) — phủ định · câu hỏi · có tân ngữ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Phủ định: Động từ + 得 + 不 + tính từ (không dùng 没).</a:t>
            </a:r>
          </a:p>
          <a:p>
            <a:pPr>
              <a:spcBef>
                <a:spcPts val="239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hỏi: thêm 吗 ở cuối, hoặc hỏi "V 得怎么样？"</a:t>
            </a:r>
          </a:p>
          <a:p>
            <a:pPr>
              <a:spcBef>
                <a:spcPts val="239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Khi động từ có tân ngữ (kèm 1 danh từ theo sau), phải LẶP LẠI động từ trước 得: ...V + tân ngữ + V + 得 + tính từ.</a:t>
            </a:r>
          </a:p>
          <a:p>
            <a:pPr>
              <a:spcBef>
                <a:spcPts val="119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我昨天睡得不舒服。</a:t>
            </a:r>
          </a:p>
          <a:p>
            <a:pPr>
              <a:spcBef>
                <a:spcPts val="179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zuótiān shuì de bù shūfu.</a:t>
            </a:r>
          </a:p>
          <a:p>
            <a:pPr>
              <a:spcBef>
                <a:spcPts val="179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qua tôi ngủ không ngon.</a:t>
            </a:r>
          </a:p>
          <a:p>
            <a:pPr>
              <a:spcBef>
                <a:spcPts val="119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你打篮球打得怎么样？</a:t>
            </a:r>
          </a:p>
          <a:p>
            <a:pPr>
              <a:spcBef>
                <a:spcPts val="179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dǎ lánqiú dǎ de zěnmeyàng?</a:t>
            </a:r>
          </a:p>
          <a:p>
            <a:pPr>
              <a:spcBef>
                <a:spcPts val="179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chơi bóng rổ thế nào?</a:t>
            </a:r>
          </a:p>
          <a:p>
            <a:pPr>
              <a:spcBef>
                <a:spcPts val="119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他画画画得很好，可是唱歌唱得不太好。</a:t>
            </a:r>
          </a:p>
          <a:p>
            <a:pPr>
              <a:spcBef>
                <a:spcPts val="179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huàhuà huà de hěn hǎo, kěshì chànggē chàng de bú tài hǎo.</a:t>
            </a:r>
          </a:p>
          <a:p>
            <a:pPr>
              <a:spcBef>
                <a:spcPts val="179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vẽ tranh vẽ rất đẹp, nhưng hát thì không hay lắm.</a:t>
            </a:r>
          </a:p>
          <a:p>
            <a:pPr>
              <a:spcBef>
                <a:spcPts val="718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6</a:t>
            </a:r>
          </a:p>
        </p:txBody>
      </p:sp>
      <p:pic>
        <p:nvPicPr>
          <p:cNvPr id="7" name="Picture 6" descr="basketb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483" y="2050288"/>
            <a:ext cx="3331464" cy="4441952"/>
          </a:xfrm>
          <a:prstGeom prst="rect">
            <a:avLst/>
          </a:prstGeom>
        </p:spPr>
      </p:pic>
      <p:pic>
        <p:nvPicPr>
          <p:cNvPr id="8" name="slide2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的 · 地 · 得</a:t>
            </a:r>
          </a:p>
          <a:p>
            <a:pPr algn="ctr">
              <a:spcBef>
                <a:spcPts val="1000"/>
              </a:spcBef>
              <a:buNone/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Ôn lại 的 (đã học), 地 (bài 5), và học mới 得 (bài 6) — dễ nhầm vì cùng đọc "de".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的 — đứng TRƯỚC danh từ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 nối tính từ/sở hữu với DANH TỪ đứng ngay sau nó.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我的书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de shū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sách của tôi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红色的衣服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hóngsè de yīfu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màu đỏ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她送的礼物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sòng de lǐwù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món quà cô ấy tặng</a:t>
            </a:r>
          </a:p>
        </p:txBody>
      </p:sp>
      <p:pic>
        <p:nvPicPr>
          <p:cNvPr id="7" name="Picture 6" descr="placeholder_de_w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346" y="1611376"/>
            <a:ext cx="3107737" cy="4880864"/>
          </a:xfrm>
          <a:prstGeom prst="rect">
            <a:avLst/>
          </a:prstGeom>
        </p:spPr>
      </p:pic>
      <p:pic>
        <p:nvPicPr>
          <p:cNvPr id="8" name="slide3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地 — đứng TRƯỚC động từ (ôn bài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 nối tính từ (làm trạng ngữ) với ĐỘNG TỪ đứng ngay sau nó.</a:t>
            </a:r>
          </a:p>
          <a:p>
            <a:pPr>
              <a:spcBef>
                <a:spcPts val="1891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高兴地说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gāoxìng de shuō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vui vẻ nói</a:t>
            </a:r>
          </a:p>
          <a:p>
            <a:pPr>
              <a:spcBef>
                <a:spcPts val="1891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慢慢地走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mànmàn de zǒu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 từ từ</a:t>
            </a:r>
          </a:p>
          <a:p>
            <a:pPr>
              <a:spcBef>
                <a:spcPts val="1891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大家高兴地唱生日歌。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 gāoxìng de chàng shēngrì gē.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Mọi người vui vẻ hát bài sinh nhật.</a:t>
            </a:r>
          </a:p>
        </p:txBody>
      </p:sp>
      <p:pic>
        <p:nvPicPr>
          <p:cNvPr id="7" name="Picture 6" descr="de_parti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483" y="2050288"/>
            <a:ext cx="3331464" cy="4441952"/>
          </a:xfrm>
          <a:prstGeom prst="rect">
            <a:avLst/>
          </a:prstGeom>
        </p:spPr>
      </p:pic>
      <p:pic>
        <p:nvPicPr>
          <p:cNvPr id="8" name="slide3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得 — đứng SAU động từ (mới, bài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 nối ĐỘNG TỪ với tính từ đứng sau nó, để nói KẾT QUẢ/MỨC ĐỘ của hành động.</a:t>
            </a:r>
          </a:p>
          <a:p>
            <a:pPr>
              <a:spcBef>
                <a:spcPts val="1891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画得很好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huà de hěn hǎo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vẽ rất đẹp</a:t>
            </a:r>
          </a:p>
          <a:p>
            <a:pPr>
              <a:spcBef>
                <a:spcPts val="1891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你猜得对不对？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cāi de duì bu duì?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đoán đúng không?</a:t>
            </a:r>
          </a:p>
          <a:p>
            <a:pPr>
              <a:spcBef>
                <a:spcPts val="1891"/>
              </a:spcBef>
              <a:buNone/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跑得很快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 de hěn kuài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chạy rất nhanh</a:t>
            </a:r>
          </a:p>
        </p:txBody>
      </p:sp>
      <p:pic>
        <p:nvPicPr>
          <p:cNvPr id="7" name="Picture 6" descr="h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59634"/>
            <a:ext cx="4297680" cy="3223260"/>
          </a:xfrm>
          <a:prstGeom prst="rect">
            <a:avLst/>
          </a:prstGeom>
        </p:spPr>
      </p:pic>
      <p:pic>
        <p:nvPicPr>
          <p:cNvPr id="8" name="slide3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的 · 地 · 得 — bảng so sánh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552192"/>
          <a:ext cx="11094413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124"/>
                <a:gridCol w="5422082"/>
                <a:gridCol w="3545207"/>
              </a:tblGrid>
              <a:tr h="74980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Chữ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Vị trí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的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trước DANH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我的书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地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trước ĐỘNG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高兴地说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得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sau ĐỘNG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画得很好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3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Mẹo nhớ: 的 trước DANH từ · 地 trước ĐỘNG từ · 得 sau ĐỘNG từ.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的, 地 hoặc 得 vào chỗ trống: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1. 这是我___书。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2. 她高兴___唱着生日歌。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3. 你唱___真好听！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的, 地 hoặc 得 vào chỗ trống: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1. 蛋糕做___很漂亮。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2. 这是奶奶做___鱼。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3. 大家慢慢___走进房间，准备给她惊喜。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 câu khẩu ngữ — Sinh nhật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11377"/>
          <a:ext cx="11094413" cy="4880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835"/>
                <a:gridCol w="4668441"/>
                <a:gridCol w="3936137"/>
              </a:tblGrid>
              <a:tr h="649051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89569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蛋糕已经切好了，大家快过来吃吧！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Dàngāo yǐjīng qiē hǎo le, dàjiā kuài guòlái chī ba!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Bánh cắt xong rồi, mọi người mau qua ăn đi!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89569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快把蜡烛吹了，许个愿吧！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Kuài bǎ làzhú chuī le, xǔ ge yuàn ba!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Mau thổi nến đi, ước một điều đi!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89569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哎，别忘了给她拍张照片！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Āi, bié wàngle gěi tā pāi zhāng zhàopiàn!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Này, đừng quên chụp cho cô ấy một tấm ảnh!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490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这鱼做得也太香了吧！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yú zuò de yě tài xiāng le ba!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 này làm thơm quá đi!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89569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你猜她会喜欢这个礼物吗？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cāi tā huì xǐhuan zhège lǐwù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đoán cô ấy có thích món quà này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3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 câu khẩu ngữ — Sinh nhật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11377"/>
          <a:ext cx="11094413" cy="4880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885"/>
                <a:gridCol w="4413534"/>
                <a:gridCol w="4326994"/>
              </a:tblGrid>
              <a:tr h="68359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8359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大家玩得开不开心？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Dàjiā wán de kāi bu kāixīn?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Mọi người chơi có vui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8359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别客气，多吃点肉！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Bié kèqi, duō chī diǎn ròu!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Đừng ngại, ăn thêm chút thịt đi!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9433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时间过得真快，你都长这么大了！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Shíjiān guò de zhēn kuài, nǐ dōu zhǎng zhème dà le!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Thời gian trôi nhanh thật, con đã lớn thế này rồi!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9433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这张卡片是我自己画的，你喜欢吗？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zhāng kǎpiàn shì wǒ zìjǐ huà de, nǐ xǐhuan ma?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Thiệp này là mình tự vẽ đó, bạn có thích không?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9433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今天真舒服，吃得饱，玩得开心！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Jīntiān zhēn shūfu, chī de bǎo, wán de kāixīn!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 thật thoải mái, ăn no, chơi vui!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3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