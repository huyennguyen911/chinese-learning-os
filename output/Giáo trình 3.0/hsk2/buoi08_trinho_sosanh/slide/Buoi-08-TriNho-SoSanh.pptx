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25.mp3" ContentType="audio/mpeg"/>
  <Override PartName="/ppt/media/media26.mp3" ContentType="audio/mpeg"/>
  <Override PartName="/ppt/media/media27.mp3" ContentType="audio/mpeg"/>
  <Override PartName="/ppt/media/media28.mp3" ContentType="audio/mpeg"/>
  <Override PartName="/ppt/media/media29.mp3" ContentType="audio/mpeg"/>
  <Override PartName="/ppt/media/media3.mp3" ContentType="audio/mpeg"/>
  <Override PartName="/ppt/media/media30.mp3" ContentType="audio/mpeg"/>
  <Override PartName="/ppt/media/media31.mp3" ContentType="audio/mpeg"/>
  <Override PartName="/ppt/media/media32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3"/><Relationship Id="rId3" Type="http://schemas.openxmlformats.org/officeDocument/2006/relationships/video" Target="../media/media7.mp3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3"/><Relationship Id="rId3" Type="http://schemas.openxmlformats.org/officeDocument/2006/relationships/video" Target="../media/media8.mp3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3"/><Relationship Id="rId3" Type="http://schemas.openxmlformats.org/officeDocument/2006/relationships/video" Target="../media/media9.mp3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3"/><Relationship Id="rId3" Type="http://schemas.openxmlformats.org/officeDocument/2006/relationships/video" Target="../media/media10.mp3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12.mp3"/><Relationship Id="rId4" Type="http://schemas.openxmlformats.org/officeDocument/2006/relationships/video" Target="../media/media12.mp3"/><Relationship Id="rId5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microsoft.com/office/2007/relationships/media" Target="../media/media13.mp3"/><Relationship Id="rId4" Type="http://schemas.openxmlformats.org/officeDocument/2006/relationships/video" Target="../media/media13.mp3"/><Relationship Id="rId5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microsoft.com/office/2007/relationships/media" Target="../media/media14.mp3"/><Relationship Id="rId4" Type="http://schemas.openxmlformats.org/officeDocument/2006/relationships/video" Target="../media/media14.mp3"/><Relationship Id="rId5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microsoft.com/office/2007/relationships/media" Target="../media/media15.mp3"/><Relationship Id="rId4" Type="http://schemas.openxmlformats.org/officeDocument/2006/relationships/video" Target="../media/media15.mp3"/><Relationship Id="rId5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3"/><Relationship Id="rId3" Type="http://schemas.openxmlformats.org/officeDocument/2006/relationships/video" Target="../media/media16.mp3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3"/><Relationship Id="rId3" Type="http://schemas.openxmlformats.org/officeDocument/2006/relationships/video" Target="../media/media17.mp3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3"/><Relationship Id="rId3" Type="http://schemas.openxmlformats.org/officeDocument/2006/relationships/video" Target="../media/media18.mp3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microsoft.com/office/2007/relationships/media" Target="../media/media19.mp3"/><Relationship Id="rId4" Type="http://schemas.openxmlformats.org/officeDocument/2006/relationships/video" Target="../media/media19.mp3"/><Relationship Id="rId5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microsoft.com/office/2007/relationships/media" Target="../media/media20.mp3"/><Relationship Id="rId4" Type="http://schemas.openxmlformats.org/officeDocument/2006/relationships/video" Target="../media/media20.mp3"/><Relationship Id="rId5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microsoft.com/office/2007/relationships/media" Target="../media/media21.mp3"/><Relationship Id="rId4" Type="http://schemas.openxmlformats.org/officeDocument/2006/relationships/video" Target="../media/media21.mp3"/><Relationship Id="rId5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microsoft.com/office/2007/relationships/media" Target="../media/media22.mp3"/><Relationship Id="rId4" Type="http://schemas.openxmlformats.org/officeDocument/2006/relationships/video" Target="../media/media22.mp3"/><Relationship Id="rId5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microsoft.com/office/2007/relationships/media" Target="../media/media23.mp3"/><Relationship Id="rId4" Type="http://schemas.openxmlformats.org/officeDocument/2006/relationships/video" Target="../media/media23.mp3"/><Relationship Id="rId5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24.mp3"/><Relationship Id="rId4" Type="http://schemas.openxmlformats.org/officeDocument/2006/relationships/video" Target="../media/media24.mp3"/><Relationship Id="rId5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5.mp3"/><Relationship Id="rId3" Type="http://schemas.openxmlformats.org/officeDocument/2006/relationships/video" Target="../media/media25.mp3"/><Relationship Id="rId4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6.mp3"/><Relationship Id="rId3" Type="http://schemas.openxmlformats.org/officeDocument/2006/relationships/video" Target="../media/media26.mp3"/><Relationship Id="rId4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27.mp3"/><Relationship Id="rId4" Type="http://schemas.openxmlformats.org/officeDocument/2006/relationships/video" Target="../media/media27.mp3"/><Relationship Id="rId5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8.mp3"/><Relationship Id="rId3" Type="http://schemas.openxmlformats.org/officeDocument/2006/relationships/video" Target="../media/media28.mp3"/><Relationship Id="rId4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9.mp3"/><Relationship Id="rId3" Type="http://schemas.openxmlformats.org/officeDocument/2006/relationships/video" Target="../media/media29.mp3"/><Relationship Id="rId4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microsoft.com/office/2007/relationships/media" Target="../media/media30.mp3"/><Relationship Id="rId4" Type="http://schemas.openxmlformats.org/officeDocument/2006/relationships/video" Target="../media/media30.mp3"/><Relationship Id="rId5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1.mp3"/><Relationship Id="rId3" Type="http://schemas.openxmlformats.org/officeDocument/2006/relationships/video" Target="../media/media31.mp3"/><Relationship Id="rId4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2.mp3"/><Relationship Id="rId3" Type="http://schemas.openxmlformats.org/officeDocument/2006/relationships/video" Target="../media/media32.mp3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66751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虽然你忘了，但是我记得</a:t>
            </a:r>
          </a:p>
          <a:p>
            <a:pPr algn="l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Even though you forgot, I remembered</a:t>
            </a:r>
          </a:p>
          <a:p>
            <a:pPr algn="l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New HSK Course 2 · Bài 8</a:t>
            </a:r>
          </a:p>
        </p:txBody>
      </p:sp>
      <p:pic>
        <p:nvPicPr>
          <p:cNvPr id="4" name="Picture 3" descr="title_wat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1939126"/>
            <a:ext cx="4480560" cy="29797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Hôm nay học gì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522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159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Nghe hiểu và nói về hoạt động mừng sinh nhật</a:t>
            </a:r>
          </a:p>
          <a:p>
            <a:pPr>
              <a:spcBef>
                <a:spcPts val="2159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Nghe hiểu và dùng "比" để so sánh sự khác biệt giữa 2 sự vật</a:t>
            </a:r>
          </a:p>
          <a:p>
            <a:pPr>
              <a:spcBef>
                <a:spcPts val="2159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Nắm cấu trúc câu phức chuyển ý "虽然……，但是……"</a:t>
            </a:r>
          </a:p>
          <a:p>
            <a:pPr>
              <a:spcBef>
                <a:spcPts val="2159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Tìm hiểu sở thích của người Trung Quốc với một số con số (数字)</a:t>
            </a:r>
          </a:p>
          <a:p>
            <a:pPr>
              <a:spcBef>
                <a:spcPts val="2159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Mở rộng: hỏi giá/so sánh giá khi mua sắm · nhận lỗi, xin lỗi, hứa sửa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36815" y="1611376"/>
            <a:ext cx="4206240" cy="488086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assets/placeholder_goals_TODO.jpg]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手表</a:t>
            </a:r>
          </a:p>
        </p:txBody>
      </p:sp>
      <p:pic>
        <p:nvPicPr>
          <p:cNvPr id="6" name="Picture 5" descr="title_wat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32066"/>
            <a:ext cx="3108960" cy="20675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手表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shǒubiǎo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đồng hồ đeo tay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你看，这两块手表怎么样？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kàn, zhè liǎng kuài shǒubiǎo zěnmeyàng?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Cậu xem, hai cái đồng hồ này thế nào?</a:t>
            </a:r>
          </a:p>
        </p:txBody>
      </p:sp>
      <p:pic>
        <p:nvPicPr>
          <p:cNvPr id="9" name="slide0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表 = 毛(máo, lông) + 衣(yī, áo) → mặt NGOÀI của áo có lông → "bề ngoài, mặt" → 手表 = đồng hồ đeo tay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比</a:t>
            </a:r>
          </a:p>
        </p:txBody>
      </p:sp>
      <p:pic>
        <p:nvPicPr>
          <p:cNvPr id="6" name="Picture 5" descr="bi_comp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99996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比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prep./v.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bǐ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so với, so sánh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今天比昨天冷。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Jīntiān bǐ zuótiān lěng.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Hôm nay lạnh hơn hôm qua.</a:t>
            </a:r>
          </a:p>
        </p:txBody>
      </p:sp>
      <p:pic>
        <p:nvPicPr>
          <p:cNvPr id="9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比 = hai chữ 匕(bǐ, cái thìa) đặt song song → so sánh CẠNH NHAU → "so sánh, hơn"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4/13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记得</a:t>
            </a:r>
          </a:p>
        </p:txBody>
      </p:sp>
      <p:pic>
        <p:nvPicPr>
          <p:cNvPr id="6" name="Picture 5" descr="j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084197"/>
            <a:ext cx="3108960" cy="21633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记得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jìde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nhớ, còn nhớ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我记得你喜欢看爱情片。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jìde nǐ xǐhuan kàn àiqíngpiàn.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Tớ nhớ cậu thích xem phim tình cảm.</a:t>
            </a:r>
          </a:p>
        </p:txBody>
      </p:sp>
      <p:pic>
        <p:nvPicPr>
          <p:cNvPr id="9" name="slide0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记 = 讠(yán, lời nói) + 己(jǐ, bản thân) → tự mình GHI lại bằng lời → "ghi nhớ"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5/13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爱情片</a:t>
            </a:r>
          </a:p>
        </p:txBody>
      </p:sp>
      <p:pic>
        <p:nvPicPr>
          <p:cNvPr id="6" name="Picture 5" descr="aiqingp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99996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爱情片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àiqíngpiàn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phim tình cảm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我们看那个爱情片，怎么样？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Wǒmen kàn nàge àiqíngpiàn, zěnmeyàng?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Mình xem phim tình cảm đó nhé?</a:t>
            </a:r>
          </a:p>
        </p:txBody>
      </p:sp>
      <p:pic>
        <p:nvPicPr>
          <p:cNvPr id="9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情 = 忄(xīn, trái tim) + 青(qīng, tươi xanh non trẻ) → TRÁI TIM rung động tươi trẻ → "tình cảm"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6/13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有意思</a:t>
            </a:r>
          </a:p>
        </p:txBody>
      </p:sp>
      <p:pic>
        <p:nvPicPr>
          <p:cNvPr id="6" name="Picture 5" descr="youyis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85181"/>
            <a:ext cx="3108960" cy="2361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有意思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adj.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yǒu yìsi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thú vị, hay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这个电影比那个爱情片更有意思。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Zhège diànyǐng bǐ nàge àiqíngpiàn gèng yǒu yìsi.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Phim này thú vị hơn phim tình cảm kia.</a:t>
            </a:r>
          </a:p>
        </p:txBody>
      </p:sp>
      <p:pic>
        <p:nvPicPr>
          <p:cNvPr id="9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意 = 音(yīn, âm thanh) + 心(xīn, tim) → âm thanh phát ra từ TRONG TIM → "ý" → 有意思 = có ý nghĩa, thú vị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7/13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点</a:t>
            </a:r>
          </a:p>
        </p:txBody>
      </p:sp>
      <p:pic>
        <p:nvPicPr>
          <p:cNvPr id="6" name="Picture 5" descr="dian_or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99996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点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diǎn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gọi (món ăn); chấm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怎么点这么多菜？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Zěnme diǎn zhème duō cài?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Sao gọi nhiều món thế?</a:t>
            </a:r>
          </a:p>
        </p:txBody>
      </p:sp>
      <p:pic>
        <p:nvPicPr>
          <p:cNvPr id="9" name="slide0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点 = 占(zhàn, chiếm) + 灬(huǒ, lửa) → NGỌN LỬA nhỏ, chấm sáng → "điểm, chấm" → 点(菜) = gọi món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8/13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虽然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assets/words/suiran_TODO.jpg]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虽然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conj.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suīrán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tuy, mặc dù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虽然觉得有点儿累，我还是走回家了。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Suīrán juéde yǒudiǎnr lèi, wǒ háishi zǒu huí jiā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Tuy thấy hơi mệt, tớ vẫn đi bộ về nhà.</a:t>
            </a:r>
          </a:p>
        </p:txBody>
      </p:sp>
      <p:pic>
        <p:nvPicPr>
          <p:cNvPr id="9" name="slide0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虽 = 口(kǒu, miệng) + 虫(chóng, côn trùng) → tuy là côn trùng nhỏ NHƯNG vẫn kêu to → "tuy, mặc dù"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9/13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但是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assets/words/danshi_TODO.jpg]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但是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conj.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dànshì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nhưng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外边下雪了，但是不太冷。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Wàibian xiàxuě le, dànshì bú tài lěng.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Ngoài trời có tuyết, nhưng không lạnh lắm.</a:t>
            </a:r>
          </a:p>
        </p:txBody>
      </p:sp>
      <p:pic>
        <p:nvPicPr>
          <p:cNvPr id="9" name="slide1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但 = 亻(rén, người) + 旦(dàn, mặt trời mọc = bình minh) → nghĩa gốc "chỉ, duy nhất", sau dùng làm từ nối "nhưng"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10/13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assets/words/hua_TODO.jpg]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花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huā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tiêu (tiền) — ⚠️ khác nghĩa "hoa" đã học ở HSK1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今天花了不少钱吧？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Jīntiān huāle bù shǎo qián ba?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Hôm nay tiêu không ít tiền nhỉ?</a:t>
            </a:r>
          </a:p>
        </p:txBody>
      </p:sp>
      <p:pic>
        <p:nvPicPr>
          <p:cNvPr id="9" name="slide1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花 = 艹(cǎo, cỏ cây) + 化(huà, biến đổi) → CỎ CÂY biến đổi nở ra → "hoa"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11/13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妻子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assets/words/qizi_TODO.jpg]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妻子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qīzi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妻子觉得今天很快乐。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Qīzi juéde jīntiān hěn kuàilè.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Vợ cảm thấy hôm nay rất vui.</a:t>
            </a:r>
          </a:p>
        </p:txBody>
      </p:sp>
      <p:pic>
        <p:nvPicPr>
          <p:cNvPr id="9" name="slide1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妻 = 十+彐(bàn tay)+女(nǚ, phụ nữ) → người PHỤ NỮ được chăm sóc trong nhà → "vợ"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12/13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丈夫</a:t>
            </a:r>
          </a:p>
        </p:txBody>
      </p:sp>
      <p:pic>
        <p:nvPicPr>
          <p:cNvPr id="6" name="Picture 5" descr="zhangf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055079"/>
            <a:ext cx="3108960" cy="22215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丈夫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zhàngfu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chồng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她的丈夫是医生。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 de zhàngfu shì yīshēng.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Chồng cô ấy là bác sĩ.</a:t>
            </a:r>
          </a:p>
        </p:txBody>
      </p:sp>
      <p:pic>
        <p:nvPicPr>
          <p:cNvPr id="9" name="slide1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丈 = 一(một) + 又(yòu, bàn tay) → đơn vị đo bằng SẢI TAY người đàn ông → "trượng, chồng"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13/13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饭馆</a:t>
            </a:r>
          </a:p>
        </p:txBody>
      </p:sp>
      <p:pic>
        <p:nvPicPr>
          <p:cNvPr id="6" name="Picture 5" descr="fangu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27512"/>
            <a:ext cx="3108960" cy="20766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饭馆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fànguǎn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quán ăn, nhà hàng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这家饭馆的菜很好吃。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 jiā fànguǎn de cài hěn hǎochī.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Quán ăn này món ăn rất ngon.</a:t>
            </a:r>
          </a:p>
        </p:txBody>
      </p:sp>
      <p:pic>
        <p:nvPicPr>
          <p:cNvPr id="9" name="slide1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馆 = 饣(shí, ăn) + 官(guān, nơi công cộng) → nơi CÔNG CỘNG phục vụ ĂN uống → "quán ăn"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300467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1/6 · 认错道歉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错</a:t>
            </a:r>
          </a:p>
        </p:txBody>
      </p:sp>
      <p:pic>
        <p:nvPicPr>
          <p:cNvPr id="6" name="Picture 5" descr="cuo_wro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611376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错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adj./n.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cuò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对不起，这次是我的错。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Duìbuqǐ, zhè cì shì wǒ de cuò.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Xin lỗi, lần này là lỗi của tớ.</a:t>
            </a:r>
          </a:p>
        </p:txBody>
      </p:sp>
      <p:pic>
        <p:nvPicPr>
          <p:cNvPr id="9" name="slide1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错 = 钅(jīn, kim loại) + 昔(xī, xưa cũ) → kim loại cũ kỹ, gỉ sét → "sai"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300467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2/6 · 认错道歉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以后</a:t>
            </a:r>
          </a:p>
        </p:txBody>
      </p:sp>
      <p:pic>
        <p:nvPicPr>
          <p:cNvPr id="6" name="Picture 5" descr="yiho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07" y="1611376"/>
            <a:ext cx="233172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以后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adv./n.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yǐhòu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từ giờ về sau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以后我每天都练习中文。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Yǐhòu wǒ měitiān dōu liànxí Zhōngwén.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Từ giờ ngày nào tớ cũng luyện tiếng Trung.</a:t>
            </a:r>
          </a:p>
        </p:txBody>
      </p:sp>
      <p:pic>
        <p:nvPicPr>
          <p:cNvPr id="9" name="slide1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后 vốn là hình một NGƯỜI đứng ra lệnh (miệng 口 ra lệnh) → "phía sau, vua" → 以后 = sau này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300467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3/6 · 认错道歉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注意</a:t>
            </a:r>
          </a:p>
        </p:txBody>
      </p:sp>
      <p:pic>
        <p:nvPicPr>
          <p:cNvPr id="6" name="Picture 5" descr="zhuy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611376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注意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zhùyì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chú 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以后我一定注意。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Yǐhòu wǒ yídìng zhùyì.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Từ giờ tớ nhất định sẽ chú ý.</a:t>
            </a:r>
          </a:p>
        </p:txBody>
      </p:sp>
      <p:pic>
        <p:nvPicPr>
          <p:cNvPr id="9" name="slide1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注 = 氵(shuǐ, nước) + 主(zhǔ, chủ) → dồn NƯỚC vào đúng CHỖ CHỦ chốt → "rót vào, chú ý"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300467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4/6 · 认错道歉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一定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assets/words/yiding_TODO.jpg]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一定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yídìng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nhất định, chắc chắn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下次我一定记得。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Xià cì wǒ yídìng jìde.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Lần sau tớ nhất định sẽ nhớ.</a:t>
            </a:r>
          </a:p>
        </p:txBody>
      </p:sp>
      <p:pic>
        <p:nvPicPr>
          <p:cNvPr id="9" name="slide1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定 = 宀(mián, mái nhà) + 疋(pǐ, bàn chân) → chân đã YÊN VỊ trong nhà, không đổi nữa → "nhất định"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300467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5/6 · 认错道歉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答应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assets/words/daying_TODO.jpg]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答应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dāying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hứa, đồng ý làm gì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我答应你，以后不会再忘了。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dāying nǐ, yǐhòu bú huì zài wàng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Tớ hứa với cậu, từ giờ sẽ không quên nữa.</a:t>
            </a:r>
          </a:p>
        </p:txBody>
      </p:sp>
      <p:pic>
        <p:nvPicPr>
          <p:cNvPr id="9" name="slide1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答 = 竹(trúc) + 合(hé, khớp lại) → lời ĐÁP khớp như 2 mảnh tre ghép lại → "đáp" → 答应 = đồng 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300467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6/6 · 认错道歉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负责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assets/words/fuze_TODO.jpg]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负责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fùzé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chịu trách nhiệm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这次是我的错，我负责。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 cì shì wǒ de cuò, wǒ fùzé.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Lần này là lỗi của tớ, tớ chịu trách nhiệm.</a:t>
            </a:r>
          </a:p>
        </p:txBody>
      </p:sp>
      <p:pic>
        <p:nvPicPr>
          <p:cNvPr id="9" name="slide2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责 = 龶 + 贝(bèi, tiền/vỏ sò xưa) → phải LO khoản NỢ tiền → "trách nhiệm" → 负责 = chịu trách nhiệm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在商场 — 王一雪和刘明在购物</a:t>
            </a:r>
          </a:p>
        </p:txBody>
      </p:sp>
      <p:pic>
        <p:nvPicPr>
          <p:cNvPr id="6" name="Picture 5" descr="title_wat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575" y="2774773"/>
            <a:ext cx="3840480" cy="255406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11376"/>
            <a:ext cx="3684270" cy="7391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你看，这两块手表怎么样？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kàn, zhè liǎng kuài shǒubiǎo zěnmeyàng?</a:t>
            </a:r>
          </a:p>
        </p:txBody>
      </p:sp>
      <p:sp>
        <p:nvSpPr>
          <p:cNvPr id="8" name="Oval 7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99455" y="2458010"/>
            <a:ext cx="1737360" cy="7391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都不错！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Dōu búcuò!</a:t>
            </a:r>
          </a:p>
        </p:txBody>
      </p:sp>
      <p:sp>
        <p:nvSpPr>
          <p:cNvPr id="10" name="Oval 9"/>
          <p:cNvSpPr/>
          <p:nvPr/>
        </p:nvSpPr>
        <p:spPr>
          <a:xfrm>
            <a:off x="7192853" y="234023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04644"/>
            <a:ext cx="2301240" cy="7391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我喜欢左边这个。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xǐhuan zuǒbian zhège.</a:t>
            </a:r>
          </a:p>
        </p:txBody>
      </p:sp>
      <p:sp>
        <p:nvSpPr>
          <p:cNvPr id="12" name="Oval 11"/>
          <p:cNvSpPr/>
          <p:nvPr/>
        </p:nvSpPr>
        <p:spPr>
          <a:xfrm>
            <a:off x="371977" y="3186869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8875" y="4151278"/>
            <a:ext cx="3837940" cy="7391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我也觉得左边的比右边的好看。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yě juéde zuǒbian de bǐ yòubian de hǎokàn.</a:t>
            </a:r>
          </a:p>
        </p:txBody>
      </p:sp>
      <p:sp>
        <p:nvSpPr>
          <p:cNvPr id="14" name="Oval 13"/>
          <p:cNvSpPr/>
          <p:nvPr/>
        </p:nvSpPr>
        <p:spPr>
          <a:xfrm>
            <a:off x="7192853" y="4033503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97912"/>
            <a:ext cx="2531745" cy="7391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你看看要多少钱！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kànkan yào duōshao qián!</a:t>
            </a:r>
          </a:p>
        </p:txBody>
      </p:sp>
      <p:sp>
        <p:nvSpPr>
          <p:cNvPr id="16" name="Oval 15"/>
          <p:cNvSpPr/>
          <p:nvPr/>
        </p:nvSpPr>
        <p:spPr>
          <a:xfrm>
            <a:off x="371977" y="4880137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5070" y="5844546"/>
            <a:ext cx="2531745" cy="7391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真不便宜！八千八！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Zhēn bù piányi! Bā qiān bā!</a:t>
            </a:r>
          </a:p>
        </p:txBody>
      </p:sp>
      <p:sp>
        <p:nvSpPr>
          <p:cNvPr id="18" name="Oval 17"/>
          <p:cNvSpPr/>
          <p:nvPr/>
        </p:nvSpPr>
        <p:spPr>
          <a:xfrm>
            <a:off x="7192853" y="5726771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pic>
        <p:nvPicPr>
          <p:cNvPr id="19" name="slide2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在商场，王一雪和刘明在购物。(In the mall, Wang Yixue and Liu Ming were shopping.)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在电影院外面 — 王一雪和刘明在聊天儿</a:t>
            </a:r>
          </a:p>
        </p:txBody>
      </p:sp>
      <p:pic>
        <p:nvPicPr>
          <p:cNvPr id="6" name="Picture 5" descr="cinema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575" y="2766017"/>
            <a:ext cx="3840480" cy="25715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11376"/>
            <a:ext cx="4683125" cy="58186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今天有不少电影，我们看个电影吧。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Jīntiān yǒu bù shǎo diànyǐng, wǒmen kàn gè diànyǐng ba.</a:t>
            </a:r>
          </a:p>
        </p:txBody>
      </p:sp>
      <p:sp>
        <p:nvSpPr>
          <p:cNvPr id="8" name="Oval 7"/>
          <p:cNvSpPr/>
          <p:nvPr/>
        </p:nvSpPr>
        <p:spPr>
          <a:xfrm>
            <a:off x="397122" y="1510364"/>
            <a:ext cx="360755" cy="360755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65115" y="2277874"/>
            <a:ext cx="2171700" cy="793451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好啊！我们看哪个？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 a! Wǒmen kàn nǎge?</a:t>
            </a:r>
          </a:p>
        </p:txBody>
      </p:sp>
      <p:sp>
        <p:nvSpPr>
          <p:cNvPr id="10" name="Oval 9"/>
          <p:cNvSpPr/>
          <p:nvPr/>
        </p:nvSpPr>
        <p:spPr>
          <a:xfrm>
            <a:off x="7192853" y="2160099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5959"/>
            <a:ext cx="5912485" cy="58186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我记得你喜欢看爱情片，我们看那个爱情片，怎么样？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jìde nǐ xǐhuan kàn àiqíngpiàn, wǒmen kàn nàge àiqíngpiàn, zěnmeyàng?</a:t>
            </a:r>
          </a:p>
        </p:txBody>
      </p:sp>
      <p:sp>
        <p:nvSpPr>
          <p:cNvPr id="12" name="Oval 11"/>
          <p:cNvSpPr/>
          <p:nvPr/>
        </p:nvSpPr>
        <p:spPr>
          <a:xfrm>
            <a:off x="397122" y="3054947"/>
            <a:ext cx="360755" cy="360755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22457"/>
            <a:ext cx="6888175" cy="581864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还是看这个吧，我看网上说这个电影比那个爱情片更有意思。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Háishi kàn zhège ba, wǒ kàn wǎngshang shuō zhège diànyǐng bǐ nàge àiqíngpiàn gèng yǒu yìsi.</a:t>
            </a:r>
          </a:p>
        </p:txBody>
      </p:sp>
      <p:sp>
        <p:nvSpPr>
          <p:cNvPr id="14" name="Oval 13"/>
          <p:cNvSpPr/>
          <p:nvPr/>
        </p:nvSpPr>
        <p:spPr>
          <a:xfrm>
            <a:off x="7227577" y="3721445"/>
            <a:ext cx="360755" cy="360755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88955"/>
            <a:ext cx="1993900" cy="58186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好。我去买票。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Hǎo. Wǒ qù mǎi piào.</a:t>
            </a:r>
          </a:p>
        </p:txBody>
      </p:sp>
      <p:sp>
        <p:nvSpPr>
          <p:cNvPr id="16" name="Oval 15"/>
          <p:cNvSpPr/>
          <p:nvPr/>
        </p:nvSpPr>
        <p:spPr>
          <a:xfrm>
            <a:off x="397122" y="4387943"/>
            <a:ext cx="360755" cy="360755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69515" y="5155453"/>
            <a:ext cx="5067300" cy="581864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到网上买吧，网上买比在这里买便宜。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Dào wǎngshang mǎi ba, wǎngshang mǎi bǐ zài zhèli mǎi piányi.</a:t>
            </a:r>
          </a:p>
        </p:txBody>
      </p:sp>
      <p:sp>
        <p:nvSpPr>
          <p:cNvPr id="18" name="Oval 17"/>
          <p:cNvSpPr/>
          <p:nvPr/>
        </p:nvSpPr>
        <p:spPr>
          <a:xfrm>
            <a:off x="7227577" y="5054441"/>
            <a:ext cx="360755" cy="360755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pic>
        <p:nvPicPr>
          <p:cNvPr id="19" name="slide2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在电影院外面，王一雪和刘明在聊天儿。(Outside the cinema, Wang Yixue and Liu Ming were chatting.)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在饭馆 — 王一雪和刘明在点菜</a:t>
            </a:r>
          </a:p>
        </p:txBody>
      </p:sp>
      <p:pic>
        <p:nvPicPr>
          <p:cNvPr id="6" name="Picture 5" descr="dinner_cand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575" y="2771023"/>
            <a:ext cx="3840480" cy="256157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11376"/>
            <a:ext cx="3684270" cy="477271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您好！就要这几个菜吧，谢谢！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Nín hǎo! Jiù yào zhè jǐ gè cài ba, xièxie!</a:t>
            </a:r>
          </a:p>
        </p:txBody>
      </p:sp>
      <p:sp>
        <p:nvSpPr>
          <p:cNvPr id="8" name="Oval 7"/>
          <p:cNvSpPr/>
          <p:nvPr/>
        </p:nvSpPr>
        <p:spPr>
          <a:xfrm>
            <a:off x="424358" y="1528521"/>
            <a:ext cx="295908" cy="295908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58740" y="2158068"/>
            <a:ext cx="2378075" cy="477271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怎么点这么多菜？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Zěnme diǎn zhème duō cài?</a:t>
            </a:r>
          </a:p>
        </p:txBody>
      </p:sp>
      <p:sp>
        <p:nvSpPr>
          <p:cNvPr id="10" name="Oval 9"/>
          <p:cNvSpPr/>
          <p:nvPr/>
        </p:nvSpPr>
        <p:spPr>
          <a:xfrm>
            <a:off x="7265188" y="2075213"/>
            <a:ext cx="295908" cy="295908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04760"/>
            <a:ext cx="3607435" cy="477271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你想想，今天是几月几号？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xiǎngxiang, jīntiān shì jǐ yuè jǐ hào?</a:t>
            </a:r>
          </a:p>
        </p:txBody>
      </p:sp>
      <p:sp>
        <p:nvSpPr>
          <p:cNvPr id="12" name="Oval 11"/>
          <p:cNvSpPr/>
          <p:nvPr/>
        </p:nvSpPr>
        <p:spPr>
          <a:xfrm>
            <a:off x="424358" y="2621905"/>
            <a:ext cx="295908" cy="295908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6720" y="3251452"/>
            <a:ext cx="3300095" cy="477271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8月27号。啊！我的生日！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Bā yuè èrshíqī hào. À! Wǒ de shēngrì!</a:t>
            </a:r>
          </a:p>
        </p:txBody>
      </p:sp>
      <p:sp>
        <p:nvSpPr>
          <p:cNvPr id="14" name="Oval 13"/>
          <p:cNvSpPr/>
          <p:nvPr/>
        </p:nvSpPr>
        <p:spPr>
          <a:xfrm>
            <a:off x="7265188" y="3168597"/>
            <a:ext cx="295908" cy="295908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8144"/>
            <a:ext cx="6066155" cy="477271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生日快乐！虽然你忘了，但是我记得。看看这是什么？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Shēngrì kuàilè! Suīrán nǐ wàng le, dànshì wǒ jìde. Kànkan zhè shì shénme?</a:t>
            </a:r>
          </a:p>
        </p:txBody>
      </p:sp>
      <p:sp>
        <p:nvSpPr>
          <p:cNvPr id="16" name="Oval 15"/>
          <p:cNvSpPr/>
          <p:nvPr/>
        </p:nvSpPr>
        <p:spPr>
          <a:xfrm>
            <a:off x="424358" y="3715289"/>
            <a:ext cx="295908" cy="295908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3320" y="4344836"/>
            <a:ext cx="6373495" cy="477271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手表！吃饭、看电影、买手表，今天花了不少钱吧？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Shǒubiǎo! Chī fàn, kàn diànyǐng, mǎi shǒubiǎo, jīntiān huāle bù shǎo qián ba?</a:t>
            </a:r>
          </a:p>
        </p:txBody>
      </p:sp>
      <p:sp>
        <p:nvSpPr>
          <p:cNvPr id="18" name="Oval 17"/>
          <p:cNvSpPr/>
          <p:nvPr/>
        </p:nvSpPr>
        <p:spPr>
          <a:xfrm>
            <a:off x="7265188" y="4261981"/>
            <a:ext cx="295908" cy="295908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1528"/>
            <a:ext cx="5681980" cy="477271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虽然花了一些钱，但是我们过了一个快乐的生日。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Suīrán huāle yìxiē qián, dànshì wǒmen guòle yí gè kuàilè de shēngrì.</a:t>
            </a:r>
          </a:p>
        </p:txBody>
      </p:sp>
      <p:sp>
        <p:nvSpPr>
          <p:cNvPr id="20" name="Oval 19"/>
          <p:cNvSpPr/>
          <p:nvPr/>
        </p:nvSpPr>
        <p:spPr>
          <a:xfrm>
            <a:off x="424358" y="4808673"/>
            <a:ext cx="295908" cy="295908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pic>
        <p:nvPicPr>
          <p:cNvPr id="21" name="slide2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在饭馆，王一雪和刘明在点菜。(At the restaurant, Wang Yixue and Liu Ming were ordering food.)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情景对话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认错 · 道歉 · 保证改</a:t>
            </a:r>
          </a:p>
        </p:txBody>
      </p:sp>
      <p:pic>
        <p:nvPicPr>
          <p:cNvPr id="6" name="Picture 5" descr="bouqu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575" y="2334093"/>
            <a:ext cx="3840480" cy="34354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11376"/>
            <a:ext cx="2915920" cy="794989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你怎么忘了我们的约会？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zěnme wàngle wǒmen de yuēhuì?</a:t>
            </a:r>
          </a:p>
        </p:txBody>
      </p:sp>
      <p:sp>
        <p:nvSpPr>
          <p:cNvPr id="8" name="Oval 7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21999"/>
            <a:ext cx="6888175" cy="1373163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对不起，我错了。虽然这次忘了，但是下次我一定注意，不会再忘了。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Duìbuqǐ, wǒ cuò le. Suīrán zhè cì wàng le, dànshì xià cì wǒ yídìng zhùyì, bú huì zài wàng le.</a:t>
            </a:r>
          </a:p>
        </p:txBody>
      </p:sp>
      <p:sp>
        <p:nvSpPr>
          <p:cNvPr id="10" name="Oval 9"/>
          <p:cNvSpPr/>
          <p:nvPr/>
        </p:nvSpPr>
        <p:spPr>
          <a:xfrm>
            <a:off x="7192853" y="2404224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10796"/>
            <a:ext cx="3376930" cy="108407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没关系，下次早点儿告诉我。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 guānxi, xià cì zǎo diǎnr gàosu wǒ.</a:t>
            </a:r>
          </a:p>
        </p:txBody>
      </p:sp>
      <p:sp>
        <p:nvSpPr>
          <p:cNvPr id="12" name="Oval 11"/>
          <p:cNvSpPr/>
          <p:nvPr/>
        </p:nvSpPr>
        <p:spPr>
          <a:xfrm>
            <a:off x="371977" y="389302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52545" y="5210506"/>
            <a:ext cx="3684270" cy="794989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我答应你，以后这种事我负责。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dāying nǐ, yǐhòu zhè zhǒng shì wǒ fùzé.</a:t>
            </a:r>
          </a:p>
        </p:txBody>
      </p:sp>
      <p:sp>
        <p:nvSpPr>
          <p:cNvPr id="14" name="Oval 13"/>
          <p:cNvSpPr/>
          <p:nvPr/>
        </p:nvSpPr>
        <p:spPr>
          <a:xfrm>
            <a:off x="7192853" y="5092731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pic>
        <p:nvPicPr>
          <p:cNvPr id="15" name="slide2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6" name="TextBox 15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Bonus 比较句: 我觉得先说"对不起"比先解释原因更重要。(Xin lỗi trước quan trọng hơn giải thích lý do trước.)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小语讲述王一雪和刘明的一天</a:t>
            </a:r>
          </a:p>
        </p:txBody>
      </p:sp>
      <p:pic>
        <p:nvPicPr>
          <p:cNvPr id="6" name="Picture 5" descr="couple_gi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597" y="1611376"/>
            <a:ext cx="2082501" cy="1561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374420"/>
            <a:ext cx="11094415" cy="3117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①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虽然妻子忘了今天是自己的生日，但是丈夫记得。</a:t>
            </a:r>
          </a:p>
          <a:p>
            <a:pPr>
              <a:spcBef>
                <a:spcPts val="94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Suīrán qīzi wàngle jīntiān shì zìjǐ de shēngrì, dànshì zhàngfu jìde.</a:t>
            </a:r>
          </a:p>
          <a:p>
            <a:pPr>
              <a:spcBef>
                <a:spcPts val="94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Tuy vợ quên hôm nay là sinh nhật mình, nhưng chồng nhớ.</a:t>
            </a:r>
          </a:p>
          <a:p>
            <a:pPr>
              <a:spcBef>
                <a:spcPts val="1329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②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丈夫请妻子去饭馆吃饭、去电影院看电影，还给妻子买了一块非常漂亮的手表。</a:t>
            </a:r>
          </a:p>
          <a:p>
            <a:pPr>
              <a:spcBef>
                <a:spcPts val="94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Zhàngfu qǐng qīzi qù fànguǎn chī fàn, qù diànyǐngyuàn kàn diànyǐng, hái gěi qīzi mǎile yí kuài fēicháng piàoliang de shǒubiǎo.</a:t>
            </a:r>
          </a:p>
          <a:p>
            <a:pPr>
              <a:spcBef>
                <a:spcPts val="94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Chồng mời vợ đi ăn nhà hàng, đi rạp xem phim, còn mua tặng vợ một chiếc đồng hồ rất đẹp.</a:t>
            </a:r>
          </a:p>
          <a:p>
            <a:pPr>
              <a:spcBef>
                <a:spcPts val="1329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③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妻子觉得今天很快乐。</a:t>
            </a:r>
          </a:p>
          <a:p>
            <a:pPr>
              <a:spcBef>
                <a:spcPts val="94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Qīzi juéde jīntiān hěn kuàilè.</a:t>
            </a:r>
          </a:p>
          <a:p>
            <a:pPr>
              <a:spcBef>
                <a:spcPts val="94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Vợ cảm thấy hôm nay rất vui.</a:t>
            </a:r>
          </a:p>
          <a:p>
            <a:pPr>
              <a:spcBef>
                <a:spcPts val="1139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小语助力: 这里"请"是"请客"的意思 — mời/đãi khách, không phải nghĩa "xin/mời làm gì" thông thường.</a:t>
            </a:r>
          </a:p>
        </p:txBody>
      </p:sp>
      <p:pic>
        <p:nvPicPr>
          <p:cNvPr id="8" name="slide2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1/7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比较句 — cơ bản nhất: A + 比 + B + tính từ</a:t>
            </a:r>
          </a:p>
          <a:p>
            <a:pPr>
              <a:spcBef>
                <a:spcPts val="1688"/>
              </a:spcBef>
              <a:buNone/>
            </a:pPr>
            <a:r>
              <a:rPr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我也觉得左边的比右边的好看。</a:t>
            </a:r>
          </a:p>
          <a:p>
            <a:pPr>
              <a:spcBef>
                <a:spcPts val="253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yě juéde zuǒbian de bǐ yòubian de hǎokàn.</a:t>
            </a:r>
          </a:p>
          <a:p>
            <a:pPr>
              <a:spcBef>
                <a:spcPts val="253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Tớ cũng thấy cái bên trái đẹp hơn cái bên phải.</a:t>
            </a:r>
          </a:p>
          <a:p>
            <a:pPr>
              <a:spcBef>
                <a:spcPts val="1688"/>
              </a:spcBef>
              <a:buNone/>
            </a:pPr>
            <a:r>
              <a:rPr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今天比昨天冷。</a:t>
            </a:r>
          </a:p>
          <a:p>
            <a:pPr>
              <a:spcBef>
                <a:spcPts val="253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Jīntiān bǐ zuótiān lěng.</a:t>
            </a:r>
          </a:p>
          <a:p>
            <a:pPr>
              <a:spcBef>
                <a:spcPts val="253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Hôm nay lạnh hơn hôm qua.</a:t>
            </a:r>
          </a:p>
          <a:p>
            <a:pPr>
              <a:spcBef>
                <a:spcPts val="1688"/>
              </a:spcBef>
              <a:buNone/>
            </a:pPr>
            <a:r>
              <a:rPr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他觉得踢足球比打篮球有意思。</a:t>
            </a:r>
          </a:p>
          <a:p>
            <a:pPr>
              <a:spcBef>
                <a:spcPts val="253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juéde tī zúqiú bǐ dǎ lánqiú yǒu yìsi.</a:t>
            </a:r>
          </a:p>
          <a:p>
            <a:pPr>
              <a:spcBef>
                <a:spcPts val="253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Cậu ấy thấy đá bóng thú vị hơn chơi bóng rổ.</a:t>
            </a:r>
          </a:p>
          <a:p>
            <a:pPr>
              <a:spcBef>
                <a:spcPts val="1266"/>
              </a:spcBef>
              <a:buNone/>
            </a:pPr>
            <a:r>
              <a:rPr sz="12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Cấu trúc cơ bản nhất: A + 比 + B + tính từ (cụm tính từ) — dùng giới từ "比" để so sánh sự khác biệt về tính chất/trạng thái giữa A và B.</a:t>
            </a:r>
          </a:p>
        </p:txBody>
      </p:sp>
      <p:pic>
        <p:nvPicPr>
          <p:cNvPr id="7" name="Picture 6" descr="bi_comp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440178"/>
            <a:ext cx="4297680" cy="3223260"/>
          </a:xfrm>
          <a:prstGeom prst="rect">
            <a:avLst/>
          </a:prstGeom>
        </p:spPr>
      </p:pic>
      <p:pic>
        <p:nvPicPr>
          <p:cNvPr id="8" name="slide2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2/7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比较句 — chênh lệch nhẹ: A + 比 + B + tính từ + 一点儿/一些</a:t>
            </a:r>
          </a:p>
          <a:p>
            <a:pPr>
              <a:spcBef>
                <a:spcPts val="1843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这块手表比那块贵一点儿。</a:t>
            </a:r>
          </a:p>
          <a:p>
            <a:pPr>
              <a:spcBef>
                <a:spcPts val="276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kuài shǒubiǎo bǐ nà kuài guì yìdiǎnr.</a:t>
            </a:r>
          </a:p>
          <a:p>
            <a:pPr>
              <a:spcBef>
                <a:spcPts val="276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Cái đồng hồ này đắt hơn cái kia một chút.</a:t>
            </a:r>
          </a:p>
          <a:p>
            <a:pPr>
              <a:spcBef>
                <a:spcPts val="1843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今天比昨天冷一点儿。</a:t>
            </a:r>
          </a:p>
          <a:p>
            <a:pPr>
              <a:spcBef>
                <a:spcPts val="276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Jīntiān bǐ zuótiān lěng yìdiǎnr.</a:t>
            </a:r>
          </a:p>
          <a:p>
            <a:pPr>
              <a:spcBef>
                <a:spcPts val="276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Hôm nay lạnh hơn hôm qua một chút.</a:t>
            </a:r>
          </a:p>
          <a:p>
            <a:pPr>
              <a:spcBef>
                <a:spcPts val="1843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我姐姐比我大一点儿。</a:t>
            </a:r>
          </a:p>
          <a:p>
            <a:pPr>
              <a:spcBef>
                <a:spcPts val="276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jiějie bǐ wǒ dà yìdiǎnr.</a:t>
            </a:r>
          </a:p>
          <a:p>
            <a:pPr>
              <a:spcBef>
                <a:spcPts val="276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Chị tớ hơn tuổi tớ một chút.</a:t>
            </a:r>
          </a:p>
          <a:p>
            <a:pPr>
              <a:spcBef>
                <a:spcPts val="1382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"一点儿"/"一些" đặt SAU tính từ để chỉ mức chênh lệch NHỎ giữa A và B — khác với 还/更 (nhấn mạnh mức độ, không phải chênh lệch cụ thể).</a:t>
            </a:r>
          </a:p>
        </p:txBody>
      </p:sp>
      <p:pic>
        <p:nvPicPr>
          <p:cNvPr id="7" name="slide2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3/7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比较句 — số lượng cụ thể: A + 比 + B + tính từ + số lượng</a:t>
            </a:r>
          </a:p>
          <a:p>
            <a:pPr>
              <a:spcBef>
                <a:spcPts val="1843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我姐姐比我大三岁。</a:t>
            </a:r>
          </a:p>
          <a:p>
            <a:pPr>
              <a:spcBef>
                <a:spcPts val="276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jiějie bǐ wǒ dà sān suì.</a:t>
            </a:r>
          </a:p>
          <a:p>
            <a:pPr>
              <a:spcBef>
                <a:spcPts val="276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Chị tớ hơn tớ 3 tuổi.</a:t>
            </a:r>
          </a:p>
          <a:p>
            <a:pPr>
              <a:spcBef>
                <a:spcPts val="1843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这块手表比那块贵五百块钱。</a:t>
            </a:r>
          </a:p>
          <a:p>
            <a:pPr>
              <a:spcBef>
                <a:spcPts val="276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kuài shǒubiǎo bǐ nà kuài guì wǔbǎi kuài qián.</a:t>
            </a:r>
          </a:p>
          <a:p>
            <a:pPr>
              <a:spcBef>
                <a:spcPts val="276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Đồng hồ này đắt hơn cái kia 500 tệ.</a:t>
            </a:r>
          </a:p>
          <a:p>
            <a:pPr>
              <a:spcBef>
                <a:spcPts val="1843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他比我高十厘米。</a:t>
            </a:r>
          </a:p>
          <a:p>
            <a:pPr>
              <a:spcBef>
                <a:spcPts val="276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bǐ wǒ gāo shí límǐ.</a:t>
            </a:r>
          </a:p>
          <a:p>
            <a:pPr>
              <a:spcBef>
                <a:spcPts val="276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Cậu ấy cao hơn tớ 10cm.</a:t>
            </a:r>
          </a:p>
          <a:p>
            <a:pPr>
              <a:spcBef>
                <a:spcPts val="1382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Số lượng cụ thể (tuổi/tiền/chiều cao...) đặt SAU tính từ để nói rõ A hơn B chính xác bao nhiêu — khác "一点儿" (chỉ chung chung là ít).</a:t>
            </a:r>
          </a:p>
        </p:txBody>
      </p:sp>
      <p:pic>
        <p:nvPicPr>
          <p:cNvPr id="7" name="slide2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4/7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比较句 — 还/更: dùng khi cả A và B đều đã ở mức cao</a:t>
            </a:r>
          </a:p>
          <a:p>
            <a:pPr>
              <a:spcBef>
                <a:spcPts val="1688"/>
              </a:spcBef>
              <a:buNone/>
            </a:pPr>
            <a:r>
              <a:rPr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我看网上说这个电影比那个爱情片更有意思。</a:t>
            </a:r>
          </a:p>
          <a:p>
            <a:pPr>
              <a:spcBef>
                <a:spcPts val="253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kàn wǎngshang shuō zhège diànyǐng bǐ nàge àiqíngpiàn gèng yǒu yìsi.</a:t>
            </a:r>
          </a:p>
          <a:p>
            <a:pPr>
              <a:spcBef>
                <a:spcPts val="253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Tớ thấy trên mạng nói phim này thú vị hơn phim tình cảm kia.</a:t>
            </a:r>
          </a:p>
          <a:p>
            <a:pPr>
              <a:spcBef>
                <a:spcPts val="1688"/>
              </a:spcBef>
              <a:buNone/>
            </a:pPr>
            <a:r>
              <a:rPr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今天比昨天更热。</a:t>
            </a:r>
          </a:p>
          <a:p>
            <a:pPr>
              <a:spcBef>
                <a:spcPts val="253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Jīntiān bǐ zuótiān gèng rè.</a:t>
            </a:r>
          </a:p>
          <a:p>
            <a:pPr>
              <a:spcBef>
                <a:spcPts val="253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Hôm nay nóng hơn hôm qua.</a:t>
            </a:r>
          </a:p>
          <a:p>
            <a:pPr>
              <a:spcBef>
                <a:spcPts val="1688"/>
              </a:spcBef>
              <a:buNone/>
            </a:pPr>
            <a:r>
              <a:rPr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我觉得奶茶比牛奶还好喝。</a:t>
            </a:r>
          </a:p>
          <a:p>
            <a:pPr>
              <a:spcBef>
                <a:spcPts val="253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juéde nǎichá bǐ niúnǎi hái hǎohē.</a:t>
            </a:r>
          </a:p>
          <a:p>
            <a:pPr>
              <a:spcBef>
                <a:spcPts val="253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Tớ thấy trà sữa ngon hơn sữa.</a:t>
            </a:r>
          </a:p>
          <a:p>
            <a:pPr>
              <a:spcBef>
                <a:spcPts val="1266"/>
              </a:spcBef>
              <a:buNone/>
            </a:pPr>
            <a:r>
              <a:rPr sz="12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Trong câu so sánh dùng "比", KHÔNG dùng phó từ mức độ như "很"/"非常" trước tính từ — dùng "还" hoặc "更" khi cả A và B đều đã ở mức cao, muốn nhấn A còn cao hơn nữa.</a:t>
            </a:r>
          </a:p>
        </p:txBody>
      </p:sp>
      <p:pic>
        <p:nvPicPr>
          <p:cNvPr id="7" name="Picture 6" descr="aiqingp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440178"/>
            <a:ext cx="4297680" cy="3223260"/>
          </a:xfrm>
          <a:prstGeom prst="rect">
            <a:avLst/>
          </a:prstGeom>
        </p:spPr>
      </p:pic>
      <p:pic>
        <p:nvPicPr>
          <p:cNvPr id="8" name="slide2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5/7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比较句 — dạng phủ định: A + 没有 + B + (这么/那么) + tính từ</a:t>
            </a:r>
          </a:p>
          <a:p>
            <a:pPr>
              <a:spcBef>
                <a:spcPts val="1933"/>
              </a:spcBef>
              <a:buNone/>
            </a:pPr>
            <a:r>
              <a:rPr sz="2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这块手表没有那块贵。</a:t>
            </a:r>
          </a:p>
          <a:p>
            <a:pPr>
              <a:spcBef>
                <a:spcPts val="289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kuài shǒubiǎo méiyǒu nà kuài guì.</a:t>
            </a:r>
          </a:p>
          <a:p>
            <a:pPr>
              <a:spcBef>
                <a:spcPts val="289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Đồng hồ này không đắt bằng cái kia.</a:t>
            </a:r>
          </a:p>
          <a:p>
            <a:pPr>
              <a:spcBef>
                <a:spcPts val="1933"/>
              </a:spcBef>
              <a:buNone/>
            </a:pPr>
            <a:r>
              <a:rPr sz="2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今天没有昨天冷。</a:t>
            </a:r>
          </a:p>
          <a:p>
            <a:pPr>
              <a:spcBef>
                <a:spcPts val="289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Jīntiān méiyǒu zuótiān lěng.</a:t>
            </a:r>
          </a:p>
          <a:p>
            <a:pPr>
              <a:spcBef>
                <a:spcPts val="289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Hôm nay không lạnh bằng hôm qua.</a:t>
            </a:r>
          </a:p>
          <a:p>
            <a:pPr>
              <a:spcBef>
                <a:spcPts val="1933"/>
              </a:spcBef>
              <a:buNone/>
            </a:pPr>
            <a:r>
              <a:rPr sz="2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我没有他那么高。</a:t>
            </a:r>
          </a:p>
          <a:p>
            <a:pPr>
              <a:spcBef>
                <a:spcPts val="289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méiyǒu tā nàme gāo.</a:t>
            </a:r>
          </a:p>
          <a:p>
            <a:pPr>
              <a:spcBef>
                <a:spcPts val="289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Tớ không cao bằng cậu ấy.</a:t>
            </a:r>
          </a:p>
          <a:p>
            <a:pPr>
              <a:spcBef>
                <a:spcPts val="1449"/>
              </a:spcBef>
              <a:buNone/>
            </a:pPr>
            <a:r>
              <a:rPr sz="14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Phủ định câu so sánh KHÔNG dùng "不比" — dùng "A + 没有 + B + (这么/那么) + tính từ" = A kém B về mặt này.</a:t>
            </a:r>
          </a:p>
        </p:txBody>
      </p:sp>
      <p:pic>
        <p:nvPicPr>
          <p:cNvPr id="7" name="slide3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⚠️ Cấu trúc "没有" so sánh chính thức là 比较句(3), sách xếp học kỹ ở Bài 9 — ở đây giới thiệu trước để hệ thống đủ các dạng câu so sánh, Bài 9 sẽ luyện sâu thêm.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6/7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比较句 — dạng nghi vấn: 3 cách hỏi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这块手表比那块贵吗？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kuài shǒubiǎo bǐ nà kuài guì ma?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Đồng hồ này có đắt hơn cái kia không?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这块手表比那块贵不贵？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kuài shǒubiǎo bǐ nà kuài guì bu guì?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Đồng hồ này so với cái kia có đắt không?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这块手表比那块怎么样？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kuài shǒubiǎo bǐ nà kuài zěnmeyàng?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Đồng hồ này so với cái kia thế nào?</a:t>
            </a:r>
          </a:p>
          <a:p>
            <a:pPr>
              <a:spcBef>
                <a:spcPts val="15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3 cách hỏi trong câu so sánh: (1) thêm "吗" cuối câu; (2) tính từ + 不 + tính từ; (3) A + 比 + B + 怎么样。</a:t>
            </a:r>
          </a:p>
        </p:txBody>
      </p:sp>
      <p:pic>
        <p:nvPicPr>
          <p:cNvPr id="7" name="slide3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7/7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转折复句「虽然……，但是……」</a:t>
            </a:r>
          </a:p>
          <a:p>
            <a:pPr>
              <a:spcBef>
                <a:spcPts val="1872"/>
              </a:spcBef>
              <a:buNone/>
            </a:pPr>
            <a:r>
              <a:rPr sz="2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虽然你忘了，但是我记得。</a:t>
            </a:r>
          </a:p>
          <a:p>
            <a:pPr>
              <a:spcBef>
                <a:spcPts val="28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Suīrán nǐ wàng le, dànshì wǒ jìde.</a:t>
            </a:r>
          </a:p>
          <a:p>
            <a:pPr>
              <a:spcBef>
                <a:spcPts val="28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Tuy cậu quên nhưng tớ nhớ.</a:t>
            </a:r>
          </a:p>
          <a:p>
            <a:pPr>
              <a:spcBef>
                <a:spcPts val="1872"/>
              </a:spcBef>
              <a:buNone/>
            </a:pPr>
            <a:r>
              <a:rPr sz="2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外边下雪了，但是不太冷。</a:t>
            </a:r>
          </a:p>
          <a:p>
            <a:pPr>
              <a:spcBef>
                <a:spcPts val="28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Wàibian xiàxuě le, dànshì bú tài lěng.</a:t>
            </a:r>
          </a:p>
          <a:p>
            <a:pPr>
              <a:spcBef>
                <a:spcPts val="28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Ngoài trời có tuyết, nhưng không lạnh lắm. (chỉ dùng 但是)</a:t>
            </a:r>
          </a:p>
          <a:p>
            <a:pPr>
              <a:spcBef>
                <a:spcPts val="1872"/>
              </a:spcBef>
              <a:buNone/>
            </a:pPr>
            <a:r>
              <a:rPr sz="2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虽然觉得有点儿累，我还是走回家了。</a:t>
            </a:r>
          </a:p>
          <a:p>
            <a:pPr>
              <a:spcBef>
                <a:spcPts val="28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Suīrán juéde yǒudiǎnr lèi, wǒ háishi zǒu huí jiā le.</a:t>
            </a:r>
          </a:p>
          <a:p>
            <a:pPr>
              <a:spcBef>
                <a:spcPts val="28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Tuy thấy hơi mệt, tớ vẫn đi bộ về nhà. (chỉ dùng 虽然)</a:t>
            </a:r>
          </a:p>
          <a:p>
            <a:pPr>
              <a:spcBef>
                <a:spcPts val="1404"/>
              </a:spcBef>
              <a:buNone/>
            </a:pPr>
            <a:r>
              <a:rPr sz="14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"虽然" và "但是" tạo thành câu phức chỉ sự chuyển ý/tương phản — có thể dùng cặp hoặc chỉ dùng một trong hai từ.</a:t>
            </a:r>
          </a:p>
        </p:txBody>
      </p:sp>
      <p:pic>
        <p:nvPicPr>
          <p:cNvPr id="7" name="Picture 6" descr="dinner_cand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618549"/>
            <a:ext cx="4297680" cy="2866518"/>
          </a:xfrm>
          <a:prstGeom prst="rect">
            <a:avLst/>
          </a:prstGeom>
        </p:spPr>
      </p:pic>
      <p:pic>
        <p:nvPicPr>
          <p:cNvPr id="8" name="slide3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2096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彩蛋 · 文化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中国人对数字的喜好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522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594"/>
              </a:spcBef>
              <a:buNone/>
            </a:pPr>
            <a:r>
              <a:rPr sz="2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数字 8 (八 bā) phát âm gần giống 发 (fā, trong 发财 "phát tài") → người Trung Quốc coi 8 là số may mắn</a:t>
            </a:r>
          </a:p>
          <a:p>
            <a:pPr>
              <a:spcBef>
                <a:spcPts val="2594"/>
              </a:spcBef>
              <a:buNone/>
            </a:pPr>
            <a:r>
              <a:rPr sz="2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Giá cả, biển số xe, số điện thoại có số 8 thường được ưa chuộng hơn</a:t>
            </a:r>
          </a:p>
          <a:p>
            <a:pPr>
              <a:spcBef>
                <a:spcPts val="2594"/>
              </a:spcBef>
              <a:buNone/>
            </a:pPr>
            <a:r>
              <a:rPr sz="2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Liên hệ: giá đồng hồ trong 课文1 là 八千八 (8800 tệ) — không phải ngẫu nhiên, sách cố ý gài số 8 xuyên bài!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36815" y="1611376"/>
            <a:ext cx="4206240" cy="488086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assets/culture_number8_TODO.jpg]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5 câu khẩu ngữ — Hỏi giá &amp; So sánh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50289"/>
          <a:ext cx="11094414" cy="444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8315"/>
                <a:gridCol w="6856099"/>
              </a:tblGrid>
              <a:tr h="74032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Câu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032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这个多少钱？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Cái này giá bao nhiêu?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032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有点儿贵，便宜一点儿吧。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Hơi đắt, bớt chút đi.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032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这个比那个好看/便宜。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Cái này đẹp/rẻ hơn cái kia.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032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这个比那个有意思多了。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Cái này thú vị hơn cái kia nhiều.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032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祝你生日快乐！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Chúc mừng sinh nhật!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3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5 câu khẩu ngữ — Nhận lỗi &amp; Xin lỗi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50289"/>
          <a:ext cx="11094414" cy="444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6306"/>
                <a:gridCol w="7328108"/>
              </a:tblGrid>
              <a:tr h="74032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Câu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032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对不起，我错了。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Xin lỗi, tôi sai rồi.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032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下次我一定注意。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Lần sau tôi nhất định chú ý.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032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我请客，你随便点。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Để tôi mời, cậu gọi món thoải mái.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032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我答应你，以后一定注意。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Tôi hứa với bạn, từ giờ nhất định sẽ chú ý.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032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没关系，下次早点儿告诉我。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Không sao, lần sau báo tôi sớm hơn.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3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