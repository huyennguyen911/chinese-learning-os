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24.mp3" ContentType="audio/mpeg"/>
  <Override PartName="/ppt/media/media25.mp3" ContentType="audio/mpeg"/>
  <Override PartName="/ppt/media/media26.mp3" ContentType="audio/mpeg"/>
  <Override PartName="/ppt/media/media27.mp3" ContentType="audio/mpeg"/>
  <Override PartName="/ppt/media/media28.mp3" ContentType="audio/mpeg"/>
  <Override PartName="/ppt/media/media29.mp3" ContentType="audio/mpeg"/>
  <Override PartName="/ppt/media/media3.mp3" ContentType="audio/mpeg"/>
  <Override PartName="/ppt/media/media30.mp3" ContentType="audio/mpeg"/>
  <Override PartName="/ppt/media/media31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3"/><Relationship Id="rId3" Type="http://schemas.openxmlformats.org/officeDocument/2006/relationships/video" Target="../media/media1.mp3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3"/><Relationship Id="rId3" Type="http://schemas.openxmlformats.org/officeDocument/2006/relationships/video" Target="../media/media3.mp3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3"/><Relationship Id="rId3" Type="http://schemas.openxmlformats.org/officeDocument/2006/relationships/video" Target="../media/media4.mp3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microsoft.com/office/2007/relationships/media" Target="../media/media6.mp3"/><Relationship Id="rId4" Type="http://schemas.openxmlformats.org/officeDocument/2006/relationships/video" Target="../media/media6.mp3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3"/><Relationship Id="rId3" Type="http://schemas.openxmlformats.org/officeDocument/2006/relationships/video" Target="../media/media7.mp3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3"/><Relationship Id="rId3" Type="http://schemas.openxmlformats.org/officeDocument/2006/relationships/video" Target="../media/media8.mp3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3"/><Relationship Id="rId3" Type="http://schemas.openxmlformats.org/officeDocument/2006/relationships/video" Target="../media/media9.mp3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10.mp3"/><Relationship Id="rId4" Type="http://schemas.openxmlformats.org/officeDocument/2006/relationships/video" Target="../media/media10.mp3"/><Relationship Id="rId5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12.mp3"/><Relationship Id="rId4" Type="http://schemas.openxmlformats.org/officeDocument/2006/relationships/video" Target="../media/media12.mp3"/><Relationship Id="rId5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13.mp3"/><Relationship Id="rId4" Type="http://schemas.openxmlformats.org/officeDocument/2006/relationships/video" Target="../media/media13.mp3"/><Relationship Id="rId5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microsoft.com/office/2007/relationships/media" Target="../media/media14.mp3"/><Relationship Id="rId4" Type="http://schemas.openxmlformats.org/officeDocument/2006/relationships/video" Target="../media/media14.mp3"/><Relationship Id="rId5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3"/><Relationship Id="rId3" Type="http://schemas.openxmlformats.org/officeDocument/2006/relationships/video" Target="../media/media15.mp3"/><Relationship Id="rId4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3"/><Relationship Id="rId3" Type="http://schemas.openxmlformats.org/officeDocument/2006/relationships/video" Target="../media/media16.mp3"/><Relationship Id="rId4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microsoft.com/office/2007/relationships/media" Target="../media/media17.mp3"/><Relationship Id="rId4" Type="http://schemas.openxmlformats.org/officeDocument/2006/relationships/video" Target="../media/media17.mp3"/><Relationship Id="rId5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8.mp3"/><Relationship Id="rId3" Type="http://schemas.openxmlformats.org/officeDocument/2006/relationships/video" Target="../media/media18.mp3"/><Relationship Id="rId4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microsoft.com/office/2007/relationships/media" Target="../media/media19.mp3"/><Relationship Id="rId4" Type="http://schemas.openxmlformats.org/officeDocument/2006/relationships/video" Target="../media/media19.mp3"/><Relationship Id="rId5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microsoft.com/office/2007/relationships/media" Target="../media/media20.mp3"/><Relationship Id="rId4" Type="http://schemas.openxmlformats.org/officeDocument/2006/relationships/video" Target="../media/media20.mp3"/><Relationship Id="rId5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microsoft.com/office/2007/relationships/media" Target="../media/media21.mp3"/><Relationship Id="rId4" Type="http://schemas.openxmlformats.org/officeDocument/2006/relationships/video" Target="../media/media21.mp3"/><Relationship Id="rId5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microsoft.com/office/2007/relationships/media" Target="../media/media22.mp3"/><Relationship Id="rId4" Type="http://schemas.openxmlformats.org/officeDocument/2006/relationships/video" Target="../media/media22.mp3"/><Relationship Id="rId5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3.mp3"/><Relationship Id="rId3" Type="http://schemas.openxmlformats.org/officeDocument/2006/relationships/video" Target="../media/media23.mp3"/><Relationship Id="rId4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4.mp3"/><Relationship Id="rId3" Type="http://schemas.openxmlformats.org/officeDocument/2006/relationships/video" Target="../media/media24.mp3"/><Relationship Id="rId4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5.mp3"/><Relationship Id="rId3" Type="http://schemas.openxmlformats.org/officeDocument/2006/relationships/video" Target="../media/media25.mp3"/><Relationship Id="rId4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6.mp3"/><Relationship Id="rId3" Type="http://schemas.openxmlformats.org/officeDocument/2006/relationships/video" Target="../media/media26.mp3"/><Relationship Id="rId4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7.mp3"/><Relationship Id="rId3" Type="http://schemas.openxmlformats.org/officeDocument/2006/relationships/video" Target="../media/media27.mp3"/><Relationship Id="rId4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8.mp3"/><Relationship Id="rId3" Type="http://schemas.openxmlformats.org/officeDocument/2006/relationships/video" Target="../media/media28.mp3"/><Relationship Id="rId4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9.mp3"/><Relationship Id="rId3" Type="http://schemas.openxmlformats.org/officeDocument/2006/relationships/video" Target="../media/media29.mp3"/><Relationship Id="rId4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0.mp3"/><Relationship Id="rId3" Type="http://schemas.openxmlformats.org/officeDocument/2006/relationships/video" Target="../media/media30.mp3"/><Relationship Id="rId4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1.mp3"/><Relationship Id="rId3" Type="http://schemas.openxmlformats.org/officeDocument/2006/relationships/video" Target="../media/media31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667512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我去买杯奶茶</a:t>
            </a:r>
          </a:p>
          <a:p>
            <a:pPr algn="l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Wǒ qù mǎi bēi nǎichá · Tớ đi mua một cốc trà sữa</a:t>
            </a:r>
          </a:p>
          <a:p>
            <a:pPr algn="l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New HSK Course 2 · Bài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62495" y="1463040"/>
            <a:ext cx="4480560" cy="393192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assets/title_naicha_TODO.jpg]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Hôm nay học gì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522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43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Nghe hiểu và dùng "没有" để so sánh, nói một thứ không bằng thứ khác</a:t>
            </a:r>
          </a:p>
          <a:p>
            <a:pPr>
              <a:spcBef>
                <a:spcPts val="243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Dùng động từ "离" để nói khoảng cách nơi chốn/thời gian</a:t>
            </a:r>
          </a:p>
          <a:p>
            <a:pPr>
              <a:spcBef>
                <a:spcPts val="243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Dùng thời lượng bổ ngữ (1) để nói một việc kéo dài bao lâu</a:t>
            </a:r>
          </a:p>
          <a:p>
            <a:pPr>
              <a:spcBef>
                <a:spcPts val="243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Mở rộng: gọi đồ uống theo size/đá/đường + gọi món ở nhà hàng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36815" y="1611376"/>
            <a:ext cx="4206240" cy="488086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assets/placeholder_goals_TODO.jpg]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assets/words/huai_TODO.jpg]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坏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adj.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huài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hỏng, xấu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儿子的裤子坏了。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Érzi de kùzi huài le.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Quần của con trai hỏng rồi.</a:t>
            </a:r>
          </a:p>
        </p:txBody>
      </p:sp>
      <p:pic>
        <p:nvPicPr>
          <p:cNvPr id="9" name="slide0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坏 = 土(tǔ, đất) → bức tường ĐẤT bị sụp lở, hư hại → "hỏng, xấu"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个子</a:t>
            </a:r>
          </a:p>
        </p:txBody>
      </p:sp>
      <p:pic>
        <p:nvPicPr>
          <p:cNvPr id="6" name="Picture 5" descr="gez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248059"/>
            <a:ext cx="3108960" cy="18355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个子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gèzi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vóc dáng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儿子的个子没有他那么高。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Érzi de gèzi méiyǒu tā nàme gāo.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Con vóc dáng không cao bằng cậu ấy.</a:t>
            </a:r>
          </a:p>
        </p:txBody>
      </p:sp>
      <p:pic>
        <p:nvPicPr>
          <p:cNvPr id="9" name="slide0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个 = 人(rén, người) + 丨(gǔn, nét đếm) → vạch để ĐẾM từng người → "cái/con" → 个子 = vóc dáng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那么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assets/words/name_TODO.jpg]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那么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pron.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nàme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như thế đó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这条裤子没有那么贵。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 tiáo kùzi méiyǒu nàme guì.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Cái quần này không đắt đến thế.</a:t>
            </a:r>
          </a:p>
        </p:txBody>
      </p:sp>
      <p:pic>
        <p:nvPicPr>
          <p:cNvPr id="9" name="slide0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那 = "cái đó" + 么 (trợ từ mức độ) → cái đó tới VẬY → "như thế, đến vậy"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门口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assets/words/menkou_TODO.jpg]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门口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ménkǒu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cửa ra vào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门口有家奶茶店。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Ménkǒu yǒu jiā nǎichádiàn.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Ở cửa ra vào có một tiệm trà sữa.</a:t>
            </a:r>
          </a:p>
        </p:txBody>
      </p:sp>
      <p:pic>
        <p:nvPicPr>
          <p:cNvPr id="9" name="slide0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门 vốn là hình vẽ HAI CÁNH CỬA (tượng hình) → "cửa, cổng" → 门口 = cửa ra vào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离</a:t>
            </a:r>
          </a:p>
        </p:txBody>
      </p:sp>
      <p:pic>
        <p:nvPicPr>
          <p:cNvPr id="6" name="Picture 5" descr="distance_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29536"/>
            <a:ext cx="3108960" cy="2072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离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v./prep.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lí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cách, khoảng cách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咖啡店离这儿有点儿远。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Kāfēidiàn lí zhèr yǒudiǎnr yuǎn.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Tiệm cà phê cách đây hơi xa.</a:t>
            </a:r>
          </a:p>
        </p:txBody>
      </p:sp>
      <p:pic>
        <p:nvPicPr>
          <p:cNvPr id="9" name="slide0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离 vốn là hình một loài CHIM lạ (tượng hình, quẻ Ly Kinh Dịch) — về sau chuyển hẳn sang nghĩa "cách, rời khỏi"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近</a:t>
            </a:r>
          </a:p>
        </p:txBody>
      </p:sp>
      <p:pic>
        <p:nvPicPr>
          <p:cNvPr id="6" name="Picture 5" descr="j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611376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近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adj.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jìn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gần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这里离家很近。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Zhèlǐ lí jiā hěn jìn.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Chỗ này cách nhà gần lắm.</a:t>
            </a:r>
          </a:p>
        </p:txBody>
      </p:sp>
      <p:pic>
        <p:nvPicPr>
          <p:cNvPr id="9" name="slide0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近 = 辶(chuò, bộ đi, liên quan DI CHUYỂN) → chỉ cần đi một QUÃNG NGẮN là tới → "gần"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89543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1/14 · 点饮料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大杯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assets/words/dabei_TODO.jpg]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大杯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dàbēi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cỡ lớn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我要一杯大杯的奶茶。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yào yì bēi dàbēi de nǎichá.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Tôi muốn một cốc trà sữa cỡ lớn.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小杯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xiǎobēi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cỡ nhỏ (gộp chung slide này)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小杯的够了，谢谢。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Xiǎobēi de gòu le, xièxie.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Cỡ nhỏ là đủ rồi, cảm ơn.</a:t>
            </a:r>
          </a:p>
        </p:txBody>
      </p:sp>
      <p:pic>
        <p:nvPicPr>
          <p:cNvPr id="9" name="slide0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杯 = 木(mù, gỗ) → cốc uống nước xưa làm bằng GỖ → "cốc, ly" → 大杯 = cỡ lớn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89543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2/14 · 点饮料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去冰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assets/words/qubing_TODO.jpg]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去冰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qùbīng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bỏ đá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帮我去冰，谢谢。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Bāng wǒ qùbīng, xièxie.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Giúp tôi bỏ đá nhé, cảm ơn.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正常冰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zhèngcháng bīng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đá bình thường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少冰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shǎo bīng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70% đá</a:t>
            </a:r>
          </a:p>
        </p:txBody>
      </p:sp>
      <p:pic>
        <p:nvPicPr>
          <p:cNvPr id="9" name="slide1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冰 = 冫(bīng, băng giá) + 水(shuǐ, nước) → NƯỚC bị đóng thành BĂNG → "đá, băng" → 去冰 = bỏ đá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89543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3/14 · 点饮料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assets/words/bantang_TODO.jpg]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糖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táng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đường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半糖就可以了。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Bàntáng jiù kěyǐ le.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Nửa đường là được rồi.</a:t>
            </a:r>
          </a:p>
        </p:txBody>
      </p:sp>
      <p:pic>
        <p:nvPicPr>
          <p:cNvPr id="9" name="slide1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糖 = 米(mǐ, gạo) → đường xưa được nấu, chiết xuất từ GẠO, lúa mạch → "đường, kẹo"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89543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4/14 · 点饮料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无糖</a:t>
            </a:r>
          </a:p>
        </p:txBody>
      </p:sp>
      <p:pic>
        <p:nvPicPr>
          <p:cNvPr id="6" name="Picture 5" descr="wuta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29030"/>
            <a:ext cx="3108960" cy="20736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无糖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wútáng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 đường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我不能喝糖，无糖的吧。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bù néng hē táng, wútáng de ba.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Tôi không uống được đường, cho loại không đường nhé.</a:t>
            </a:r>
          </a:p>
        </p:txBody>
      </p:sp>
      <p:pic>
        <p:nvPicPr>
          <p:cNvPr id="9" name="slide1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无 (giản thể của 無) vốn là hình người MÚA tay áo dài — về sau chuyển hẳn sang nghĩa "không có" → 无糖 = không đường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66785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5/14 · 点菜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菜单</a:t>
            </a:r>
          </a:p>
        </p:txBody>
      </p:sp>
      <p:pic>
        <p:nvPicPr>
          <p:cNvPr id="6" name="Picture 5" descr="caid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31056"/>
            <a:ext cx="3108960" cy="206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菜单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càidān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thực đơn, 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服务员，给我看看菜单。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Fúwùyuán, gěi wǒ kànkan càidān.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Phục vụ ơi, cho tôi xem thực đơn.</a:t>
            </a:r>
          </a:p>
        </p:txBody>
      </p:sp>
      <p:pic>
        <p:nvPicPr>
          <p:cNvPr id="9" name="slide1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菜 = 艹(cǎo, cỏ cây) + 采(cǎi, hái) → HÁI rau cỏ về ăn → "rau, món ăn" → 菜单 = thực đơn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66785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6/14 · 点菜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开胃菜</a:t>
            </a:r>
          </a:p>
        </p:txBody>
      </p:sp>
      <p:pic>
        <p:nvPicPr>
          <p:cNvPr id="6" name="Picture 5" descr="kaiweic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999996"/>
            <a:ext cx="31089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开胃菜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kāiwèicài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món khai vị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我们先点一个开胃菜吧。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Wǒmen xiān diǎn yí gè kāiwèicài ba.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Mình gọi món khai vị trước đi.</a:t>
            </a:r>
          </a:p>
        </p:txBody>
      </p:sp>
      <p:pic>
        <p:nvPicPr>
          <p:cNvPr id="9" name="slide1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胃 = 田(tián, túi chứa hạt) + 月(yuè, bộ chỉ cơ thể) → CƠ QUAN chứa thức ăn → "dạ dày" → 开胃菜 = khai vị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66785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7/14 · 点菜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主菜</a:t>
            </a:r>
          </a:p>
        </p:txBody>
      </p:sp>
      <p:pic>
        <p:nvPicPr>
          <p:cNvPr id="6" name="Picture 5" descr="zhuc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25994"/>
            <a:ext cx="3108960" cy="20797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主菜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zhǔcài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món chính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主菜你想吃什么？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Zhǔcài nǐ xiǎng chī shénme?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Món chính cậu muốn ăn gì?</a:t>
            </a:r>
          </a:p>
        </p:txBody>
      </p:sp>
      <p:pic>
        <p:nvPicPr>
          <p:cNvPr id="9" name="slide1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主 = 丶(zhǔ, ngọn lửa) + 王(wáng, hình cây đèn) → NGƯỜI giữ lửa/đèn trong nhà → "chủ" → 主菜 = món chính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66785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8/14 · 点菜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甜点</a:t>
            </a:r>
          </a:p>
        </p:txBody>
      </p:sp>
      <p:pic>
        <p:nvPicPr>
          <p:cNvPr id="6" name="Picture 5" descr="tiand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999996"/>
            <a:ext cx="31089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甜点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tiándiǎn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món tráng miệng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最后来个甜点吧。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Zuìhòu lái gè tiándiǎn ba.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Cuối cùng gọi món tráng miệng đi.</a:t>
            </a:r>
          </a:p>
        </p:txBody>
      </p:sp>
      <p:pic>
        <p:nvPicPr>
          <p:cNvPr id="9" name="slide1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甜 = 舌(shé, lưỡi) + 甘(gān, ngọt) → LƯỠI nếm vị NGỌT → "ngọt" → 甜点 = món tráng miệng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66785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9/14 · 点菜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特色菜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assets/words/tesecai_TODO.jpg]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特色菜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tèsècài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đặc sản, món đặc trưng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这家饭馆的特色菜是什么？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 jiā fànguǎn de tèsècài shì shénme?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Món đặc sản của quán này là gì?</a:t>
            </a:r>
          </a:p>
        </p:txBody>
      </p:sp>
      <p:pic>
        <p:nvPicPr>
          <p:cNvPr id="9" name="slide1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特 = 牛(niú, trâu bò) → xưa chỉ CON BÒ được chọn riêng để tế lễ → nghĩa "đặc biệt" → 特色菜 = đặc sản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78619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10/14 · 点菜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推荐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assets/words/tuijian_TODO.jpg]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推荐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tuījiàn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khuyên dùng, gợi 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你推荐哪个菜？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tuījiàn nǎge cài?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Bạn gợi ý món nào?</a:t>
            </a:r>
          </a:p>
        </p:txBody>
      </p:sp>
      <p:pic>
        <p:nvPicPr>
          <p:cNvPr id="9" name="slide1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推 = 扌(shǒu, tay) → dùng TAY đẩy về phía trước → "đẩy" → 推荐 = đẩy/giới thiệu cho người khác (gợi ý)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78619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11/14 · 点菜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几分熟</a:t>
            </a:r>
          </a:p>
        </p:txBody>
      </p:sp>
      <p:pic>
        <p:nvPicPr>
          <p:cNvPr id="6" name="Picture 5" descr="jifensh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29536"/>
            <a:ext cx="3108960" cy="2072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几分熟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phr.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jǐ fēn shú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(hỏi) độ chín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牛排你要几分熟？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Niúpái nǐ yào jǐ fēn shú?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Bò bít-tết bạn muốn chín mức nào?</a:t>
            </a:r>
          </a:p>
        </p:txBody>
      </p:sp>
      <p:pic>
        <p:nvPicPr>
          <p:cNvPr id="9" name="slide1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熟 = 灬(huǒ, lửa) → nấu bằng LỬA tới khi chín kỹ → "chín, quen" → 几分熟 = hỏi độ chín (mấy phần chín)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78619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12/14 · 点菜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打包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3987" y="1611376"/>
            <a:ext cx="3108960" cy="310896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assets/words/dabao_TODO.jpg]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打包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dǎbāo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mang đi, gói mang về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吃不完，打包吧。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Chībuwán, dǎbāo ba.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Ăn không hết, gói mang về đi.</a:t>
            </a:r>
          </a:p>
        </p:txBody>
      </p:sp>
      <p:pic>
        <p:nvPicPr>
          <p:cNvPr id="9" name="slide2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包 = 勹(bāo, bọc lại) + 巳(sì, hình đứa bé) → BỌC đứa bé lại → "gói, bọc" → 打包 = gói mang về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78619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13/14 · 点菜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堂食</a:t>
            </a:r>
          </a:p>
        </p:txBody>
      </p:sp>
      <p:pic>
        <p:nvPicPr>
          <p:cNvPr id="6" name="Picture 5" descr="tangs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931684"/>
            <a:ext cx="3108960" cy="24683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堂食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v./n.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tángshí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dùng tại chỗ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堂食还是打包？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Tángshí háishi dǎbāo?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Dùng tại chỗ hay mang đi?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在这里吃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zài zhèlǐ chī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ăn ở đây (đồng nghĩa 堂食)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在这吃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zài zhè chī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ăn ở đây (nói tắt)</a:t>
            </a:r>
          </a:p>
        </p:txBody>
      </p:sp>
      <p:pic>
        <p:nvPicPr>
          <p:cNvPr id="9" name="slide2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堂 = 土(tǔ, đất) → sảnh lớn xưa xây trên NỀN ĐẤT cao → "nhà lớn, sảnh" → 堂食 = ăn tại sảnh (dùng tại chỗ)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78619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14/14 · 点菜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加料</a:t>
            </a:r>
          </a:p>
        </p:txBody>
      </p:sp>
      <p:pic>
        <p:nvPicPr>
          <p:cNvPr id="6" name="Picture 5" descr="jiali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30548"/>
            <a:ext cx="3108960" cy="20706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加料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jiāliào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thêm topping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配料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pèiliào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nguyên liệu/topping (danh từ, gộp chung slide này)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可以加料吗？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Kěyǐ jiāliào ma?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Có thể thêm topping không?</a:t>
            </a:r>
          </a:p>
        </p:txBody>
      </p:sp>
      <p:pic>
        <p:nvPicPr>
          <p:cNvPr id="9" name="slide2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加 = 力(lì, sức) + 口(kǒu, miệng, lời nói) → dùng SỨC và LỜI nói bồi thêm vào → "thêm" → 加料 = thêm topping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在商店 — 王一雪和刘明在看裤子</a:t>
            </a:r>
          </a:p>
        </p:txBody>
      </p:sp>
      <p:pic>
        <p:nvPicPr>
          <p:cNvPr id="6" name="Picture 5" descr="pants_st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575" y="2778524"/>
            <a:ext cx="3840480" cy="25465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11376"/>
            <a:ext cx="4606290" cy="533093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儿子的裤子坏了，我们给他买条新的吧。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Érzi de kùzi huài le, wǒmen gěi tā mǎi tiáo xīn de ba.</a:t>
            </a:r>
          </a:p>
        </p:txBody>
      </p:sp>
      <p:sp>
        <p:nvSpPr>
          <p:cNvPr id="8" name="Oval 7"/>
          <p:cNvSpPr/>
          <p:nvPr/>
        </p:nvSpPr>
        <p:spPr>
          <a:xfrm>
            <a:off x="409822" y="1518831"/>
            <a:ext cx="330517" cy="330517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99455" y="2222009"/>
            <a:ext cx="1737360" cy="533093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好啊。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 a.</a:t>
            </a:r>
          </a:p>
        </p:txBody>
      </p:sp>
      <p:sp>
        <p:nvSpPr>
          <p:cNvPr id="10" name="Oval 9"/>
          <p:cNvSpPr/>
          <p:nvPr/>
        </p:nvSpPr>
        <p:spPr>
          <a:xfrm>
            <a:off x="7245115" y="2129464"/>
            <a:ext cx="330517" cy="330517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2642"/>
            <a:ext cx="3146425" cy="533093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你看这条黑色的怎么样？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kàn zhè tiáo hēisè de zěnmeyàng?</a:t>
            </a:r>
          </a:p>
        </p:txBody>
      </p:sp>
      <p:sp>
        <p:nvSpPr>
          <p:cNvPr id="12" name="Oval 11"/>
          <p:cNvSpPr/>
          <p:nvPr/>
        </p:nvSpPr>
        <p:spPr>
          <a:xfrm>
            <a:off x="409822" y="2740097"/>
            <a:ext cx="330517" cy="330517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29380" y="3443275"/>
            <a:ext cx="3607435" cy="533093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没有你上次买的那条好看。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Méiyǒu nǐ shàng cì mǎi de nà tiáo hǎokàn.</a:t>
            </a:r>
          </a:p>
        </p:txBody>
      </p:sp>
      <p:sp>
        <p:nvSpPr>
          <p:cNvPr id="14" name="Oval 13"/>
          <p:cNvSpPr/>
          <p:nvPr/>
        </p:nvSpPr>
        <p:spPr>
          <a:xfrm>
            <a:off x="7245115" y="3350730"/>
            <a:ext cx="330517" cy="330517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53908"/>
            <a:ext cx="6066155" cy="533093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旁边那个男孩儿就穿了这样的裤子，我觉得很好看啊！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Pángbiān nàge nánháir jiù chuānle zhèyàng de kùzi, wǒ juéde hěn hǎokàn a!</a:t>
            </a:r>
          </a:p>
        </p:txBody>
      </p:sp>
      <p:sp>
        <p:nvSpPr>
          <p:cNvPr id="16" name="Oval 15"/>
          <p:cNvSpPr/>
          <p:nvPr/>
        </p:nvSpPr>
        <p:spPr>
          <a:xfrm>
            <a:off x="409822" y="3961363"/>
            <a:ext cx="330517" cy="330517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08505" y="4664541"/>
            <a:ext cx="5528310" cy="533093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儿子的个子没有他那么高，穿上就不会太好看。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Érzi de gèzi méiyǒu tā nàme gāo, chuānshang jiù bú huì tài hǎokàn.</a:t>
            </a:r>
          </a:p>
        </p:txBody>
      </p:sp>
      <p:sp>
        <p:nvSpPr>
          <p:cNvPr id="18" name="Oval 17"/>
          <p:cNvSpPr/>
          <p:nvPr/>
        </p:nvSpPr>
        <p:spPr>
          <a:xfrm>
            <a:off x="7245115" y="4571996"/>
            <a:ext cx="330517" cy="330517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75174"/>
            <a:ext cx="3146425" cy="533093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好吧，我们再去那边看看。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 ba, wǒmen zài qù nàbiān kànkan.</a:t>
            </a:r>
          </a:p>
        </p:txBody>
      </p:sp>
      <p:sp>
        <p:nvSpPr>
          <p:cNvPr id="20" name="Oval 19"/>
          <p:cNvSpPr/>
          <p:nvPr/>
        </p:nvSpPr>
        <p:spPr>
          <a:xfrm>
            <a:off x="409822" y="5182629"/>
            <a:ext cx="330517" cy="330517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pic>
        <p:nvPicPr>
          <p:cNvPr id="21" name="slide2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小语的提示: "会" ở đây nghĩa "có thể/khả năng" (không phải "biết").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在商店门口 — 王一雪和刘明往外走</a:t>
            </a:r>
          </a:p>
        </p:txBody>
      </p:sp>
      <p:pic>
        <p:nvPicPr>
          <p:cNvPr id="6" name="Picture 5" descr="coffee_c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56" y="1611376"/>
            <a:ext cx="3660648" cy="48808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754880" y="1611376"/>
            <a:ext cx="4529455" cy="554719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门口有家奶茶店。你想喝杯奶茶吗？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Ménkǒu yǒu jiā nǎichádiàn. Nǐ xiǎng hē bēi nǎichá ma?</a:t>
            </a:r>
          </a:p>
        </p:txBody>
      </p:sp>
      <p:sp>
        <p:nvSpPr>
          <p:cNvPr id="8" name="Oval 7"/>
          <p:cNvSpPr/>
          <p:nvPr/>
        </p:nvSpPr>
        <p:spPr>
          <a:xfrm>
            <a:off x="4610431" y="1515077"/>
            <a:ext cx="343925" cy="343925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8785" y="2246781"/>
            <a:ext cx="3684270" cy="554719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我想喝咖啡，还是去咖啡店吧。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xiǎng hē kāfēi, háishi qù kāfēidiàn ba.</a:t>
            </a:r>
          </a:p>
        </p:txBody>
      </p:sp>
      <p:sp>
        <p:nvSpPr>
          <p:cNvPr id="10" name="Oval 9"/>
          <p:cNvSpPr/>
          <p:nvPr/>
        </p:nvSpPr>
        <p:spPr>
          <a:xfrm>
            <a:off x="11443578" y="2150482"/>
            <a:ext cx="343925" cy="343925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882186"/>
            <a:ext cx="2915920" cy="554719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咖啡店离这儿有点儿远。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Kāfēidiàn lí zhèr yǒudiǎnr yuǎn.</a:t>
            </a:r>
          </a:p>
        </p:txBody>
      </p:sp>
      <p:sp>
        <p:nvSpPr>
          <p:cNvPr id="12" name="Oval 11"/>
          <p:cNvSpPr/>
          <p:nvPr/>
        </p:nvSpPr>
        <p:spPr>
          <a:xfrm>
            <a:off x="4610431" y="2785887"/>
            <a:ext cx="343925" cy="343925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81950" y="3517591"/>
            <a:ext cx="3761105" cy="554719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没关系，那家店的咖啡很好喝。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 guānxi, nà jiā diàn de kāfēi hěn hǎohē.</a:t>
            </a:r>
          </a:p>
        </p:txBody>
      </p:sp>
      <p:sp>
        <p:nvSpPr>
          <p:cNvPr id="14" name="Oval 13"/>
          <p:cNvSpPr/>
          <p:nvPr/>
        </p:nvSpPr>
        <p:spPr>
          <a:xfrm>
            <a:off x="11443578" y="3421292"/>
            <a:ext cx="343925" cy="343925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152996"/>
            <a:ext cx="3453765" cy="554719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那你等一下，我去买杯奶茶。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 nǐ děng yíxià, wǒ qù mǎi bēi nǎichá.</a:t>
            </a:r>
          </a:p>
        </p:txBody>
      </p:sp>
      <p:sp>
        <p:nvSpPr>
          <p:cNvPr id="16" name="Oval 15"/>
          <p:cNvSpPr/>
          <p:nvPr/>
        </p:nvSpPr>
        <p:spPr>
          <a:xfrm>
            <a:off x="4610431" y="4056697"/>
            <a:ext cx="343925" cy="343925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41815" y="4788401"/>
            <a:ext cx="2301240" cy="554719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你不想喝咖啡吗？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bù xiǎng hē kāfēi ma?</a:t>
            </a:r>
          </a:p>
        </p:txBody>
      </p:sp>
      <p:sp>
        <p:nvSpPr>
          <p:cNvPr id="18" name="Oval 17"/>
          <p:cNvSpPr/>
          <p:nvPr/>
        </p:nvSpPr>
        <p:spPr>
          <a:xfrm>
            <a:off x="11443578" y="4692102"/>
            <a:ext cx="343925" cy="343925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5423806"/>
            <a:ext cx="4068445" cy="554719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喝了咖啡，晚上就别想睡觉了。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Hēle kāfēi, wǎnshang jiù bié xiǎng shuìjiào le.</a:t>
            </a:r>
          </a:p>
        </p:txBody>
      </p:sp>
      <p:sp>
        <p:nvSpPr>
          <p:cNvPr id="20" name="Oval 19"/>
          <p:cNvSpPr/>
          <p:nvPr/>
        </p:nvSpPr>
        <p:spPr>
          <a:xfrm>
            <a:off x="4610431" y="5327507"/>
            <a:ext cx="343925" cy="343925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pic>
        <p:nvPicPr>
          <p:cNvPr id="21" name="slide2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在咖啡店门口 — 王一雪和刘明在聊天儿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02575" y="1611376"/>
            <a:ext cx="3840480" cy="488086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assets/walking_TODO.jpg]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11376"/>
            <a:ext cx="2184400" cy="107470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我们打车回去吧。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dǎchē huíqù ba.</a:t>
            </a:r>
          </a:p>
        </p:txBody>
      </p:sp>
      <p:sp>
        <p:nvSpPr>
          <p:cNvPr id="8" name="Oval 7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59885" y="2800716"/>
            <a:ext cx="3376930" cy="107470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这里离家很近，还是走路吧。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Zhèlǐ lí jiā hěn jìn, háishi zǒulù ba.</a:t>
            </a:r>
          </a:p>
        </p:txBody>
      </p:sp>
      <p:sp>
        <p:nvSpPr>
          <p:cNvPr id="10" name="Oval 9"/>
          <p:cNvSpPr/>
          <p:nvPr/>
        </p:nvSpPr>
        <p:spPr>
          <a:xfrm>
            <a:off x="7192853" y="2682941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90056"/>
            <a:ext cx="2454910" cy="788117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要走多长时间？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Yào zǒu duō cháng shíjiān?</a:t>
            </a:r>
          </a:p>
        </p:txBody>
      </p:sp>
      <p:sp>
        <p:nvSpPr>
          <p:cNvPr id="12" name="Oval 11"/>
          <p:cNvSpPr/>
          <p:nvPr/>
        </p:nvSpPr>
        <p:spPr>
          <a:xfrm>
            <a:off x="371977" y="387228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7225" y="4892808"/>
            <a:ext cx="3069590" cy="788117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走半个多小时就到了。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Zǒu bàn gè duō xiǎoshí jiù dào le.</a:t>
            </a:r>
          </a:p>
        </p:txBody>
      </p:sp>
      <p:sp>
        <p:nvSpPr>
          <p:cNvPr id="14" name="Oval 13"/>
          <p:cNvSpPr/>
          <p:nvPr/>
        </p:nvSpPr>
        <p:spPr>
          <a:xfrm>
            <a:off x="7192853" y="4775033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95560"/>
            <a:ext cx="5912485" cy="788117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好的。每天上下班都坐车，今天运动运动吧。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 de. Měi tiān shàng xià bān dōu zuò chē, jīntiān yùndòng yùndòng ba.</a:t>
            </a:r>
          </a:p>
        </p:txBody>
      </p:sp>
      <p:sp>
        <p:nvSpPr>
          <p:cNvPr id="16" name="Oval 15"/>
          <p:cNvSpPr/>
          <p:nvPr/>
        </p:nvSpPr>
        <p:spPr>
          <a:xfrm>
            <a:off x="371977" y="5677785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pic>
        <p:nvPicPr>
          <p:cNvPr id="17" name="slide2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王一雪 的日记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11094415" cy="156187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assets/diary_TODO.jpg]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74420"/>
            <a:ext cx="11094415" cy="3117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① </a:t>
            </a: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这周刘明休息，我下班后跟他去了一家商店。</a:t>
            </a:r>
          </a:p>
          <a:p>
            <a:pPr>
              <a:spcBef>
                <a:spcPts val="73"/>
              </a:spcBef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zhōu Liú Míng xiūxi, wǒ xiàbān hòu gēn tā qùle yì jiā shāngdiàn.</a:t>
            </a:r>
          </a:p>
          <a:p>
            <a:pPr>
              <a:spcBef>
                <a:spcPts val="73"/>
              </a:spcBef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Tuần này Lưu Minh nghỉ, tan làm tớ với anh ấy đi đến một cửa hàng.</a:t>
            </a:r>
          </a:p>
          <a:p>
            <a:pPr>
              <a:spcBef>
                <a:spcPts val="1031"/>
              </a:spcBef>
              <a:buNone/>
            </a:pPr>
            <a:r>
              <a:rPr sz="14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② </a:t>
            </a: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商店里边的衣服没有大商场里的好看。</a:t>
            </a:r>
          </a:p>
          <a:p>
            <a:pPr>
              <a:spcBef>
                <a:spcPts val="73"/>
              </a:spcBef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Shāngdiàn lǐbian de yīfu méiyǒu dà shāngchǎng lǐ de hǎokàn.</a:t>
            </a:r>
          </a:p>
          <a:p>
            <a:pPr>
              <a:spcBef>
                <a:spcPts val="73"/>
              </a:spcBef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Quần áo trong cửa hàng không đẹp bằng ở trung tâm thương mại lớn.</a:t>
            </a:r>
          </a:p>
          <a:p>
            <a:pPr>
              <a:spcBef>
                <a:spcPts val="1031"/>
              </a:spcBef>
              <a:buNone/>
            </a:pPr>
            <a:r>
              <a:rPr sz="14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③ </a:t>
            </a: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我们没有买到喜欢的衣服，从商店出来就到咖啡店坐了坐。</a:t>
            </a:r>
          </a:p>
          <a:p>
            <a:pPr>
              <a:spcBef>
                <a:spcPts val="73"/>
              </a:spcBef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méiyǒu mǎidào xǐhuan de yīfu, cóng shāngdiàn chūlái jiù dào kāfēidiàn zuòle zuò.</a:t>
            </a:r>
          </a:p>
          <a:p>
            <a:pPr>
              <a:spcBef>
                <a:spcPts val="73"/>
              </a:spcBef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Bọn tớ không mua được bộ nào ưng ý, ra khỏi cửa hàng liền ghé quán cà phê ngồi một lát.</a:t>
            </a:r>
          </a:p>
          <a:p>
            <a:pPr>
              <a:spcBef>
                <a:spcPts val="1031"/>
              </a:spcBef>
              <a:buNone/>
            </a:pPr>
            <a:r>
              <a:rPr sz="14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④ </a:t>
            </a: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因为想运动运动，所以喝完东西，我们就走回家了。</a:t>
            </a:r>
          </a:p>
          <a:p>
            <a:pPr>
              <a:spcBef>
                <a:spcPts val="73"/>
              </a:spcBef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Yīnwèi xiǎng yùndòng yùndòng, suǒyǐ hēwán dōngxi, wǒmen jiù zǒuhuí jiā le.</a:t>
            </a:r>
          </a:p>
          <a:p>
            <a:pPr>
              <a:spcBef>
                <a:spcPts val="73"/>
              </a:spcBef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Vì muốn vận động chút nên uống xong đồ, bọn tớ đi bộ về nhà.</a:t>
            </a:r>
          </a:p>
          <a:p>
            <a:pPr>
              <a:spcBef>
                <a:spcPts val="883"/>
              </a:spcBef>
              <a:buNone/>
            </a:pPr>
            <a:r>
              <a:rPr sz="1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小语助力: "动词+到" (vd 买到) diễn đạt hành động đã đạt được mục đích — khác với chỉ "买" (hành động mua, chưa chắc có được).</a:t>
            </a:r>
          </a:p>
        </p:txBody>
      </p:sp>
      <p:pic>
        <p:nvPicPr>
          <p:cNvPr id="8" name="slide2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生词: 周 zhōu (tuần, n.)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09434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1/3 · 没有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没有 — dạng hỏi: A + 有 + B + tính từ + 吗？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妹妹</a:t>
            </a:r>
            <a:r>
              <a:rPr sz="2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有</a:t>
            </a: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姐姐高吗？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Mèimei yǒu jiějie gāo ma?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Em gái có cao bằng chị không?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那件衣服</a:t>
            </a:r>
            <a:r>
              <a:rPr sz="2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有</a:t>
            </a: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这件好看吗？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 jiàn yīfu yǒu zhè jiàn hǎokàn ma?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Cái áo đó có đẹp bằng cái này không?</a:t>
            </a:r>
          </a:p>
          <a:p>
            <a:pPr>
              <a:spcBef>
                <a:spcPts val="15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Câu hỏi so sánh thường dùng dạng khẳng định "有" (tự nhiên hơn), không phải bắt buộc — vẫn có thể hỏi bằng "没有...吗？".</a:t>
            </a:r>
          </a:p>
        </p:txBody>
      </p:sp>
      <p:pic>
        <p:nvPicPr>
          <p:cNvPr id="7" name="slide2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6675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2/3 · 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动词"离"：A + 离 + B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咖啡店</a:t>
            </a:r>
            <a:r>
              <a:rPr sz="2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离</a:t>
            </a: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这儿有点儿远。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Kāfēidiàn lí zhèr yǒudiǎnr yuǎn.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Quán cà phê cách đây hơi xa.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学校</a:t>
            </a:r>
            <a:r>
              <a:rPr sz="2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离</a:t>
            </a: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医院不远。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Xuéxiào lí yīyuàn bù yuǎn.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Trường học cách bệnh viện không xa.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</a:t>
            </a:r>
            <a:r>
              <a:rPr sz="2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离</a:t>
            </a: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我的生日还有三天。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Xiànzài lí wǒ de shēngrì hái yǒu sān tiān.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Bây giờ còn cách sinh nhật tôi ba ngày nữa.</a:t>
            </a:r>
          </a:p>
          <a:p>
            <a:pPr>
              <a:spcBef>
                <a:spcPts val="15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"离" diễn đạt khoảng cách — có thể là nơi chốn hoặc thời gian.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45375" y="1611376"/>
            <a:ext cx="4297680" cy="488086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assets/grammar_shiliang_TODO.jpg]</a:t>
            </a:r>
          </a:p>
        </p:txBody>
      </p:sp>
      <p:pic>
        <p:nvPicPr>
          <p:cNvPr id="8" name="slide2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302288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3/3 · 时量补语 (a)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时量补语（1）：Chủ ngữ + Động từ + Bổ ngữ thời lượng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走</a:t>
            </a:r>
            <a:r>
              <a:rPr sz="2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半个多小时</a:t>
            </a: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就到了。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Zǒu bàn gè duō xiǎoshí jiù dào le.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Đi bộ hơn nửa tiếng là tới.</a:t>
            </a:r>
          </a:p>
          <a:p>
            <a:pPr>
              <a:spcBef>
                <a:spcPts val="2000"/>
              </a:spcBef>
              <a:buNone/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陈天中跑步跑了</a:t>
            </a:r>
            <a:r>
              <a:rPr sz="2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两个小时了</a:t>
            </a: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Chén Tiānzhōng pǎobù pǎole liǎng ge xiǎoshí le.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Trần Thiên Trung chạy bộ đã hai tiếng rồi — vẫn đang chạy.</a:t>
            </a:r>
          </a:p>
          <a:p>
            <a:pPr>
              <a:spcBef>
                <a:spcPts val="15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"động từ + 了" + bổ ngữ + "了" cuối câu → hành động VẪN ĐANG tiếp diễn.</a:t>
            </a:r>
          </a:p>
        </p:txBody>
      </p:sp>
      <p:pic>
        <p:nvPicPr>
          <p:cNvPr id="7" name="slide2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302288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3/3 · 时量补语 (b)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时量补语（1）— Tân ngữ đứng ở đâu?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77288"/>
          <a:ext cx="11094414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36643"/>
                <a:gridCol w="3157771"/>
              </a:tblGrid>
              <a:tr h="749808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Trường hợp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Tân ngữ là SỰ VẬT → đứng SAU bổ ngữ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我看了一个晚上电视。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Tân ngữ là ĐẠI TỪ/xưng hô → đứng TRƯỚC bổ ngữ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李文等了她一个小时。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Có tân ngữ → có thể LẶP động từ rồi thêm bổ ngữ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他们学中文学了两年。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Động từ LY HỢP (离合词) → bắt buộc lặp ngữ tố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安妮游泳游了一个下午。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7" name="slide3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Gọi đồ uống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51215" y="1611376"/>
            <a:ext cx="3291840" cy="488086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assets/oral_drinks_TODO.jpg]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11378"/>
          <a:ext cx="7436813" cy="488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824"/>
                <a:gridCol w="2637771"/>
                <a:gridCol w="3063218"/>
              </a:tblGrid>
              <a:tr h="617830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Câu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852606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你想喝点儿什么？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 xiǎng hē diǎnr shénme?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Cậu muốn uống gì?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852606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大杯，去冰，半糖，谢谢。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Dàbēi, qùbīng, bàntáng, xièxie.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Cỡ lớn, bỏ đá, nửa đường, cảm ơn.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852606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可以帮我加珍珠吗？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Kěyǐ bāng wǒ jiā zhēnzhū ma?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Có thể thêm trân châu cho tôi không?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852606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我不要加冰，谢谢。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bú yào jiābīng, xièxie.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Tôi không muốn thêm đá, cảm ơn.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852606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这杯咖啡很好喝。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Zhè bēi kāfēi hěn hǎohē.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Ly cà phê này ngon lắm.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slide3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Gọi món nhà hàng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51215" y="1611376"/>
            <a:ext cx="3291840" cy="488086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assets/oral_restaurant_TODO.jpg]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11377"/>
          <a:ext cx="7436814" cy="4880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965"/>
                <a:gridCol w="2837576"/>
                <a:gridCol w="3192273"/>
              </a:tblGrid>
              <a:tr h="563610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Câu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991953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我们要一个开胃菜、两个主菜。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Wǒmen yào yí gè kāiwèicài, liǎng gè zhǔcài.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Chúng tôi muốn 1 món khai vị, 2 món chính.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991953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这道甜点很有名，一定要试试。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Zhè dào tiándiǎn hěn yǒumíng, yídìng yào shìshi.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Món tráng miệng này rất nổi tiếng, nhất định phải thử.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7778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我要五分熟的牛排。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yào wǔ fēn shú de niúpái.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Tôi muốn bò bít-tết chín 5 phần.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7778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我们打包剩下的菜吧。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Wǒmen dǎbāo shèngxià de cài ba.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Mình gói mang về phần còn lại đi.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7778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今天堂食，谢谢。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Jīntiān tángshí, xièxie.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Hôm nay dùng tại chỗ, cảm ơn.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slide32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So sánh &amp; khoảng cách/thời gian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51215" y="2050288"/>
            <a:ext cx="3291840" cy="4441952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[hình: assets/oral_compare_TODO.jpg]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50290"/>
          <a:ext cx="7436814" cy="44419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0262"/>
                <a:gridCol w="2962253"/>
                <a:gridCol w="2884299"/>
              </a:tblGrid>
              <a:tr h="562272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Câu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75935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我觉得走路没有坐车方便。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juéde zǒulù méiyǒu zuòchē fāngbiàn.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Tớ thấy đi bộ không tiện bằng đi xe.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75935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这儿离你家远吗？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Zhèr lí nǐ jiā yuǎn ma?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Chỗ này cách nhà cậu xa không?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75935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走路要多长时间？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Zǒulù yào duō cháng shíjiān?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Đi bộ mất bao lâu?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75935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他学中文学了三年了。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Tā xué Zhōngwén xuéle sān nián le.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Cậu ấy học tiếng Trung đã ba năm rồi.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75935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现在离下班还有多久？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Xiànzài lí xiàbān hái yǒu duōjiǔ?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Bây giờ còn cách giờ tan làm bao lâu?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slide3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