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就要考试了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Jiù yào kǎoshì le — Sắp thi rồi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Buổi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nói về việc chuẩn bị thi cử, học tập, và cảm xúc trước/sau kỳ thi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 từ vựng chủ đề học tập nâng cao (chương trình học, học từ xa, tốt nghiệp, học bổng...)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"还是" trong câu hỏi lựa chọn (选择问句)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"连…都/也" để nhấn mạnh mức độ (căng thẳng, áp lực...)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dorm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开学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以后，我就要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住校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Kāixué yǐhòu, wǒ jiù yào zhùxiào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Sau khi khai giảng, tớ sẽ ở ký túc xá.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开学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kāixué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khai giảng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住校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zhùxiào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ở nội trú</a:t>
            </a:r>
          </a:p>
        </p:txBody>
      </p:sp>
      <p:pic>
        <p:nvPicPr>
          <p:cNvPr id="10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开 = 一(chốt cửa) + 廾(gǒng, hai bàn tay) → hai tay NÂNG chốt cửa lên → "mở" → 开学 = khai giảng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住 = 亻(rén, người) + 主(zhǔ, làm chủ) → NGƯỜI làm CHỦ một chỗ ở → "ở, trú" → 住校 = ở nội trú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students_class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762083"/>
            <a:ext cx="3550210" cy="2579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课程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很有意思，大家都在认真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听课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mén kèchéng hěn yǒu yìsi, dàjiā dōu zài rènzhēn tīngkè.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Môn học này rất thú vị, mọi người đều đang chăm chú nghe giảng.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课程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kèchéng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chương trình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听课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tīngkè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dự giờ, nghe giảng</a:t>
            </a:r>
          </a:p>
        </p:txBody>
      </p:sp>
      <p:pic>
        <p:nvPicPr>
          <p:cNvPr id="10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课 = 讠(yán, lời nói) + 果(guǒ, kết quả) → lời giảng đem lại KẾT QUẢ → "bài học, môn học"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50212" cy="4661408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assets/words/yuanchengxuexi_TODO.jpg]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虽然我们在家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远程学习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，但我很想念我的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室友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Suīrán wǒmen zài jiā yuǎnchéng xuéxí, dàn wǒ hěn xiǎngniàn wǒ de shìyǒu.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Dù chúng tớ học từ xa ở nhà, nhưng tớ rất nhớ bạn cùng phòng của mình.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远程学习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yuǎnchéng xuéxí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từ 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室友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shìyǒu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cùng phòng</a:t>
            </a:r>
          </a:p>
        </p:txBody>
      </p:sp>
      <p:pic>
        <p:nvPicPr>
          <p:cNvPr id="10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习 = 羽(cánh chim, phía trên) + 日(mặt trời) → CHIM non tập bay dưới ánh mặt trời → "học, luyện tập" → 学习 = học tập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友 = hai chữ 又(yòu, bàn tay) nắm lấy nhau → "bạn bè" → 室友 = bạn cùng phòng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diction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6702"/>
            <a:ext cx="3550212" cy="3550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我不懂，你能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帮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我一下吗？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ge cí wǒ bù dǒng, nǐ néng bāng wǒ yīxià ma?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Từ này tớ không hiểu, cậu có thể giúp tớ một chút không?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cí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 (ngôn ngữ)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帮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giúp</a:t>
            </a:r>
          </a:p>
        </p:txBody>
      </p:sp>
      <p:pic>
        <p:nvPicPr>
          <p:cNvPr id="10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词 = 讠(yán, lời nói) + 司(quản lý) → lời nói được QUẢN LÝ thành đơn vị → "từ, từ ngữ"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math_tal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0750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我去向他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请教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，因为他在数学方面很有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天赋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qù xiàng tā qǐngjiào, yīnwèi tā zài shùxué fāngmiàn hěn yǒu tiānfù.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đi hỏi cậu ấy, vì cậu ấy rất có thiên phú về môn Toán.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qǐngjiào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hỏi, xin chỉ giáo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天赋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tiānfù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năng khiếu</a:t>
            </a:r>
          </a:p>
        </p:txBody>
      </p:sp>
      <p:pic>
        <p:nvPicPr>
          <p:cNvPr id="10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请 = 讠(yán, lời nói) + 青(qīng, trong trẻo) → lời nói TRONG TRẺO, lễ phép → "mời, xin" → 请教 = xin chỉ giáo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天 = 一(bầu trời) trên đầu chữ 大(người dang tay) → khoảng KHÔNG trên đầu người → "trời" → 天赋 = năng khiếu trời cho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50212" cy="4661408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assets/words/zuoye_TODO.jpg]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作业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太多了，我做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错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了很多。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de zuòyè tài duō le, wǒ zuò cuò le hěn duō.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Bài tập hôm nay nhiều quá, tớ làm sai mất nhiều câu rồi.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作业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zuòyè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bài tập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cuò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sai</a:t>
            </a:r>
          </a:p>
        </p:txBody>
      </p:sp>
      <p:pic>
        <p:nvPicPr>
          <p:cNvPr id="10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业 vốn là hình cái GIÁ TREO chuông/khánh thời xưa → "nghề, việc" → 作业 = bài tập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错 = 钅(jīn, kim loại) + 昔(xī, xưa cũ) → kim loại cũ kỹ, gỉ sét → "sai"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studying_text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18" y="1611376"/>
            <a:ext cx="3496056" cy="4661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明天要考试，今天我要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复习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题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yào kǎoshì, jīntiān wǒ yào fùxí zhèxiē tí.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mai phải thi rồi, hôm nay tớ phải ôn tập những câu hỏi này.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复习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fùxí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ôn tập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题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tí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đề bài, câu hỏi</a:t>
            </a:r>
          </a:p>
        </p:txBody>
      </p:sp>
      <p:pic>
        <p:nvPicPr>
          <p:cNvPr id="10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复 = 亻(rén, người) + 日(rì, ngày) + 夂(chân bước) → NGƯỜI bước lại đúng NGÀY cũ → "lặp lại" → 复习 = ôn tập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题 = 是(shì, đúng, phải) + 页(trang giấy) → TRANG GIẤY ghi câu hỏi cần trả lời ĐÚNG → "đề bài"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stressed_ex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85" y="1611376"/>
            <a:ext cx="3109122" cy="4661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马上要考试了，我觉得很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紧张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压力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很大。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Mǎshàng yào kǎoshì le, wǒ juéde hěn jǐnzhāng, yālì hěn dà.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Sắp thi rồi, tớ cảm thấy rất căng thẳng, áp lực rất lớn.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紧张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jǐnzhāng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hồi hộp, căng thẳng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压力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yālì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áp lực</a:t>
            </a:r>
          </a:p>
        </p:txBody>
      </p:sp>
      <p:pic>
        <p:nvPicPr>
          <p:cNvPr id="10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紧 = 又(yòu, bàn tay) + 糸(mì, sợi dây) → tay NẮM CHẶT sợi dây → "chặt, khẩn trương" → 紧张 = căng thẳng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压 = 厂(vách đá) + 土(tǔ, đất) → VÁCH ĐÁ đè nặng xuống đất → "đè nén, áp lực"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confident_stud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758098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这次考试只是一次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能力评估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，我们要有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自信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cì kǎoshì zhǐshì yī cì nénglì pínggū, wǒmen yào yǒu zìxìn.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Kỳ thi này chỉ là một lần đánh giá năng lực thôi, chúng ta phải tự tin lên.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能力评估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nénglì pínggū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đánh giá năng lực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自信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zìxìn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tự tin</a:t>
            </a:r>
          </a:p>
        </p:txBody>
      </p:sp>
      <p:pic>
        <p:nvPicPr>
          <p:cNvPr id="10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力 vốn là hình một CÁI CÀY (nông cụ cần sức) → "sức mạnh" → 能力 = năng lực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信 = 亻(rén, người) + 言(yán, lời nói) → LỜI NÓI của một NGƯỜI đáng tin → "tin tưởng" → 自信 = tự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50212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assets/words/kao_xiao_TODO.jpg]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我今天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考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得很好，所以大家都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得很开心。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jīntiān kǎo de hěn hǎo, suǒyǐ dàjiā dōu xiào de hěn kāixīn.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tớ thi rất tốt, nên mọi người đều cười rất vui vẻ.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3520641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kǎo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613912"/>
            <a:ext cx="3520641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cười</a:t>
            </a:r>
          </a:p>
        </p:txBody>
      </p:sp>
      <p:pic>
        <p:nvPicPr>
          <p:cNvPr id="10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考 = 耂(lǎo, người già) + 丂(hơi thở khó) → NGƯỜI GIÀ xét hỏi, kiểm tra → "thi, khảo"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scholarsh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18" y="1611376"/>
            <a:ext cx="3496056" cy="4661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如果这次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考试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第一名，我就能拿到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奖学金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Rúguǒ zhè cì kǎoshì dì-yī míng, wǒ jiù néng ná dào jiǎngxuéjīn.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Nếu kỳ thi này đứng nhất, tớ sẽ nhận được học bổng.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考试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kǎoshì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kỳ thi, thi cử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奖学金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jiǎngxuéjīn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bổng</a:t>
            </a:r>
          </a:p>
        </p:txBody>
      </p:sp>
      <p:pic>
        <p:nvPicPr>
          <p:cNvPr id="10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试 = 讠(yán, lời nói) + 式(shì, khuôn mẫu) → dùng LỜI theo đúng KHUÔN để kiểm tra → "thử, thi" → 考试 = kỳ thi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奖 = 丬(nửa thân cây) + 夕(đêm) + 大(to lớn) → phần thưởng TO LỚN trao đêm lễ → "giải thưởng" → 奖学金 = học bổng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50212" cy="4661408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assets/words/chengjidan_TODO.jpg]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无论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成绩单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怎么样，只要努力了就不用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失望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，要对自己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满意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Wúlùn chéngjìdān zěnmeyàng, zhǐyào nǔlì le jiù bùyòng shīwàng, yào duì zìjǐ mǎnyì.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Bất kể bảng điểm thế nào, chỉ cần cố gắng rồi thì không cần phải thất vọng, phải tự hài lòng với bản thân.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2301374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成绩单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chéngjìdān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bảng điểm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4101592"/>
            <a:ext cx="2301374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满意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mǎnyì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hài lòng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4101592"/>
            <a:ext cx="2301374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失望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shīwàng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thất vọng</a:t>
            </a:r>
          </a:p>
        </p:txBody>
      </p:sp>
      <p:pic>
        <p:nvPicPr>
          <p:cNvPr id="11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满 = 氵(nước) + 两(liǎng, cả hai bên) → nước dâng ĐẦY cả hai bên → "đầy, hài lòng" → 满意 = hài lòng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望 = 亡(mất) + 月(nguyệt, trăng) → ngóng nhìn MẶT TRĂNG dù đã khuất → "trông ngóng" → 失望 = thất vọng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graduation_rela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73651"/>
            <a:ext cx="3550211" cy="25368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毕业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以后，我终于可以好好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放松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一下了。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Bìyè yǐhòu, wǒ zhōngyú kěyǐ hǎohǎo fàngsōng yīxià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Sau khi tốt nghiệp, cuối cùng tớ cũng có thể thư giãn một chút rồi.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放松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fàngsōng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thư giãn, thả lỏng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毕业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bìyè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tốt nghiệp</a:t>
            </a:r>
          </a:p>
        </p:txBody>
      </p:sp>
      <p:pic>
        <p:nvPicPr>
          <p:cNvPr id="10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松 = 木(mù, cây) → cây có dáng THƯA, cành lỏng lẻo → "lỏng, thư giãn" → 放松 = thư giãn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毕 = 比(so sánh cạnh nhau) + 十(shí, đầy đủ) → mọi thứ đã ĐẦY ĐỦ, xong xuôi → "hoàn tất" → 毕业 = tốt nghiệp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在房间 — 刘明帮刘小明准备开学</a:t>
            </a:r>
          </a:p>
        </p:txBody>
      </p:sp>
      <p:pic>
        <p:nvPicPr>
          <p:cNvPr id="6" name="Picture 5" descr="father_son_backp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131568"/>
            <a:ext cx="384048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4606290" cy="49186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小明，你们明天开学，你准备好了吗？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Xiǎomíng, nǐmen míngtiān kāixué, nǐ zhǔnbèi hǎo le ma?</a:t>
            </a:r>
          </a:p>
        </p:txBody>
      </p:sp>
      <p:sp>
        <p:nvSpPr>
          <p:cNvPr id="8" name="Oval 7"/>
          <p:cNvSpPr/>
          <p:nvPr/>
        </p:nvSpPr>
        <p:spPr>
          <a:xfrm>
            <a:off x="420559" y="1525988"/>
            <a:ext cx="304954" cy="30495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6350" y="2174781"/>
            <a:ext cx="4990465" cy="49186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明天就开学啊？爸爸，我的书包你看见了吗？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jiù kāixué a? Bàba, wǒ de shūbāo nǐ kànjiàn le ma?</a:t>
            </a:r>
          </a:p>
        </p:txBody>
      </p:sp>
      <p:sp>
        <p:nvSpPr>
          <p:cNvPr id="10" name="Oval 9"/>
          <p:cNvSpPr/>
          <p:nvPr/>
        </p:nvSpPr>
        <p:spPr>
          <a:xfrm>
            <a:off x="7259941" y="2089393"/>
            <a:ext cx="304954" cy="30495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38186"/>
            <a:ext cx="2224405" cy="49186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书包在门后面。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Shūbāo zài mén hòumiàn.</a:t>
            </a:r>
          </a:p>
        </p:txBody>
      </p:sp>
      <p:sp>
        <p:nvSpPr>
          <p:cNvPr id="12" name="Oval 11"/>
          <p:cNvSpPr/>
          <p:nvPr/>
        </p:nvSpPr>
        <p:spPr>
          <a:xfrm>
            <a:off x="420559" y="2652798"/>
            <a:ext cx="304954" cy="30495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5115" y="3301591"/>
            <a:ext cx="2171700" cy="67072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书在哪儿呢？笔呢？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Shū zài nǎr ne? Bǐ ne?</a:t>
            </a:r>
          </a:p>
        </p:txBody>
      </p:sp>
      <p:sp>
        <p:nvSpPr>
          <p:cNvPr id="14" name="Oval 13"/>
          <p:cNvSpPr/>
          <p:nvPr/>
        </p:nvSpPr>
        <p:spPr>
          <a:xfrm>
            <a:off x="7195623" y="3185153"/>
            <a:ext cx="415847" cy="41584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43855"/>
            <a:ext cx="3684270" cy="49186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书在床上，笔在桌子上。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Shū zài chuáng shang, bǐ zài zhuōzi shang.</a:t>
            </a:r>
          </a:p>
        </p:txBody>
      </p:sp>
      <p:sp>
        <p:nvSpPr>
          <p:cNvPr id="16" name="Oval 15"/>
          <p:cNvSpPr/>
          <p:nvPr/>
        </p:nvSpPr>
        <p:spPr>
          <a:xfrm>
            <a:off x="420559" y="3958467"/>
            <a:ext cx="304954" cy="30495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83050" y="4607260"/>
            <a:ext cx="3453765" cy="49186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太好了！现在都准备好了。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Tài hǎo le! Xiànzài dōu zhǔnbèi hǎo le.</a:t>
            </a:r>
          </a:p>
        </p:txBody>
      </p:sp>
      <p:sp>
        <p:nvSpPr>
          <p:cNvPr id="18" name="Oval 17"/>
          <p:cNvSpPr/>
          <p:nvPr/>
        </p:nvSpPr>
        <p:spPr>
          <a:xfrm>
            <a:off x="7259941" y="4521872"/>
            <a:ext cx="304954" cy="30495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70665"/>
            <a:ext cx="4759960" cy="49186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这次爸爸帮你，下次你自己准备，好不好？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cì bàba bāng nǐ, xià cì nǐ zìjǐ zhǔnbèi, hǎo bu hǎo?</a:t>
            </a:r>
          </a:p>
        </p:txBody>
      </p:sp>
      <p:sp>
        <p:nvSpPr>
          <p:cNvPr id="20" name="Oval 19"/>
          <p:cNvSpPr/>
          <p:nvPr/>
        </p:nvSpPr>
        <p:spPr>
          <a:xfrm>
            <a:off x="420559" y="5085277"/>
            <a:ext cx="304954" cy="30495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9455" y="5734070"/>
            <a:ext cx="1737360" cy="49186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Hǎo!</a:t>
            </a:r>
          </a:p>
        </p:txBody>
      </p:sp>
      <p:sp>
        <p:nvSpPr>
          <p:cNvPr id="22" name="Oval 21"/>
          <p:cNvSpPr/>
          <p:nvPr/>
        </p:nvSpPr>
        <p:spPr>
          <a:xfrm>
            <a:off x="7259941" y="5648682"/>
            <a:ext cx="304954" cy="30495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23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在房间，刘明在帮刘小明准备开学的东西。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在房间 — 王一雪提醒刘小雪复习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762250" cy="70122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小雪，你在做什么呢？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Xiǎoxuě, nǐ zài zuò shénme ne?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96630" y="2414591"/>
            <a:ext cx="3146425" cy="70122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明天考试，我在看书呢。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kǎoshì, wǒ zài kàn shū ne.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296816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17806"/>
            <a:ext cx="2608580" cy="70122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这些词要好好看看。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Zhèxiē cí yào hǎohǎo kànkan.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0003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3465" y="4021021"/>
            <a:ext cx="3069590" cy="70122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我看过了，意思也都懂了。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kànguo le, yìsi yě dōu dǒng le.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3903246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24236"/>
            <a:ext cx="4990465" cy="70122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你的本子呢？本子上做错的题也要看一看。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de běnzi ne? Běnzi shang zuòcuò de tí yě yào kàn yi kàn.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70646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36765" y="5627451"/>
            <a:ext cx="4606290" cy="70122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妈妈，是您准备考试还是我准备考试？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Māma, shì nín zhǔnbèi kǎoshì háishi wǒ zhǔnbèi kǎoshì?</a:t>
            </a:r>
          </a:p>
        </p:txBody>
      </p:sp>
      <p:sp>
        <p:nvSpPr>
          <p:cNvPr id="17" name="Oval 16"/>
          <p:cNvSpPr/>
          <p:nvPr/>
        </p:nvSpPr>
        <p:spPr>
          <a:xfrm>
            <a:off x="11399093" y="5509676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18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在房间，王一雪和刘小雪在聊学习。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在房间 — 一家人聊考试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7621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刘小雪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611376"/>
            <a:ext cx="357621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611376"/>
            <a:ext cx="357621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刘小明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6864"/>
            <a:ext cx="357621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妈妈，我回来了！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Māma, wǒ huílái le!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86864"/>
            <a:ext cx="3576218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我买了奶茶，就在桌子上，自己去拿吧。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mǎile nǎichá, jiù zài zhuōzi shang, zìjǐ qù ná ba.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6672"/>
            <a:ext cx="357621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谢谢妈妈！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 māma!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3385312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今天考试考得怎么样？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kǎoshì kǎo de zěnmeyàng?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86480"/>
            <a:ext cx="357621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我觉得比上次好。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juéde bǐ shàng cì hǎo.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4135120"/>
            <a:ext cx="3576218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真不错！饭菜快要做好了，你叫弟弟一起去洗手吧。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Zhēn búcuò! Fàncài kuàiyào zuòhǎo le, nǐ jiào dìdi yìqǐ qù xǐshǒu 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2086864"/>
            <a:ext cx="3576218" cy="122529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7.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妈妈，我是第一名，姐姐还没洗完呢。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Māma, wǒ shì dì-yī míng, jiějie hái méi xǐwán 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5433568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8.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你洗得真快啊！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xǐ de zhēn kuài a!</a:t>
            </a:r>
          </a:p>
        </p:txBody>
      </p:sp>
      <p:pic>
        <p:nvPicPr>
          <p:cNvPr id="17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在房间，王一雪和孩子们在聊天儿。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刘小雪的日记</a:t>
            </a:r>
          </a:p>
        </p:txBody>
      </p:sp>
      <p:pic>
        <p:nvPicPr>
          <p:cNvPr id="6" name="Picture 5" descr="diary_wri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724" y="1611376"/>
            <a:ext cx="2338247" cy="1561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374420"/>
            <a:ext cx="11094415" cy="3117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快要开学了，爸爸帮弟弟准备书包、本子和笔。</a:t>
            </a:r>
          </a:p>
          <a:p>
            <a:pPr>
              <a:spcBef>
                <a:spcPts val="68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Kuàiyào kāixué le, bàba bāng dìdi zhǔnbèi shūbāo, běnzi hé bǐ.</a:t>
            </a:r>
          </a:p>
          <a:p>
            <a:pPr>
              <a:spcBef>
                <a:spcPts val="68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Sắp khai giảng rồi, bố giúp em trai chuẩn bị cặp sách, vở và bút.</a:t>
            </a:r>
          </a:p>
          <a:p>
            <a:pPr>
              <a:spcBef>
                <a:spcPts val="953"/>
              </a:spcBef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我就要考试了，妈妈让我看书、看做错的题。</a:t>
            </a:r>
          </a:p>
          <a:p>
            <a:pPr>
              <a:spcBef>
                <a:spcPts val="68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jiù yào kǎoshì le, māma ràng wǒ kàn shū, kàn zuòcuò de tí.</a:t>
            </a:r>
          </a:p>
          <a:p>
            <a:pPr>
              <a:spcBef>
                <a:spcPts val="68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sắp thi rồi, mẹ bảo tớ xem sách, xem lại những câu làm sai.</a:t>
            </a:r>
          </a:p>
          <a:p>
            <a:pPr>
              <a:spcBef>
                <a:spcPts val="953"/>
              </a:spcBef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我们上学，爸爸、妈妈比我们还忙。</a:t>
            </a:r>
          </a:p>
          <a:p>
            <a:pPr>
              <a:spcBef>
                <a:spcPts val="68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shàngxué, bàba, māma bǐ wǒmen hái máng.</a:t>
            </a:r>
          </a:p>
          <a:p>
            <a:pPr>
              <a:spcBef>
                <a:spcPts val="68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tớ đi học, mà bố mẹ còn bận hơn cả chúng tớ.</a:t>
            </a:r>
          </a:p>
          <a:p>
            <a:pPr>
              <a:spcBef>
                <a:spcPts val="953"/>
              </a:spcBef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我问他们："是我和弟弟上学还是你们上学？"</a:t>
            </a:r>
          </a:p>
          <a:p>
            <a:pPr>
              <a:spcBef>
                <a:spcPts val="68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wèn tāmen: "Shì wǒ hé dìdi shàngxué háishi nǐmen shàngxué?"</a:t>
            </a:r>
          </a:p>
          <a:p>
            <a:pPr>
              <a:spcBef>
                <a:spcPts val="68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 hỏi họ: "Là con với em đi học hay là bố mẹ đi học vậy?"</a:t>
            </a:r>
          </a:p>
          <a:p>
            <a:pPr>
              <a:spcBef>
                <a:spcPts val="953"/>
              </a:spcBef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⑤ </a:t>
            </a: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我问完，他们都笑了。</a:t>
            </a:r>
          </a:p>
          <a:p>
            <a:pPr>
              <a:spcBef>
                <a:spcPts val="68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wènwán, tāmen dōu xiào le.</a:t>
            </a:r>
          </a:p>
          <a:p>
            <a:pPr>
              <a:spcBef>
                <a:spcPts val="68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Hỏi xong, cả nhà đều cười.</a:t>
            </a:r>
          </a:p>
        </p:txBody>
      </p:sp>
      <p:pic>
        <p:nvPicPr>
          <p:cNvPr id="8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选择问句 — dùng "还是" nối 2 lựa chọn trong câu hỏi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妈妈，是您准备考试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还是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我准备考试？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Māma, shì nín zhǔnbèi kǎoshì háishi wǒ zhǔnbèi kǎoshì?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ơi, là mẹ chuẩn bị thi hay con chuẩn bị thi vậy?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你更喜欢学新课程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还是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喜欢在家远程学习？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gèng xǐhuan xué xīn kèchéng háishi xǐhuan zài jiā yuǎnchéng xuéxí?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thích học chương trình mới hơn hay thích học từ xa ở nhà hơn?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明天你想复习功课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还是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先放松一下？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nǐ xiǎng fùxí gōngkè háishi xiān fàngsōng yíxià?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Mai cậu muốn ôn bài hay thư giãn một chút trước đã?</a:t>
            </a:r>
          </a:p>
          <a:p>
            <a:pPr>
              <a:spcBef>
                <a:spcPts val="132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(是) A + 还是 + B？ — chỉ dùng trong CÂU HỎI để hỏi chọn 1 trong các lựa chọn đã nêu. Người Việt hay nhầm dùng "或者" ở đây — "或者" chỉ dùng trong câu KHẲNG ĐỊNH (vd 你可以喝奶茶或者咖啡), không dùng trong câu hỏi lựa chọn kiểu này.</a:t>
            </a:r>
          </a:p>
        </p:txBody>
      </p:sp>
      <p:pic>
        <p:nvPicPr>
          <p:cNvPr id="7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连…都/也 — nhấn mạnh mức độ, thường là trường hợp cực đoan nhất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考试压力大的时候，我紧张得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连饭都不想吃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Kǎoshì yālì dà de shíhou, wǒ jǐnzhāng de lián fàn dōu bù xiǎng chī.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áp lực thi cử lớn, tớ căng thẳng đến mức cơm cũng không muốn ăn.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他复习得很认真，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连一个字都没忘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fùxí de hěn rènzhēn, lián yí ge zì dōu méi wàng.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ấy ôn tập rất chăm, đến một chữ cũng không quên.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这次考试太难了，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连老师也说不简单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cì kǎoshì tài nán le, lián lǎoshī yě shuō bù jiǎndān.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Kỳ thi lần này khó quá, đến cả thầy giáo cũng nói là không đơn giản.</a:t>
            </a:r>
          </a:p>
          <a:p>
            <a:pPr>
              <a:spcBef>
                <a:spcPts val="132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连 + (thứ được nhấn mạnh: người/vật/số lượng nhỏ nhất) + 都/也 + động từ. "连" đặt NGAY TRƯỚC phần muốn nhấn mạnh (không phải trước động từ) — lỗi hay gặp: quên mất "都/也" (chỉ nói "连…不" là thiếu, phải có "连…都/也…").</a:t>
            </a:r>
          </a:p>
        </p:txBody>
      </p:sp>
      <p:pic>
        <p:nvPicPr>
          <p:cNvPr id="7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Trước kỳ thi — động viên nhau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加油，你一定没问题的！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Jiāyóu, nǐ yídìng méi wèntí de!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Cố lên, cậu chắc chắn ổn thôi!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别紧张，正常发挥就行。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 jǐnzhāng, zhèngcháng fāhuī jiù xíng.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Đừng căng thẳng, phát huy bình thường là được.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我昨晚开夜车复习到两点。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zuówǎn kāiyèchē fùxí dào liǎng diǎn.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Tối qua tớ cày đêm ôn bài tới 2 giờ.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别临时抱佛脚了，早点儿准备吧。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 línshí bàofójiǎo le, zǎodiǎnr zhǔnbèi ba.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Đừng nước đến chân mới nhảy, chuẩn bị sớm đi.</a:t>
            </a:r>
          </a:p>
          <a:p>
            <a:pPr>
              <a:spcBef>
                <a:spcPts val="1432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考完就轻松了！</a:t>
            </a:r>
          </a:p>
          <a:p>
            <a:pPr>
              <a:spcBef>
                <a:spcPts val="21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Kǎo wán jiù qīngsōng le!</a:t>
            </a:r>
          </a:p>
          <a:p>
            <a:pPr>
              <a:spcBef>
                <a:spcPts val="21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Thi xong là nhẹ nhõm rồi!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5375" y="2050288"/>
            <a:ext cx="4297680" cy="444195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assets/words/oral_before_exam_TODO.jpg]</a:t>
            </a:r>
          </a:p>
        </p:txBody>
      </p:sp>
      <p:pic>
        <p:nvPicPr>
          <p:cNvPr id="8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Sau kỳ thi — kể lại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这次考砸了，唉。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cì kǎo zá le, āi.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Lần này thi tệ rồi, haiz.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还好，感觉发挥得不错。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 hǎo, gǎnjué fāhuī de búcuò.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Cũng ổn, cảm giác làm bài không tệ.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谢天谢地，终于考完了！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Xiètiānxièdì, zhōngyú kǎo wán le!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Ơn trời, cuối cùng cũng thi xong!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这道题我蒙对了！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dào tí wǒ méng duì le!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Câu này tớ đoán trúng rồi!</a:t>
            </a:r>
          </a:p>
          <a:p>
            <a:pPr>
              <a:spcBef>
                <a:spcPts val="1573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下次我一定好好复习。</a:t>
            </a:r>
          </a:p>
          <a:p>
            <a:pPr>
              <a:spcBef>
                <a:spcPts val="23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 cì wǒ yídìng hǎohǎo fùxí.</a:t>
            </a:r>
          </a:p>
          <a:p>
            <a:pPr>
              <a:spcBef>
                <a:spcPts val="23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Lần sau tớ nhất định ôn tập cho kỹ.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5375" y="1611376"/>
            <a:ext cx="429768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assets/words/oral_after_exam_TODO.jpg]</a:t>
            </a:r>
          </a:p>
        </p:txBody>
      </p:sp>
      <p:pic>
        <p:nvPicPr>
          <p:cNvPr id="8" name="slide2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