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我最喜欢吃中国菜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Wǒ zuì xǐhuan chī Zhōngguó cài — Tôi thích ăn món Trung Quốc nhất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mô tả tình trạng sức khỏe, bệnh tình (đau đầu, đi khám, mua thuốc)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bộ phận cơ thể + các loại bệnh thường gặp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động thái trợ từ "着" để diễn tả hành động/trạng thái đang tiếp diễn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phó từ mức độ "最" (nhất)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rộng: câu bị động "被" (ngoài phạm vi sách chính)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heada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758098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疼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，不太舒服。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tóu téng, bú tài shūfu.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đau đầu, không được khỏe lắm.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疼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téng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đau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头 = 大(dà, to lớn) + phần trên hình cái ĐẦU → bộ phận TO nhất trên cùng cơ thể → "đầu"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疼 = 疒(dấu hiệu bệnh tật) → cơ thể phát bệnh, khó chịu → "đau"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经常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头疼，一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就疼。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jīngcháng tóu téng, yí dòng jiù téng.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hay đau đầu, cử động là đau ngay.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经常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jīngcháng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thường xuyên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dòng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 động, di chuyển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动 = 云(yún, mây) + 力(lì, sức) → dùng SỨC làm chuyển động → "hoạt động"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路上车多，还下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雪，我开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点儿。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Lùshang chē duō, hái xiàzhe xuě, wǒ kāi màn diǎnr.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Đường đông xe, lại đang có tuyết rơi, tớ lái chậm chút.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zhe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(trợ từ chỉ sự tiếp diễn)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chậm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慢 = 忄(xīn, tim) + 曼(dài, kéo dài) → trái tim đập KÉO DÀI, không vội → "chậm"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medicine_pil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758098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身体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不舒服，吃完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就好多了。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Shēntǐ bù shūfu, chīwán yào jiù hǎoduō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Người không khỏe, uống xong thuốc thấy đỡ hơn nhiều.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身体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shēntǐ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cơ thể, sức khỏe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thuốc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身 vốn là hình một NGƯỜI ĐỨNG NGHIÊNG, bụng hơi phình (tượng hình) → "thân thể"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药 = 艹(cǎo, cỏ cây) + 约(yuē, liều lượng) → cỏ cây bào chế theo LIỀU LƯỢNG → "thuốc"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我从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买了点儿药，没去医院。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cóng yàodiàn mǎile diǎnr yào, méi qù yīyuàn.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mua ít thuốc ở hiệu thuốc, không đi bệnh viện.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11094415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yàodiàn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hiệu thuốc</a:t>
            </a:r>
          </a:p>
        </p:txBody>
      </p:sp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店 = 广(guǎng, mái nhà rộng) + 占(zhàn, chiếm chỗ) → mái nhà CHIẾM một chỗ để buôn bán → "cửa hàng" → 药店 = hiệu thuốc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favorite_chinese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5000"/>
            <a:ext cx="3550212" cy="4733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喜欢吃中国菜。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zuì xǐhuan chī Zhōngguó cài.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thích ăn món Trung Quốc nhất.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7178443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nhất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最 = 曰(nói) + 取(lấy) → lấy điều được NÓI ĐẾN NHIỀU NHẤT → "nhất, hơn cả"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身体部位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eye_ear_che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医生检查了我的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眼睛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耳朵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Yīshēng jiǎnchále wǒ de yǎnjing hé ěrduo.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Bác sĩ đã kiểm tra mắt và tai của tớ.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眼睛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yǎnjing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mắt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耳朵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ěrduo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tai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眼 = 目(mù, mắt) + 艮(gěn, cứng) → con mắt CỨNG, khó nhìn xuyên qua → "mắt"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耳 vốn là hình vẽ CÁI TAI người/thú (tượng hình) → "tai" → 耳朵 = tai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身体部位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感冒了，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鼻子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不舒服，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也没味道。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Gǎnmào le, bízi bù shūfu, zuǐ yě méi wèidao.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Bị cảm rồi, mũi khó chịu, miệng cũng chẳng có vị gì.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鼻子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bízi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mũi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miệng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鼻 = 自(zì, cái mũi, người ta chỉ vào mũi khi nói "tôi") + 畀(bì, trao cho) → "mũi"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嘴 = 口(kǒu, miệng) + 觜(mỏ chim) → phần MIỆNG nhô ra như MỎ CHIM → "miệng, mỏm"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身体部位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fall_inju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11826"/>
            <a:ext cx="3550211" cy="2460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摔倒的时候，我的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手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都受伤了。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Shuāidǎo de shíhou, wǒ de shǒu hé tuǐ dōu shòushāng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bị ngã, tay và chân tớ đều bị thương.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shǒu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chân</a:t>
            </a:r>
          </a:p>
        </p:txBody>
      </p:sp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手 vốn là hình vẽ BÀN TAY xòe các ngón (tượng hình) → "tay"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腿 = 月(nhục, thân thể) + 退(tuì, lùi) → phần thân dùng để BƯỚC LÙI/đi lại → "chân, đùi"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身体部位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坐了一天车，我的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背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肩膀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都很酸。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Zuòle yì tiān chē, wǒ de bèi hé jiānbǎng dōu hěn suān.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Ngồi xe cả ngày, lưng và vai tớ đều mỏi nhừ.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背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bèi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肩膀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jiānbǎng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vai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肩 = 户(cánh cửa) + phần thân thể → phần THÂN như cánh CỬA để gánh đồ → "vai"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背 = 北(běi, quay lưng) + phần thân thể → phần THÂN quay lưng lại → "lưng, cõng"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0467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身体部位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我一紧张，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心脏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跳得快，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肚子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也疼。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yì jǐnzhāng, xīnzàng tiào de kuài, dùzi yě téng.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hễ hồi hộp là tim đập nhanh, bụng cũng đau.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心脏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xīnzàng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肚子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dùzi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bụng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心 vốn là hình vẽ TRÁI TIM (tượng hình) → "tim" → 心脏 = tim (nội tạng)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肚 = 月(nhục, thân thể) + 土(tǔ, đất) → phần thân TRÒN như ụ ĐẤT → "bụng"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4950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疾病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感冒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发烧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了，妈妈很担心。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Dìdi gǎnmào fāshāo le, māma hěn dānxīn.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trai bị cảm sốt, mẹ rất lo lắng.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感冒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gǎnmào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发烧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fāshāo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sốt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感 = 咸(mọi thứ cùng) + 心(xīn, tim) → MỌI THỨ cùng tác động vào TIM → "cảm nhận" → 感冒 = cảm cúm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烧 = 火(lửa) → dùng LỬA đốt cháy → "đốt, sốt" → 发烧 = phát sốt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4950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疾病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我肚子疼，可能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中毒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了，得去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看病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dùzi téng, kěnéng zhòngdú le, děi qù kànbìng.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đau bụng, có thể bị ngộ độc rồi, phải đi khám.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中毒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zhòngdú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ngộ độc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kànbìng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khám bệnh, xem bệnh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看 = 手(bàn tay che trên) + 目(mắt) → lấy TAY che MẮT để nhìn xa → "nhìn, khám" → 看病 = khám bệnh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病 = 疒(nè, bệnh tật) + 丙(bǐng) → dấu hiệu BỆNH TẬT phát ra → "bệnh"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4950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疾病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体检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时发现我的牙齿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发炎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Yīshēng zài tǐjiǎn shí fāxiàn wǒ de yáchǐ fāyán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Bác sĩ khi khám sức khỏe phát hiện răng tớ bị viêm.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发炎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fāyán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viêm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体检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tǐjiǎn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khám sức khỏe (định kỳ)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炎 = hai chữ 火(huǒ, lửa) chồng lên nhau → LỬA cháy dữ dội, nóng rát → "viêm, nóng"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体 = 亻(người) + 本(gốc, gốc rễ) → phần GỐC của một NGƯỜI → "thân thể" → 体检 = khám sức khỏe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在教室 — 白家月头疼，王一飞送她去医院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99161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家月，都下课了，你怎么还不回家？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dōu xiàkè le, nǐ zěnme hái bù huí jiā?</a:t>
            </a:r>
          </a:p>
        </p:txBody>
      </p:sp>
      <p:sp>
        <p:nvSpPr>
          <p:cNvPr id="7" name="Oval 6"/>
          <p:cNvSpPr/>
          <p:nvPr/>
        </p:nvSpPr>
        <p:spPr>
          <a:xfrm>
            <a:off x="383028" y="1500968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8145" y="2339873"/>
            <a:ext cx="245491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我头疼，不太舒服。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tóu téng, bú tài shūfu.</a:t>
            </a:r>
          </a:p>
        </p:txBody>
      </p:sp>
      <p:sp>
        <p:nvSpPr>
          <p:cNvPr id="9" name="Oval 8"/>
          <p:cNvSpPr/>
          <p:nvPr/>
        </p:nvSpPr>
        <p:spPr>
          <a:xfrm>
            <a:off x="11414353" y="2229465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8370"/>
            <a:ext cx="4683125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你这几天经常头疼，去医院看看吧。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zhè jǐ tiān jīngcháng tóu téng, qù yīyuàn kànkan ba.</a:t>
            </a:r>
          </a:p>
        </p:txBody>
      </p:sp>
      <p:sp>
        <p:nvSpPr>
          <p:cNvPr id="11" name="Oval 10"/>
          <p:cNvSpPr/>
          <p:nvPr/>
        </p:nvSpPr>
        <p:spPr>
          <a:xfrm>
            <a:off x="383028" y="2957962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8920" y="3796867"/>
            <a:ext cx="514413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我想休息一下，现在不能动，一动就疼。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xiūxi yíxià, xiànzài bù néng dòng, yí dòng jiù téng.</a:t>
            </a:r>
          </a:p>
        </p:txBody>
      </p:sp>
      <p:sp>
        <p:nvSpPr>
          <p:cNvPr id="13" name="Oval 12"/>
          <p:cNvSpPr/>
          <p:nvPr/>
        </p:nvSpPr>
        <p:spPr>
          <a:xfrm>
            <a:off x="11414353" y="3686459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5364"/>
            <a:ext cx="522097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那你在这儿坐着，我去开车，一会儿送你去医院。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nǐ zài zhèr zuòzhe, wǒ qù kāichē, yíhuìr sòng nǐ qù yīyuàn.</a:t>
            </a:r>
          </a:p>
        </p:txBody>
      </p:sp>
      <p:sp>
        <p:nvSpPr>
          <p:cNvPr id="15" name="Oval 14"/>
          <p:cNvSpPr/>
          <p:nvPr/>
        </p:nvSpPr>
        <p:spPr>
          <a:xfrm>
            <a:off x="383028" y="4414956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5990" y="5253861"/>
            <a:ext cx="191706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谢谢王老师。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 Wáng lǎoshī.</a:t>
            </a:r>
          </a:p>
        </p:txBody>
      </p:sp>
      <p:sp>
        <p:nvSpPr>
          <p:cNvPr id="17" name="Oval 16"/>
          <p:cNvSpPr/>
          <p:nvPr/>
        </p:nvSpPr>
        <p:spPr>
          <a:xfrm>
            <a:off x="11414353" y="5143453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在教室，王一飞和白家月在聊天儿。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在车里 — 李文打来电话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现在路上车多，还下着雪，我开慢一点儿。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lùshang chē duō, hái xiàzhe xuě, wǒ kāi màn yìdiǎnr.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没问题，现在头没那么疼了。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wèntí, xiànzài tóu méi nàme téng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5312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好。李文来电话了，你帮我接一下。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Hǎo. Lǐ Wén lái diànhuà le, nǐ bāng wǒ jiē yíxià.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2836672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喂，李文，王老师开着车呢，你找她有事吗？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Wèi, Lǐ Wén. Wáng lǎoshī kāizhe chē ne, nǐ zhǎo tā yǒu shì 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086864"/>
            <a:ext cx="3576218" cy="122529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没什么事。今天雪这么大，你们开车去哪儿啊？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shénme shì. Jīntiān xuě zhème dà, nǐmen kāichē qù nǎr 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4135120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去医院，我头有点儿疼。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 yīyuàn, wǒ tóu yǒudiǎnr téng.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3385312"/>
            <a:ext cx="357621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那我一会儿去看看你。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wǒ yíhuìr qù kànkan nǐ.</a:t>
            </a:r>
          </a:p>
        </p:txBody>
      </p:sp>
      <p:pic>
        <p:nvPicPr>
          <p:cNvPr id="16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在王一飞车里，王一飞和白家月在聊天儿，李文打来一个电话。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在房间 — 李文来看望白家月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李文，快请进！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 Wén, kuài qǐng jìn!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家月，你怎么样了？头还疼吗？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zěnmeyàng le? Tóu hái téng 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6672"/>
            <a:ext cx="357621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不那么疼了。医生开了一些药，吃完就好多了。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nàme téng le. Yīshēng kāile yìxiē yào, chīwán jiù hǎoduō 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2836672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那就好！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jiù hǎo!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086864"/>
            <a:ext cx="357621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家月，你想不想吃点儿东西？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xiǎng bu xiǎng chī diǎnr dōngxi?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3586480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吃点儿吧，身体不舒服时更要好好吃饭。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Chī diǎnr ba, shēntǐ bù shūfu shí gèng yào hǎohǎo chī fàn.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35120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吃点儿什么呢？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Chī diǎnr shénme ne?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836672"/>
            <a:ext cx="3576218" cy="122529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8.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你最喜欢吃中国菜，我做几个中国菜吧。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zuì xǐhuan chī Zhōngguó cài, wǒ zuò jǐ ge Zhōngguó cài ba.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84928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9.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好的，谢谢王老师。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de, xièxie Wáng lǎoshī.</a:t>
            </a:r>
          </a:p>
        </p:txBody>
      </p:sp>
      <p:pic>
        <p:nvPicPr>
          <p:cNvPr id="18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在房间，李文来看望白家月。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我这几天经常头疼，从药店买了点儿药，没去医院。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zhè jǐ tiān jīngcháng tóu téng, cóng yàodiàn mǎile diǎnr yào, méi qù yīyuàn.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Mấy hôm nay tớ hay đau đầu, tớ đã mua ít thuốc ở hiệu thuốc, không đi bệnh viện.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今天下课后，王老师看我不舒服，就送我去医院了。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xiàkè hòu, Wáng lǎoshī kàn wǒ bù shūfu, jiù sòng wǒ qù yīyuàn le.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sau khi tan học, cô Vương thấy tớ không khỏe nên đã đưa tớ đi bệnh viện.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从医院回来，李文也来看我了。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Cóng yīyuàn huílái, Lǐ Wén yě lái kàn wǒ le.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Từ bệnh viện về, Lý Văn cũng đến thăm tớ.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现在他们都回去了，我也要睡觉了。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tāmen dōu huíqù le, wǒ yě yào shuìjiào le.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mọi người đều về rồi, tớ cũng đi ngủ đây.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动态助词"着" (1) — diễn tả hành động/trạng thái đang tiếp diễn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那你在这儿坐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nǐ zài zhèr zuòzhe.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Vậy cậu cứ ngồi đây.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教室的门开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 de mén kāizhe.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Cửa lớp học đang mở.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教室的门没开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 de mén méi kāizhe.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Cửa lớp học không mở.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V + 着: hành động/trạng thái đang diễn ra, tiếp diễn. Phủ định: thêm "没(有)" trước động từ (bỏ 着 hoặc giữ 着 đều được tùy ngữ cảnh, dạng phủ định phổ biến nhất là 没 + V + 着).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动态助词"着" (2) — câu có tân ngữ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穿着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白色的裤子。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chuānzhe báisè de kùzi.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đang mặc quần màu trắng.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教室的门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开着吗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 de mén kāizhe ma?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Cửa lớp học có đang mở không?</a:t>
            </a:r>
          </a:p>
          <a:p>
            <a:pPr>
              <a:spcBef>
                <a:spcPts val="1964"/>
              </a:spcBef>
              <a:buNone/>
            </a:pP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</a:t>
            </a:r>
            <a:r>
              <a:rPr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拿没拿着</a:t>
            </a:r>
            <a:r>
              <a:rPr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手机？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ná méi názhe shǒujī?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có đang cầm điện thoại không?</a:t>
            </a:r>
          </a:p>
          <a:p>
            <a:pPr>
              <a:spcBef>
                <a:spcPts val="1473"/>
              </a:spcBef>
              <a:buNone/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có tân ngữ: tân ngữ đứng SAU "着" (V + 着 + O). 3 dạng nghi vấn: (1) thêm "吗" cuối câu; (2) thêm "没有" cuối câu; (3) V + 没 + V + 着.</a:t>
            </a:r>
          </a:p>
        </p:txBody>
      </p:sp>
      <p:pic>
        <p:nvPicPr>
          <p:cNvPr id="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程度副词"最" — mức độ cao nhất, so với mọi thứ cùng loại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喜欢吃中国菜。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zuì xǐhuan chī Zhōngguó cài.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thích ăn món Trung Quốc nhất.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在我们家，爸爸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高。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Zài wǒmen jiā, bàba zuì gāo.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nhà tớ, bố cao nhất.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你们班谁说中文说得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好？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bān shéi shuō Zhōngwén shuō de zuì hǎo?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Lớp cậu ai nói tiếng Trung giỏi nhất?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"最" đứng TRƯỚC tính từ hoặc động từ tâm lý (喜欢, 想, 爱...), diễn tả một thuộc tính vượt trên tất cả những người/vật cùng loại.</a:t>
            </a:r>
          </a:p>
        </p:txBody>
      </p:sp>
      <p:pic>
        <p:nvPicPr>
          <p:cNvPr id="7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044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 · ngoài sách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被字句 — câu bị động với "被"</a:t>
            </a:r>
          </a:p>
          <a:p>
            <a:pPr>
              <a:spcBef>
                <a:spcPts val="1789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药已经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被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他吃完了。</a:t>
            </a:r>
          </a:p>
          <a:p>
            <a:pPr>
              <a:spcBef>
                <a:spcPts val="268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 yǐjīng bèi tā chīwán le.</a:t>
            </a:r>
          </a:p>
          <a:p>
            <a:pPr>
              <a:spcBef>
                <a:spcPts val="268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Thuốc đã bị anh ấy uống hết rồi.</a:t>
            </a:r>
          </a:p>
          <a:p>
            <a:pPr>
              <a:spcBef>
                <a:spcPts val="1789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我的病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被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医生治好了。</a:t>
            </a:r>
          </a:p>
          <a:p>
            <a:pPr>
              <a:spcBef>
                <a:spcPts val="268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bìng bèi yīshēng zhìhǎo le.</a:t>
            </a:r>
          </a:p>
          <a:p>
            <a:pPr>
              <a:spcBef>
                <a:spcPts val="268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Bệnh của tớ đã được bác sĩ chữa khỏi.</a:t>
            </a:r>
          </a:p>
          <a:p>
            <a:pPr>
              <a:spcBef>
                <a:spcPts val="1789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那本关于健康的书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被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我借走了。</a:t>
            </a:r>
          </a:p>
          <a:p>
            <a:pPr>
              <a:spcBef>
                <a:spcPts val="268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běn guānyú jiànkāng de shū bèi wǒ jièzǒu le.</a:t>
            </a:r>
          </a:p>
          <a:p>
            <a:pPr>
              <a:spcBef>
                <a:spcPts val="268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Quyển sách về sức khỏe đó đã bị tớ mượn mất rồi.</a:t>
            </a:r>
          </a:p>
          <a:p>
            <a:pPr>
              <a:spcBef>
                <a:spcPts val="1341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A (bị tác động) + 被 + B (chủ thể gây tác động, có thể lược bỏ) + V + thành phần khác (了/过/kết quả...). Đây là ngữ pháp MỞ RỘNG NGOÀI 45 điểm chính của sách (không có trong 目标 Bài 11) — bổ sung theo nhu cầu thực dụng cá nhân.</a:t>
            </a:r>
          </a:p>
        </p:txBody>
      </p:sp>
      <p:pic>
        <p:nvPicPr>
          <p:cNvPr id="7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Thói quen tốt cho sức khỏe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Luôn uống nước ấm: tránh hoàn toàn nước đá, uống nước/trà ấm để không làm "lạnh" dạ dày và giúp tuần hoàn máu.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Thêm kỷ tử, táo đỏ vào nước uống: pha trà dưỡng sinh từ kỷ tử, táo đỏ, hoàng kỳ để bổ khí huyết, chống lão hóa.</a:t>
            </a:r>
          </a:p>
        </p:txBody>
      </p:sp>
      <p:pic>
        <p:nvPicPr>
          <p:cNvPr id="7" name="Picture 6" descr="warm_water_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203" y="2050288"/>
            <a:ext cx="3331464" cy="44419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Thói quen tốt cho sức khỏe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Ăn đồ ăn nóng vào bữa sáng: ưu tiên cháo, mì nóng hoặc bánh bao để làm ấm tỳ vị, hỗ trợ tiêu hóa đầu ngày.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Ăn thực phẩm theo mùa: theo nguyên tắc "thiên nhân hợp nhất", mùa nào thức nấy để cơ thể thích nghi với thời tiết.</a:t>
            </a:r>
          </a:p>
        </p:txBody>
      </p:sp>
      <p:pic>
        <p:nvPicPr>
          <p:cNvPr id="7" name="Picture 6" descr="congee_breakf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9392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Thói quen tốt cho sức khỏe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cho muối vào cơm: luộc/hấp cơm trắng nguyên bản, giảm tối đa natri để làm chậm quá trình lão hóa.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Quy tắc ăn uống "Ít – Chậm – Kỹ": ăn thanh đạm không quá no, nhai thật kỹ để giảm tải cho dạ dày.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Thói quen tốt cho sức khỏe 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Sinh hoạt theo đồng hồ sinh học Trung y: đi ngủ trước 11 giờ đêm (giờ kinh Đởm/Gan hoạt động) để cơ thể thải độc tốt nhất.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Tập luyện nhẹ nhàng dưỡng khí: chọn Thái Cực Quyền, Khí Công hoặc thiền định thay vì bài tập quá sức.</a:t>
            </a:r>
          </a:p>
        </p:txBody>
      </p:sp>
      <p:pic>
        <p:nvPicPr>
          <p:cNvPr id="7" name="Picture 6" descr="sleep_before_11p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9392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Thói quen tốt cho sức khỏe 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Ngâm chân nước ấm trước khi ngủ: giúp đả thông kinh mạch, giữ ấm lòng bàn chân để có giấc ngủ sâu.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Tự bấm các huyệt vị cơ bản: xoa bóp huyệt Hợp Cốc (bàn tay) hay Túc Tam Lý (chân) để giảm căng thẳng, tăng miễn dịch.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