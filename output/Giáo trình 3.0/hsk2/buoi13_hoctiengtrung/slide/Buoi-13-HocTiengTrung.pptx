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我们爱上中文课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Wǒmen ài shàng Zhōngwén kè — Chúng ta yêu thích tiết học tiếng Trung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Buổi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kể chuyện tặng quà, chúc Tết bằng 双宾语句 (tặng/bán/đưa cho ai cái gì)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比较句(7) để nêu khác biệt CỤ THỂ bằng số lượng (A比B+adj+số lượng)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比较句(8) để nêu khác biệt NHỎ (A比B+adj+一点儿/一些)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từ vựng chủ đề tặng quà + phong tục 春节 (nâng cao, thay từ cơ bản đã học)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过年的时候，爷爷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赠送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给我一个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红包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，祝我新的一年学习进步。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Guònián de shíhou, yéye zèngsòng gěi wǒ yí ge hóngbāo, zhù wǒ xīn de yì nián xuéxí jìnbù.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ăn Tết, ông nội tặng cho tớ một bao lì xì, chúc tớ năm mới học tập tiến bộ.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3912"/>
            <a:ext cx="5455767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赠送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zèngsòng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tặng (trang trọng)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613912"/>
            <a:ext cx="5455767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红包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hóngbāo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bao lì xì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红 = 纟(sī, tơ lụa) → lụa nhuộm màu ĐỎ rực → "đỏ" → 红包 = bao lì xì đỏ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大年初一早上，我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收到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了奶奶给的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压岁钱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，心里特别开心。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Dànián chūyī zǎoshang, wǒ shōudào le nǎinai gěi de yāsuìqián, xīnli tèbié kāixīn.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Sáng mùng 1 Tết, tớ nhận được tiền lì xì bà nội cho, trong lòng đặc biệt vui.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收到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shōudào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nhận được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压岁钱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yāsuìqián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tiền lì xì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到 = 至(zhì, đến tận nơi) + 刂(dứt khoát) → ĐẾN TẬN nơi một cách dứt khoát → "đến" → 收到 = nhận được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钱 = 钅(kim loại) → tiền đúc từ KIM LOẠI → "tiền" → 压岁钱 = tiền lì xì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chunl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76088"/>
            <a:ext cx="3550211" cy="23514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春节前，我们和邻居互相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交换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春联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，贴在自己家的门上。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Chūnjié qián, wǒmen hé línjū hùxiāng jiāohuàn le chūnlián, tiē zài zìjǐ jiā de mén shàng.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Trước Tết, chúng tôi và hàng xóm trao đổi câu đối Tết cho nhau, dán lên cửa nhà mình.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390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交换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jiāohuàn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trao đổi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390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春联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chūnlián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đối Tết</a:t>
            </a:r>
          </a:p>
        </p:txBody>
      </p:sp>
      <p:pic>
        <p:nvPicPr>
          <p:cNvPr id="10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交 vốn là hình một NGƯỜI đứng bắt chéo chân → "giao nhau, trao đổi" → 交换 = trao đổi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春节的时候，我们去亲戚家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拜年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，给他们送上新年的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祝福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Chūnjié de shíhou, wǒmen qù qīnqi jiā bàinián, gěi tāmen sòng shàng xīnnián de zhùfú.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Dịp Tết, chúng tôi đến nhà họ hàng chúc Tết, gửi tới họ lời chúc năm mới.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祝福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zhùfú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lời chúc, chúc phúc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拜年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bàinián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chúc Tết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拜 = hai chữ 手(shǒu, tay) chắp lại → chắp TAY hành lễ → "lạy, chúc mừng" → 拜年 = chúc Tết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niang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妈妈做的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年糕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比外面买的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明显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甜一些，因为她放了很多糖。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zuò de niángāo bǐ wàimiàn mǎi de míngxiǎn tián yìxiē, yīnwèi tā fàng le hěn duō táng.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Bánh tổ mẹ làm ngọt hơn rõ rệt so với bánh mua ngoài, vì mẹ cho rất nhiều đường.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明显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míngxiǎn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rõ rệt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年糕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niángāo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bánh tổ, bánh nếp Tết</a:t>
            </a:r>
          </a:p>
        </p:txBody>
      </p:sp>
      <p:pic>
        <p:nvPicPr>
          <p:cNvPr id="10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明 = 日(rì, mặt trời) + 月(yuè, mặt trăng) → cả MẶT TRỜI và MẶT TRĂNG cùng chiếu sáng → "sáng rõ"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糕 = 米(gạo) → bánh làm từ bột GẠO hấp lên cao → "bánh" → 年糕 = bánh năm mới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jiao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74760"/>
            <a:ext cx="3550211" cy="2354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这次奶奶包的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饺子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比上次的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稍微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咸一点儿，但是还是很好吃。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cì nǎinai bāo de jiǎozi bǐ shàng cì de shāowēi xián yìdiǎnr, dànshì háishi hěn hǎochī.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Lần này sủi cảo bà gói mặn hơn lần trước một chút, nhưng vẫn rất ngon.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618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稍微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shāowēi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hơi, một chút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618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饺子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jiǎozi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sủi cảo</a:t>
            </a:r>
          </a:p>
        </p:txBody>
      </p:sp>
      <p:pic>
        <p:nvPicPr>
          <p:cNvPr id="10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饺 = 饣(shí, ăn) + 交(jiāo, gấp giao nhau) → vỏ bánh GẤP LẠI giao nhau rồi ăn → "bánh chẻo"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这两种过年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糖果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的味道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差不多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，我都很喜欢吃。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liǎng zhǒng guònián tángguǒ de wèidao chàbuduō, wǒ dōu hěn xǐhuan chī.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Hai loại kẹo Tết này vị gần giống nhau, tớ đều thích ăn.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差不多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chàbuduō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xấp xỉ, gần bằng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糖果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tángguǒ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kẹo, mứt Tết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差 = 羊(yáng, dê) + 工(gōng, công cụ đo) → đo DÊ không chuẩn, LỆCH nhau → "chênh lệch"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糖 = 米(gạo) → đường xưa nấu từ GẠO, lúa mạch → "đường, kẹo" → 糖果 = kẹo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chunj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除夕那天，妈妈很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认真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地包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春卷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，准备了一大盘。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Chúxī nà tiān, māma hěn rènzhēn de bāo chūnjuǎn, zhǔnbèi le yí dà pán.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giao thừa, mẹ gói nem rất tận tâm, chuẩn bị cả một đĩa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rènzhēn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nghiêm túc, tận tâm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春卷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chūnjuǎn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nem rán, chả giò</a:t>
            </a:r>
          </a:p>
        </p:txBody>
      </p:sp>
      <p:pic>
        <p:nvPicPr>
          <p:cNvPr id="10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真 = 直(zhí, ngay thẳng) + 八(chia đều) → nhìn NGAY THẲNG, không lệch → "chân thật"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春 = 日(mặt trời) → mùa cây cối đâm chồi dưới ánh MẶT TRỜI ấm → "mùa xuân" → 春卷 = chả giò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house_clea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58676"/>
            <a:ext cx="3550212" cy="2366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那天，妈妈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耐心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地打扫房子，房间变得干干净净。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Xiǎonián nà tiān, māma nàixīn de dǎsǎo fángzi, fángjiān biàn de gāngānjìngjìng.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ông Công ông Táo, mẹ kiên nhẫn dọn dẹp nhà cửa, phòng trở nên sạch sẽ.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耐心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nàixīn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kiên nhẫn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xiǎonián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ngày ông Công ông Táo</a:t>
            </a:r>
          </a:p>
        </p:txBody>
      </p:sp>
      <p:pic>
        <p:nvPicPr>
          <p:cNvPr id="10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耐 = 而(mà, tuy nhiên) + 寸(cùn, tấc nhỏ) → chịu đựng từng TẤC nhỏ dù khó khăn → "kiên nhẫn"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小 = 亅(móc câu) + 八(chia tách) → vật bị CHIA TÁCH thành mảnh nhỏ → "nhỏ" → 小年 = tiểu niên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big_clea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春节前的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大扫除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辛苦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，但是打扫完以后，大家都很开心。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Chūnjié qián de dàsǎochú zhēn xīnkǔ, dànshì dǎsǎo wán yǐhòu, dàjiā dōu hěn kāixīn.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Tổng vệ sinh trước Tết thật vất vả, nhưng dọn xong rồi, ai cũng vui.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辛苦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xīnkǔ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vất vả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大扫除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dàsǎochú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tổng vệ sinh nhà cửa</a:t>
            </a:r>
          </a:p>
        </p:txBody>
      </p:sp>
      <p:pic>
        <p:nvPicPr>
          <p:cNvPr id="10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辛 vốn là hình cây KIM/dao khắc dùng xăm hình phạt (tượng hình) → "cay đắng, vất vả" → 辛苦 = vất vả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扫 = 扌(shǒu, tay) + 彐(cái chổi) → dùng TAY cầm CHỔI quét → "quét dọn"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reunion_di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63299"/>
            <a:ext cx="3550211" cy="23575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春节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是一家人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团圆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的日子，大家从外地回来一起吃饭。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Chūnjié shì yì jiā rén tuányuán de rìzi, dàjiā cóng wàidì huílái yìqǐ chīfàn.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Tết Nguyên Đán là ngày cả nhà đoàn tụ, mọi người từ xa về ăn cơm cùng nhau.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春节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chūnjié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Tết Nguyên Đán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团圆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tuányuán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đoàn tụ</a:t>
            </a:r>
          </a:p>
        </p:txBody>
      </p:sp>
      <p:pic>
        <p:nvPicPr>
          <p:cNvPr id="10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节 = 艹(cỏ cây) → đốt của cây TRE, điểm chia thời gian → "tiết, ngày lễ" → 春节 = Tết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团 = 囗(vòng tròn bao quanh) + 才(tài, nhân lực) → mọi NGƯỜI quây QUẦN thành vòng tròn → "đoàn tụ"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firecrack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4282"/>
            <a:ext cx="3550211" cy="3755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除夕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的时候，我们放了很多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鞭炮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，非常热闹。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Chúxī de shíhou, wǒmen fàng le hěn duō biānpào, fēicháng rènao.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Vào đêm giao thừa, chúng tôi đốt rất nhiều pháo, náo nhiệt lắm.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除夕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chúxī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đêm giao thừa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鞭炮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biānpào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pháo (pháo tép/pháo hoa)</a:t>
            </a:r>
          </a:p>
        </p:txBody>
      </p:sp>
      <p:pic>
        <p:nvPicPr>
          <p:cNvPr id="10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除 = 阝(bậc thang) + 余(dư ra) → bước qua phần CŨ dư thừa → "trừ bỏ" → 除夕 = đêm giao thừa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炮 = 火(huǒ, lửa) + 包(bāo, bọc) → LỬA bọc trong ống rồi nổ tung → "pháo"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大年初一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，爷爷叫我们过去，给每个孩子都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发红包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Dànián chūyī, yéye jiào wǒmen guòqù, gěi měi ge háizi dōu fā hóngbāo.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Mùng 1 Tết, ông nội gọi chúng tôi lại, phát bao lì xì cho từng đứa trẻ.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大年初一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dànián chūyī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mùng 1 Tết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发红包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fā hóngbāo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phát bao lì xì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初 = 衤(yī, quần áo) + 刀(dāo, dao/kéo) → dùng DAO cắt vải may ÁO MỚI đầu tiên → "ban đầu" → 初一 = mùng một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et_flowers_kumqu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59832"/>
            <a:ext cx="3550211" cy="2364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过年的时候，家里摆着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桃花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梅花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金桔树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，看起来很有过年的气氛。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Guònián de shíhou, jiā li bǎi zhe táohuā, méihuā hé jīnjú shù, kànqǐlái hěn yǒu guònián de qìfēn.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ăn Tết, trong nhà bày hoa đào, hoa mai và cây quất, trông rất có không khí Tết.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2301374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桃花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táohuā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hoa đào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4101592"/>
            <a:ext cx="2301374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梅花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méihuā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hoa mai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4101592"/>
            <a:ext cx="2301374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金桔树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jīnjú shù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cây quất</a:t>
            </a:r>
          </a:p>
        </p:txBody>
      </p:sp>
      <p:pic>
        <p:nvPicPr>
          <p:cNvPr id="11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桃 = 木(cây) → loại CÂY ra quả đào → "đào" → 桃花 = hoa đào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梅 = 木(mù, cây) + 每(měi, mỗi) → CÂY nở hoa vào MỖI dịp đầu xuân → "mai"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在教室 — 白家月和陈天中商量新年礼物</a:t>
            </a:r>
          </a:p>
        </p:txBody>
      </p:sp>
      <p:pic>
        <p:nvPicPr>
          <p:cNvPr id="6" name="Picture 5" descr="tet_flower_sh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066" y="1611376"/>
            <a:ext cx="3255498" cy="48808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6373495" cy="61180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这一年，王老师教我们中文，她每天工作都很累。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yì nián, Wáng lǎoshī jiāo wǒmen Zhōngwén, tā měitiān gōngzuò dōu hěn lèi.</a:t>
            </a:r>
          </a:p>
        </p:txBody>
      </p:sp>
      <p:sp>
        <p:nvSpPr>
          <p:cNvPr id="8" name="Oval 7"/>
          <p:cNvSpPr/>
          <p:nvPr/>
        </p:nvSpPr>
        <p:spPr>
          <a:xfrm>
            <a:off x="389326" y="1505167"/>
            <a:ext cx="379317" cy="37931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000" y="2312168"/>
            <a:ext cx="5758815" cy="61180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是啊，她教得很好。因为她，我们都爱上中文课。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a, tā jiāo de hěn hǎo. Yīnwèi tā, wǒmen dōu ài shàng Zhōngwén kè.</a:t>
            </a:r>
          </a:p>
        </p:txBody>
      </p:sp>
      <p:sp>
        <p:nvSpPr>
          <p:cNvPr id="10" name="Oval 9"/>
          <p:cNvSpPr/>
          <p:nvPr/>
        </p:nvSpPr>
        <p:spPr>
          <a:xfrm>
            <a:off x="7216811" y="2205959"/>
            <a:ext cx="379317" cy="37931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2960"/>
            <a:ext cx="6296660" cy="61180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我们给她准备个新年礼物吧。你觉得送给她什么好呢？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gěi tā zhǔnbèi ge xīnnián lǐwù ba. Nǐ juéde sòng gěi tā shénme hǎo ne?</a:t>
            </a:r>
          </a:p>
        </p:txBody>
      </p:sp>
      <p:sp>
        <p:nvSpPr>
          <p:cNvPr id="12" name="Oval 11"/>
          <p:cNvSpPr/>
          <p:nvPr/>
        </p:nvSpPr>
        <p:spPr>
          <a:xfrm>
            <a:off x="389326" y="2906751"/>
            <a:ext cx="379317" cy="37931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8370" y="3713752"/>
            <a:ext cx="4068445" cy="61180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王老师喜欢花，就送给她花吧。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 xǐhuan huā, jiù sòng gěi tā huā ba.</a:t>
            </a:r>
          </a:p>
        </p:txBody>
      </p:sp>
      <p:sp>
        <p:nvSpPr>
          <p:cNvPr id="14" name="Oval 13"/>
          <p:cNvSpPr/>
          <p:nvPr/>
        </p:nvSpPr>
        <p:spPr>
          <a:xfrm>
            <a:off x="7216811" y="3607543"/>
            <a:ext cx="379317" cy="37931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14544"/>
            <a:ext cx="6888175" cy="834277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那我们去花店看看，现在买花的人多，希望花店还有漂亮的花。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wǒmen qù huādiàn kànkan, xiànzài mǎi huā de rén duō, xīwàng huādiàn hái yǒu piàoliang de huā.</a:t>
            </a:r>
          </a:p>
        </p:txBody>
      </p:sp>
      <p:sp>
        <p:nvSpPr>
          <p:cNvPr id="16" name="Oval 15"/>
          <p:cNvSpPr/>
          <p:nvPr/>
        </p:nvSpPr>
        <p:spPr>
          <a:xfrm>
            <a:off x="371977" y="42967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7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在教室，白家月和陈天中在聊天儿，商量给王老师准备新年礼物。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在教室 — 王老师纠正"洗手间"的写法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7621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611376"/>
            <a:ext cx="357621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👩 王老师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611376"/>
            <a:ext cx="357621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安妮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6864"/>
            <a:ext cx="357621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王老师，今天的词比昨天多了十个。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jīntiān de cí bǐ zuótiān duō le shí 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86864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是啊！你们都学会了吗？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a! Nǐmen dōu xuéhuì le ma?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2086864"/>
            <a:ext cx="3576218" cy="67665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学会了，没有问题。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Xuéhuì le, méiyǒu wèntí.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2836672"/>
            <a:ext cx="357621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好，现在我来说，你们在本子上面写。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xiànzài wǒ lái shuō, nǐmen zài běnzi shàngmiàn xiě.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4135120"/>
            <a:ext cx="3576218" cy="149961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同学们，"洗手间"的"间"字写错了，它的里面是"日"，不是"口"。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"xǐshǒujiān" de "jiān" zì xiě cuò le, tā de lǐmiàn shì "rì", bú shì "kǒu".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5312"/>
            <a:ext cx="3576218" cy="149961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"日"比"口"多一笔，写成"口"就变成"问题"的"问"字了。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"Rì" bǐ "kǒu" duō yì bǐ, xiě chéng "kǒu" jiù biàn chéng "wèntí" de "wèn" zì 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5707888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7.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没错，你说得很对。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cuò, nǐ shuō de hěn duì.</a:t>
            </a:r>
          </a:p>
        </p:txBody>
      </p:sp>
      <p:pic>
        <p:nvPicPr>
          <p:cNvPr id="16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在教室，王老师在上课，纠正"洗手间"的"间"字写法。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在教室 — 安妮和白家月互送新年礼物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453765" cy="47478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家月，你觉得这个本子怎么样？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nǐ juéde zhège běnzi zěnmeyàng?</a:t>
            </a:r>
          </a:p>
        </p:txBody>
      </p:sp>
      <p:sp>
        <p:nvSpPr>
          <p:cNvPr id="7" name="Oval 6"/>
          <p:cNvSpPr/>
          <p:nvPr/>
        </p:nvSpPr>
        <p:spPr>
          <a:xfrm>
            <a:off x="425006" y="1528953"/>
            <a:ext cx="294366" cy="294366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3465" y="2155220"/>
            <a:ext cx="3069590" cy="47478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很漂亮，多少钱一个？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 piàoliang, duōshao qián yí ge?</a:t>
            </a:r>
          </a:p>
        </p:txBody>
      </p:sp>
      <p:sp>
        <p:nvSpPr>
          <p:cNvPr id="9" name="Oval 8"/>
          <p:cNvSpPr/>
          <p:nvPr/>
        </p:nvSpPr>
        <p:spPr>
          <a:xfrm>
            <a:off x="11472322" y="2072797"/>
            <a:ext cx="294366" cy="294366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9064"/>
            <a:ext cx="3837940" cy="47478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比我们一起买的那个本子贵一点儿。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Bǐ wǒmen yìqǐ mǎi de nàge běnzi guì yìdiǎnr.</a:t>
            </a:r>
          </a:p>
        </p:txBody>
      </p:sp>
      <p:sp>
        <p:nvSpPr>
          <p:cNvPr id="11" name="Oval 10"/>
          <p:cNvSpPr/>
          <p:nvPr/>
        </p:nvSpPr>
        <p:spPr>
          <a:xfrm>
            <a:off x="425006" y="2616641"/>
            <a:ext cx="294366" cy="294366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4610" y="3242908"/>
            <a:ext cx="4068445" cy="47478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这么漂亮的本子，不可能太贵吧？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Zhème piàoliang de běnzi, bù kěnéng tài guì ba?</a:t>
            </a:r>
          </a:p>
        </p:txBody>
      </p:sp>
      <p:sp>
        <p:nvSpPr>
          <p:cNvPr id="13" name="Oval 12"/>
          <p:cNvSpPr/>
          <p:nvPr/>
        </p:nvSpPr>
        <p:spPr>
          <a:xfrm>
            <a:off x="11472322" y="3160485"/>
            <a:ext cx="294366" cy="294366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86752"/>
            <a:ext cx="5297805" cy="47478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我是上网买的，真没那么贵，我买了两个。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shàngwǎng mǎi de, zhēn méi nàme guì, wǒ mǎi le liǎng ge.</a:t>
            </a:r>
          </a:p>
        </p:txBody>
      </p:sp>
      <p:sp>
        <p:nvSpPr>
          <p:cNvPr id="15" name="Oval 14"/>
          <p:cNvSpPr/>
          <p:nvPr/>
        </p:nvSpPr>
        <p:spPr>
          <a:xfrm>
            <a:off x="425006" y="3704329"/>
            <a:ext cx="294366" cy="294366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9795" y="4330596"/>
            <a:ext cx="3223260" cy="47478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谢谢！那我送给你什么呢？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Xièxie! Nà wǒ sòng gěi nǐ shénme ne?</a:t>
            </a:r>
          </a:p>
        </p:txBody>
      </p:sp>
      <p:sp>
        <p:nvSpPr>
          <p:cNvPr id="17" name="Oval 16"/>
          <p:cNvSpPr/>
          <p:nvPr/>
        </p:nvSpPr>
        <p:spPr>
          <a:xfrm>
            <a:off x="11472322" y="4248173"/>
            <a:ext cx="294366" cy="294366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74440"/>
            <a:ext cx="3223260" cy="47478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咖啡杯吧，我最喜欢喝咖啡。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Kāfēibēi ba, wǒ zuì xǐhuan hē kāfēi.</a:t>
            </a:r>
          </a:p>
        </p:txBody>
      </p:sp>
      <p:sp>
        <p:nvSpPr>
          <p:cNvPr id="19" name="Oval 18"/>
          <p:cNvSpPr/>
          <p:nvPr/>
        </p:nvSpPr>
        <p:spPr>
          <a:xfrm>
            <a:off x="425006" y="4792017"/>
            <a:ext cx="294366" cy="294366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51445" y="5418284"/>
            <a:ext cx="3991610" cy="47478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好，那样我们就都有新年礼物了！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nàyàng wǒmen jiù dōu yǒu xīnnián lǐwù le!</a:t>
            </a:r>
          </a:p>
        </p:txBody>
      </p:sp>
      <p:sp>
        <p:nvSpPr>
          <p:cNvPr id="21" name="Oval 20"/>
          <p:cNvSpPr/>
          <p:nvPr/>
        </p:nvSpPr>
        <p:spPr>
          <a:xfrm>
            <a:off x="11472322" y="5335861"/>
            <a:ext cx="294366" cy="294366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22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在教室，安妮和白家月在聊新买的本子，互相准备新年礼物。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白家月的日记</a:t>
            </a:r>
          </a:p>
        </p:txBody>
      </p:sp>
      <p:pic>
        <p:nvPicPr>
          <p:cNvPr id="6" name="Picture 5" descr="tet_di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995" y="1611376"/>
            <a:ext cx="2349704" cy="1561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新年就要到了，安妮送给我一个新本子。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Xīnnián jiù yào dào le, Ānnī sòng gěi wǒ yí ge xīn běnzi.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Năm mới sắp đến rồi, Annie tặng cho tớ một cuốn sổ mới.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她告诉我是在网上买的，比我的本子贵一点儿。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gàosu wǒ shì zài wǎngshàng mǎi de, bǐ wǒ de běnzi guì yìdiǎnr.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ấy nói cho tớ biết là mua trên mạng, đắt hơn cuốn sổ của tớ một chút.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我们班同学也送了王老师漂亮的花，希望她高高兴兴地过个新年。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bān tóngxué yě sòng le Wáng lǎoshī piàoliang de huā, xīwàng tā gāogāoxìngxìng de guò ge xīnnián.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cùng lớp cũng tặng cô Vương những bông hoa đẹp, mong cô đón năm mới thật vui vẻ.</a:t>
            </a:r>
          </a:p>
        </p:txBody>
      </p:sp>
      <p:pic>
        <p:nvPicPr>
          <p:cNvPr id="8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双宾语句(2) — 拿/送/卖 + 给 + người nhận + vật</a:t>
            </a:r>
          </a:p>
          <a:p>
            <a:pPr>
              <a:spcBef>
                <a:spcPts val="1964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王老师喜欢花，就送</a:t>
            </a:r>
            <a:r>
              <a:rPr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她花吧。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 xǐhuan huā, jiù sòng gěi tā huā ba.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Vương thích hoa, vậy tặng cô hoa đi.</a:t>
            </a:r>
          </a:p>
          <a:p>
            <a:pPr>
              <a:spcBef>
                <a:spcPts val="1964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她拿</a:t>
            </a:r>
            <a:r>
              <a:rPr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我一杯水。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ná gěi wǒ yì bēi shuǐ.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đưa cho tớ một cốc nước.</a:t>
            </a:r>
          </a:p>
          <a:p>
            <a:pPr>
              <a:spcBef>
                <a:spcPts val="1964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他卖</a:t>
            </a:r>
            <a:r>
              <a:rPr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我一本中文书。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mài gěi wǒ yì běn Zhōngwén shū.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bán cho tớ một quyển sách tiếng Trung.</a:t>
            </a:r>
          </a:p>
          <a:p>
            <a:pPr>
              <a:spcBef>
                <a:spcPts val="1473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A + 动词(拿/送/卖…) + 给 + người nhận + vật. "给" đặt ngay sau động từ để chỉ rõ AI là người nhận, tân ngữ chỉ vật luôn đứng sau cùng — không đảo ngược thứ tự người/vật.</a:t>
            </a:r>
          </a:p>
        </p:txBody>
      </p:sp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比较句(7) — A比B+形容词+số lượng cụ thể (khác biệt CỤ THỂ)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今天的词比昨天多了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十个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de cí bǐ zuótiān duō le shí ge.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Từ vựng hôm nay nhiều hơn hôm qua 10 từ.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姐姐比我大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三岁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Jiějie bǐ wǒ dà sān suì.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Chị gái hơn tớ 3 tuổi.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坐飞机比坐火车快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五个多小时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 fēijī bǐ zuò huǒchē kuài wǔ ge duō xiǎoshí.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máy bay nhanh hơn đi tàu hoả hơn 5 tiếng.</a:t>
            </a:r>
          </a:p>
          <a:p>
            <a:pPr>
              <a:spcBef>
                <a:spcPts val="138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A比B+形容词+số lượng cụ thể — số lượng đặt SAU tính từ để nói RÕ chênh lệch bao nhiêu (khác 比较句(4)(5)(6) chỉ nói chung chung 多了/得多).</a:t>
            </a:r>
          </a:p>
        </p:txBody>
      </p:sp>
      <p:pic>
        <p:nvPicPr>
          <p:cNvPr id="7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比较句(8) — A比B+形容词+一点儿/一些 (khác biệt NHỎ)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比我们一起买的那个本子贵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一点儿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Bǐ wǒmen yìqǐ mǎi de nàge běnzi guì yìdiǎnr.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Đắt hơn cuốn sổ mà chúng tớ mua chung một chút.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姐姐比我高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一点儿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Jiějie bǐ wǒ gāo yìdiǎnr.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Chị cao hơn tớ một chút.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那间教室比这间大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一些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jiān jiàoshì bǐ zhè jiān dà yìxiē.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Phòng học đó lớn hơn phòng này một chút.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A比B+形容词+一点儿/一些 — chỉ khác biệt NHỎ, không nói rõ số lượng cụ thể như 比较句(7).</a:t>
            </a:r>
          </a:p>
        </p:txBody>
      </p:sp>
      <p:pic>
        <p:nvPicPr>
          <p:cNvPr id="7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拜年吉祥话 — Lời chúc Tết thông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新年快乐！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Xīnnián kuàilè!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Chúc mừng năm mới!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恭喜发财！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Gōngxǐ fācái!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Chúc phát tài!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万事如意！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Wànshì rúyì!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Vạn sự như ý!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身体健康！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Shēntǐ jiànkāng!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Chúc sức khoẻ dồi dào!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心想事成！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Xīnxiǎng shìchéng!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Cầu được ước thấy!</a:t>
            </a:r>
          </a:p>
        </p:txBody>
      </p:sp>
      <p:pic>
        <p:nvPicPr>
          <p:cNvPr id="7" name="Picture 6" descr="tet_gree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573" y="2050288"/>
            <a:ext cx="3651284" cy="4441952"/>
          </a:xfrm>
          <a:prstGeom prst="rect">
            <a:avLst/>
          </a:prstGeom>
        </p:spPr>
      </p:pic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拜年吉祥话 (tiếp) — 5 câu chúc phổ biến khác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阖家欢乐！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Héjiā huānlè!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Chúc cả nhà vui vẻ, hạnh phúc!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年年有余！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Niánnián yǒuyú!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Năm nào cũng dư dả, sung túc!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步步高升！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Bùbù gāoshēng!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Thăng tiến từng bước!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大吉大利！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Dàjí dàlì!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Đại cát đại lợi!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吉祥如意！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Jíxiáng rúyì!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Cát tường như ý!</a:t>
            </a:r>
          </a:p>
        </p:txBody>
      </p:sp>
      <p:pic>
        <p:nvPicPr>
          <p:cNvPr id="7" name="Picture 6" descr="tet_lanter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045" y="2050288"/>
            <a:ext cx="2958340" cy="4441952"/>
          </a:xfrm>
          <a:prstGeom prst="rect">
            <a:avLst/>
          </a:prstGeom>
        </p:spPr>
      </p:pic>
      <p:pic>
        <p:nvPicPr>
          <p:cNvPr id="8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