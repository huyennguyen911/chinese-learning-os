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一个人过年多没意思啊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Yí ge rén guònián duō méiyìsi a — Ăn Tết một mình chán quá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Buổi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Hôm nay học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hiểu và miêu tả có ai/vật gì tồn tại ở một nơi bằng 存现句(2) — 处所 + động từ + 着 + người/vật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phó từ mức độ "多" trong câu cảm thán để diễn đạt mức độ rất cao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"已经 + khoảng thời gian + 没 + động từ + 了" để nói đã lâu không làm gì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Nhận diện "动词 + 上" mang nghĩa mở rộng (bắt đầu và duy trì một trạng thái) — khác nghĩa chỉ hướng đã học ở Buổi 5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từ vựng chủ đề nhà cửa/phòng ốc/việc nhà (nâng cao, thay 21 từ cơ bản đã học)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一个人在家看电视，多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没意思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啊，还是找朋友一起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跳舞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 ge rén zài jiā kàn diànshì, duō méiyìsi a, háishi zhǎo péngyou yìqǐ tiàowǔ ba.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mình ở nhà xem tivi thì chán biết bao, thôi rủ bạn cùng đi nhảy đi.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没意思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méiyìsi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chán, vô vị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跳舞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tiàowǔ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nhảy múa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舞 vốn là hình một NGƯỜI múa hai tay cầm dải lụa → "nhảy múa" → 跳舞 = khiêu vũ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杨同乐有一双大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眼睛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，笑起来特别好看。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 Tónglè yǒu yì shuāng dà yǎnjing, xiào qǐlái tèbié hǎokàn.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Dương Đồng Nhạc có đôi mắt to, cười lên rất đẹp.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11094415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眼睛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yǎnjing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mắt</a:t>
            </a:r>
          </a:p>
        </p:txBody>
      </p:sp>
      <p:pic>
        <p:nvPicPr>
          <p:cNvPr id="8" name="slide0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睛 = 目(mù, mắt) + 青(qīng, trong xanh) → phần TRONG XANH của mắt → "con ngươi" → 眼睛 = đôi mắt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house_apart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18" y="1611376"/>
            <a:ext cx="3496056" cy="4661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215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王一飞住的不是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别墅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，是一套小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公寓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，不过离学校很近。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Yīfēi zhù de bú shì biéshù, shì yí tào xiǎo gōngyù, búguò lí xuéxiào hěn jìn.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Chỗ Vương Nhất Phi ở không phải biệt thự, mà là một căn hộ nhỏ, nhưng cách trường rất gần.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公寓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gōngyù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căn hộ, chung cư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4101592"/>
            <a:ext cx="3520641" cy="2171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biéshù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biệt thự</a:t>
            </a:r>
          </a:p>
        </p:txBody>
      </p:sp>
      <p:pic>
        <p:nvPicPr>
          <p:cNvPr id="10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寓 = 宀(mián, mái nhà) → nơi ở dưới một MÁI NHÀ chung → "căn hộ" → 公寓 = chung cư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别 = 另(tách riêng) + 刂(dao) → dùng DAO tách RIÊNG ra → "khác biệt" → 别墅 = biệt thự (nhà tách riêng)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杨同乐大学的时候住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宿舍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，毕业以后才搬进一间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平房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 Tónglè dàxué de shíhou zhù sùshè, bìyè yǐhòu cái bān jìn yì jiān píngfáng.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Hồi đại học Dương Đồng Nhạc ở ký túc xá, sau khi tốt nghiệp mới chuyển vào một căn nhà một tầng.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宿舍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sùshè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ký túc xá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平房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píngfáng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nhà một tầng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舍 = 人(rén, người) + 舌(shé, lưỡi/nói) → nơi NGƯỜI ta ăn nói, nghỉ ngơi → "nhà trọ" → 宿舍 = ký túc xá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平 vốn là hình HƠI NƯỚC tỏa đều hai bên (tượng hình) → "bằng phẳng, đều" → 平房 = nhà trệt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living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01540"/>
            <a:ext cx="3550211" cy="2881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这套公寓不大，只有一个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客厅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和一个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卧室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tào gōngyù bú dà, zhǐ yǒu yí ge kètīng hé yí ge wòshì.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Căn hộ này không lớn, chỉ có một phòng khách và một phòng ngủ.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客厅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kètīng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khách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613912"/>
            <a:ext cx="3520641" cy="265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卧室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wòshì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ngủ</a:t>
            </a:r>
          </a:p>
        </p:txBody>
      </p:sp>
      <p:pic>
        <p:nvPicPr>
          <p:cNvPr id="10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厅 = 广(guǎng, nhà rộng) → gian nhà RỘNG để tiếp khách → "phòng khách" → 客厅 = phòng khách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卧 = 臣(mắt cúi xuống) + 人(người) → NGƯỜI cúi xuống nằm nghỉ → "nằm" → 卧室 = phòng ngủ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厨房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卫生间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都在客厅旁边，用起来很方便。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Chúfáng hé wèishēngjiān dōu zài kètīng pángbiān, yòng qǐlái hěn fāngbiàn.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Phòng bếp và phòng vệ sinh đều ở cạnh phòng khách, dùng rất tiện.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chúfáng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bếp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卫生间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wèishēngjiān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vệ sinh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厨 = 广(guǎng, nhà rộng) → gian nhà để NẤU ăn → "bếp" → 厨房 = nhà bếp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balcony_pla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9017"/>
            <a:ext cx="3550211" cy="2666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阳台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上摆着几盆花，妈妈每天都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打扫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得干干净净。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Yángtái shàng bǎizhe jǐ pén huā, māma měitiān dōu dǎsǎo de gāngānjìngjìng.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Trên ban công bày mấy chậu hoa, mẹ ngày nào cũng quét dọn sạch sẽ.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阳台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yángtái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ban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打扫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dǎsǎo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quét dọn</a:t>
            </a:r>
          </a:p>
        </p:txBody>
      </p:sp>
      <p:pic>
        <p:nvPicPr>
          <p:cNvPr id="10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阳 = 阝(nơi chốn) + 日(rì, mặt trời) → nơi có ÁNH MẶT TRỜI chiếu vào → "ban công, dương" → 阳台 = ban công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扫 = 扌(tay) + 彐(cái chổi) → dùng TAY cầm CHỔI quét → "quét dọn" → 打扫 = quét dọn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收拾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完房间、擦好窗户以后，家里多干净啊！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Shōushi wán fángjiān, cā hǎo chuānghu yǐhòu, jiā li duō gānjìng a!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Dọn xong phòng, lau xong cửa sổ rồi, nhà cửa sạch biết bao!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收拾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shōushi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thu dọn, sắp xếp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擦窗户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cā chuānghu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lau cửa sổ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拾 = 扌(shǒu, tay) + 合(hé, gộp lại) → dùng TAY GOM nhặt đồ lại → "thu dọn" → 收拾 = dọn dẹp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擦 = 扌(tay) → dùng TAY chà xát cho sạch → "lau, chùi" → 擦窗户 = lau cửa sổ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他每天回家先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拖地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倒垃圾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，然后才做饭。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měitiān huí jiā xiān tuō dì, dào lājī, ránhòu cái zuò fàn.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nào anh ấy về nhà cũng lau nhà, đổ rác trước, rồi mới nấu cơm.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拖地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tuō dì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lau nhà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倒垃圾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dào lājī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đổ rác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拖 = 扌(shǒu, tay) + 也(yě, cũng) → TAY kéo lê vật đi → "kéo lê, lau" → 拖地 = lau nhà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pic>
        <p:nvPicPr>
          <p:cNvPr id="6" name="Picture 5" descr="laundry_balco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43583"/>
            <a:ext cx="3550211" cy="1996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88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洗衣服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洗得很快，洗完就拿到阳台上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晒衣服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xǐ yīfu xǐ de hěn kuài, xǐ wán jiù ná dào yángtái shàng shài yīfu.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giặt đồ rất nhanh, giặt xong là mang ra ban công phơi luôn.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洗衣服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 yīfu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giặt quần 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874008"/>
            <a:ext cx="3520641" cy="2398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晒衣服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shài yīfu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phơi quần áo</a:t>
            </a:r>
          </a:p>
        </p:txBody>
      </p:sp>
      <p:pic>
        <p:nvPicPr>
          <p:cNvPr id="10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洗 = 氵(nước) + 先(trước) → dùng NƯỚC TRƯỚC tiên để làm sạch → "rửa, giặt" → 洗衣服 = giặt quần áo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晒 = 日(rì, mặt trời) → phơi dưới ánh MẶT TRỜI → "phơi nắng" → 晒衣服 = phơi quần áo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爸爸喜欢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烹饪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，可是从来不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洗碗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，都是妈妈洗。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Bàba xǐhuan pēngrèn, kěshì cónglái bù xǐ wǎn, dōu shì māma xǐ.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thích nấu nướng, nhưng chẳng bao giờ rửa bát, toàn mẹ rửa.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烹饪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pēngrèn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nấu nướng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 wǎn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rửa bát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烹 = 亨(hanh thông) + 灬(huǒ, lửa) → nấu bằng LỬA cho chín → "nấu nướng" → 烹饪 = nấu ăn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碗 = 石(đá/gốm) + 宛(hình cong tròn) → đồ GỐM hình CONG tròn → "bát, chén"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搬家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的时候，我送给他们几盆花，希望他们常常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浇花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Tāmen bānjiā de shíhou, wǒ sòng gěi tāmen jǐ pén huā, xīwàng tāmen chángcháng jiāo huā.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họ chuyển nhà, tôi tặng họ mấy chậu hoa, mong họ hay tưới hoa.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搬家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bānjiā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chuyển nhà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287" y="3158744"/>
            <a:ext cx="5455767" cy="3114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浇花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jiāo huā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tưới hoa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搬 = 扌(tay) → dùng TAY di chuyển đồ đạc → "chuyển, dọn" → 搬家 = chuyển nhà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浇 = 氵(shuǐ, nước) → dùng NƯỚC tưới lên → "tưới" → 浇花 = tưới hoa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水管坏了，他自己在家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修东西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，修了一个下午。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Shuǐguǎn huài le, tā zìjǐ zài jiā xiū dōngxi, xiū le yí ge xiàwǔ.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Ống nước hỏng rồi, anh ấy tự sửa đồ ở nhà, sửa mất cả buổi chiều.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8744"/>
            <a:ext cx="11094415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修东西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xiū dōngxi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sửa đồ đạc</a:t>
            </a:r>
          </a:p>
        </p:txBody>
      </p:sp>
      <p:pic>
        <p:nvPicPr>
          <p:cNvPr id="8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修 = 攸(xa xôi) + 彡(shān, từng nét) → chỉnh sửa từng NÉT nhỏ cho hoàn thiện → "sửa chữa" → 修东西 = sửa đồ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回家路上 — 李文发现楼下站着一个人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914775" cy="7066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王老师，你家楼下站着一个人。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nǐ jiā lóuxià zhànzhe yí ge rén.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4980" y="2420818"/>
            <a:ext cx="2378075" cy="70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我家楼下？我看看。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lóuxià? Wǒ kànkan.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30304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30260"/>
            <a:ext cx="5758815" cy="7066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那个人穿着黑色的裤子，手里还拿着一个黑色的包。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Nàge rén chuānzhe hēisè de kùzi, shǒulǐ hái názhe yí ge hēisè de bāo.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12485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8280" y="4039702"/>
            <a:ext cx="3914775" cy="70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我看见那个人了，他是我男朋友。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kànjiàn nàge rén le, tā shì wǒ nánpéngyou.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392192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9144"/>
            <a:ext cx="2224405" cy="7066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那我们快过去吧。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wǒmen kuài guòqù ba.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7313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pic>
        <p:nvPicPr>
          <p:cNvPr id="16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在回家路上，李文和王一飞边走边聊，发现楼下站着一个陌生人。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楼下 — 王一飞见到男朋友杨同乐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7621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611376"/>
            <a:ext cx="357621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杨同乐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611376"/>
            <a:ext cx="357621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6864"/>
            <a:ext cx="3576218" cy="177393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同乐，真是你啊！上次打电话，你说有时间过来看我，没想到这么快就来了！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Tóngle, zhēnshi nǐ a! Shàng cì dǎ diànhuà, nǐ shuō yǒu shíjiān guòlái kàn wǒ, méi xiǎngdào zhème kuài jiù lái le!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86864"/>
            <a:ext cx="3576218" cy="149961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就要过年了，你一个人在这儿多没意思啊，所以我就早早过来了。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 yào guònián le, nǐ yí ge rén zài zhèr duō méiyìsi a, suǒyǐ wǒ jiù zǎozǎo guòlái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3952"/>
            <a:ext cx="357621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你能来，我太高兴了！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néng lái, wǒ tài gāoxìng le!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3659632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一飞，你旁边这位是？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Yīfēi, nǐ pángbiān zhè wèi shì?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83760"/>
            <a:ext cx="3576218" cy="177393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同乐，这是李文，他在我们学校学医。李文，这是我男朋友杨同乐。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Tóngle, zhè shì Lǐ Wén, tā zài wǒmen xuéxiào xué yī. Lǐ Wén, zhè shì wǒ nánpéngyou Yáng Tónglè.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4409440"/>
            <a:ext cx="357621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李文，很高兴认识你！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 Wén, hěn gāoxìng rènshi nǐ!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2086864"/>
            <a:ext cx="3576218" cy="122529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7.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认识你我也很高兴！我家就在前面那个楼，有时间来玩。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 nǐ wǒ yě hěn gāoxìng! Wǒ jiā jiù zài qiánmiàn nàge lóu, yǒu shíjiān lái wán.</a:t>
            </a:r>
          </a:p>
        </p:txBody>
      </p:sp>
      <p:pic>
        <p:nvPicPr>
          <p:cNvPr id="16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在楼下，王一飞见到从外地赶来过年的男朋友杨同乐，并介绍给李文认识。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王一飞家客厅 — 杨同乐和王一飞聊房子</a:t>
            </a:r>
          </a:p>
        </p:txBody>
      </p:sp>
      <p:pic>
        <p:nvPicPr>
          <p:cNvPr id="6" name="Picture 5" descr="bed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611628"/>
            <a:ext cx="384048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5528310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一飞，你住的房子真不错，很大，离学校也不远。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Yīfēi, nǐ zhù de fángzi zhēn búcuò, hěn dà, lí xuéxiào yě bù yuǎn.</a:t>
            </a:r>
          </a:p>
        </p:txBody>
      </p:sp>
      <p:sp>
        <p:nvSpPr>
          <p:cNvPr id="8" name="Oval 7"/>
          <p:cNvSpPr/>
          <p:nvPr/>
        </p:nvSpPr>
        <p:spPr>
          <a:xfrm>
            <a:off x="398083" y="1511005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1670" y="2273648"/>
            <a:ext cx="5605145" cy="57817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是啊！我楼下还住着一家中国人，他们人很好。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a! Wǒ lóuxià hái zhùzhe yì jiā Zhōngguó rén, tāmen rén hěn hǎo.</a:t>
            </a:r>
          </a:p>
        </p:txBody>
      </p:sp>
      <p:sp>
        <p:nvSpPr>
          <p:cNvPr id="10" name="Oval 9"/>
          <p:cNvSpPr/>
          <p:nvPr/>
        </p:nvSpPr>
        <p:spPr>
          <a:xfrm>
            <a:off x="7228904" y="2173277"/>
            <a:ext cx="358467" cy="35846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35920"/>
            <a:ext cx="4452620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这样你有事情就可以找他们帮忙。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Zhèyàng nǐ yǒu shìqing jiù kěyǐ zhǎo tāmen bāngmáng.</a:t>
            </a:r>
          </a:p>
        </p:txBody>
      </p:sp>
      <p:sp>
        <p:nvSpPr>
          <p:cNvPr id="12" name="Oval 11"/>
          <p:cNvSpPr/>
          <p:nvPr/>
        </p:nvSpPr>
        <p:spPr>
          <a:xfrm>
            <a:off x="398083" y="2835549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1030" y="3598192"/>
            <a:ext cx="4375785" cy="57817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对，我也帮他们家的小孩儿学中文。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Duì, wǒ yě bāng tāmen jiā de xiǎoháir xué Zhōngwén.</a:t>
            </a:r>
          </a:p>
        </p:txBody>
      </p:sp>
      <p:sp>
        <p:nvSpPr>
          <p:cNvPr id="14" name="Oval 13"/>
          <p:cNvSpPr/>
          <p:nvPr/>
        </p:nvSpPr>
        <p:spPr>
          <a:xfrm>
            <a:off x="7228904" y="3497821"/>
            <a:ext cx="358467" cy="35846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60464"/>
            <a:ext cx="5067300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我记得你跟我说过，是个女孩儿，学得也很好。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jìde nǐ gēn wǒ shuōguo, shì ge nǚháir, xué de yě hěn hǎo.</a:t>
            </a:r>
          </a:p>
        </p:txBody>
      </p:sp>
      <p:sp>
        <p:nvSpPr>
          <p:cNvPr id="16" name="Oval 15"/>
          <p:cNvSpPr/>
          <p:nvPr/>
        </p:nvSpPr>
        <p:spPr>
          <a:xfrm>
            <a:off x="398083" y="4160093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8370" y="4922736"/>
            <a:ext cx="4068445" cy="578174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没错，她经常跑上来找我玩。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cuò, tā jīngcháng pǎo shànglái zhǎo wǒ wán.</a:t>
            </a:r>
          </a:p>
        </p:txBody>
      </p:sp>
      <p:sp>
        <p:nvSpPr>
          <p:cNvPr id="18" name="Oval 17"/>
          <p:cNvSpPr/>
          <p:nvPr/>
        </p:nvSpPr>
        <p:spPr>
          <a:xfrm>
            <a:off x="7228904" y="4822365"/>
            <a:ext cx="358467" cy="35846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85008"/>
            <a:ext cx="5681980" cy="578174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你问问他们什么时候有时间，我请他们吃个饭。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wènwen tāmen shénme shíhou yǒu shíjiān, wǒ qǐng tāmen chī ge fàn.</a:t>
            </a:r>
          </a:p>
        </p:txBody>
      </p:sp>
      <p:sp>
        <p:nvSpPr>
          <p:cNvPr id="20" name="Oval 19"/>
          <p:cNvSpPr/>
          <p:nvPr/>
        </p:nvSpPr>
        <p:spPr>
          <a:xfrm>
            <a:off x="398083" y="5484637"/>
            <a:ext cx="358467" cy="35846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pic>
        <p:nvPicPr>
          <p:cNvPr id="21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在王一飞家客厅，杨同乐和王一飞聊起房子和楼下热心的中国邻居一家。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王一飞的日记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我男朋友姓杨，叫杨同乐。他高个子、大眼睛，唱歌唱得很好，跳舞跳得也不错。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nánpéngyou xìng Yáng, jiào Yáng Tónglè. Tā gāo gèzi, dà yǎnjing, chàng gē chàng de hěn hǎo, tiàowǔ tiào de yě búcuò.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trai tôi họ Dương, tên Dương Đồng Nhạc. Anh ấy cao, mắt to, hát hay, nhảy cũng đẹp.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他和我姐姐一起工作，是姐姐介绍我们认识的。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hé wǒ jiějie yìqǐ gōngzuò, shì jiějie jièshào wǒmen rènshi de.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làm cùng chỗ chị gái tôi, chính chị giới thiệu chúng tôi quen nhau.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他告诉我，从见到我的第一天开始，他就喜欢上我了。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gàosu wǒ, cóng jiàndào wǒ de dì-yī tiān kāishǐ, tā jiù xǐhuan shàng wǒ le.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kể với tôi, từ ngày đầu gặp tôi là đã thích tôi rồi.</a:t>
            </a:r>
          </a:p>
        </p:txBody>
      </p:sp>
      <p:pic>
        <p:nvPicPr>
          <p:cNvPr id="7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小语的提示："喜欢上" 表示开始喜欢，并一直喜欢下去 — mở rộng nghĩa của bổ ngữ xu hướng.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存现句(2) — 处所 + động từ + 着 + người/vật phiếm chỉ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你家楼下站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一个人。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lóuxià zhànzhe yí ge rén.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Dưới nhà cậu có một người đang đứng đó.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阳台上摆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几盆花。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Yángtái shàng bǎizhe jǐ pén huā.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Trên ban công bày mấy chậu hoa.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客厅里坐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两个客人。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Kètīng lǐ zuòzhe liǎng ge kèrén.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Trong phòng khách có hai vị khách đang ngồi.</a:t>
            </a:r>
          </a:p>
          <a:p>
            <a:pPr>
              <a:spcBef>
                <a:spcPts val="132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处所 + động từ + 着 + người/vật (phiếm chỉ, không xác định cụ thể là ai/cái gì). Trợ từ động thái "着" đứng sau động từ để tạo thành câu tồn hiện, mô tả TRẠNG THÁI có ai/vật gì đó tồn tại ở một nơi.</a:t>
            </a:r>
          </a:p>
        </p:txBody>
      </p:sp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程度副词"多" — dùng trong câu cảm thán, diễn đạt mức độ rất cao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你一个人在这儿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没意思啊！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yí ge rén zài zhèr duō méiyìsi a!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ở đây một mình chán biết bao!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我们一起去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好啊！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yìqǐ qù duō hǎo a!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cùng đi thì tốt biết mấy!</a:t>
            </a:r>
          </a:p>
          <a:p>
            <a:pPr>
              <a:spcBef>
                <a:spcPts val="1843"/>
              </a:spcBef>
              <a:buNone/>
            </a:pP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这个客厅</a:t>
            </a:r>
            <a:r>
              <a:rPr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干净啊！</a:t>
            </a:r>
          </a:p>
          <a:p>
            <a:pPr>
              <a:spcBef>
                <a:spcPts val="276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Zhège kètīng duō gānjìng a!</a:t>
            </a:r>
          </a:p>
          <a:p>
            <a:pPr>
              <a:spcBef>
                <a:spcPts val="276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Phòng khách này sạch sẽ biết bao!</a:t>
            </a:r>
          </a:p>
          <a:p>
            <a:pPr>
              <a:spcBef>
                <a:spcPts val="138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"多" + tính từ + "啊" (câu cảm thán). Diễn đạt mức độ rất cao của tính chất được nói tới, thường mang sắc thái cảm xúc mạnh (khen/than).</a:t>
            </a:r>
          </a:p>
        </p:txBody>
      </p:sp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3/5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副词"多" + động từ — làm (nhiều) hơn, phân biệt với "多" + tính từ ở 语法 2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房间脏了，你</a:t>
            </a: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打扫打扫吧。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Fángjiān zāng le, nǐ duō dǎsǎo dǎsǎo ba.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Phòng bẩn rồi, cậu dọn dẹp nhiều hơn đi.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阳台上的花，你要</a:t>
            </a: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浇点水。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Yángtái shàng de huā, nǐ yào duō jiāo diǎn shuǐ.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Hoa trên ban công, cậu phải tưới nhiều nước hơn.</a:t>
            </a:r>
          </a:p>
          <a:p>
            <a:pPr>
              <a:spcBef>
                <a:spcPts val="1688"/>
              </a:spcBef>
              <a:buNone/>
            </a:pP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天冷了，</a:t>
            </a:r>
            <a:r>
              <a:rPr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</a:t>
            </a:r>
            <a:r>
              <a:rPr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穿点衣服。</a:t>
            </a:r>
          </a:p>
          <a:p>
            <a:pPr>
              <a:spcBef>
                <a:spcPts val="253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 lěng le, duō chuān diǎn yīfu.</a:t>
            </a:r>
          </a:p>
          <a:p>
            <a:pPr>
              <a:spcBef>
                <a:spcPts val="253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lạnh rồi, mặc thêm quần áo vào.</a:t>
            </a:r>
          </a:p>
          <a:p>
            <a:pPr>
              <a:spcBef>
                <a:spcPts val="1266"/>
              </a:spcBef>
              <a:buNone/>
            </a:pPr>
            <a:r>
              <a:rPr sz="12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So sánh với 语法 2 ("多" + tính từ trong câu cảm thán, vd 多好啊!): ở đây "多" đứng TRƯỚC ĐỘNG TỪ, nghĩa là làm động tác đó NHIỀU HƠN/THÊM — thường dùng trong câu khuyên nhủ, đề nghị (多 + V + (点) + O). Không mang sắc thái cảm thán như 语法 2.</a:t>
            </a:r>
          </a:p>
        </p:txBody>
      </p:sp>
      <p:pic>
        <p:nvPicPr>
          <p:cNvPr id="7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4/5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 + khoảng thời gian + 没 + động từ + 了 — đã lâu không làm gì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几年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回国了，今年想回国过年。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yǐjīng jǐ nián méi huíguó le, jīnnián xiǎng huíguó guònián.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đã mấy năm không về nước rồi, năm nay muốn về nước ăn Tết.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好几个月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打扫阳台了，今天该收拾一下了。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yǐjīng hǎo jǐ ge yuè méi dǎsǎo yángtái le, jīntiān gāi shōushi yíxià le.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đã mấy tháng rồi không dọn ban công, hôm nay nên thu dọn một chút.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三年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搬家了，一直住在这套公寓里。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Tāmen yǐjīng sān nián méi bānjiā le, yìzhí zhù zài zhè tào gōngyù lǐ.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Họ đã 3 năm không chuyển nhà rồi, vẫn ở mãi trong căn hộ này.</a:t>
            </a:r>
          </a:p>
          <a:p>
            <a:pPr>
              <a:spcBef>
                <a:spcPts val="132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Cấu trúc: 已经 + khoảng thời gian + 没 + động từ + 了 — diễn tả một khoảng thời gian khá lâu đã trôi qua mà chưa/không làm việc gì, thường kèm ý định/kế hoạch ở vế câu sau. Nguồn: 综合练习 nguyên văn sách Bài 14.</a:t>
            </a:r>
          </a:p>
        </p:txBody>
      </p:sp>
      <p:pic>
        <p:nvPicPr>
          <p:cNvPr id="7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5/5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 + "上" (nghĩa mở rộng) — bắt đầu và duy trì một trạng thái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他告诉我，从见到我的第一天开始，他就喜欢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我了。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gàosu wǒ, cóng jiàndào wǒ de dì-yī tiān kāishǐ, tā jiù xǐhuan shàng wǒ le.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kể, từ ngày đầu gặp tôi là đã thích tôi rồi (và cứ thích mãi).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我们爱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了中文课。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ài shàng le Zhōngwén kè.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tôi đã yêu thích tiết học tiếng Trung (Buổi 13).</a:t>
            </a:r>
          </a:p>
          <a:p>
            <a:pPr>
              <a:spcBef>
                <a:spcPts val="1762"/>
              </a:spcBef>
              <a:buNone/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我一进这套公寓就看</a:t>
            </a: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了阳台。</a:t>
            </a:r>
          </a:p>
          <a:p>
            <a:pPr>
              <a:spcBef>
                <a:spcPts val="264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yí jìn zhè tào gōngyù jiù kànshàng le yángtái.</a:t>
            </a:r>
          </a:p>
          <a:p>
            <a:pPr>
              <a:spcBef>
                <a:spcPts val="264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Vừa bước vào căn hộ này là tôi đã ưng ngay cái ban công.</a:t>
            </a:r>
          </a:p>
          <a:p>
            <a:pPr>
              <a:spcBef>
                <a:spcPts val="1322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"động từ + 上" ở đây KHÔNG chỉ hướng như 复合趋向补语 đã học ở Buổi 5 (上/下/进/出/回/过 + 来/去), mà mang nghĩa MỞ RỘNG: bắt đầu một trạng thái/cảm xúc và duy trì nó về sau. Thường gặp: 喜欢上 · 爱上 · 迷上 · 看上.</a:t>
            </a:r>
          </a:p>
        </p:txBody>
      </p:sp>
      <p:pic>
        <p:nvPicPr>
          <p:cNvPr id="7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