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3" ContentType="audio/mpeg"/>
  <Override PartName="/ppt/media/media10.mp3" ContentType="audio/mpeg"/>
  <Override PartName="/ppt/media/media11.mp3" ContentType="audio/mpeg"/>
  <Override PartName="/ppt/media/media12.mp3" ContentType="audio/mpeg"/>
  <Override PartName="/ppt/media/media13.mp3" ContentType="audio/mpeg"/>
  <Override PartName="/ppt/media/media14.mp3" ContentType="audio/mpeg"/>
  <Override PartName="/ppt/media/media15.mp3" ContentType="audio/mpeg"/>
  <Override PartName="/ppt/media/media16.mp3" ContentType="audio/mpeg"/>
  <Override PartName="/ppt/media/media17.mp3" ContentType="audio/mpeg"/>
  <Override PartName="/ppt/media/media18.mp3" ContentType="audio/mpeg"/>
  <Override PartName="/ppt/media/media2.mp3" ContentType="audio/mpeg"/>
  <Override PartName="/ppt/media/media3.mp3" ContentType="audio/mpeg"/>
  <Override PartName="/ppt/media/media4.mp3" ContentType="audio/mpeg"/>
  <Override PartName="/ppt/media/media5.mp3" ContentType="audio/mpeg"/>
  <Override PartName="/ppt/media/media6.mp3" ContentType="audio/mpeg"/>
  <Override PartName="/ppt/media/media7.mp3" ContentType="audio/mpeg"/>
  <Override PartName="/ppt/media/media8.mp3" ContentType="audio/mpeg"/>
  <Override PartName="/ppt/media/media9.mp3" ContentType="audio/mpe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microsoft.com/office/2007/relationships/media" Target="../media/media1.mp3"/><Relationship Id="rId4" Type="http://schemas.openxmlformats.org/officeDocument/2006/relationships/video" Target="../media/media1.mp3"/><Relationship Id="rId5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microsoft.com/office/2007/relationships/media" Target="../media/media2.mp3"/><Relationship Id="rId4" Type="http://schemas.openxmlformats.org/officeDocument/2006/relationships/video" Target="../media/media2.mp3"/><Relationship Id="rId5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microsoft.com/office/2007/relationships/media" Target="../media/media3.mp3"/><Relationship Id="rId4" Type="http://schemas.openxmlformats.org/officeDocument/2006/relationships/video" Target="../media/media3.mp3"/><Relationship Id="rId5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microsoft.com/office/2007/relationships/media" Target="../media/media4.mp3"/><Relationship Id="rId4" Type="http://schemas.openxmlformats.org/officeDocument/2006/relationships/video" Target="../media/media4.mp3"/><Relationship Id="rId5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microsoft.com/office/2007/relationships/media" Target="../media/media5.mp3"/><Relationship Id="rId4" Type="http://schemas.openxmlformats.org/officeDocument/2006/relationships/video" Target="../media/media5.mp3"/><Relationship Id="rId5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microsoft.com/office/2007/relationships/media" Target="../media/media6.mp3"/><Relationship Id="rId4" Type="http://schemas.openxmlformats.org/officeDocument/2006/relationships/video" Target="../media/media6.mp3"/><Relationship Id="rId5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microsoft.com/office/2007/relationships/media" Target="../media/media7.mp3"/><Relationship Id="rId4" Type="http://schemas.openxmlformats.org/officeDocument/2006/relationships/video" Target="../media/media7.mp3"/><Relationship Id="rId5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microsoft.com/office/2007/relationships/media" Target="../media/media8.mp3"/><Relationship Id="rId4" Type="http://schemas.openxmlformats.org/officeDocument/2006/relationships/video" Target="../media/media8.mp3"/><Relationship Id="rId5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microsoft.com/office/2007/relationships/media" Target="../media/media9.mp3"/><Relationship Id="rId4" Type="http://schemas.openxmlformats.org/officeDocument/2006/relationships/video" Target="../media/media9.mp3"/><Relationship Id="rId5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microsoft.com/office/2007/relationships/media" Target="../media/media10.mp3"/><Relationship Id="rId4" Type="http://schemas.openxmlformats.org/officeDocument/2006/relationships/video" Target="../media/media10.mp3"/><Relationship Id="rId5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microsoft.com/office/2007/relationships/media" Target="../media/media11.mp3"/><Relationship Id="rId4" Type="http://schemas.openxmlformats.org/officeDocument/2006/relationships/video" Target="../media/media11.mp3"/><Relationship Id="rId5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microsoft.com/office/2007/relationships/media" Target="../media/media12.mp3"/><Relationship Id="rId4" Type="http://schemas.openxmlformats.org/officeDocument/2006/relationships/video" Target="../media/media12.mp3"/><Relationship Id="rId5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3.mp3"/><Relationship Id="rId3" Type="http://schemas.openxmlformats.org/officeDocument/2006/relationships/video" Target="../media/media13.mp3"/><Relationship Id="rId4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4.mp3"/><Relationship Id="rId3" Type="http://schemas.openxmlformats.org/officeDocument/2006/relationships/video" Target="../media/media14.mp3"/><Relationship Id="rId4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5.mp3"/><Relationship Id="rId3" Type="http://schemas.openxmlformats.org/officeDocument/2006/relationships/video" Target="../media/media15.mp3"/><Relationship Id="rId4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6.mp3"/><Relationship Id="rId3" Type="http://schemas.openxmlformats.org/officeDocument/2006/relationships/video" Target="../media/media16.mp3"/><Relationship Id="rId4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7.mp3"/><Relationship Id="rId3" Type="http://schemas.openxmlformats.org/officeDocument/2006/relationships/video" Target="../media/media17.mp3"/><Relationship Id="rId4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8.mp3"/><Relationship Id="rId3" Type="http://schemas.openxmlformats.org/officeDocument/2006/relationships/video" Target="../media/media18.mp3"/><Relationship Id="rId4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920240"/>
            <a:ext cx="11094415" cy="3017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4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我想再去一次中国</a:t>
            </a:r>
          </a:p>
          <a:p>
            <a:pPr algn="ctr">
              <a:spcBef>
                <a:spcPts val="1000"/>
              </a:spcBef>
              <a:buNone/>
            </a:pPr>
            <a:r>
              <a:rPr sz="2000" b="0" i="0">
                <a:solidFill>
                  <a:srgbClr val="F7E4E1"/>
                </a:solidFill>
                <a:latin typeface="Calibri"/>
                <a:ea typeface="Microsoft YaHei"/>
                <a:cs typeface="Microsoft YaHei"/>
              </a:rPr>
              <a:t>Wǒ xiǎng zài qù yí cì Zhōngguó — Tôi muốn đi Trung Quốc thêm một lần nữa</a:t>
            </a:r>
          </a:p>
          <a:p>
            <a:pPr algn="ctr">
              <a:spcBef>
                <a:spcPts val="600"/>
              </a:spcBef>
              <a:buNone/>
            </a:pPr>
            <a:r>
              <a:rPr sz="1400" b="0" i="0">
                <a:solidFill>
                  <a:srgbClr val="F7E4E1"/>
                </a:solidFill>
                <a:latin typeface="Calibri"/>
                <a:ea typeface="Microsoft YaHei"/>
                <a:cs typeface="Microsoft YaHei"/>
              </a:rPr>
              <a:t>HSK2 · Buổi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Hôm nay học gì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Nghe hiểu và bàn về kế hoạch du lịch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Dùng động lượng bổ ngữ "数词+次" để diễn đạt số lần một hành động xảy ra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Dùng "有" + số lượng để diễn đạt đã đạt tới một mức độ/số lượng nhất định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Mở rộng từ vựng chủ đề thủ tục bay/nhập cảnh — thực dụng cho ai sắp đi Trung Quốc thật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Từ vựng mới</a:t>
            </a:r>
          </a:p>
        </p:txBody>
      </p:sp>
      <p:pic>
        <p:nvPicPr>
          <p:cNvPr id="6" name="Picture 5" descr="checkin_coun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10750"/>
            <a:ext cx="3550212" cy="26626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2215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订机票的时候，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姓名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一定要跟护照上的完全一样，不然到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机场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可能不能登机。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Dìng jīpiào de shíhou, xìngmíng yídìng yào gēn hùzhào shàng de wánquán yíyàng, bùrán dào jīchǎng kěnéng bù néng dēngjī.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Đặt vé máy bay thì họ tên nhất định phải khớp y hệt hộ chiếu, không thì tới sân bay có thể không được lên máy bay.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4101592"/>
            <a:ext cx="3520641" cy="2171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姓名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xìngmíng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họ tên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413" y="4101592"/>
            <a:ext cx="3520641" cy="2171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机场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jīchǎng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sân bay</a:t>
            </a:r>
          </a:p>
        </p:txBody>
      </p:sp>
      <p:pic>
        <p:nvPicPr>
          <p:cNvPr id="10" name="slide03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548640" y="6327648"/>
            <a:ext cx="11094415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姓 = 女(nǚ, phụ nữ) + 生(shēng, sinh ra) → mang HỌ theo dòng mẹ SINH ra → "họ" → 姓名 = họ tên</a:t>
            </a:r>
          </a:p>
          <a:p>
            <a:pPr>
              <a:spcBef>
                <a:spcPts val="200"/>
              </a:spcBef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机 = 木(cây) + 几(bàn nhỏ) → dụng cụ bằng gỗ có chức năng → "máy, cơ" → 机场 = sân bay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Từ vựng mới</a:t>
            </a:r>
          </a:p>
        </p:txBody>
      </p:sp>
      <p:pic>
        <p:nvPicPr>
          <p:cNvPr id="6" name="Picture 5" descr="airplane_windo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10750"/>
            <a:ext cx="3550212" cy="26626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2215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出国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旅游前，热门景点的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门票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最好提前在网上订好，不然到了可能要排很久的队。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Chūguó lǚyóu qián, rèmén jǐngdiǎn de ménpiào zuìhǎo tíqián zài wǎngshàng dìnghǎo, bùrán dàole kěnéng yào pái hěn jiǔ de duì.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Trước khi xuất ngoại du lịch, vé những điểm tham quan hot nên đặt trước trên mạng, không thì tới nơi có thể phải xếp hàng rất lâu.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4101592"/>
            <a:ext cx="3520641" cy="2171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出国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chūguó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xuất ngoại, ra nước ngoài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413" y="4101592"/>
            <a:ext cx="3520641" cy="2171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门票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ménpiào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vé vào cửa</a:t>
            </a:r>
          </a:p>
        </p:txBody>
      </p:sp>
      <p:pic>
        <p:nvPicPr>
          <p:cNvPr id="10" name="slide04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548640" y="6327648"/>
            <a:ext cx="11094415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国 = 囗(vòng biên giới) + 玉(ngọc, vua) → VUA cai trị trong một VÒNG biên giới → "đất nước" → 出国 = ra nước ngoài</a:t>
            </a:r>
          </a:p>
          <a:p>
            <a:pPr>
              <a:spcBef>
                <a:spcPts val="200"/>
              </a:spcBef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票 = 覀(xī, lửa) trên 示(shì, bàn thờ) → tục ĐỐT tiền giấy cúng → về sau = "vé, phiếu" → 门票 = vé vào cổng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Từ vựng mới</a:t>
            </a:r>
          </a:p>
        </p:txBody>
      </p:sp>
      <p:pic>
        <p:nvPicPr>
          <p:cNvPr id="6" name="Picture 5" descr="summer_pala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69560"/>
            <a:ext cx="3550211" cy="23644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2215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我的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高中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同学就在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颐和园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上班，可以让他给你好好介绍介绍。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de gāozhōng tóngxué jiù zài Yíhé Yuán shàngbān, kěyǐ ràng tā gěi nǐ hǎohǎo jièshào jièshào.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Bạn học cấp 3 của tôi làm việc ngay tại Di Hòa Viên, có thể nhờ bạn ấy giới thiệu cho em thật kỹ.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4101592"/>
            <a:ext cx="3520641" cy="2390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高中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gāozhōng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trung học phổ thông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413" y="4101592"/>
            <a:ext cx="3520641" cy="2390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颐和园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Yíhé Yuán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Di Hòa Viên (địa danh ở Bắc Kinh)</a:t>
            </a:r>
          </a:p>
        </p:txBody>
      </p:sp>
      <p:pic>
        <p:nvPicPr>
          <p:cNvPr id="10" name="slide05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高 vốn là hình một TÒA THÁP cao nhiều tầng → "cao" → 高中 = trung học phổ thông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Từ vựng mới</a:t>
            </a:r>
          </a:p>
        </p:txBody>
      </p:sp>
      <p:pic>
        <p:nvPicPr>
          <p:cNvPr id="6" name="Picture 5" descr="friends_trav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58676"/>
            <a:ext cx="3550212" cy="23668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1273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出门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旅游，多个朋友多条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路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Chūmén lǚyóu, duō ge péngyou duō tiáo lù.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Đi du lịch, có thêm bạn là có thêm thuận lợi.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3158744"/>
            <a:ext cx="3520641" cy="3114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出门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chūmén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ra khỏi nhà, ra ngoài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413" y="3158744"/>
            <a:ext cx="3520641" cy="3114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路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lù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con đường</a:t>
            </a:r>
          </a:p>
        </p:txBody>
      </p:sp>
      <p:pic>
        <p:nvPicPr>
          <p:cNvPr id="10" name="slide06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548640" y="6327648"/>
            <a:ext cx="11094415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门 vốn là hình vẽ HAI CÁNH CỬA → "cửa" → 出门 = ra khỏi cửa (ra ngoài)</a:t>
            </a:r>
          </a:p>
          <a:p>
            <a:pPr>
              <a:spcBef>
                <a:spcPts val="200"/>
              </a:spcBef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路 = 足(zú, chân) + 各(gè, mỗi, riêng lẻ) → mỗi BƯỚC CHÂN đi trên → "đường, lối đi"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Từ vựng mới</a:t>
            </a:r>
          </a:p>
        </p:txBody>
      </p:sp>
      <p:pic>
        <p:nvPicPr>
          <p:cNvPr id="6" name="Picture 5" descr="airplane_fly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76702"/>
            <a:ext cx="3550212" cy="35502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2215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买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机票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的时候多比较几个网站，同一天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飞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的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机票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价格可能差很多。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Mǎi jīpiào de shíhou duō bǐjiào jǐ ge wǎngzhàn, tóng yì tiān fēi de jīpiào jiàgé kěnéng chà hěn duō.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Mua vé máy bay nên so sánh vài trang web, cùng ngày bay mà giá vé có thể chênh nhau nhiều.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4101592"/>
            <a:ext cx="3520641" cy="2390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机票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jīpiào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vé máy bay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413" y="4101592"/>
            <a:ext cx="3520641" cy="2390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飞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fēi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bay</a:t>
            </a:r>
          </a:p>
        </p:txBody>
      </p:sp>
      <p:pic>
        <p:nvPicPr>
          <p:cNvPr id="10" name="slide07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飞 vốn là hình con CHIM đang bay dang cánh → "bay"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Từ vựng mới</a:t>
            </a:r>
          </a:p>
        </p:txBody>
      </p:sp>
      <p:pic>
        <p:nvPicPr>
          <p:cNvPr id="6" name="Picture 5" descr="bird_fly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76702"/>
            <a:ext cx="3550212" cy="35502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1273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从地上往天上看，飞机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好像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一只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鸟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一样。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Cóng dìshang wǎng tiānshang kàn, fēijī hǎoxiàng yì zhī niǎo yīyàng.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Từ mặt đất nhìn lên trời, máy bay trông giống như một con chim vậy.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3158744"/>
            <a:ext cx="3520641" cy="3333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好像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hǎoxiàng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hình như, giống như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413" y="3158744"/>
            <a:ext cx="3520641" cy="3333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鸟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niǎo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chim</a:t>
            </a:r>
          </a:p>
        </p:txBody>
      </p:sp>
      <p:pic>
        <p:nvPicPr>
          <p:cNvPr id="10" name="slide08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鸟 vốn là hình một con CHIM đứng, có mỏ và đuôi → "chim"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73931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 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Từ vựng mới</a:t>
            </a:r>
          </a:p>
        </p:txBody>
      </p:sp>
      <p:pic>
        <p:nvPicPr>
          <p:cNvPr id="6" name="Picture 5" descr="passport_vis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20065"/>
            <a:ext cx="3550211" cy="304402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2215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出国前一定要检查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护照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有没有过期，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签证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最好提前一个月就开始办，免得来不及。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Chūguó qián yídìng yào jiǎnchá hùzhào yǒu méiyǒu guòqī, qiānzhèng zuìhǎo tíqián yí ge yuè jiù kāishǐ bàn, miǎnde láibùjí.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Trước khi xuất ngoại phải kiểm tra hộ chiếu có hết hạn không, visa nên xin trước cả tháng kẻo không kịp.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4101592"/>
            <a:ext cx="3520641" cy="2171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签证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qiānzhèng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visa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413" y="4101592"/>
            <a:ext cx="3520641" cy="2171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护照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hùzhào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hộ chiếu</a:t>
            </a:r>
          </a:p>
        </p:txBody>
      </p:sp>
      <p:pic>
        <p:nvPicPr>
          <p:cNvPr id="10" name="slide09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548640" y="6327648"/>
            <a:ext cx="11094415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签 = 竹(zhú, tre) → thẻ TRE dùng để ký, đánh dấu → "ký tên" → 签证 = visa</a:t>
            </a:r>
          </a:p>
          <a:p>
            <a:pPr>
              <a:spcBef>
                <a:spcPts val="200"/>
              </a:spcBef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护 = 扌(tay) + 户(cửa nhà) → dùng TAY canh giữ CỬA nhà → "bảo vệ" → 护照 = hộ chiếu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73931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 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Từ vựng mới</a:t>
            </a:r>
          </a:p>
        </p:txBody>
      </p:sp>
      <p:pic>
        <p:nvPicPr>
          <p:cNvPr id="6" name="Picture 5" descr="airport_transi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32070"/>
            <a:ext cx="3550211" cy="28394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2671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过境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免签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政策很方便，不过一定要看清楚最多能待多少个小时，超时可能会有麻烦。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Guòjìng miǎnqiān zhèngcè hěn fāngbiàn, bùguò yídìng yào kàn qīngchu zuìduō néng dāi duōshao ge xiǎoshí, chāoshí kěnéng huì yǒu máfan.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Chính sách miễn visa quá cảnh rất tiện, nhưng phải xem kỹ tối đa được ở bao nhiêu giờ, quá giờ có thể rắc rối.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4556760"/>
            <a:ext cx="3520641" cy="1935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免签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miǎnqiān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miễn visa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413" y="4556760"/>
            <a:ext cx="3520641" cy="1935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过境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guòjìng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quá cảnh</a:t>
            </a:r>
          </a:p>
        </p:txBody>
      </p:sp>
      <p:pic>
        <p:nvPicPr>
          <p:cNvPr id="10" name="slide10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境 = 土(tǔ, đất) + 竟(jìng, cuối cùng, hết) → nơi ĐẤT đai kết thúc → "biên giới" → 过境 = quá cảnh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73931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 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Từ vựng mới</a:t>
            </a:r>
          </a:p>
        </p:txBody>
      </p:sp>
      <p:pic>
        <p:nvPicPr>
          <p:cNvPr id="6" name="Picture 5" descr="boarding_pas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10750"/>
            <a:ext cx="3550212" cy="26626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2215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现在很多航班可以提前在手机上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值机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，拿到电子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登机牌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，不用到机场再排队。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Xiànzài hěn duō hángbān kěyǐ tíqián zài shǒujī shàng zhíjī, nádào diànzǐ dēngjīpái, búyòng dào jīchǎng zài páiduì.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Giờ nhiều chuyến bay có thể check-in trước trên điện thoại, lấy thẻ lên máy bay điện tử, khỏi phải xếp hàng ở sân bay.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4101592"/>
            <a:ext cx="3520641" cy="2171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值机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zhíjī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làm thủ tục check-in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413" y="4101592"/>
            <a:ext cx="3520641" cy="2171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登机牌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dēngjīpái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thẻ lên máy bay</a:t>
            </a:r>
          </a:p>
        </p:txBody>
      </p:sp>
      <p:pic>
        <p:nvPicPr>
          <p:cNvPr id="10" name="slide11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548640" y="6327648"/>
            <a:ext cx="11094415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值 = 亻(rén, người) + 直(zhí, ngay thẳng) → NGƯỜI đứng thẳng đúng CA trực → "giá trị, trực" → 值机 = làm thủ tục bay</a:t>
            </a:r>
          </a:p>
          <a:p>
            <a:pPr>
              <a:spcBef>
                <a:spcPts val="200"/>
              </a:spcBef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登 = 癶(hai chân bước lên) + 豆(bệ) → bước CHÂN lên BỆ cao → "lên, đăng" → 登机牌 = thẻ lên máy bay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73931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 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Từ vựng mới</a:t>
            </a:r>
          </a:p>
        </p:txBody>
      </p:sp>
      <p:pic>
        <p:nvPicPr>
          <p:cNvPr id="6" name="Picture 5" descr="security_che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88862"/>
            <a:ext cx="3550211" cy="31064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2215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过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安检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前最好把水喝完，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登机口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最好提前半个小时到，免得错过登机时间。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Guò ānjiǎn qián zuìhǎo bǎ shuǐ hēwán, dēngjīkǒu zuìhǎo tíqián bàn ge xiǎoshí dào, miǎnde cuòguò dēngjī shíjiān.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Trước khi qua an ninh nên uống hết nước, nên tới cổng ra máy bay sớm nửa tiếng kẻo lỡ giờ lên máy bay.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4101592"/>
            <a:ext cx="3520641" cy="2171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安检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ānjiǎn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an ninh soi chiếu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413" y="4101592"/>
            <a:ext cx="3520641" cy="2171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登机口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dēngjīkǒu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cổng lên máy bay</a:t>
            </a:r>
          </a:p>
        </p:txBody>
      </p:sp>
      <p:pic>
        <p:nvPicPr>
          <p:cNvPr id="10" name="slide12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548640" y="6327648"/>
            <a:ext cx="11094415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安 = 宀(mián, mái nhà) + 女(nǚ, phụ nữ) → PHỤ NỮ ở yên trong NHÀ → "an toàn, yên ổn" → 安检 = kiểm tra an ninh</a:t>
            </a:r>
          </a:p>
          <a:p>
            <a:pPr>
              <a:spcBef>
                <a:spcPts val="200"/>
              </a:spcBef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口 vốn là hình cái MIỆNG mở (tượng hình) → "cửa, chỗ mở" → 登机口 = cổng lên máy bay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73931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 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Từ vựng mới</a:t>
            </a:r>
          </a:p>
        </p:txBody>
      </p:sp>
      <p:pic>
        <p:nvPicPr>
          <p:cNvPr id="6" name="Picture 5" descr="departure_ga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53786"/>
            <a:ext cx="3550211" cy="23765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2215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转机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的时候，要看清楚是不是需要先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入境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，不然可能会跟不上下一趟航班。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Zhuǎnjī de shíhou, yào kàn qīngchu shì bù shì xūyào xiān rùjìng, bùrán kěnéng huì gēnbushàng xià yí tàng hángbān.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Lúc chuyển chuyến bay phải xem kỹ có cần nhập cảnh trước không, không thì có thể lỡ chuyến bay tiếp theo.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4101592"/>
            <a:ext cx="3520641" cy="2171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转机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zhuǎnjī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chuyển chuyến bay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413" y="4101592"/>
            <a:ext cx="3520641" cy="2171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入境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rùjìng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nhập cảnh</a:t>
            </a:r>
          </a:p>
        </p:txBody>
      </p:sp>
      <p:pic>
        <p:nvPicPr>
          <p:cNvPr id="10" name="slide13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548640" y="6327648"/>
            <a:ext cx="11094415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转 = 车(chē, xe) → XE chuyển hướng đi tiếp → "chuyển, xoay" → 转机 = chuyển chuyến bay</a:t>
            </a:r>
          </a:p>
          <a:p>
            <a:pPr>
              <a:spcBef>
                <a:spcPts val="200"/>
              </a:spcBef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入 vốn là hình MŨI TÊN nhọn cắm VÀO → "vào" → 入境 = nhập cảnh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73931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 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Từ vựng mới</a:t>
            </a:r>
          </a:p>
        </p:txBody>
      </p:sp>
      <p:pic>
        <p:nvPicPr>
          <p:cNvPr id="6" name="Picture 5" descr="suitcase_lugg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20478"/>
            <a:ext cx="3550212" cy="26626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2215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行李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最好别超过规定的重量，不然要多付很多钱，出发前先在家称一下比较保险。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Xíngli zuìhǎo bié chāoguò guīdìng de zhòngliàng, bùrán yào duō fù hěn duō qián, chūfā qián xiān zài jiā chēng yíxià bǐjiào bǎoxiǎn.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Hành lý tốt nhất đừng vượt cân quy định, không thì phải trả thêm nhiều tiền, trước khi đi nên cân thử ở nhà cho chắc.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4101592"/>
            <a:ext cx="7178443" cy="2390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行李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xíngli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hành lý</a:t>
            </a:r>
          </a:p>
        </p:txBody>
      </p:sp>
      <p:pic>
        <p:nvPicPr>
          <p:cNvPr id="9" name="slide14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李 = 木(mù, cây) + 子(zǐ, quả) → cây ra quả MẬN → "mận"/họ Lý (行李 "hành lý" mượn CHỮ VIẾT này, không liên quan nghĩa quả mận)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课文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教室 — 王一飞 (老师) 监考，白家月/陈天中 考完试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11376"/>
            <a:ext cx="3576218" cy="365760"/>
          </a:xfrm>
          <a:prstGeom prst="roundRect">
            <a:avLst/>
          </a:prstGeom>
          <a:solidFill>
            <a:srgbClr val="F7E4E1"/>
          </a:solidFill>
          <a:ln w="9525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buNone/>
            </a:pPr>
            <a:r>
              <a:rPr sz="1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🙂 王一飞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07738" y="1611376"/>
            <a:ext cx="3576218" cy="365760"/>
          </a:xfrm>
          <a:prstGeom prst="roundRect">
            <a:avLst/>
          </a:prstGeom>
          <a:solidFill>
            <a:srgbClr val="E4EEF7"/>
          </a:solidFill>
          <a:ln w="9525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buNone/>
            </a:pPr>
            <a:r>
              <a:rPr sz="1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🙂 白家月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611376"/>
            <a:ext cx="3576218" cy="365760"/>
          </a:xfrm>
          <a:prstGeom prst="roundRect">
            <a:avLst/>
          </a:prstGeom>
          <a:solidFill>
            <a:srgbClr val="FBF0D9"/>
          </a:solidFill>
          <a:ln w="9525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buNone/>
            </a:pPr>
            <a:r>
              <a:rPr sz="1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🙂 陈天中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86864"/>
            <a:ext cx="3576218" cy="1225296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考试就要开始了，请大家写上姓名，写好后就可以做题了。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Kǎoshì jiù yào kāishǐ le, qǐng dàjiā xiěshàng xìngmíng, xiěhǎo hòu jiù kěyǐ zuò tí 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7738" y="2086864"/>
            <a:ext cx="3576218" cy="676656"/>
          </a:xfrm>
          <a:prstGeom prst="roundRect">
            <a:avLst/>
          </a:prstGeom>
          <a:solidFill>
            <a:srgbClr val="E4EE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2.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老师，我做完了。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Lǎoshī, wǒ zuòwán 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6836" y="2086864"/>
            <a:ext cx="3576218" cy="676656"/>
          </a:xfrm>
          <a:prstGeom prst="roundRect">
            <a:avLst/>
          </a:prstGeom>
          <a:solidFill>
            <a:srgbClr val="FBF0D9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3.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老师，我也做完了。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Lǎoshī, wǒ yě zuòwán 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385312"/>
            <a:ext cx="3576218" cy="950976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4.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……对了，你们考完试想做什么？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...Duìle, nǐmen kǎowán shì xiǎng zuò shénme?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07738" y="2836672"/>
            <a:ext cx="3576218" cy="1225296"/>
          </a:xfrm>
          <a:prstGeom prst="roundRect">
            <a:avLst/>
          </a:prstGeom>
          <a:solidFill>
            <a:srgbClr val="E4EE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5.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我很想去中国，虽然去过一次，但是很想再去一次。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hěn xiǎng qù Zhōngguó, suīrán qùguo yí cì, dànshì hěn xiǎng zài qù yí cì.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409440"/>
            <a:ext cx="3576218" cy="1225296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6.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不错，到中国后你就可以经常说中文了。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Búcuò, dào Zhōngguó hòu nǐ jiù kěyǐ jīngcháng shuō Zhōngwén le.</a:t>
            </a:r>
          </a:p>
        </p:txBody>
      </p:sp>
      <p:pic>
        <p:nvPicPr>
          <p:cNvPr id="15" name="slide15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6" name="TextBox 15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白家月 vừa thi xong đã nói tới kế hoạch đi Trung Quốc lần nữa — mở đầu mạch chuyện cả buổi.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7596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课文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1081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咖啡店 — 李文 và 白家月 bàn kế hoạch đi Bắc Kinh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50288"/>
            <a:ext cx="4068445" cy="36721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白家月: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考完试了，我现在可以出国旅游了。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Kǎowán shì le, wǒ xiànzài kěyǐ chūguó lǚyóu le.</a:t>
            </a:r>
          </a:p>
        </p:txBody>
      </p:sp>
      <p:sp>
        <p:nvSpPr>
          <p:cNvPr id="7" name="Oval 6"/>
          <p:cNvSpPr/>
          <p:nvPr/>
        </p:nvSpPr>
        <p:spPr>
          <a:xfrm>
            <a:off x="453018" y="1986540"/>
            <a:ext cx="227670" cy="227670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05695" y="2470910"/>
            <a:ext cx="1737360" cy="367210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李文: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你要去哪儿？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yào qù nǎr?</a:t>
            </a:r>
          </a:p>
        </p:txBody>
      </p:sp>
      <p:sp>
        <p:nvSpPr>
          <p:cNvPr id="9" name="Oval 8"/>
          <p:cNvSpPr/>
          <p:nvPr/>
        </p:nvSpPr>
        <p:spPr>
          <a:xfrm>
            <a:off x="11511006" y="2407162"/>
            <a:ext cx="227670" cy="227670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李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91532"/>
            <a:ext cx="2608580" cy="36721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白家月: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我要再去一次北京。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yào zài qù yí cì Běijīng.</a:t>
            </a:r>
          </a:p>
        </p:txBody>
      </p:sp>
      <p:sp>
        <p:nvSpPr>
          <p:cNvPr id="11" name="Oval 10"/>
          <p:cNvSpPr/>
          <p:nvPr/>
        </p:nvSpPr>
        <p:spPr>
          <a:xfrm>
            <a:off x="453018" y="2827784"/>
            <a:ext cx="227670" cy="227670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88145" y="3312154"/>
            <a:ext cx="2454910" cy="367210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李文: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为什么还去北京？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Wèi shénme hái qù Běijīng?</a:t>
            </a:r>
          </a:p>
        </p:txBody>
      </p:sp>
      <p:sp>
        <p:nvSpPr>
          <p:cNvPr id="13" name="Oval 12"/>
          <p:cNvSpPr/>
          <p:nvPr/>
        </p:nvSpPr>
        <p:spPr>
          <a:xfrm>
            <a:off x="11511006" y="3248406"/>
            <a:ext cx="227670" cy="227670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李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32776"/>
            <a:ext cx="6949440" cy="500741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白家月: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因为我想再吃一次烤鸭，再喝一次奶茶，再去北京大学看一次电影……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Yīnwèi wǒ xiǎng zài chī yí cì kǎoyā, zài hē yí cì nǎichá, zài qù Běijīng Dàxué kàn yí cì diànyǐng...</a:t>
            </a:r>
          </a:p>
        </p:txBody>
      </p:sp>
      <p:sp>
        <p:nvSpPr>
          <p:cNvPr id="15" name="Oval 14"/>
          <p:cNvSpPr/>
          <p:nvPr/>
        </p:nvSpPr>
        <p:spPr>
          <a:xfrm>
            <a:off x="418247" y="3645847"/>
            <a:ext cx="310459" cy="310459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73465" y="4286929"/>
            <a:ext cx="3069590" cy="367210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李文: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你想做的事情很多啊！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xiǎng zuò de shìqing hěn duō a!</a:t>
            </a:r>
          </a:p>
        </p:txBody>
      </p:sp>
      <p:sp>
        <p:nvSpPr>
          <p:cNvPr id="17" name="Oval 16"/>
          <p:cNvSpPr/>
          <p:nvPr/>
        </p:nvSpPr>
        <p:spPr>
          <a:xfrm>
            <a:off x="11511006" y="4223181"/>
            <a:ext cx="227670" cy="227670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李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707551"/>
            <a:ext cx="5835650" cy="36721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白家月: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是啊，你看，我还在网上买好颐和园的门票了呢。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Shì a, nǐ kàn, wǒ hái zài wǎngshàng mǎihǎo Yíhé Yuán de ménpiào le ne.</a:t>
            </a:r>
          </a:p>
        </p:txBody>
      </p:sp>
      <p:sp>
        <p:nvSpPr>
          <p:cNvPr id="19" name="Oval 18"/>
          <p:cNvSpPr/>
          <p:nvPr/>
        </p:nvSpPr>
        <p:spPr>
          <a:xfrm>
            <a:off x="453018" y="4643803"/>
            <a:ext cx="227670" cy="227670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白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93615" y="5128173"/>
            <a:ext cx="6949440" cy="500741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李文: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我的高中同学就在颐和园上班，可以让他给你好好介绍介绍。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de gāozhōng tóngxué jiù zài Yíhé Yuán shàngbān, kěyǐ ràng tā gěi nǐ hǎohǎo jièshào jièshào.</a:t>
            </a:r>
          </a:p>
        </p:txBody>
      </p:sp>
      <p:sp>
        <p:nvSpPr>
          <p:cNvPr id="21" name="Oval 20"/>
          <p:cNvSpPr/>
          <p:nvPr/>
        </p:nvSpPr>
        <p:spPr>
          <a:xfrm>
            <a:off x="11462988" y="5041244"/>
            <a:ext cx="310459" cy="310459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李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682326"/>
            <a:ext cx="4529455" cy="36721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白家月: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太好了！出门旅游，多个朋友多条路。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Tài hǎo le! Chūmén lǚyóu, duō ge péngyou duō tiáo lù.</a:t>
            </a:r>
          </a:p>
        </p:txBody>
      </p:sp>
      <p:sp>
        <p:nvSpPr>
          <p:cNvPr id="23" name="Oval 22"/>
          <p:cNvSpPr/>
          <p:nvPr/>
        </p:nvSpPr>
        <p:spPr>
          <a:xfrm>
            <a:off x="453018" y="5618578"/>
            <a:ext cx="227670" cy="227670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白</a:t>
            </a:r>
          </a:p>
        </p:txBody>
      </p:sp>
      <p:pic>
        <p:nvPicPr>
          <p:cNvPr id="24" name="slide16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25" name="TextBox 2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小语的例子："多个朋友多条路" là tục ngữ, giữ nguyên văn sách.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4"/>
                </p:tgtEl>
              </p:cMediaNode>
            </p:video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7596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课文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1081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咖啡店 — 白家月 hỏi 李文 chuyện về nước lần trước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50288"/>
            <a:ext cx="3530600" cy="486035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白家月: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李文，你有一年没回国了吧？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Lǐ Wén, nǐ yǒu yì nián méi huíguó le ba?</a:t>
            </a:r>
          </a:p>
        </p:txBody>
      </p:sp>
      <p:sp>
        <p:nvSpPr>
          <p:cNvPr id="7" name="Oval 6"/>
          <p:cNvSpPr/>
          <p:nvPr/>
        </p:nvSpPr>
        <p:spPr>
          <a:xfrm>
            <a:off x="422076" y="1965912"/>
            <a:ext cx="301341" cy="301341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44105" y="2607019"/>
            <a:ext cx="4298950" cy="486035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李文: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不到一年。我六月的时候回去了一次。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Bú dào yì nián. Wǒ Liùyuè de shíhou huíqùle yí cì.</a:t>
            </a:r>
          </a:p>
        </p:txBody>
      </p:sp>
      <p:sp>
        <p:nvSpPr>
          <p:cNvPr id="9" name="Oval 8"/>
          <p:cNvSpPr/>
          <p:nvPr/>
        </p:nvSpPr>
        <p:spPr>
          <a:xfrm>
            <a:off x="11468277" y="2522643"/>
            <a:ext cx="301341" cy="301341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李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163750"/>
            <a:ext cx="4529455" cy="486035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白家月: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我怎么忘了？还是我送你去的机场呢。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zěnme wàng le? Háishì wǒ sòng nǐ qù de jīchǎng ne.</a:t>
            </a:r>
          </a:p>
        </p:txBody>
      </p:sp>
      <p:sp>
        <p:nvSpPr>
          <p:cNvPr id="11" name="Oval 10"/>
          <p:cNvSpPr/>
          <p:nvPr/>
        </p:nvSpPr>
        <p:spPr>
          <a:xfrm>
            <a:off x="422076" y="3079374"/>
            <a:ext cx="301341" cy="301341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905695" y="3720481"/>
            <a:ext cx="1737360" cy="486035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李文: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是啊。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Shì a.</a:t>
            </a:r>
          </a:p>
        </p:txBody>
      </p:sp>
      <p:sp>
        <p:nvSpPr>
          <p:cNvPr id="13" name="Oval 12"/>
          <p:cNvSpPr/>
          <p:nvPr/>
        </p:nvSpPr>
        <p:spPr>
          <a:xfrm>
            <a:off x="11468277" y="3636105"/>
            <a:ext cx="301341" cy="301341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李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277212"/>
            <a:ext cx="3376930" cy="486035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白家月: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我记得你那次的机票很便宜。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jìde nǐ nà cì de jīpiào hěn piányi.</a:t>
            </a:r>
          </a:p>
        </p:txBody>
      </p:sp>
      <p:sp>
        <p:nvSpPr>
          <p:cNvPr id="15" name="Oval 14"/>
          <p:cNvSpPr/>
          <p:nvPr/>
        </p:nvSpPr>
        <p:spPr>
          <a:xfrm>
            <a:off x="422076" y="4192836"/>
            <a:ext cx="301341" cy="301341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45250" y="4833943"/>
            <a:ext cx="5297805" cy="486035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李文: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没错，可能因为那个时候去北京的人不多吧。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Méi cuò, kěnéng yīnwèi nàge shíhou qù Běijīng de rén bù duō ba.</a:t>
            </a:r>
          </a:p>
        </p:txBody>
      </p:sp>
      <p:sp>
        <p:nvSpPr>
          <p:cNvPr id="17" name="Oval 16"/>
          <p:cNvSpPr/>
          <p:nvPr/>
        </p:nvSpPr>
        <p:spPr>
          <a:xfrm>
            <a:off x="11468277" y="4749567"/>
            <a:ext cx="301341" cy="301341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李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390674"/>
            <a:ext cx="6949440" cy="662775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白家月: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这次的机票虽然有点儿贵，但想到就要飞北京了，我还是很高兴的。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Zhè cì de jīpiào suīrán yǒudiǎnr guì, dàn xiǎngdào jiù yào fēi Běijīng le, wǒ hái shì hěn gāoxìng de.</a:t>
            </a:r>
          </a:p>
        </p:txBody>
      </p:sp>
      <p:sp>
        <p:nvSpPr>
          <p:cNvPr id="19" name="Oval 18"/>
          <p:cNvSpPr/>
          <p:nvPr/>
        </p:nvSpPr>
        <p:spPr>
          <a:xfrm>
            <a:off x="376053" y="5275616"/>
            <a:ext cx="410920" cy="410920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白</a:t>
            </a:r>
          </a:p>
        </p:txBody>
      </p:sp>
      <p:pic>
        <p:nvPicPr>
          <p:cNvPr id="20" name="slide17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21" name="TextBox 20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"有一年没回国了" là câu mẫu chuẩn của 有字句(2), xuất hiện đúng ngay câu mở đầu 课文.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0"/>
                </p:tgtEl>
              </p:cMediaNode>
            </p:video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课文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李文的日记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①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我六月的时候回过一次北京，现在有半年多没回去了，我有点儿想家。</a:t>
            </a:r>
          </a:p>
          <a:p>
            <a:pPr>
              <a:spcBef>
                <a:spcPts val="1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Liùyuè de shíhou huíguo yí cì Běijīng, xiànzài yǒu bàn nián duō méi huíqù le, wǒ yǒudiǎnr xiǎng jiā.</a:t>
            </a:r>
          </a:p>
          <a:p>
            <a:pPr>
              <a:spcBef>
                <a:spcPts val="1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Tháng 6 tôi có về Bắc Kinh một lần, giờ đã hơn nửa năm chưa về, tôi hơi nhớ nhà.</a:t>
            </a:r>
          </a:p>
          <a:p>
            <a:pPr>
              <a:spcBef>
                <a:spcPts val="1400"/>
              </a:spcBef>
              <a:buNone/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②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就要过年了，我要回家过年。家月这次也要去北京，我们都是星期五的飞机。</a:t>
            </a:r>
          </a:p>
          <a:p>
            <a:pPr>
              <a:spcBef>
                <a:spcPts val="1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Jiù yào guònián le, wǒ yào huí jiā guònián. Jiāyuè zhè cì yě yào qù Běijīng, wǒmen dōu shì Xīngqīwǔ de fēijī.</a:t>
            </a:r>
          </a:p>
          <a:p>
            <a:pPr>
              <a:spcBef>
                <a:spcPts val="1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Sắp Tết rồi, tôi sẽ về nhà ăn Tết. Lần này Gia Nguyệt cũng đi Bắc Kinh, chúng tôi đều bay chuyến thứ Sáu.</a:t>
            </a:r>
          </a:p>
          <a:p>
            <a:pPr>
              <a:spcBef>
                <a:spcPts val="1400"/>
              </a:spcBef>
              <a:buNone/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③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家月说我们好像小鸟，一起飞到北京，再一起飞回这里。</a:t>
            </a:r>
          </a:p>
          <a:p>
            <a:pPr>
              <a:spcBef>
                <a:spcPts val="1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Jiāyuè shuō wǒmen hǎoxiàng xiǎoniǎo, yìqǐ fēidào Běijīng, zài yìqǐ fēihuí zhèlǐ.</a:t>
            </a:r>
          </a:p>
          <a:p>
            <a:pPr>
              <a:spcBef>
                <a:spcPts val="1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Gia Nguyệt bảo chúng tôi giống như chim nhỏ, cùng bay tới Bắc Kinh, rồi lại cùng bay về đây.</a:t>
            </a:r>
          </a:p>
        </p:txBody>
      </p:sp>
      <p:pic>
        <p:nvPicPr>
          <p:cNvPr id="7" name="slide18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8" name="TextBox 7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"有半年多没回去了" — 有字句(2) xuất hiện lần 2, củng cố mẫu câu.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Ngữ pháp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动量补语(1)(2) — "数词+次" sau động từ, diễn đạt số lần</a:t>
            </a:r>
          </a:p>
          <a:p>
            <a:pPr>
              <a:spcBef>
                <a:spcPts val="1440"/>
              </a:spcBef>
              <a:buNone/>
            </a:pP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我想去中国，虽然去过一</a:t>
            </a: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次</a:t>
            </a: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，但是很想再去一</a:t>
            </a: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次</a:t>
            </a: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216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xiǎng qù Zhōngguó, suīrán qùguo yí cì, dànshì hěn xiǎng zài qù yí cì.</a:t>
            </a:r>
          </a:p>
          <a:p>
            <a:pPr>
              <a:spcBef>
                <a:spcPts val="216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Tôi muốn đi Trung Quốc, tuy đã đi một lần nhưng rất muốn đi thêm một lần nữa.</a:t>
            </a:r>
          </a:p>
          <a:p>
            <a:pPr>
              <a:spcBef>
                <a:spcPts val="1440"/>
              </a:spcBef>
              <a:buNone/>
            </a:pP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安妮去过一</a:t>
            </a: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次</a:t>
            </a: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北京。</a:t>
            </a:r>
          </a:p>
          <a:p>
            <a:pPr>
              <a:spcBef>
                <a:spcPts val="216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Ānnī qùguo yí cì Běijīng.</a:t>
            </a:r>
          </a:p>
          <a:p>
            <a:pPr>
              <a:spcBef>
                <a:spcPts val="216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Anne đã đi Bắc Kinh một lần. (tân ngữ là địa danh → đặt trước/sau bổ ngữ đều được)</a:t>
            </a:r>
          </a:p>
          <a:p>
            <a:pPr>
              <a:spcBef>
                <a:spcPts val="1440"/>
              </a:spcBef>
              <a:buNone/>
            </a:pP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因为我想再吃一</a:t>
            </a: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次</a:t>
            </a: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烤鸭，再喝一</a:t>
            </a: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次</a:t>
            </a: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奶茶。</a:t>
            </a:r>
          </a:p>
          <a:p>
            <a:pPr>
              <a:spcBef>
                <a:spcPts val="216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Yīnwèi wǒ xiǎng zài chī yí cì kǎoyā, zài hē yí cì nǎichá.</a:t>
            </a:r>
          </a:p>
          <a:p>
            <a:pPr>
              <a:spcBef>
                <a:spcPts val="216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Vì tôi muốn ăn vịt quay thêm một lần, uống trà sữa thêm một lần. (tân ngữ là đồ vật → đặt sau bổ ngữ)</a:t>
            </a:r>
          </a:p>
          <a:p>
            <a:pPr>
              <a:spcBef>
                <a:spcPts val="1440"/>
              </a:spcBef>
              <a:buNone/>
            </a:pP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我想找他一</a:t>
            </a: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次</a:t>
            </a: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216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xiǎng zhǎo tā yí cì.</a:t>
            </a:r>
          </a:p>
          <a:p>
            <a:pPr>
              <a:spcBef>
                <a:spcPts val="216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Tôi muốn tìm anh ấy một lần. (tân ngữ là đại từ → đặt trước bổ ngữ)</a:t>
            </a:r>
          </a:p>
          <a:p>
            <a:pPr>
              <a:spcBef>
                <a:spcPts val="1080"/>
              </a:spcBef>
              <a:buNone/>
            </a:pPr>
            <a:r>
              <a:rPr sz="11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Cấu trúc: động từ + 数词 + 次 (+ tân ngữ). Tân ngữ là tên người/địa danh: đặt trước hoặc sau bổ ngữ đều được. Tân ngữ là đồ vật: đặt SAU bổ ngữ. Tân ngữ là đại từ: đặt TRƯỚC bổ ngữ.</a:t>
            </a:r>
          </a:p>
        </p:txBody>
      </p:sp>
      <p:pic>
        <p:nvPicPr>
          <p:cNvPr id="7" name="slide19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Ngữ pháp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有字句(2) — "有" + số lượng, diễn đạt đạt tới một mức độ nhất định</a:t>
            </a:r>
          </a:p>
          <a:p>
            <a:pPr>
              <a:spcBef>
                <a:spcPts val="1493"/>
              </a:spcBef>
              <a:buNone/>
            </a:pP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</a:t>
            </a:r>
            <a:r>
              <a:rPr sz="19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有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一年没回国了吧？</a:t>
            </a:r>
          </a:p>
          <a:p>
            <a:pPr>
              <a:spcBef>
                <a:spcPts val="224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yǒu yì nián méi huíguó le ba?</a:t>
            </a:r>
          </a:p>
          <a:p>
            <a:pPr>
              <a:spcBef>
                <a:spcPts val="224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Cậu cả năm rồi chưa về nước phải không?</a:t>
            </a:r>
          </a:p>
          <a:p>
            <a:pPr>
              <a:spcBef>
                <a:spcPts val="1493"/>
              </a:spcBef>
              <a:buNone/>
            </a:pP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你女儿今年</a:t>
            </a:r>
            <a:r>
              <a:rPr sz="19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有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10岁了吗？</a:t>
            </a:r>
          </a:p>
          <a:p>
            <a:pPr>
              <a:spcBef>
                <a:spcPts val="224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nǚ'ér jīnnián yǒu shí suì le ma?</a:t>
            </a:r>
          </a:p>
          <a:p>
            <a:pPr>
              <a:spcBef>
                <a:spcPts val="224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Con gái cậu năm nay đã 10 tuổi chưa?</a:t>
            </a:r>
          </a:p>
          <a:p>
            <a:pPr>
              <a:spcBef>
                <a:spcPts val="1493"/>
              </a:spcBef>
              <a:buNone/>
            </a:pP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</a:t>
            </a:r>
            <a:r>
              <a:rPr sz="19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有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一个月没给家里打电话了。</a:t>
            </a:r>
          </a:p>
          <a:p>
            <a:pPr>
              <a:spcBef>
                <a:spcPts val="224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yǒu yí ge yuè méi gěi jiā lǐ dǎ diànhuà le.</a:t>
            </a:r>
          </a:p>
          <a:p>
            <a:pPr>
              <a:spcBef>
                <a:spcPts val="224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Tôi cả tháng rồi chưa gọi điện về nhà.</a:t>
            </a:r>
          </a:p>
          <a:p>
            <a:pPr>
              <a:spcBef>
                <a:spcPts val="1493"/>
              </a:spcBef>
              <a:buNone/>
            </a:pP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现在</a:t>
            </a:r>
            <a:r>
              <a:rPr sz="19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有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半年多没回去了。</a:t>
            </a:r>
          </a:p>
          <a:p>
            <a:pPr>
              <a:spcBef>
                <a:spcPts val="224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Xiànzài yǒu bàn nián duō méi huíqù le.</a:t>
            </a:r>
          </a:p>
          <a:p>
            <a:pPr>
              <a:spcBef>
                <a:spcPts val="224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Giờ đã hơn nửa năm chưa về.</a:t>
            </a:r>
          </a:p>
          <a:p>
            <a:pPr>
              <a:spcBef>
                <a:spcPts val="1120"/>
              </a:spcBef>
              <a:buNone/>
            </a:pPr>
            <a:r>
              <a:rPr sz="11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Cấu trúc: 有 + số lượng (thời gian/tuổi/...) + (没 + động từ + 了). Dùng để nhấn mạnh một khoảng thời gian/số lượng đã ĐẠT TỚI mức nào đó — khác "是" chỉ đơn thuần khẳng định.</a:t>
            </a:r>
          </a:p>
        </p:txBody>
      </p:sp>
      <p:pic>
        <p:nvPicPr>
          <p:cNvPr id="7" name="slide20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小知识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中国240小时过境免签政策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430"/>
              </a:spcBef>
              <a:buNone/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Nhiều nước hiện được miễn 签证 (visa) nếu chỉ 过境 (quá cảnh) Trung Quốc dưới 240 giờ (10 ngày) trước khi đi tiếp nước thứ 3</a:t>
            </a:r>
          </a:p>
          <a:p>
            <a:pPr>
              <a:spcBef>
                <a:spcPts val="2430"/>
              </a:spcBef>
              <a:buNone/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Muốn dùng chính sách 免签 này: hộ chiếu (护照) còn hạn + vé máy bay (机票) đi tiếp nước khác trong 240 giờ</a:t>
            </a:r>
          </a:p>
          <a:p>
            <a:pPr>
              <a:spcBef>
                <a:spcPts val="2430"/>
              </a:spcBef>
              <a:buNone/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Vẫn phải làm thủ tục 入境 bình thường ở 机场 khi tới, chỉ là không cần xin 签证 trước</a:t>
            </a:r>
          </a:p>
          <a:p>
            <a:pPr>
              <a:spcBef>
                <a:spcPts val="2430"/>
              </a:spcBef>
              <a:buNone/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Ứng dụng thực tế: nếu quá cảnh Bắc Kinh/Thượng Hải/Quảng Châu... trên đường đi nước khác, có thể tranh thủ ra khỏi sân bay chơi vài ngày mà không cần visa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