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拼音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 — Nền tảng ngữ âm: thanh mẫu · vận mẫu · thanh điệu · biến điệu · 儿化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Sơ cấp · Buổi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Nhận diện đủ 21 声母 (phụ âm đầu) + 6 nguyên âm đơn — phân biệt được các nhóm dễ lẫn với người Việt: zh/ch/sh/r, j/q/x, z/c/s.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đúng 4 thanh điệu + khinh thanh — không đọc phẳng thanh 1, không lẫn thanh 2 với thanh 3.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Biết quy tắc biến điệu cơ bản: 3+3 (你好), 一 và 不 đổi thanh theo âm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được câu chào hỏi đầu tiên đúng ngữ điệu: 你好, 谢谢.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 (1/2) — Nhóm quen thuộc với người Việt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Nhóm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Môi (b p m f)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"p"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爸爸 bàba — bố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Môi (b p m f)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"ph" Việt — bật hơi mạnh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苹果 píngguǒ — táo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Môi (b p m f)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"m"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妈妈 māma — 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Môi (b p m f)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"ph/f"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飞机 fēijī — máy bay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(d t n l)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 dà — to, lớn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(d t n l)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"th" Việt — bật hơi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 tā — anh ấy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(d t n l)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 nǐ — bạn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(d t n l)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"l"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老师 lǎoshī — giáo viên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Gốc lưỡi (g k h)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"c/k"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哥哥 gēge — anh trai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Gốc lưỡi (g k h)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"kh" Việt — bật hơi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 kàn — xem, nhìn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Gốc lưỡi (g k h)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"h" Việt, hơi cọ ở họng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好 hǎo — tốt, khỏe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 (2/2) — Nhóm KHÓ nhất với người Việt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30"/>
          <a:ext cx="11094415" cy="50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Nhóm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Mặt lưỡi phẳng (j q x)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"ch" nhẹ, lưỡi PHẲNG sát răng dưới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叫 jiào — gọi là, tên là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Mặt lưỡi phẳng (j q x)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"ch" bật hơi mạnh, lưỡi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请 qǐng — mời, xin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Mặt lưỡi phẳng (j q x)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"x/s" nhẹ, lưỡi phẳng sát răng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学习 xuéxí —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(zh ch sh r) — khó nhất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"tr" Việt, KHÔNG bật hơi, đầu lưỡi CONG chạm ngạc cứng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中国 Zhōngguó — Trung Quốc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(zh ch sh r) — khó nhất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"tr" bật hơi mạnh, lưỡi cong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 chī — ăn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(zh ch sh r) — khó nhất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"s" Việt nhưng lưỡi cong lên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是 shì — là, thì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(zh ch sh r) — khó nhất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âm tương đương — lưỡi cong, rung nhẹ, gần "r" Mỹ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人 rén — người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phẳng (z c s)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"d/ch" nhẹ, đầu lưỡi chạm RĂNG trên, KHÔNG cong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字 zì — chữ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phẳng (z c s)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"x/ts" bật hơi mạnh, lưỡi phẳng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菜 cài — món ăn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Đầu lưỡi phẳng (z c s)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"x/s" Việt, lưỡi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 sān — số 3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 (1/2) — Nguyên âm đơn &amp; nguyên âm kép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30"/>
          <a:ext cx="11094415" cy="50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韵母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"a" Việt, mở miệng to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 mā — 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giữa "o" và "ô"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 wǒ — tôi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âm tương đương — giữa "ơ" và "ưa", miệng dẹt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喝 hē — uống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"i" Việt (sau phụ âm thường)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 nǐ — bạn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"u"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 wǔ — số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ü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trong tiếng Việt — đọc "i" nhưng CHÚM MÔI tròn như "u"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女 nǚ — con gái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"ai"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爱 ài — yêu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"ây"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shéi — ai (đại từ hỏi)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"ao"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好 hǎo — tốt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"âu/ô"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都 dōu — đều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 (2/2) — Vận mẫu mũi (khó vì tiếng Việt không phân biệt rõ)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韵母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 sān — số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"ân" Việt, nhẹ và ngắn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很 hěn — rất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"ang" Việt nhưng MŨI hơn, miệng mở to hơn 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忙 máng — bận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"âng"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冷 lěng — lạnh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"in"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您 nín — ngài (kính trọng)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"inh"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姓 xìng — họ, tên họ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-i (sau zh/ch/sh/z/c/s)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đọc "i" thường — chỉ giữ vị trí lưỡi của phụ âm trước, không phát âm rõ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知 zhī — biết · 是 shì — là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— 4 thanh điệu + khinh thanh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Tiếng Trung có 4 thanh chính + 1 khinh thanh — thanh khác nhau thì NGHĨA khác nhau hoàn toàn dù cùng phụ âm + vần.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 kinh điển: mā (妈, mẹ) – má (麻, cây gai) – mǎ (马, con ngựa) – mà (骂, mắng) – ma (吗, trợ từ hỏi).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Người Việt hay mắc: đọc PHẲNG thanh 1 (phải giữ cao đều, không tụt giọng); LẪN thanh 2 với thanh 3 (thanh 2 đi lên dứt khoát, thanh 3 xuống đáy rồi mới lên nhẹ, kéo dài hơn).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Xem 5 GIF đường cong ở các slide sau để thấy rõ hình dạng từng thanh.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1 — Ngang cao (55)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Giữ độ cao ổn định từ đầu đến cuối — không lên, không xuống.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dụ: mā (妈, mẹ), tā (他, anh ấy/cô ấy), gāo (高, cao)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thường gặp: giọng bị "rơi" ở cuối âm tiết — phải giữ CAO đến hết.</a:t>
            </a:r>
          </a:p>
        </p:txBody>
      </p:sp>
      <p:pic>
        <p:nvPicPr>
          <p:cNvPr id="7" name="Picture 6" descr="tone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06611"/>
            <a:ext cx="4206240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2 — Đi lên (35)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đầu ở mức trung, đi lên dứt khoát — như đang hỏi lại "hả?".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dụ: shéi (谁, ai), rén (人, người), lái (来, đến)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thường gặp: lên không đủ đà, nghe giống thanh 3 — phải bật mạnh lên ở cuối.</a:t>
            </a:r>
          </a:p>
        </p:txBody>
      </p:sp>
      <p:pic>
        <p:nvPicPr>
          <p:cNvPr id="7" name="Picture 6" descr="tone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06611"/>
            <a:ext cx="4206240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3 — Xuống rồi lên (214)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đầu mức thấp, hạ xuống đáy rồi bật lên nhẹ ở cuối — khi đọc một mình, kéo dài hơn 3 thanh kia.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dụ: nǐ (你, bạn), hǎo (好, tốt), wǒ (我, tôi)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thường gặp: đọc thành thanh 2 — bỏ quên đoạn xuống đáy ở đầu.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2 thanh 3 đứng liền nhau → thanh 3 đầu đổi thành thanh 2 (xem slide 变调).</a:t>
            </a:r>
          </a:p>
        </p:txBody>
      </p:sp>
      <p:pic>
        <p:nvPicPr>
          <p:cNvPr id="7" name="Picture 6" descr="tone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06611"/>
            <a:ext cx="4206240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4 — Đi xuống (51)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mức cao nhất RƠI THẲNG xuống đáy — dứt khoát như ra lệnh.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dụ: bú (不, không — đã biến điệu), zài (再, lại/nữa), shì (是, là/thì)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thường gặp: rơi không đủ nhanh/mạnh — nghe lưng chừng giữa thanh 4 và thanh 1.</a:t>
            </a:r>
          </a:p>
        </p:txBody>
      </p:sp>
      <p:pic>
        <p:nvPicPr>
          <p:cNvPr id="7" name="Picture 6" descr="tone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06611"/>
            <a:ext cx="4206240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 5 — Khinh thanh (nhẹ)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có đường cong riêng — đọc NHẸ và NGẮN, cao độ phụ thuộc âm tiết đứng trước.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Ví dụ: māma (妈妈, mẹ — chữ 妈 thứ 2 nhẹ), xièxie (谢谢, cảm ơn — chữ 谢 thứ 2 nhẹ), ma (吗, trợ từ hỏi cuối câu)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thường gặp: cố thêm dấu thanh cho âm tiết nhẹ — chỉ cần đọc lướt nhanh, không nhấn.</a:t>
            </a:r>
          </a:p>
        </p:txBody>
      </p:sp>
      <p:pic>
        <p:nvPicPr>
          <p:cNvPr id="7" name="Picture 6" descr="tone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06611"/>
            <a:ext cx="4206240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变调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变调 — Biến điệu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Một số thanh điệu THAY ĐỔI khi đọc liền với thanh khác — đọc đúng biến điệu thì nghe mới tự nhiên.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hǎo → đọc: ní hǎo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3+3 liền nhau: thanh 3 đầu tiên đổi thành thanh 2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yí gè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一 (yī) đứng trước thanh 4 → đổi thành thanh 2 (yí)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一起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yì qǐ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一 đứng trước thanh 1/2/3 → đổi thành thanh 4 (yì)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不是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bú shì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不 (bù) đứng trước thanh 4 → đổi thành thanh 2 (bú)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bú kèqi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客气 (kèqi) = khách sáo — 不 đổi thanh vì 客 là thanh 4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你好 viết vẫn giữ dấu thanh 3+3, nhưng ĐỌC ní hǎo. 一 và 不 là 2 từ duy nhất tự đổi thanh theo âm đứng sau.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thuộc câu quen 你好 luôn đọc "ní hǎo" — nghe quen tai trước, hiểu quy tắc sau.</a:t>
            </a:r>
          </a:p>
        </p:txBody>
      </p:sp>
      <p:pic>
        <p:nvPicPr>
          <p:cNvPr id="7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轻声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轻声 — Đọc nhẹ, không nhấn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Âm tiết thứ 2 (thường là hậu tố lặp lại/trợ từ) đọc NHẸ và NGẮN, mất dấu thanh riêng.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māma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— chữ 妈 thứ 2 đọc nhẹ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xièxie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cảm ơn — chữ 谢 thứ 2 đọc nhẹ, ngắn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朋友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péngyou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bè — 友 đọc nhẹ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Nhận biết trên chữ viết: âm tiết khinh thanh KHÔNG ghi dấu thanh trong pinyin (xièxie, không phải xièxiè).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 không phải 2 tiếng "xiè xiè" rõ ràng bằng nhau — tiếng sau lướt nhẹ và ngắn hơn hẳn.</a:t>
            </a:r>
          </a:p>
        </p:txBody>
      </p:sp>
      <p:pic>
        <p:nvPicPr>
          <p:cNvPr id="7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儿化 — Cuốn lưỡi cuối âm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 (r) gắn vào cuối âm tiết trước, đọc CUỐN LƯỠI LIỀN thành 1 âm — không tách thành 2 tiếng.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zhèr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đây (= 这里)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那儿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nàr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đó (= 那里)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哪儿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nǎr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đâu (= 哪里)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一点儿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yìdiǎnr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chút, một ít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儿化 phổ biến trong khẩu ngữ giọng Bắc Kinh; miền Nam Trung Quốc ít dùng hơn — nghe cả 2 kiểu đều được, nói theo kiểu nào cũng đúng.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Đừng đọc "zhè-ơ" thành 2 tiếng tách rời — lưỡi cuốn lên NGAY trong âm tiết 这, nghe liền một hơi "zhèr".</a:t>
            </a:r>
          </a:p>
        </p:txBody>
      </p:sp>
      <p:pic>
        <p:nvPicPr>
          <p:cNvPr id="7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汉字：一 (yī) — số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số 1. Chỉ 1 nét duy nhất — nét ngang.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viết 1 nét từ TRÁI sang PHẢI.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nét ngang trong chữ Hán luôn viết trái → phải, khác thói quen viết số của người Việt.</a:t>
            </a:r>
          </a:p>
        </p:txBody>
      </p:sp>
      <p:pic>
        <p:nvPicPr>
          <p:cNvPr id="7" name="Picture 6" descr="stroke_y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汉字：二 (èr) — số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số 2. Gồm 2 nét ngang.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nét trên (ngắn hơn) viết trước, nét dưới (dài hơn)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quy tắc "trên trước, dưới sau" — áp dụng cho rất nhiều chữ Hán khác.</a:t>
            </a:r>
          </a:p>
        </p:txBody>
      </p:sp>
      <p:pic>
        <p:nvPicPr>
          <p:cNvPr id="7" name="Picture 6" descr="stroke_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汉字：三 (sān) — số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số 3. Gồm 3 nét ngang.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từ trên xuống dưới, mỗi nét viết trái → phải.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quy tắc chung của chữ Hán — TRÊN trước DƯỚI sau, TRÁI trước PHẢI sau.</a:t>
            </a:r>
          </a:p>
        </p:txBody>
      </p:sp>
      <p:pic>
        <p:nvPicPr>
          <p:cNvPr id="7" name="Picture 6" descr="stroke_s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汉字：人 (rén) — người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người. Gồm 2 nét (nét phẩy + nét mác).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nét phẩy (bên trái, đi xuống) viết trước, nét mác (bên phải, đi xuống)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hình dáng như 2 chân người đang đứng — nét trái trước, nét phải sau.</a:t>
            </a:r>
          </a:p>
        </p:txBody>
      </p:sp>
      <p:pic>
        <p:nvPicPr>
          <p:cNvPr id="7" name="Picture 6" descr="stroke_r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汉字：口 (kǒu) — miệng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miệng. Cũng là bộ thủ hay gặp (吗, 叫, 谢…).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nét dọc bên trái → nét ngang-dọc gập góc (trên + phải) → nét ngang đóng đáy.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viết như khung cửa — trái, rồi trên-phải, cuối cùng đóng đáy.</a:t>
            </a:r>
          </a:p>
        </p:txBody>
      </p:sp>
      <p:pic>
        <p:nvPicPr>
          <p:cNvPr id="7" name="Picture 6" descr="stroke_ko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汉字：你 (nǐ) — bạn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bạn / anh / chị. Ghép bộ 亻(nhân đứng) + 尔.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bộ 亻 (2 nét) viết trước, phần bên phải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mọi chữ có bộ 亻 (người đứng bên trái) đều viết phần người trước — vd 你 / 他 / 们.</a:t>
            </a:r>
          </a:p>
        </p:txBody>
      </p:sp>
      <p:pic>
        <p:nvPicPr>
          <p:cNvPr id="7" name="Picture 6" descr="stroke_n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汉字：好 (hǎo) — tốt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tốt, khỏe. Ghép 女 (nữ) + 子 (tử/con).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女 (3 nét) viết trước, 子 (3 nét)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"女 (mẹ) + 子 (con) = 好 (tốt)" — hình ảnh dễ nhớ để ghép nghĩa với mặt chữ.</a:t>
            </a:r>
          </a:p>
        </p:txBody>
      </p:sp>
      <p:pic>
        <p:nvPicPr>
          <p:cNvPr id="7" name="Picture 6" descr="stroke_ha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âm (1/2) — Cặp âm dễ lẫn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Để ý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Cặp âm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Ghi chú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Bật hơi hay không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 – pā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 KHÔNG bật hơi, p bật hơi mạnh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Bật hơi hay không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dū – tū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 KHÔNG bật hơi, t bật hơi mạnh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Bật hơi hay không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gē – kē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 KHÔNG bật hơi, k bật hơi mạnh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hay không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zhī – zī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 cong lưỡi, z lưỡi phẳng — nghe rất khác dù nhìn giống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hay không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chī – cī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 cong lưỡi bật hơi, c lưỡi phẳng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lưỡi hay không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shī – sī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 cong lưỡi, s lưỡi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j/q/x vs zh/ch/sh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 – zhī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 lưỡi phẳng sát răng, zh lưỡi cong lên ngạc — dễ gộp làm một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Nguyên âm ü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nǚ – nú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ü môi tròn nhọn (đọc "i" nhưng chúm môi), u môi tròn thường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âm (2/2) — Âm tiết &amp; chào hỏi đọc thử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你好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hǎo (đọc: ní hǎo)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chào — biến điệu 3+3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您好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Nín hǎo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chào (kính trọng, trang trọng hơn)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谢谢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Xièxie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Cảm ơn — chữ thứ 2 khinh thanh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不客气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Bú kèqi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gì — 不 biến điệu thành bú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再见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Zàijiàn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Tạm biệt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— 儿化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那儿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Nàr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đó — 儿化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一点儿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Yìdiǎnr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Một chút — 一 biến điệu + 儿化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Đối chiếu: Giáo trình Hán ngữ Quyển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Sách 《汉语教程》(Giáo trình Hán ngữ) Quyển 1 — Bài 1 đến Bài 5: phần nhập môn ngữ âm (pinyin, thanh mẫu, vận mẫu, thanh điệu).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đã có sẵn sách + audio gốc — mở đọc theo, nghe theo audio trong sách để luyện phản xạ nghe thêm ở nhà.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Tập trung nghe kỹ phần luyện thanh điệu và các cặp âm dễ lẫn — đúng những nội dung buổi học hôm nay.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Buổi sau (đại từ · chào hỏi) sẽ đối chiếu tiếp Bài 1, 3, 5 — phần hội thoại 你好 / 谢谢你 / 你叫什么名字.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Lỗi người Việt hay mắc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Sai (thường gặp)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Đúng (nên làm)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Vì sao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zh/ch/sh như tr/ch/s tiếng Việt, không cong lưỡi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đầu lưỡi lên chạm ngạc cứng khi phát zh/ch/sh/r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 không có âm cong lưỡi (retroflex) — không tập sẽ tự động đọc thành nhóm z/c/s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Lẫn thanh 2 và thanh 3 (你好 nghe như phẳng hoặc sai hướng)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Thanh 2 đi lên dứt khoát; thanh 3 hạ xuống đáy rồi mới lên nhẹ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Hai thanh nghe gần giống nhưng hướng đi hoàn toàn khác nhau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thanh 1 bị tụt giọng ở cuối câu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Giữ thanh 1 CAO ĐỀU từ đầu đến cuối, không hạ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 không có thanh nào bắt buộc giữ cao đều suốt âm tiết như vậy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Bỏ qua ü, đọc thành u (nǚ đọc thành nú)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Chúm môi tròn khi đọc i để ra ü — 2 âm nghĩa khác hẳn nhau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ü không tồn tại trong tiếng Việt nên dễ bị thay bằng âm quen thuộc "u"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Tách 儿化 thành 2 âm riêng (zhè + ơ)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liền 1 hơi, lưỡi cuốn NGAY trong âm tiết (zhèr)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 không có hiện tượng ghép âm cuối như vậy nên hay tách ra theo thói quen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rõ dấu cho âm khinh thanh (xiè-xiè rõ cả 2 tiếng bằng nhau)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Âm khinh thanh đọc NHẸ, NGẮN, không mang dấu thanh riêng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 không có khái niệm "mất trọng âm" như khinh thanh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x/j và sh/zh giống hệt nhau, không phân biệt được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x/j: lưỡi PHẲNG sát răng · zh/sh: lưỡi CONG lên ngạc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Cả 2 nhóm đều nghe gần giống "ch/x" tiếng Việt nên dễ gộp làm một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