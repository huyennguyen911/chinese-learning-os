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2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video" Target="../media/media1.mp3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2.mp3"/><Relationship Id="rId4" Type="http://schemas.openxmlformats.org/officeDocument/2006/relationships/video" Target="../media/media2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3.mp3"/><Relationship Id="rId4" Type="http://schemas.openxmlformats.org/officeDocument/2006/relationships/video" Target="../media/media3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4.mp3"/><Relationship Id="rId4" Type="http://schemas.openxmlformats.org/officeDocument/2006/relationships/video" Target="../media/media4.mp3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microsoft.com/office/2007/relationships/media" Target="../media/media5.mp3"/><Relationship Id="rId4" Type="http://schemas.openxmlformats.org/officeDocument/2006/relationships/video" Target="../media/media5.mp3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Relationship Id="rId3" Type="http://schemas.microsoft.com/office/2007/relationships/media" Target="../media/media6.mp3"/><Relationship Id="rId4" Type="http://schemas.openxmlformats.org/officeDocument/2006/relationships/video" Target="../media/media6.mp3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microsoft.com/office/2007/relationships/media" Target="../media/media7.mp3"/><Relationship Id="rId4" Type="http://schemas.openxmlformats.org/officeDocument/2006/relationships/video" Target="../media/media7.mp3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microsoft.com/office/2007/relationships/media" Target="../media/media8.mp3"/><Relationship Id="rId4" Type="http://schemas.openxmlformats.org/officeDocument/2006/relationships/video" Target="../media/media8.mp3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microsoft.com/office/2007/relationships/media" Target="../media/media9.mp3"/><Relationship Id="rId4" Type="http://schemas.openxmlformats.org/officeDocument/2006/relationships/video" Target="../media/media9.mp3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microsoft.com/office/2007/relationships/media" Target="../media/media10.mp3"/><Relationship Id="rId4" Type="http://schemas.openxmlformats.org/officeDocument/2006/relationships/video" Target="../media/media10.mp3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microsoft.com/office/2007/relationships/media" Target="../media/media11.mp3"/><Relationship Id="rId4" Type="http://schemas.openxmlformats.org/officeDocument/2006/relationships/video" Target="../media/media11.mp3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3"/><Relationship Id="rId3" Type="http://schemas.openxmlformats.org/officeDocument/2006/relationships/video" Target="../media/media12.mp3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3"/><Relationship Id="rId3" Type="http://schemas.openxmlformats.org/officeDocument/2006/relationships/video" Target="../media/media13.mp3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3"/><Relationship Id="rId3" Type="http://schemas.openxmlformats.org/officeDocument/2006/relationships/video" Target="../media/media14.mp3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3"/><Relationship Id="rId3" Type="http://schemas.openxmlformats.org/officeDocument/2006/relationships/video" Target="../media/media15.mp3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667512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你好 · 我叫…</a:t>
            </a:r>
          </a:p>
          <a:p>
            <a:pPr algn="l">
              <a:spcBef>
                <a:spcPts val="1000"/>
              </a:spcBef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Xin chào · Tôi tên là…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HSK1 · Buổi 2</a:t>
            </a:r>
          </a:p>
        </p:txBody>
      </p:sp>
      <p:pic>
        <p:nvPicPr>
          <p:cNvPr id="4" name="Picture 3" descr="icon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463040"/>
            <a:ext cx="3931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Mục tiêu hôm 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249"/>
              </a:spcBef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9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Chào hỏi đúng người, đúng hoàn cảnh: phân biệt 你/您 (thân mật/kính trọng), số ít/số nhiều (你/你们).</a:t>
            </a:r>
          </a:p>
          <a:p>
            <a:pPr>
              <a:spcBef>
                <a:spcPts val="1249"/>
              </a:spcBef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9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Hỏi &amp; trả lời tên bằng 你叫什么名字？／我叫…</a:t>
            </a:r>
          </a:p>
          <a:p>
            <a:pPr>
              <a:spcBef>
                <a:spcPts val="1249"/>
              </a:spcBef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9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Dùng được 是 (khẳng định), 吗 (hỏi có/không), 呢 (hỏi lại rút gọn) để giới thiệu bản thân.</a:t>
            </a:r>
          </a:p>
          <a:p>
            <a:pPr>
              <a:spcBef>
                <a:spcPts val="1249"/>
              </a:spcBef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9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Nói được 10 câu giao tiếp chào hỏi/làm quen dùng ngay từ buổi học đầu tiên.</a:t>
            </a:r>
          </a:p>
        </p:txBody>
      </p:sp>
      <p:pic>
        <p:nvPicPr>
          <p:cNvPr id="7" name="Picture 6" descr="icon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Từ vựng ① — Chào hỏi (Bài 1)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481328"/>
          <a:ext cx="9174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285"/>
                <a:gridCol w="3302703"/>
                <a:gridCol w="3486186"/>
              </a:tblGrid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王老师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Wáng lǎoshī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cô/thầy Vương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大家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dàjiā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mọi người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tốt, khỏe, ổn (tính từ)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学生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xuésheng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 sinh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men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hậu tố số nhiều (sau đại từ/danh từ chỉ người)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老师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lǎoshī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giáo viên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nín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ngài, bác (kính ngữ, ngôi 2)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nǐmen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các bạn (số nhiều)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不客气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bú kèqi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同学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tóngxué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zàijiàn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tạm biệt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icon_raise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554480" cy="1554480"/>
          </a:xfrm>
          <a:prstGeom prst="rect">
            <a:avLst/>
          </a:prstGeom>
        </p:spPr>
      </p:pic>
      <p:pic>
        <p:nvPicPr>
          <p:cNvPr id="8" name="slide0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Từ vựng ② — Làm quen (Bài 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481328"/>
          <a:ext cx="9174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285"/>
                <a:gridCol w="3302703"/>
                <a:gridCol w="3486186"/>
              </a:tblGrid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请问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qǐngwèn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hỏi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(số ít)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 là, gọi là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什么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shénme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gì, cái gì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名字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míngzi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没关系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 guānxi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没事儿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méishìr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sao, 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高兴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gāoxìng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vui, mừng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认识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rènshi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quen biết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7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cũng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icon_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554480" cy="1554480"/>
          </a:xfrm>
          <a:prstGeom prst="rect">
            <a:avLst/>
          </a:prstGeom>
        </p:spPr>
      </p:pic>
      <p:pic>
        <p:nvPicPr>
          <p:cNvPr id="8" name="slide0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变调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变调 — Biến điệu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Một số thanh điệu THAY ĐỔI khi đọc liền với thanh khác — đọc đúng biến điệu thì nghe mới tự nhiên.</a:t>
            </a:r>
          </a:p>
          <a:p>
            <a:pPr>
              <a:spcBef>
                <a:spcPts val="1284"/>
              </a:spcBef>
            </a:pP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hǎo → đọc: ní hǎo</a:t>
            </a:r>
          </a:p>
          <a:p>
            <a:pPr>
              <a:spcBef>
                <a:spcPts val="19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3+3 liền nhau: thanh 3 đầu tiên đổi thành thanh 2</a:t>
            </a:r>
          </a:p>
          <a:p>
            <a:pPr>
              <a:spcBef>
                <a:spcPts val="1284"/>
              </a:spcBef>
            </a:pP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一个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yí gè</a:t>
            </a:r>
          </a:p>
          <a:p>
            <a:pPr>
              <a:spcBef>
                <a:spcPts val="19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一 (yī) đứng trước thanh 4 → đổi thành thanh 2 (yí)</a:t>
            </a:r>
          </a:p>
          <a:p>
            <a:pPr>
              <a:spcBef>
                <a:spcPts val="1284"/>
              </a:spcBef>
            </a:pP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一起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yì qǐ</a:t>
            </a:r>
          </a:p>
          <a:p>
            <a:pPr>
              <a:spcBef>
                <a:spcPts val="19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一 đứng trước thanh 1/2/3 → đổi thành thanh 4 (yì)</a:t>
            </a:r>
          </a:p>
          <a:p>
            <a:pPr>
              <a:spcBef>
                <a:spcPts val="1284"/>
              </a:spcBef>
            </a:pP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不是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bú shì</a:t>
            </a:r>
          </a:p>
          <a:p>
            <a:pPr>
              <a:spcBef>
                <a:spcPts val="19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不 (bù) đứng trước thanh 4 → đổi thành thanh 2 (bú)</a:t>
            </a:r>
          </a:p>
          <a:p>
            <a:pPr>
              <a:spcBef>
                <a:spcPts val="1284"/>
              </a:spcBef>
            </a:pP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不客气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bú kèqi</a:t>
            </a:r>
          </a:p>
          <a:p>
            <a:pPr>
              <a:spcBef>
                <a:spcPts val="19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客气 (kèqi) = khách sáo — 不 đổi thanh vì 客 là thanh 4</a:t>
            </a:r>
          </a:p>
          <a:p>
            <a:pPr>
              <a:spcBef>
                <a:spcPts val="963"/>
              </a:spcBef>
            </a:pPr>
            <a:r>
              <a:rPr sz="11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你好 viết vẫn giữ dấu thanh 3+3, nhưng ĐỌC ní hǎo. 一 và 不 là 2 từ duy nhất tự đổi thanh theo âm đứng sau.</a:t>
            </a:r>
          </a:p>
        </p:txBody>
      </p:sp>
      <p:pic>
        <p:nvPicPr>
          <p:cNvPr id="7" name="Picture 6" descr="icon_rollerco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biendieu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thuộc câu quen 你好 luôn đọc "ní hǎo" — nghe quen tai trước, hiểu quy tắc sau.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轻声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轻声 — Đọc nhẹ, không nhấn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Âm tiết thứ 2 (thường là hậu tố lặp lại/trợ từ) đọc NHẸ và NGẮN, mất dấu thanh riêng.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妈妈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māma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mẹ — chữ 妈 thứ 2 đọc nhẹ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xièxie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cảm ơn — chữ 谢 thứ 2 đọc nhẹ, ngắn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朋友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péngyou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bè — 友 đọc nhẹ</a:t>
            </a:r>
          </a:p>
          <a:p>
            <a:pPr>
              <a:spcBef>
                <a:spcPts val="1309"/>
              </a:spcBef>
            </a:pP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Nhận biết trên chữ viết: âm tiết khinh thanh KHÔNG ghi dấu thanh trong pinyin (xièxie, không phải xièxiè).</a:t>
            </a:r>
          </a:p>
        </p:txBody>
      </p:sp>
      <p:pic>
        <p:nvPicPr>
          <p:cNvPr id="7" name="Picture 6" descr="icon_sh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khinhthanh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 không phải 2 tiếng "xiè xiè" rõ ràng bằng nhau — tiếng sau lướt nhẹ và ngắn hơn hẳn.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儿化 — Cuốn lưỡi cuối âm tiết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儿 (r) gắn vào cuối âm tiết trước, đọc CUỐN LƯỠI LIỀN thành 1 âm — không tách thành 2 tiếng.</a:t>
            </a:r>
          </a:p>
          <a:p>
            <a:pPr>
              <a:spcBef>
                <a:spcPts val="1480"/>
              </a:spcBef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这儿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zhèr</a:t>
            </a:r>
          </a:p>
          <a:p>
            <a:pPr>
              <a:spcBef>
                <a:spcPts val="22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ở đây (= 这里)</a:t>
            </a:r>
          </a:p>
          <a:p>
            <a:pPr>
              <a:spcBef>
                <a:spcPts val="1480"/>
              </a:spcBef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那儿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nàr</a:t>
            </a:r>
          </a:p>
          <a:p>
            <a:pPr>
              <a:spcBef>
                <a:spcPts val="22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ở đó (= 那里)</a:t>
            </a:r>
          </a:p>
          <a:p>
            <a:pPr>
              <a:spcBef>
                <a:spcPts val="1480"/>
              </a:spcBef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哪儿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nǎr</a:t>
            </a:r>
          </a:p>
          <a:p>
            <a:pPr>
              <a:spcBef>
                <a:spcPts val="22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ở đâu (= 哪里)</a:t>
            </a:r>
          </a:p>
          <a:p>
            <a:pPr>
              <a:spcBef>
                <a:spcPts val="1480"/>
              </a:spcBef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一点儿</a:t>
            </a: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yìdiǎnr</a:t>
            </a:r>
          </a:p>
          <a:p>
            <a:pPr>
              <a:spcBef>
                <a:spcPts val="222"/>
              </a:spcBef>
            </a:pPr>
            <a:r>
              <a:rPr sz="11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một chút, một ít</a:t>
            </a:r>
          </a:p>
          <a:p>
            <a:pPr>
              <a:spcBef>
                <a:spcPts val="1110"/>
              </a:spcBef>
            </a:pPr>
            <a:r>
              <a:rPr sz="11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儿化 phổ biến trong khẩu ngữ giọng Bắc Kinh; miền Nam Trung Quốc ít dùng hơn — nghe cả 2 kiểu đều được, nói theo kiểu nào cũng đúng.</a:t>
            </a:r>
          </a:p>
        </p:txBody>
      </p:sp>
      <p:pic>
        <p:nvPicPr>
          <p:cNvPr id="7" name="Picture 6" descr="icon_ton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erhua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Đừng đọc "zhè-ơ" thành 2 tiếng tách rời — lưỡi cuốn lên NGAY trong âm tiết 这, nghe liền một hơi "zhèr".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是 — khẳng định A是B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 nối chủ ngữ với danh từ để nói "A là B" — phủ định thêm 不 trước 是 (不 đổi thanh: bú shì).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我是学生。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xuésheng.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sinh.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我是老师。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lǎoshī.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giáo viên.</a:t>
            </a:r>
          </a:p>
          <a:p>
            <a:pPr>
              <a:spcBef>
                <a:spcPts val="1745"/>
              </a:spcBef>
            </a:pP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我不是老师。</a:t>
            </a: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bú shì lǎoshī.</a:t>
            </a:r>
          </a:p>
          <a:p>
            <a:pPr>
              <a:spcBef>
                <a:spcPts val="261"/>
              </a:spcBef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phải giáo viên.</a:t>
            </a:r>
          </a:p>
          <a:p>
            <a:pPr>
              <a:spcBef>
                <a:spcPts val="1309"/>
              </a:spcBef>
            </a:pP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是字句 đầy đủ (quốc tịch, đồng nhất/loại) sẽ học kỹ ở buổi 3 — ở đây dùng để giới thiệu thân phận cơ bản.</a:t>
            </a:r>
          </a:p>
        </p:txBody>
      </p:sp>
      <p:pic>
        <p:nvPicPr>
          <p:cNvPr id="7" name="Picture 6" descr="stroke_s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slide0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 đứng trước thanh 4 (是 shì) luôn đổi thành bú — đúng quy tắc biến điệu đã học buổi 1.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叫 + 名字 — hỏi &amp; nói tên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你叫什么名字？ = mẫu câu hỏi tên chuẩn; trả lời bằng 我叫 + tên riêng.</a:t>
            </a:r>
          </a:p>
          <a:p>
            <a:pPr>
              <a:spcBef>
                <a:spcPts val="1954"/>
              </a:spcBef>
            </a:pPr>
            <a:r>
              <a:rPr sz="2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你叫什么名字？</a:t>
            </a: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jiào shénme míngzi?</a:t>
            </a:r>
          </a:p>
          <a:p>
            <a:pPr>
              <a:spcBef>
                <a:spcPts val="293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tên là gì?</a:t>
            </a:r>
          </a:p>
          <a:p>
            <a:pPr>
              <a:spcBef>
                <a:spcPts val="1954"/>
              </a:spcBef>
            </a:pPr>
            <a:r>
              <a:rPr sz="2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我叫李文。</a:t>
            </a: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Lǐ Wén.</a:t>
            </a:r>
          </a:p>
          <a:p>
            <a:pPr>
              <a:spcBef>
                <a:spcPts val="293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là Lý Văn.</a:t>
            </a:r>
          </a:p>
          <a:p>
            <a:pPr>
              <a:spcBef>
                <a:spcPts val="1954"/>
              </a:spcBef>
            </a:pPr>
            <a:r>
              <a:rPr sz="2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我叫陈天中。</a:t>
            </a: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Chén Tiānzhōng.</a:t>
            </a:r>
          </a:p>
          <a:p>
            <a:pPr>
              <a:spcBef>
                <a:spcPts val="293"/>
              </a:spcBef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là Trần Thiên Trung.</a:t>
            </a:r>
          </a:p>
          <a:p>
            <a:pPr>
              <a:spcBef>
                <a:spcPts val="1465"/>
              </a:spcBef>
            </a:pPr>
            <a:r>
              <a:rPr sz="14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叫 = "tên là/gọi là", chỉ dùng cho tên riêng — khác 是 (khẳng định chung: thân phận, nghề nghiệp…).</a:t>
            </a:r>
          </a:p>
        </p:txBody>
      </p:sp>
      <p:pic>
        <p:nvPicPr>
          <p:cNvPr id="7" name="Picture 6" descr="stroke_jia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slide0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 Việt hay nhầm 叫 với 是 khi giới thiệu tên: PHẢI nói 我叫…, KHÔNG nói 我是…(tên).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吗 — câu hỏi có/không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Thêm 吗 vào cuối câu khẳng định → thành câu hỏi có/không — KHÔNG đổi trật tự từ, không lên giọng thay 吗.</a:t>
            </a:r>
          </a:p>
          <a:p>
            <a:pPr>
              <a:spcBef>
                <a:spcPts val="1645"/>
              </a:spcBef>
            </a:pPr>
            <a:r>
              <a:rPr sz="21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你是学生吗？</a:t>
            </a: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shì xuésheng ma?</a:t>
            </a:r>
          </a:p>
          <a:p>
            <a:pPr>
              <a:spcBef>
                <a:spcPts val="246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học sinh à?</a:t>
            </a:r>
          </a:p>
          <a:p>
            <a:pPr>
              <a:spcBef>
                <a:spcPts val="1645"/>
              </a:spcBef>
            </a:pPr>
            <a:r>
              <a:rPr sz="21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你是老师吗？</a:t>
            </a: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shì lǎoshī ma?</a:t>
            </a:r>
          </a:p>
          <a:p>
            <a:pPr>
              <a:spcBef>
                <a:spcPts val="246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giáo viên à?</a:t>
            </a:r>
          </a:p>
          <a:p>
            <a:pPr>
              <a:spcBef>
                <a:spcPts val="1645"/>
              </a:spcBef>
            </a:pPr>
            <a:r>
              <a:rPr sz="21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是，我是学生。／不是，我不是学生。</a:t>
            </a: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Shì, wǒ shì xuésheng. / Bú shì, wǒ bú shì xuésheng.</a:t>
            </a:r>
          </a:p>
          <a:p>
            <a:pPr>
              <a:spcBef>
                <a:spcPts val="246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Đúng vậy, tôi là học sinh. / Không, tôi không phải học sinh.</a:t>
            </a:r>
          </a:p>
          <a:p>
            <a:pPr>
              <a:spcBef>
                <a:spcPts val="1234"/>
              </a:spcBef>
            </a:pPr>
            <a:r>
              <a:rPr sz="12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吗 là trợ từ nghi vấn (đọc nhẹ) — 是非问句 đầy đủ học kỹ ở buổi 3, ở đây dùng ngay để hỏi thông tin khi làm quen.</a:t>
            </a:r>
          </a:p>
        </p:txBody>
      </p:sp>
      <p:pic>
        <p:nvPicPr>
          <p:cNvPr id="7" name="Picture 6" descr="icon_eyeb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slide0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 Việt hay QUÊN 吗, chỉ lên giọng cuối câu kiểu tiếng Việt ("你是学生?") — tiếng Trung bắt buộc phải có 吗.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呢 — hỏi lại rút gọn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 + 呢？ = "còn A thì sao?" — hỏi lại nhanh, không cần lặp lại cả câu.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我是学生，你呢？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xuésheng, nǐ ne?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sinh, còn bạn?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我叫李文，你呢？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Lǐ Wén, nǐ ne?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Lý Văn, còn bạn?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呢 chính thức là 生词 của buổi 4 (gia đình) — dùng trước ở đây vì rất tiện khi làm quen, hỏi ngược lại tên/thân phận.</a:t>
            </a:r>
          </a:p>
        </p:txBody>
      </p:sp>
      <p:pic>
        <p:nvPicPr>
          <p:cNvPr id="7" name="Picture 6" descr="icon_thi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664208"/>
            <a:ext cx="4297680" cy="4297680"/>
          </a:xfrm>
          <a:prstGeom prst="rect">
            <a:avLst/>
          </a:prstGeom>
        </p:spPr>
      </p:pic>
      <p:pic>
        <p:nvPicPr>
          <p:cNvPr id="8" name="slide0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Chỉ cần thêm 呢 ngay sau đại từ/danh từ, không cần nhắc lại động từ của câu trước.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(1/2)</a:t>
            </a:r>
          </a:p>
        </p:txBody>
      </p:sp>
      <p:pic>
        <p:nvPicPr>
          <p:cNvPr id="6" name="Picture 5" descr="icon_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340864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7436814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3150"/>
                <a:gridCol w="2926832"/>
                <a:gridCol w="2926832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您好！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Nín hǎo!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 (kính trọng)!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你叫什么名字？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jiào shénme míngzi?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tên là gì?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我叫……。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jiào ……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tên là…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很高兴认识你！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 gāoxìng rènshi nǐ!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 vui được quen bạn!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slide1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(2/2)</a:t>
            </a:r>
          </a:p>
        </p:txBody>
      </p:sp>
      <p:pic>
        <p:nvPicPr>
          <p:cNvPr id="6" name="Picture 5" descr="icon_speechball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340864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94896"/>
          <a:ext cx="7436814" cy="4783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524"/>
                <a:gridCol w="2702160"/>
                <a:gridCol w="2937130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shì lǎoshī ma?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là giáo viên à?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我是学生，你呢？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xuésheng, nǐ ne?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học sinh, còn bạn?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谢谢！／不客气！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Xièxie! / Bú kèqi!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ơn! / Không có gì!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1034735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对不起！／没关系！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Duìbuqǐ! / Méi guānxi!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lỗi! / Không sao!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再见！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Zàijiàn!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Tạm biệt!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slide1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1 (Bài 1) — 你好 · 谢谢 · 再见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3576218" cy="365760"/>
          </a:xfrm>
          <a:prstGeom prst="roundRect">
            <a:avLst/>
          </a:prstGeom>
          <a:solidFill>
            <a:srgbClr val="F7E4E1"/>
          </a:solidFill>
          <a:ln w="9525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👩 王老师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481328"/>
            <a:ext cx="3576218" cy="365760"/>
          </a:xfrm>
          <a:prstGeom prst="roundRect">
            <a:avLst/>
          </a:prstGeom>
          <a:solidFill>
            <a:srgbClr val="E4EEF7"/>
          </a:solidFill>
          <a:ln w="9525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🤖 小语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481328"/>
            <a:ext cx="3576218" cy="365760"/>
          </a:xfrm>
          <a:prstGeom prst="roundRect">
            <a:avLst/>
          </a:prstGeom>
          <a:solidFill>
            <a:srgbClr val="FBF0D9"/>
          </a:solidFill>
          <a:ln w="9525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🎓 学生们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56816"/>
            <a:ext cx="3576218" cy="421659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AI小语，你好！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AI Xiǎoyǔ, nǐ hǎo!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2424059"/>
            <a:ext cx="3576218" cy="421659"/>
          </a:xfrm>
          <a:prstGeom prst="roundRect">
            <a:avLst/>
          </a:prstGeom>
          <a:solidFill>
            <a:srgbClr val="E4EE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王老师，你好！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Wáng lǎoshī, nǐ hǎo!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91302"/>
            <a:ext cx="3576218" cy="421659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大家好！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Dàjiā hǎo!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58545"/>
            <a:ext cx="3576218" cy="421659"/>
          </a:xfrm>
          <a:prstGeom prst="roundRect">
            <a:avLst/>
          </a:prstGeom>
          <a:solidFill>
            <a:srgbClr val="FBF0D9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老师，您好！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Lǎoshī, nín hǎo!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738" y="3825788"/>
            <a:ext cx="3576218" cy="421659"/>
          </a:xfrm>
          <a:prstGeom prst="roundRect">
            <a:avLst/>
          </a:prstGeom>
          <a:solidFill>
            <a:srgbClr val="E4EE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你们好！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Nǐmen hǎo!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6836" y="4293031"/>
            <a:ext cx="3576218" cy="421659"/>
          </a:xfrm>
          <a:prstGeom prst="roundRect">
            <a:avLst/>
          </a:prstGeom>
          <a:solidFill>
            <a:srgbClr val="FBF0D9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你好，小语！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Xiǎoyǔ!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6836" y="4760274"/>
            <a:ext cx="3576218" cy="421659"/>
          </a:xfrm>
          <a:prstGeom prst="roundRect">
            <a:avLst/>
          </a:prstGeom>
          <a:solidFill>
            <a:srgbClr val="FBF0D9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Xièxie!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7738" y="5227517"/>
            <a:ext cx="3576218" cy="421659"/>
          </a:xfrm>
          <a:prstGeom prst="roundRect">
            <a:avLst/>
          </a:prstGeom>
          <a:solidFill>
            <a:srgbClr val="E4EE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不客气！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Bú kèqi!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694760"/>
            <a:ext cx="3576218" cy="421659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同学们，再见！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Tóngxuémen, zàijiàn!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6836" y="6162003"/>
            <a:ext cx="3576218" cy="421659"/>
          </a:xfrm>
          <a:prstGeom prst="roundRect">
            <a:avLst/>
          </a:prstGeom>
          <a:solidFill>
            <a:srgbClr val="FBF0D9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老师，再见！</a:t>
            </a:r>
          </a:p>
          <a:p>
            <a:pPr algn="l"/>
            <a:r>
              <a:rPr sz="9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Lǎoshī, zàijiàn!</a:t>
            </a:r>
          </a:p>
        </p:txBody>
      </p:sp>
      <p:pic>
        <p:nvPicPr>
          <p:cNvPr id="19" name="slide1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2 (Bài 2) — 请问，你叫什么名字？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348869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请问，你叫什么名字？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Qǐngwèn, nǐ jiào shénme míngzi?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36685" y="2633472"/>
            <a:ext cx="270637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我叫陈天中。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jiào Chén Tiānzhōng.</a:t>
            </a:r>
          </a:p>
        </p:txBody>
      </p:sp>
      <p:pic>
        <p:nvPicPr>
          <p:cNvPr id="8" name="slide13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3 (Bài 2) — Nhận nhầm người, xin lỗi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213360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你好，安妮！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Ānnī!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14035" y="2633472"/>
            <a:ext cx="612902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你好，陈天中！我不是安妮，我是白家月。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Chén Tiānzhōng! Wǒ bú shì Ānnī, wǒ shì Bái Jiāyuè.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85616"/>
            <a:ext cx="173736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对不起！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Duìbuqǐ!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5695" y="4937760"/>
            <a:ext cx="173736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没关系！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Méi guānxi!</a:t>
            </a:r>
          </a:p>
        </p:txBody>
      </p:sp>
      <p:pic>
        <p:nvPicPr>
          <p:cNvPr id="10" name="slide1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4 (Bài 2) — Làm quen lần đầu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270637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你好！我叫李文。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hǎo! Wǒ jiào Lǐ Wén.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6355" y="2633472"/>
            <a:ext cx="534670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你好！我叫白家月。很高兴认识你。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hǎo! Wǒ jiào Bái Jiāyuè. Hěn gāoxìng rènshi nǐ.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85616"/>
            <a:ext cx="329311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认识你，我也很高兴。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Rènshi nǐ, wǒ yě hěn gāoxìng.</a:t>
            </a:r>
          </a:p>
        </p:txBody>
      </p:sp>
      <p:pic>
        <p:nvPicPr>
          <p:cNvPr id="9" name="slide1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Đọc thêm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Giáo trình Hán ngữ Quyển 1 — Bài 1, 3, 5</a:t>
            </a:r>
          </a:p>
        </p:txBody>
      </p:sp>
      <p:pic>
        <p:nvPicPr>
          <p:cNvPr id="7" name="Picture 6" descr="icon_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易错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Lỗi người Việt hay mắc</a:t>
            </a:r>
          </a:p>
        </p:txBody>
      </p:sp>
      <p:pic>
        <p:nvPicPr>
          <p:cNvPr id="6" name="Picture 5" descr="ico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300984"/>
            <a:ext cx="1371600" cy="13716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81329"/>
          <a:ext cx="9357054" cy="5010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8355"/>
                <a:gridCol w="2023147"/>
                <a:gridCol w="4855552"/>
              </a:tblGrid>
              <a:tr h="55430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Sai (thường gặp)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Đúng (nên làm)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Vì sao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975575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Dùng 你 với người lớn tuổi/cấp trên (thầy cô, sếp)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Dùng 您 để thể hiện kính trọng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 không phân biệt "bạn" thân mật/kính trọng bằng 2 đại từ khác nhau như tiếng Trung 你/您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975575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你是老师? — chỉ lên giọng cuối câu kiểu tiếng Việt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你是老师吗？— bắt buộc thêm 吗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Trung không đổi ngữ điệu để tạo câu hỏi có/không — bắt buộc có trợ từ 吗 cuối câu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975575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你好 thành 2 thanh 3 rời rạc, đầy đủ ("nỉ hảo")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thành "ní hǎo" (biến điệu 3+3 → 2+3)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2 âm tiết thanh 3 liền nhau, âm đầu bắt buộc đổi thành thanh 2 khi nói (buổi 1)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649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我是李文 — dùng 是 để giới thiệu tên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我叫李文 — dùng 叫 để giới thiệu tên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叫 chuyên dùng cho tên riêng; 是 dùng để khẳng định thân phận/nghề nghiệp (我是学生)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649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名字 rõ dấu cả 2 âm ("míng zì")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"míngzi" — chữ 字 thứ 2 nhẹ, ngắn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字 trong 名字 đọc khinh thanh (mất dấu), giống quy tắc 谢谢/朋友 đã học ở buổi 1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