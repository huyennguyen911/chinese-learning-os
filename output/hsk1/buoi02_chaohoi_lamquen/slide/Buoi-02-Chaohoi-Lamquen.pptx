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eg"/>
  <Override PartName="/ppt/media/media10.mp3" ContentType="audio/mpeg"/>
  <Override PartName="/ppt/media/media11.mp3" ContentType="audio/mpeg"/>
  <Override PartName="/ppt/media/media12.mp3" ContentType="audio/mpeg"/>
  <Override PartName="/ppt/media/media2.mp3" ContentType="audio/mpeg"/>
  <Override PartName="/ppt/media/media3.mp3" ContentType="audio/mpeg"/>
  <Override PartName="/ppt/media/media4.mp3" ContentType="audio/mpeg"/>
  <Override PartName="/ppt/media/media5.mp3" ContentType="audio/mpeg"/>
  <Override PartName="/ppt/media/media6.mp3" ContentType="audio/mpeg"/>
  <Override PartName="/ppt/media/media7.mp3" ContentType="audio/mpeg"/>
  <Override PartName="/ppt/media/media8.mp3" ContentType="audio/mpeg"/>
  <Override PartName="/ppt/media/media9.mp3" ContentType="audio/mpe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microsoft.com/office/2007/relationships/media" Target="../media/media1.mp3"/><Relationship Id="rId4" Type="http://schemas.openxmlformats.org/officeDocument/2006/relationships/video" Target="../media/media1.mp3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microsoft.com/office/2007/relationships/media" Target="../media/media2.mp3"/><Relationship Id="rId4" Type="http://schemas.openxmlformats.org/officeDocument/2006/relationships/video" Target="../media/media2.mp3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microsoft.com/office/2007/relationships/media" Target="../media/media3.mp3"/><Relationship Id="rId4" Type="http://schemas.openxmlformats.org/officeDocument/2006/relationships/video" Target="../media/media3.mp3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gif"/><Relationship Id="rId3" Type="http://schemas.microsoft.com/office/2007/relationships/media" Target="../media/media4.mp3"/><Relationship Id="rId4" Type="http://schemas.openxmlformats.org/officeDocument/2006/relationships/video" Target="../media/media4.mp3"/><Relationship Id="rId5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3"/><Relationship Id="rId3" Type="http://schemas.openxmlformats.org/officeDocument/2006/relationships/video" Target="../media/media5.mp3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3"/><Relationship Id="rId3" Type="http://schemas.openxmlformats.org/officeDocument/2006/relationships/video" Target="../media/media6.mp3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3"/><Relationship Id="rId3" Type="http://schemas.openxmlformats.org/officeDocument/2006/relationships/video" Target="../media/media7.mp3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8.mp3"/><Relationship Id="rId3" Type="http://schemas.openxmlformats.org/officeDocument/2006/relationships/video" Target="../media/media8.mp3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9.mp3"/><Relationship Id="rId3" Type="http://schemas.openxmlformats.org/officeDocument/2006/relationships/video" Target="../media/media9.mp3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0.mp3"/><Relationship Id="rId3" Type="http://schemas.openxmlformats.org/officeDocument/2006/relationships/video" Target="../media/media10.mp3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1.mp3"/><Relationship Id="rId3" Type="http://schemas.openxmlformats.org/officeDocument/2006/relationships/video" Target="../media/media11.mp3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2.mp3"/><Relationship Id="rId3" Type="http://schemas.openxmlformats.org/officeDocument/2006/relationships/video" Target="../media/media12.mp3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920240"/>
            <a:ext cx="11094415" cy="3017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你好 · 我叫…</a:t>
            </a:r>
          </a:p>
          <a:p>
            <a:pPr algn="ctr">
              <a:spcBef>
                <a:spcPts val="1000"/>
              </a:spcBef>
            </a:pPr>
            <a:r>
              <a:rPr sz="2000" b="0" i="0">
                <a:solidFill>
                  <a:srgbClr val="F7E4E1"/>
                </a:solidFill>
                <a:latin typeface="Calibri"/>
                <a:ea typeface="Microsoft YaHei"/>
                <a:cs typeface="Microsoft YaHei"/>
              </a:rPr>
              <a:t>Buổi 2 — Chào hỏi &amp; làm quen: 你好 (Bài 1) + 我叫李文 (Bài 2)</a:t>
            </a:r>
          </a:p>
          <a:p>
            <a:pPr algn="ctr">
              <a:spcBef>
                <a:spcPts val="600"/>
              </a:spcBef>
            </a:pPr>
            <a:r>
              <a:rPr sz="1400" b="0" i="0">
                <a:solidFill>
                  <a:srgbClr val="F7E4E1"/>
                </a:solidFill>
                <a:latin typeface="Calibri"/>
                <a:ea typeface="Microsoft YaHei"/>
                <a:cs typeface="Microsoft YaHei"/>
              </a:rPr>
              <a:t>HSK1 · Sơ cấp · Buổi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复习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Nhắc lại buổi trước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522415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Buổi 1 đã học 4 thanh điệu + khinh thanh, biến điệu cơ bản (3+3, 一/不) — hôm nay dùng ngay vào câu chào hỏi thật.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你好 viết dấu thanh 3+3 nhưng ĐỌC "ní hǎo": 2 thanh 3 đứng liền nhau, thanh 3 đầu đổi thành thanh 2.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谢谢 — chữ 谢 thứ 2 đọc khinh thanh, nhẹ và ngắn (xièxie, không phải xiè xiè rõ 2 tiếng bằng nhau).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Hôm nay: dùng đúng ngữ điệu đó để chào hỏi và làm quen tự nhiên, không đọc phẳng/đọc sai biến điệu.</a:t>
            </a:r>
          </a:p>
        </p:txBody>
      </p:sp>
      <p:pic>
        <p:nvPicPr>
          <p:cNvPr id="7" name="Picture 6" descr="stroke_ha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1883664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Mục tiêu hôm nay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094415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Chào hỏi đúng người, đúng hoàn cảnh: phân biệt 你/您 (thân mật/kính trọng), số ít/số nhiều (你/你们).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Hỏi &amp; trả lời tên bằng 你叫什么名字？／我叫…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Dùng được 是 (khẳng định), 吗 (hỏi có/không), 呢 (hỏi lại rút gọn) để giới thiệu bản thân.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Nói được 10 câu giao tiếp chào hỏi/làm quen dùng ngay từ buổi học đầu tiên.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Từ vựng ① — Chào hỏi (Bài 1)</a:t>
            </a:r>
          </a:p>
        </p:txBody>
      </p:sp>
      <p:pic>
        <p:nvPicPr>
          <p:cNvPr id="6" name="Picture 5" descr="stroke_n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6544"/>
            <a:ext cx="3840480" cy="38404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1481328"/>
          <a:ext cx="6888174" cy="501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你好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 hǎo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xin chào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王老师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Wáng lǎoshī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(riêng) cô/thầy Vương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大家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dàjiā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mọi người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好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hǎo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tốt, khỏe, ổn (tính từ)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学生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xuésheng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học sinh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们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men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hậu tố số nhiều (sau đại từ/danh từ chỉ người)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老师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lǎoshī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giáo viên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您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nín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ngài, bác (kính ngữ, ngôi 2)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你们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nǐmen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các bạn (số nhiều)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谢谢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xièxie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cảm ơn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不客气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bú kèqi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không có gì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同学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tóngxué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bạn học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再见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zàijiàn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tạm biệt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slide04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Từ vựng ② — Làm quen (Bài 2)</a:t>
            </a:r>
          </a:p>
        </p:txBody>
      </p:sp>
      <p:pic>
        <p:nvPicPr>
          <p:cNvPr id="6" name="Picture 5" descr="stroke_w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6544"/>
            <a:ext cx="3840480" cy="38404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1481328"/>
          <a:ext cx="6888174" cy="501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请问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qǐngwèn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xin hỏi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bạn (số ít)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叫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jiào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tên là, gọi là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什么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shénme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gì, cái gì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名字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míngzi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tên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tôi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是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shì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là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没关系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méi guānxi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không sao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没事儿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méishìr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không sao, không có gì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很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hěn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rất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高兴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gāoxìng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vui, mừng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认识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rènshi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quen biết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35792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也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yě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cũng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slide05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是 — khẳng định A是B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430975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是 nối chủ ngữ với danh từ để nói "A là B" — phủ định thêm 不 trước 是 (不 đổi thanh: bú shì).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我是学生。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Wǒ shì xuésheng.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học sinh.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我是老师。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Wǒ shì lǎoshī.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giáo viên.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我不是老师。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Wǒ bú shì lǎoshī.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không phải giáo viên.</a:t>
            </a:r>
          </a:p>
          <a:p>
            <a:pPr>
              <a:spcBef>
                <a:spcPts val="1500"/>
              </a:spcBef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• 是字句 đầy đủ (quốc tịch, đồng nhất/loại) sẽ học kỹ ở buổi 3 — ở đây dùng để giới thiệu thân phận cơ bản.</a:t>
            </a:r>
          </a:p>
          <a:p>
            <a:pPr>
              <a:spcBef>
                <a:spcPts val="1400"/>
              </a:spcBef>
            </a:pPr>
            <a:r>
              <a:rPr sz="15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🔑 Mẹo ghi nhớ: </a:t>
            </a: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不 đứng trước thanh 4 (是 shì) luôn đổi thành bú — đúng quy tắc biến điệu đã học buổi 1.</a:t>
            </a:r>
          </a:p>
        </p:txBody>
      </p:sp>
      <p:pic>
        <p:nvPicPr>
          <p:cNvPr id="7" name="Picture 6" descr="stroke_shi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837944"/>
            <a:ext cx="4297680" cy="4297680"/>
          </a:xfrm>
          <a:prstGeom prst="rect">
            <a:avLst/>
          </a:prstGeom>
        </p:spPr>
      </p:pic>
      <p:pic>
        <p:nvPicPr>
          <p:cNvPr id="8" name="slide06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叫 + 名字 — hỏi &amp; nói tên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430975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你叫什么名字？ = mẫu câu hỏi tên chuẩn; trả lời bằng 我叫 + tên riêng.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你叫什么名字？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Nǐ jiào shénme míngzi?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tên là gì?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我叫李文。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Wǒ jiào Lǐ Wén.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tên là Lý Văn.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我叫陈天中。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Wǒ jiào Chén Tiānzhōng.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tên là Trần Thiên Trung.</a:t>
            </a:r>
          </a:p>
          <a:p>
            <a:pPr>
              <a:spcBef>
                <a:spcPts val="1500"/>
              </a:spcBef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• 叫 = "tên là/gọi là", chỉ dùng cho tên riêng — khác 是 (khẳng định chung: thân phận, nghề nghiệp…).</a:t>
            </a:r>
          </a:p>
          <a:p>
            <a:pPr>
              <a:spcBef>
                <a:spcPts val="1400"/>
              </a:spcBef>
            </a:pPr>
            <a:r>
              <a:rPr sz="15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🔑 Mẹo ghi nhớ: </a:t>
            </a: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Người Việt hay nhầm 叫 với 是 khi giới thiệu tên: PHẢI nói 我叫…, KHÔNG nói 我是…(tên).</a:t>
            </a:r>
          </a:p>
        </p:txBody>
      </p:sp>
      <p:pic>
        <p:nvPicPr>
          <p:cNvPr id="7" name="Picture 6" descr="stroke_jia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837944"/>
            <a:ext cx="4297680" cy="4297680"/>
          </a:xfrm>
          <a:prstGeom prst="rect">
            <a:avLst/>
          </a:prstGeom>
        </p:spPr>
      </p:pic>
      <p:pic>
        <p:nvPicPr>
          <p:cNvPr id="8" name="slide07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吗 — câu hỏi có/không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094415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Thêm 吗 vào cuối câu khẳng định → thành câu hỏi có/không — KHÔNG đổi trật tự từ, không lên giọng thay 吗.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你是学生吗？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Nǐ shì xuésheng ma?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là học sinh à?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你是老师吗？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Nǐ shì lǎoshī ma?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là giáo viên à?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是，我是学生。／不是，我不是学生。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Shì, wǒ shì xuésheng. / Bú shì, wǒ bú shì xuésheng.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Đúng vậy, tôi là học sinh. / Không, tôi không phải học sinh.</a:t>
            </a:r>
          </a:p>
          <a:p>
            <a:pPr>
              <a:spcBef>
                <a:spcPts val="1500"/>
              </a:spcBef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• 吗 là trợ từ nghi vấn (đọc nhẹ) — 是非问句 đầy đủ học kỹ ở buổi 3, ở đây dùng ngay để hỏi thông tin khi làm quen.</a:t>
            </a:r>
          </a:p>
          <a:p>
            <a:pPr>
              <a:spcBef>
                <a:spcPts val="1400"/>
              </a:spcBef>
            </a:pPr>
            <a:r>
              <a:rPr sz="15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🔑 Mẹo ghi nhớ: </a:t>
            </a: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Người Việt hay QUÊN 吗, chỉ lên giọng cuối câu kiểu tiếng Việt ("你是学生?") — tiếng Trung bắt buộc phải có 吗.</a:t>
            </a:r>
          </a:p>
        </p:txBody>
      </p:sp>
      <p:pic>
        <p:nvPicPr>
          <p:cNvPr id="7" name="slide08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呢 — hỏi lại rút gọn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094415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A + 呢？ = "còn A thì sao?" — hỏi lại nhanh, không cần lặp lại cả câu.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我是学生，你呢？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Wǒ shì xuésheng, nǐ ne?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học sinh, còn bạn?</a:t>
            </a:r>
          </a:p>
          <a:p>
            <a:pPr>
              <a:spcBef>
                <a:spcPts val="2000"/>
              </a:spcBef>
            </a:pPr>
            <a:r>
              <a:rPr sz="2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我叫李文，你呢？</a:t>
            </a:r>
            <a:r>
              <a:rPr sz="15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Wǒ jiào Lǐ Wén, nǐ ne?</a:t>
            </a:r>
          </a:p>
          <a:p>
            <a:pPr>
              <a:spcBef>
                <a:spcPts val="300"/>
              </a:spcBef>
            </a:pPr>
            <a:r>
              <a:rPr sz="15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tên Lý Văn, còn bạn?</a:t>
            </a:r>
          </a:p>
          <a:p>
            <a:pPr>
              <a:spcBef>
                <a:spcPts val="1500"/>
              </a:spcBef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• 呢 chính thức là 生词 của buổi 4 (gia đình) — dùng trước ở đây vì rất tiện khi làm quen, hỏi ngược lại tên/thân phận.</a:t>
            </a:r>
          </a:p>
          <a:p>
            <a:pPr>
              <a:spcBef>
                <a:spcPts val="1400"/>
              </a:spcBef>
            </a:pPr>
            <a:r>
              <a:rPr sz="15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🔑 Mẹo ghi nhớ: </a:t>
            </a: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Chỉ cần thêm 呢 ngay sau đại từ/danh từ, không cần nhắc lại động từ của câu trước.</a:t>
            </a:r>
          </a:p>
        </p:txBody>
      </p:sp>
      <p:pic>
        <p:nvPicPr>
          <p:cNvPr id="7" name="slide09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口语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10 câu khẩu ngữ (1/2)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94415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74980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中文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Tiếng Việt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你好！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 hǎo!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Xin chào!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您好！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Nín hǎo!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Xin chào (kính trọng)!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你叫什么名字？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 jiào shénme míngzi?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Bạn tên là gì?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我叫……。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jiào ……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Tôi tên là…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很高兴认识你！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Hěn gāoxìng rènshi nǐ!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Rất vui được quen bạn!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slide10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口语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10 câu khẩu ngữ (2/2)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94415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74980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中文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Tiếng Việt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你是老师吗？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 shì lǎoshī ma?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Bạn là giáo viên à?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我是学生，你呢？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shì xuésheng, nǐ ne?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Tôi là học sinh, còn bạn?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谢谢！／不客气！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Xièxie! / Bú kèqi!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Cảm ơn! / Không có gì!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对不起！／没关系！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Duìbuqǐ! / Méi guānxi!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Xin lỗi! / Không sao!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再见！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Zàijiàn!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Tạm biệt!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slide11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 1 (Bài 1) — 你好 · 谢谢 · 再见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81328"/>
            <a:ext cx="6949440" cy="451171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王老师: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AI小语，你好！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AI Xiǎoyǔ, nǐ hǎo!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93615" y="1998124"/>
            <a:ext cx="6949440" cy="451171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小语: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王老师，你好！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Wáng lǎoshī, nǐ hǎo!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14920"/>
            <a:ext cx="6949440" cy="451171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王老师: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大家好！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Dàjiā hǎo!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93615" y="3031716"/>
            <a:ext cx="6949440" cy="451171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学生们: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老师，您好！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Lǎoshī, nín hǎo!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3615" y="3548512"/>
            <a:ext cx="6949440" cy="451171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小语: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你们好！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Nǐmen hǎo!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93615" y="4065308"/>
            <a:ext cx="6949440" cy="451171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学生们: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你好，小语！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hǎo, Xiǎoyǔ!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3615" y="4582104"/>
            <a:ext cx="6949440" cy="451171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学生们: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谢谢！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Xièxie!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93615" y="5098900"/>
            <a:ext cx="6949440" cy="451171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小语: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不客气！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Bú kèqi!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615696"/>
            <a:ext cx="6949440" cy="451171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王老师: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同学们，再见！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Tóngxuémen, zàijiàn!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93615" y="6132492"/>
            <a:ext cx="6949440" cy="451171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学生们: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老师，再见！</a:t>
            </a:r>
          </a:p>
          <a:p>
            <a:pPr algn="l"/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Lǎoshī, zàijiàn!</a:t>
            </a:r>
          </a:p>
        </p:txBody>
      </p:sp>
      <p:pic>
        <p:nvPicPr>
          <p:cNvPr id="16" name="slide12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 2 (Bài 2) — 请问，你叫什么名字？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81328"/>
            <a:ext cx="6949440" cy="100584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王老师: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请问，你叫什么名字？</a:t>
            </a:r>
          </a:p>
          <a:p>
            <a:pPr algn="l"/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Qǐngwèn, nǐ jiào shénme míngzi?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93615" y="2633472"/>
            <a:ext cx="6949440" cy="100584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陈天中: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我叫陈天中。</a:t>
            </a:r>
          </a:p>
          <a:p>
            <a:pPr algn="l"/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jiào Chén Tiānzhōng.</a:t>
            </a:r>
          </a:p>
        </p:txBody>
      </p:sp>
      <p:pic>
        <p:nvPicPr>
          <p:cNvPr id="8" name="slide13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 3 (Bài 2) — Nhận nhầm người, xin lỗi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81328"/>
            <a:ext cx="6949440" cy="100584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陈天中: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你好，安妮！</a:t>
            </a:r>
          </a:p>
          <a:p>
            <a:pPr algn="l"/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hǎo, Ānnī!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93615" y="2633472"/>
            <a:ext cx="6949440" cy="100584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白家月: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你好，陈天中！我不是安妮，我是白家月。</a:t>
            </a:r>
          </a:p>
          <a:p>
            <a:pPr algn="l"/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hǎo, Chén Tiānzhōng! Wǒ bú shì Ānnī, wǒ shì Bái Jiāyuè.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85616"/>
            <a:ext cx="6949440" cy="100584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陈天中: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对不起！</a:t>
            </a:r>
          </a:p>
          <a:p>
            <a:pPr algn="l"/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Duìbuqǐ!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93615" y="4937760"/>
            <a:ext cx="6949440" cy="100584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白家月: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没关系！</a:t>
            </a:r>
          </a:p>
          <a:p>
            <a:pPr algn="l"/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Méi guānxi!</a:t>
            </a:r>
          </a:p>
        </p:txBody>
      </p:sp>
      <p:pic>
        <p:nvPicPr>
          <p:cNvPr id="10" name="slide14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 4 (Bài 2) — Làm quen lần đầu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81328"/>
            <a:ext cx="6949440" cy="100584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李文: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你好！我叫李文。</a:t>
            </a:r>
          </a:p>
          <a:p>
            <a:pPr algn="l"/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hǎo! Wǒ jiào Lǐ Wén.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93615" y="2633472"/>
            <a:ext cx="6949440" cy="100584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白家月: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你好！我叫白家月。很高兴认识你。</a:t>
            </a:r>
          </a:p>
          <a:p>
            <a:pPr algn="l"/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hǎo! Wǒ jiào Bái Jiāyuè. Hěn gāoxìng rènshi nǐ.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85616"/>
            <a:ext cx="6949440" cy="100584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/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李文: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认识你，我也很高兴。</a:t>
            </a:r>
          </a:p>
          <a:p>
            <a:pPr algn="l"/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Rènshi nǐ, wǒ yě hěn gāoxìng.</a:t>
            </a:r>
          </a:p>
        </p:txBody>
      </p:sp>
      <p:pic>
        <p:nvPicPr>
          <p:cNvPr id="9" name="slide15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阅读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Bài đọc — 课文 đầy đủ Bài 1 + Bài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094415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1200"/>
              </a:spcBef>
            </a:pPr>
            <a:r>
              <a:rPr sz="17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课文 sách (New HSK Course 1):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Bài 1「AI小语，你好！」— 3 đoạn hội thoại chào hỏi (thầy↔AI, thầy↔trò, cảm ơn/tạm biệt)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Bài 2「我叫李文」— 3 đoạn hội thoại hỏi tên &amp; làm quen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Đọc đầy đủ 汉字 + pinyin + dịch Việt tại doc/bai-doc-newhsk1.md (cùng buổi)</a:t>
            </a:r>
          </a:p>
          <a:p>
            <a:pPr>
              <a:spcBef>
                <a:spcPts val="1200"/>
              </a:spcBef>
            </a:pPr>
            <a:r>
              <a:rPr sz="17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Nguồn luyện đọc thêm (trình độ HSK1):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Du Chinese (app) — mục Newbie / HSK1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The Chairman's Bao — bài trình độ HSK1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Mandarin Companion — Readers Level 0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hsk.academy — HSK1 reading online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Đối chiếu: Giáo trình Hán ngữ Quyển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094415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Sách 《汉语教程》(Giáo trình Hán ngữ) Quyển 1 — Bài 1, 3, 5: phần hội thoại chào hỏi/làm quen cơ bản (你好 / 谢谢你 / 你叫什么名字).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Bạn đã có sẵn sách + audio gốc — mở đọc theo, nghe theo audio trong sách để luyện phản xạ nghe thêm ở nhà.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Nội dung buổi hôm nay (chào hỏi, làm quen, 是/吗/呢/叫) khớp với các bài này — dùng để ôn chéo 2 giáo trình.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Buổi sau (quốc tịch &amp; bản thân) sẽ tiếp tục đối chiếu các bài kế tiếp của Hán ngữ Q1.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易错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Lỗi người Việt hay mắc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94415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74980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Sai (thường gặp)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Đúng (nên làm)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Vì sao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Dùng 你 với người lớn tuổi/cấp trên (thầy cô, sếp)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Dùng 您 để thể hiện kính trọng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Tiếng Việt không phân biệt "bạn" thân mật/kính trọng bằng 2 đại từ khác nhau như tiếng Trung 你/您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你是老师? — chỉ lên giọng cuối câu kiểu tiếng Việt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你是老师吗？— bắt buộc thêm 吗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Tiếng Trung không đổi ngữ điệu để tạo câu hỏi có/không — bắt buộc có trợ từ 吗 cuối câu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Đọc 你好 thành 2 thanh 3 rời rạc, đầy đủ ("nỉ hảo")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Đọc thành "ní hǎo" (biến điệu 3+3 → 2+3)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2 âm tiết thanh 3 liền nhau, âm đầu bắt buộc đổi thành thanh 2 khi nói (buổi 1)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我是李文 — dùng 是 để giới thiệu tên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我叫李文 — dùng 叫 để giới thiệu tên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叫 chuyên dùng cho tên riêng; 是 dùng để khẳng định thân phận/nghề nghiệp (我是学生)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Đọc 名字 rõ dấu cả 2 âm ("míng zì")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Đọc "míngzi" — chữ 字 thứ 2 nhẹ, ngắn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字 trong 名字 đọc khinh thanh (mất dấu), giống quy tắc 谢谢/朋友 đã học ở buổi 1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