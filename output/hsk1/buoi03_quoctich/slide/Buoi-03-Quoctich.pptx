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10.mp3" ContentType="audio/mpeg"/>
  <Override PartName="/ppt/media/media11.mp3" ContentType="audio/mpeg"/>
  <Override PartName="/ppt/media/media12.mp3" ContentType="audio/mpeg"/>
  <Override PartName="/ppt/media/media13.mp3" ContentType="audio/mpeg"/>
  <Override PartName="/ppt/media/media14.mp3" ContentType="audio/mpeg"/>
  <Override PartName="/ppt/media/media15.mp3" ContentType="audio/mpeg"/>
  <Override PartName="/ppt/media/media16.mp3" ContentType="audio/mpeg"/>
  <Override PartName="/ppt/media/media17.mp3" ContentType="audio/mpeg"/>
  <Override PartName="/ppt/media/media18.mp3" ContentType="audio/mpeg"/>
  <Override PartName="/ppt/media/media19.mp3" ContentType="audio/mpeg"/>
  <Override PartName="/ppt/media/media2.mp3" ContentType="audio/mpeg"/>
  <Override PartName="/ppt/media/media20.mp3" ContentType="audio/mpeg"/>
  <Override PartName="/ppt/media/media21.mp3" ContentType="audio/mpeg"/>
  <Override PartName="/ppt/media/media22.mp3" ContentType="audio/mpeg"/>
  <Override PartName="/ppt/media/media23.mp3" ContentType="audio/mpeg"/>
  <Override PartName="/ppt/media/media24.mp3" ContentType="audio/mpeg"/>
  <Override PartName="/ppt/media/media25.mp3" ContentType="audio/mpeg"/>
  <Override PartName="/ppt/media/media26.mp3" ContentType="audio/mpeg"/>
  <Override PartName="/ppt/media/media3.mp3" ContentType="audio/mpeg"/>
  <Override PartName="/ppt/media/media4.mp3" ContentType="audio/mpeg"/>
  <Override PartName="/ppt/media/media5.mp3" ContentType="audio/mpeg"/>
  <Override PartName="/ppt/media/media6.mp3" ContentType="audio/mpeg"/>
  <Override PartName="/ppt/media/media7.mp3" ContentType="audio/mpeg"/>
  <Override PartName="/ppt/media/media8.mp3" ContentType="audio/mpeg"/>
  <Override PartName="/ppt/media/media9.mp3" ContentType="audio/mpe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microsoft.com/office/2007/relationships/media" Target="../media/media1.mp3"/><Relationship Id="rId5" Type="http://schemas.openxmlformats.org/officeDocument/2006/relationships/video" Target="../media/media1.mp3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3"/><Relationship Id="rId3" Type="http://schemas.openxmlformats.org/officeDocument/2006/relationships/video" Target="../media/media2.mp3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microsoft.com/office/2007/relationships/media" Target="../media/media3.mp3"/><Relationship Id="rId4" Type="http://schemas.openxmlformats.org/officeDocument/2006/relationships/video" Target="../media/media3.mp3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microsoft.com/office/2007/relationships/media" Target="../media/media4.mp3"/><Relationship Id="rId5" Type="http://schemas.openxmlformats.org/officeDocument/2006/relationships/video" Target="../media/media4.mp3"/><Relationship Id="rId6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microsoft.com/office/2007/relationships/media" Target="../media/media5.mp3"/><Relationship Id="rId5" Type="http://schemas.openxmlformats.org/officeDocument/2006/relationships/video" Target="../media/media5.mp3"/><Relationship Id="rId6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3"/><Relationship Id="rId3" Type="http://schemas.openxmlformats.org/officeDocument/2006/relationships/video" Target="../media/media6.mp3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microsoft.com/office/2007/relationships/media" Target="../media/media7.mp3"/><Relationship Id="rId4" Type="http://schemas.openxmlformats.org/officeDocument/2006/relationships/video" Target="../media/media7.mp3"/><Relationship Id="rId5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microsoft.com/office/2007/relationships/media" Target="../media/media8.mp3"/><Relationship Id="rId5" Type="http://schemas.openxmlformats.org/officeDocument/2006/relationships/video" Target="../media/media8.mp3"/><Relationship Id="rId6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microsoft.com/office/2007/relationships/media" Target="../media/media9.mp3"/><Relationship Id="rId4" Type="http://schemas.openxmlformats.org/officeDocument/2006/relationships/video" Target="../media/media9.mp3"/><Relationship Id="rId5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microsoft.com/office/2007/relationships/media" Target="../media/media10.mp3"/><Relationship Id="rId5" Type="http://schemas.openxmlformats.org/officeDocument/2006/relationships/video" Target="../media/media10.mp3"/><Relationship Id="rId6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1.mp3"/><Relationship Id="rId3" Type="http://schemas.openxmlformats.org/officeDocument/2006/relationships/video" Target="../media/media11.mp3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2.mp3"/><Relationship Id="rId3" Type="http://schemas.openxmlformats.org/officeDocument/2006/relationships/video" Target="../media/media12.mp3"/><Relationship Id="rId4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3.mp3"/><Relationship Id="rId3" Type="http://schemas.openxmlformats.org/officeDocument/2006/relationships/video" Target="../media/media13.mp3"/><Relationship Id="rId4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4.mp3"/><Relationship Id="rId3" Type="http://schemas.openxmlformats.org/officeDocument/2006/relationships/video" Target="../media/media14.mp3"/><Relationship Id="rId4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5.mp3"/><Relationship Id="rId3" Type="http://schemas.openxmlformats.org/officeDocument/2006/relationships/video" Target="../media/media15.mp3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6.mp3"/><Relationship Id="rId3" Type="http://schemas.openxmlformats.org/officeDocument/2006/relationships/video" Target="../media/media16.mp3"/><Relationship Id="rId4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microsoft.com/office/2007/relationships/media" Target="../media/media17.mp3"/><Relationship Id="rId4" Type="http://schemas.openxmlformats.org/officeDocument/2006/relationships/video" Target="../media/media17.mp3"/><Relationship Id="rId5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microsoft.com/office/2007/relationships/media" Target="../media/media18.mp3"/><Relationship Id="rId4" Type="http://schemas.openxmlformats.org/officeDocument/2006/relationships/video" Target="../media/media18.mp3"/><Relationship Id="rId5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microsoft.com/office/2007/relationships/media" Target="../media/media19.mp3"/><Relationship Id="rId4" Type="http://schemas.openxmlformats.org/officeDocument/2006/relationships/video" Target="../media/media19.mp3"/><Relationship Id="rId5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microsoft.com/office/2007/relationships/media" Target="../media/media20.mp3"/><Relationship Id="rId4" Type="http://schemas.openxmlformats.org/officeDocument/2006/relationships/video" Target="../media/media20.mp3"/><Relationship Id="rId5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microsoft.com/office/2007/relationships/media" Target="../media/media21.mp3"/><Relationship Id="rId5" Type="http://schemas.openxmlformats.org/officeDocument/2006/relationships/video" Target="../media/media21.mp3"/><Relationship Id="rId6" Type="http://schemas.openxmlformats.org/officeDocument/2006/relationships/image" Target="../media/image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microsoft.com/office/2007/relationships/media" Target="../media/media22.mp3"/><Relationship Id="rId5" Type="http://schemas.openxmlformats.org/officeDocument/2006/relationships/video" Target="../media/media22.mp3"/><Relationship Id="rId6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microsoft.com/office/2007/relationships/media" Target="../media/media23.mp3"/><Relationship Id="rId5" Type="http://schemas.openxmlformats.org/officeDocument/2006/relationships/video" Target="../media/media23.mp3"/><Relationship Id="rId6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microsoft.com/office/2007/relationships/media" Target="../media/media24.mp3"/><Relationship Id="rId5" Type="http://schemas.openxmlformats.org/officeDocument/2006/relationships/video" Target="../media/media24.mp3"/><Relationship Id="rId6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microsoft.com/office/2007/relationships/media" Target="../media/media25.mp3"/><Relationship Id="rId5" Type="http://schemas.openxmlformats.org/officeDocument/2006/relationships/video" Target="../media/media25.mp3"/><Relationship Id="rId6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microsoft.com/office/2007/relationships/media" Target="../media/media26.mp3"/><Relationship Id="rId4" Type="http://schemas.openxmlformats.org/officeDocument/2006/relationships/video" Target="../media/media26.mp3"/><Relationship Id="rId5" Type="http://schemas.openxmlformats.org/officeDocument/2006/relationships/image" Target="../media/image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3.jpg"/><Relationship Id="rId4" Type="http://schemas.openxmlformats.org/officeDocument/2006/relationships/image" Target="../media/image7.jp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1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image" Target="../media/image16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4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28.jpg"/><Relationship Id="rId4" Type="http://schemas.openxmlformats.org/officeDocument/2006/relationships/image" Target="../media/image30.jpg"/><Relationship Id="rId5" Type="http://schemas.openxmlformats.org/officeDocument/2006/relationships/image" Target="../media/image29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jpg"/><Relationship Id="rId4" Type="http://schemas.openxmlformats.org/officeDocument/2006/relationships/image" Target="../media/image3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6675120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buNone/>
            </a:pPr>
            <a:r>
              <a:rPr sz="4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我是中国人</a:t>
            </a:r>
          </a:p>
          <a:p>
            <a:pPr algn="l">
              <a:spcBef>
                <a:spcPts val="1000"/>
              </a:spcBef>
              <a:buNone/>
            </a:pPr>
            <a:r>
              <a:rPr sz="20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Tôi là người Trung Quốc</a:t>
            </a:r>
          </a:p>
          <a:p>
            <a:pPr algn="l">
              <a:spcBef>
                <a:spcPts val="600"/>
              </a:spcBef>
              <a:buNone/>
            </a:pPr>
            <a:r>
              <a:rPr sz="14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HSK1 · Buổi 3</a:t>
            </a:r>
          </a:p>
        </p:txBody>
      </p:sp>
      <p:pic>
        <p:nvPicPr>
          <p:cNvPr id="4" name="Picture 3" descr="icon_glo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463040"/>
            <a:ext cx="3931920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今天学什么？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652241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Nói được mình là người nước nào: 我是……人！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Biết dùng 的 để nói "của ai".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Hỏi bằng 吗 và 哪: 你是哪国人？你是法国人吗？</a:t>
            </a:r>
          </a:p>
          <a:p>
            <a:pPr>
              <a:spcBef>
                <a:spcPts val="2600"/>
              </a:spcBef>
              <a:buNone/>
            </a:pPr>
            <a:r>
              <a:rPr sz="2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Tự giới thiệu bản thân thật tự tin!</a:t>
            </a:r>
          </a:p>
        </p:txBody>
      </p:sp>
      <p:pic>
        <p:nvPicPr>
          <p:cNvPr id="7" name="Picture 6" descr="icon_tar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1948688"/>
            <a:ext cx="420624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4415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3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第一部分 · 课本生词</a:t>
            </a:r>
          </a:p>
          <a:p>
            <a:pPr algn="ctr">
              <a:spcBef>
                <a:spcPts val="1000"/>
              </a:spcBef>
              <a:buNone/>
            </a:pPr>
            <a:r>
              <a:rPr sz="18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Phần 1 — 22 từ vựng theo sách (Bài 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63917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1-2/22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r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人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rén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người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中国人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Zhōngguó rén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người Trung Quốc</a:t>
            </a:r>
          </a:p>
        </p:txBody>
      </p:sp>
      <p:pic>
        <p:nvPicPr>
          <p:cNvPr id="9" name="Picture 8" descr="gu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nước, quốc 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你是哪国人？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shì nǎ guó rén?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là người nước nào?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lide04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402486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3/22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4659654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的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de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你的名字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de míngzi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tên của bạn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白家月的中文老师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Bái Jiāyuè de Zhōngwén lǎoshī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giáo viên tiếng Trung của Bạch Gia Nguyệt</a:t>
            </a:r>
          </a:p>
        </p:txBody>
      </p:sp>
      <p:pic>
        <p:nvPicPr>
          <p:cNvPr id="8" name="slide05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63917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4-5/22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zhongg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中国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Zhōngguó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Trung Quốc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我是中国人。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Zhōngguó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Trung Quốc.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1611376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中文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Zhōngwén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tiếng Trung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3160268"/>
            <a:ext cx="5272887" cy="33319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你的中文很好。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de Zhōngwén hěn hǎo.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Tiếng Trung của bạn giỏi lắm.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lide06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63917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6-7/22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fag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法国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Fǎguó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Pháp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我是法国人。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Fǎguó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Pháp.</a:t>
            </a:r>
          </a:p>
        </p:txBody>
      </p:sp>
      <p:pic>
        <p:nvPicPr>
          <p:cNvPr id="9" name="Picture 8" descr="taigu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泰国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Tàiguó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Thái 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她也是泰国人。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Tā yě shì Tàiguó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Cô ấy cũng là người Thái Lan.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lide07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63917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8-9/22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zh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đây, này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这是我女生朋友。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wǒ nǚshēng péngyou.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Đây là bạn nữ của tôi.</a:t>
            </a:r>
          </a:p>
        </p:txBody>
      </p:sp>
      <p:pic>
        <p:nvPicPr>
          <p:cNvPr id="9" name="Picture 8" descr="she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谁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shéi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这是谁？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shéi?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Đây là ai?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lide08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2083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10/22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4659654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哪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nǎ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nào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你是哪国人？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shì nǎ guó rén?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Bạn là người nước nào?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你女生朋友是哪国人？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Nǐ nǚshēng péngyou shì nǎ guó rén?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Bạn nữ của bạn là người nước nào?</a:t>
            </a:r>
          </a:p>
        </p:txBody>
      </p:sp>
      <p:pic>
        <p:nvPicPr>
          <p:cNvPr id="8" name="slide09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875861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11-12/22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t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tā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cô ấy, chị ấy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她是中文老师。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Tā shì Zhōngwén lǎoshī.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Cô ấy là giáo viên tiếng Trung.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1611376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wǒmen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chúng tôi, chúng mình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3160268"/>
            <a:ext cx="5272887" cy="33319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我们很想你。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Wǒmen hěn xiǎng nǐ.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Chúng mình rất nhớ bạn.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lide10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2083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13/22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nvpengyo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女生朋友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nǚshēng péngyou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bạn nữ (bạn thường)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这是我女生朋友。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wǒ nǚshēng péngyou.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Đây là bạn nữ của tôi.</a:t>
            </a:r>
          </a:p>
        </p:txBody>
      </p:sp>
      <p:pic>
        <p:nvPicPr>
          <p:cNvPr id="9" name="Picture 8" descr="nanpengyo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男生朋友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nánshēng péngyou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bạn nam (bạn thường)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这是我男生朋友。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wǒ nánshēng péngyou.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Đây là bạn nam của tôi.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lide11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14" name="TextBox 1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Sách gốc dùng 女朋友 (= NGƯỜI YÊU). Ở buổi này dạy 女生朋友/男生朋友 = bạn bè bình thường, có nói rõ là bạn nữ/bạn nam — 男生朋友 là từ ghép thêm cho đủ cặp.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875861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14-15/22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喂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wèi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alô, này (khi gọi điện)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60268"/>
            <a:ext cx="5272887" cy="33319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喂，一飞！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Wèi, Yīfēi!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Alô, Nhất Phi ơi!</a:t>
            </a:r>
          </a:p>
        </p:txBody>
      </p:sp>
      <p:pic>
        <p:nvPicPr>
          <p:cNvPr id="8" name="Picture 7" descr="jiej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70167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姐姐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jiějie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chị gái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姐姐！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Jiějie!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Chị ơi!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lide12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875861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16-17/22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gongz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工作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gōngzuò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công việc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你工作还忙吗？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gōngzuò hái máng ma?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Công việc của bạn còn bận không?</a:t>
            </a:r>
          </a:p>
        </p:txBody>
      </p:sp>
      <p:pic>
        <p:nvPicPr>
          <p:cNvPr id="9" name="Picture 8" descr="ma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忙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máng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bận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我不太忙。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bú tài máng.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không bận lắm.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lide13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875861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18-19/22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还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hái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vẫn, còn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60268"/>
            <a:ext cx="5272887" cy="33319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对，还很忙。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Duì, hái hěn máng.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Đúng, vẫn còn rất bận.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11376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太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tài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quá, lắm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3160268"/>
            <a:ext cx="5272887" cy="33319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我不太忙。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bú tài máng.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không bận lắm.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lide14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875861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20-21/22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吗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ma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…không? (câu hỏi)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60268"/>
            <a:ext cx="5272887" cy="33319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你也很忙吗？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yě hěn máng ma?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cũng rất bận không?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0167" y="1611376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对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duì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đúng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3160268"/>
            <a:ext cx="5272887" cy="33319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对，还很忙。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Duì, hái hěn máng.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Đúng, vẫn còn rất bận.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slide15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2083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 22/22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11376"/>
            <a:ext cx="4659654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想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xiǎng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nhớ (ai đó)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我们很想你。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Wǒmen hěn xiǎng nǐ.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Chúng mình rất nhớ bạn.</a:t>
            </a:r>
          </a:p>
          <a:p>
            <a:pPr>
              <a:spcBef>
                <a:spcPts val="22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我也想你们。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yě xiǎng nǐmen.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Mình cũng nhớ các bạn.</a:t>
            </a:r>
          </a:p>
        </p:txBody>
      </p:sp>
      <p:pic>
        <p:nvPicPr>
          <p:cNvPr id="8" name="slide16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11376"/>
            <a:ext cx="273304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李文: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我是中国人。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Zhōngguó rén.</a:t>
            </a:r>
          </a:p>
        </p:txBody>
      </p:sp>
      <p:sp>
        <p:nvSpPr>
          <p:cNvPr id="7" name="Oval 6"/>
          <p:cNvSpPr/>
          <p:nvPr/>
        </p:nvSpPr>
        <p:spPr>
          <a:xfrm>
            <a:off x="371977" y="1493601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88247" y="2763520"/>
            <a:ext cx="2654808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我是法国人。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Fǎguó rén.</a:t>
            </a:r>
          </a:p>
        </p:txBody>
      </p:sp>
      <p:sp>
        <p:nvSpPr>
          <p:cNvPr id="9" name="Oval 8"/>
          <p:cNvSpPr/>
          <p:nvPr/>
        </p:nvSpPr>
        <p:spPr>
          <a:xfrm>
            <a:off x="11399093" y="2645745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58635" y="3915664"/>
            <a:ext cx="488442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白家月: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我的中文老师也是中国人。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de Zhōngwén lǎoshī yě shì Zhōngguó rén.</a:t>
            </a:r>
          </a:p>
        </p:txBody>
      </p:sp>
      <p:sp>
        <p:nvSpPr>
          <p:cNvPr id="11" name="Oval 10"/>
          <p:cNvSpPr/>
          <p:nvPr/>
        </p:nvSpPr>
        <p:spPr>
          <a:xfrm>
            <a:off x="11399093" y="3797889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白</a:t>
            </a:r>
          </a:p>
        </p:txBody>
      </p:sp>
      <p:pic>
        <p:nvPicPr>
          <p:cNvPr id="12" name="slide17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11376"/>
            <a:ext cx="204851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这是谁？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shéi?</a:t>
            </a:r>
          </a:p>
        </p:txBody>
      </p:sp>
      <p:sp>
        <p:nvSpPr>
          <p:cNvPr id="7" name="Oval 6"/>
          <p:cNvSpPr/>
          <p:nvPr/>
        </p:nvSpPr>
        <p:spPr>
          <a:xfrm>
            <a:off x="371977" y="1493601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5485" y="2763520"/>
            <a:ext cx="3417570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这是我女生朋友。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wǒ nǚshēng péngyou.</a:t>
            </a:r>
          </a:p>
        </p:txBody>
      </p:sp>
      <p:sp>
        <p:nvSpPr>
          <p:cNvPr id="9" name="Oval 8"/>
          <p:cNvSpPr/>
          <p:nvPr/>
        </p:nvSpPr>
        <p:spPr>
          <a:xfrm>
            <a:off x="11399093" y="2645745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15664"/>
            <a:ext cx="4102100" cy="1005840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安妮: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你女生朋友是哪国人？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nǚshēng péngyou shì nǎ guó rén?</a:t>
            </a:r>
          </a:p>
        </p:txBody>
      </p:sp>
      <p:sp>
        <p:nvSpPr>
          <p:cNvPr id="11" name="Oval 10"/>
          <p:cNvSpPr/>
          <p:nvPr/>
        </p:nvSpPr>
        <p:spPr>
          <a:xfrm>
            <a:off x="371977" y="3797889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75319" y="5067808"/>
            <a:ext cx="2967736" cy="1005840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陈天中: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她也是泰国人。</a:t>
            </a:r>
          </a:p>
          <a:p>
            <a:pPr algn="l"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Tā yě shì Tàiguó rén.</a:t>
            </a:r>
          </a:p>
        </p:txBody>
      </p:sp>
      <p:sp>
        <p:nvSpPr>
          <p:cNvPr id="13" name="Oval 12"/>
          <p:cNvSpPr/>
          <p:nvPr/>
        </p:nvSpPr>
        <p:spPr>
          <a:xfrm>
            <a:off x="11399093" y="4950033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陈</a:t>
            </a:r>
          </a:p>
        </p:txBody>
      </p:sp>
      <p:pic>
        <p:nvPicPr>
          <p:cNvPr id="14" name="slide18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会话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11376"/>
            <a:ext cx="1915160" cy="739125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王一雪: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喂，一飞！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Wèi, Yīfēi!</a:t>
            </a:r>
          </a:p>
        </p:txBody>
      </p:sp>
      <p:sp>
        <p:nvSpPr>
          <p:cNvPr id="7" name="Oval 6"/>
          <p:cNvSpPr/>
          <p:nvPr/>
        </p:nvSpPr>
        <p:spPr>
          <a:xfrm>
            <a:off x="371977" y="1493601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905695" y="2458010"/>
            <a:ext cx="1737360" cy="739125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王一飞: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姐姐！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Jiějie!</a:t>
            </a:r>
          </a:p>
        </p:txBody>
      </p:sp>
      <p:sp>
        <p:nvSpPr>
          <p:cNvPr id="9" name="Oval 8"/>
          <p:cNvSpPr/>
          <p:nvPr/>
        </p:nvSpPr>
        <p:spPr>
          <a:xfrm>
            <a:off x="11399093" y="2340235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04644"/>
            <a:ext cx="2544445" cy="739125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王一雪: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你工作还忙吗？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gōngzuò hái máng ma?</a:t>
            </a:r>
          </a:p>
        </p:txBody>
      </p:sp>
      <p:sp>
        <p:nvSpPr>
          <p:cNvPr id="11" name="Oval 10"/>
          <p:cNvSpPr/>
          <p:nvPr/>
        </p:nvSpPr>
        <p:spPr>
          <a:xfrm>
            <a:off x="371977" y="3186869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2920" y="4151278"/>
            <a:ext cx="3620135" cy="739125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王一飞: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对，还很忙。你也很忙吗？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Duì, hái hěn máng. Nǐ yě hěn máng ma?</a:t>
            </a:r>
          </a:p>
        </p:txBody>
      </p:sp>
      <p:sp>
        <p:nvSpPr>
          <p:cNvPr id="13" name="Oval 12"/>
          <p:cNvSpPr/>
          <p:nvPr/>
        </p:nvSpPr>
        <p:spPr>
          <a:xfrm>
            <a:off x="11399093" y="4033503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97912"/>
            <a:ext cx="3466465" cy="739125"/>
          </a:xfrm>
          <a:prstGeom prst="roundRect">
            <a:avLst/>
          </a:prstGeom>
          <a:solidFill>
            <a:srgbClr val="F4F5F7"/>
          </a:solidFill>
          <a:ln w="6350">
            <a:solidFill>
              <a:srgbClr val="6B76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王一雪: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我不太忙。我们很想你。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bú tài máng. Wǒmen hěn xiǎng nǐ.</a:t>
            </a:r>
          </a:p>
        </p:txBody>
      </p:sp>
      <p:sp>
        <p:nvSpPr>
          <p:cNvPr id="15" name="Oval 14"/>
          <p:cNvSpPr/>
          <p:nvPr/>
        </p:nvSpPr>
        <p:spPr>
          <a:xfrm>
            <a:off x="371977" y="4880137"/>
            <a:ext cx="420624" cy="420624"/>
          </a:xfrm>
          <a:prstGeom prst="ellipse">
            <a:avLst/>
          </a:prstGeom>
          <a:solidFill>
            <a:srgbClr val="2980B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82785" y="5844546"/>
            <a:ext cx="2160270" cy="739125"/>
          </a:xfrm>
          <a:prstGeom prst="roundRect">
            <a:avLst/>
          </a:prstGeom>
          <a:solidFill>
            <a:srgbClr val="F7E4E1"/>
          </a:solidFill>
          <a:ln w="6350">
            <a:solidFill>
              <a:srgbClr val="8E2B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63500" bIns="63500"/>
          <a:lstStyle/>
          <a:p>
            <a:pPr algn="l">
              <a:buNone/>
            </a:pPr>
            <a:r>
              <a:rPr sz="11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王一飞: </a:t>
            </a:r>
            <a:r>
              <a:rPr sz="16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我也想你们。</a:t>
            </a:r>
          </a:p>
          <a:p>
            <a:pPr algn="l">
              <a:buNone/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yě xiǎng nǐmen.</a:t>
            </a:r>
          </a:p>
        </p:txBody>
      </p:sp>
      <p:sp>
        <p:nvSpPr>
          <p:cNvPr id="17" name="Oval 16"/>
          <p:cNvSpPr/>
          <p:nvPr/>
        </p:nvSpPr>
        <p:spPr>
          <a:xfrm>
            <a:off x="11399093" y="5726771"/>
            <a:ext cx="420624" cy="420624"/>
          </a:xfrm>
          <a:prstGeom prst="ellipse">
            <a:avLst/>
          </a:prstGeom>
          <a:solidFill>
            <a:srgbClr val="27AE6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王</a:t>
            </a:r>
          </a:p>
        </p:txBody>
      </p:sp>
      <p:pic>
        <p:nvPicPr>
          <p:cNvPr id="18" name="slide19.mp3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8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“是”字句</a:t>
            </a:r>
          </a:p>
        </p:txBody>
      </p:sp>
      <p:pic>
        <p:nvPicPr>
          <p:cNvPr id="6" name="Picture 5" descr="shi_quoct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729232"/>
            <a:ext cx="429768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138680"/>
            <a:ext cx="2572390" cy="1467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是</a:t>
            </a: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= LÀ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7062" y="2138680"/>
            <a:ext cx="3602553" cy="1467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我是中国人。</a:t>
            </a:r>
          </a:p>
          <a:p>
            <a:pPr>
              <a:buNone/>
            </a:pP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Zhōngguó rén.</a:t>
            </a:r>
          </a:p>
          <a:p>
            <a:pPr>
              <a:buNone/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Trung Quốc.</a:t>
            </a:r>
          </a:p>
          <a:p>
            <a:pPr>
              <a:spcBef>
                <a:spcPts val="800"/>
              </a:spcBef>
              <a:buNone/>
            </a:pPr>
            <a:r>
              <a:rPr sz="18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她是中文老师。</a:t>
            </a:r>
          </a:p>
          <a:p>
            <a:pPr>
              <a:buNone/>
            </a:pP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Tā shì Zhōngwén lǎoshī.</a:t>
            </a:r>
          </a:p>
          <a:p>
            <a:pPr>
              <a:buNone/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Cô ấy là giáo viên tiếng Trung.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06368"/>
            <a:ext cx="6430975" cy="1097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806952"/>
            <a:ext cx="2572390" cy="926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Ai + </a:t>
            </a: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是</a:t>
            </a: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+ tên nước + </a:t>
            </a: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062" y="3806952"/>
            <a:ext cx="3602553" cy="9265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我是法国人。</a:t>
            </a:r>
          </a:p>
          <a:p>
            <a:pPr>
              <a:buNone/>
            </a:pP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Fǎguó rén.</a:t>
            </a:r>
          </a:p>
          <a:p>
            <a:pPr>
              <a:buNone/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Pháp.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834128"/>
            <a:ext cx="6430975" cy="1097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934712"/>
            <a:ext cx="2572390" cy="682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不是</a:t>
            </a: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= KHÔNG PHẢI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77062" y="4934712"/>
            <a:ext cx="3602553" cy="6827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我老师不是法国人。</a:t>
            </a:r>
          </a:p>
          <a:p>
            <a:pPr>
              <a:buNone/>
            </a:pP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lǎoshī bú shì Fǎguó rén.</a:t>
            </a:r>
          </a:p>
          <a:p>
            <a:pPr>
              <a:buNone/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Giáo viên của tôi không phải người Pháp.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11094415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3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🔑 Mẹo ghi nhớ: </a:t>
            </a:r>
            <a:r>
              <a:rPr sz="13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Đừng quên chữ 人!   我是中国 ❌   我是中国人 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结构助词“的”</a:t>
            </a:r>
          </a:p>
        </p:txBody>
      </p:sp>
      <p:pic>
        <p:nvPicPr>
          <p:cNvPr id="6" name="Picture 5" descr="de_sohu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902968"/>
            <a:ext cx="429768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445512"/>
            <a:ext cx="2572390" cy="1467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的</a:t>
            </a: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= CỦA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7062" y="2445512"/>
            <a:ext cx="3602553" cy="1467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你的名字</a:t>
            </a:r>
          </a:p>
          <a:p>
            <a:pPr>
              <a:buNone/>
            </a:pP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de míngzi</a:t>
            </a:r>
          </a:p>
          <a:p>
            <a:pPr>
              <a:buNone/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tên của bạn</a:t>
            </a:r>
          </a:p>
          <a:p>
            <a:pPr>
              <a:spcBef>
                <a:spcPts val="800"/>
              </a:spcBef>
              <a:buNone/>
            </a:pPr>
            <a:r>
              <a:rPr sz="18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白家月的中文老师</a:t>
            </a:r>
          </a:p>
          <a:p>
            <a:pPr>
              <a:buNone/>
            </a:pP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Bái Jiāyuè de Zhōngwén lǎoshī</a:t>
            </a:r>
          </a:p>
          <a:p>
            <a:pPr>
              <a:buNone/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giáo viên tiếng Trung của Bạch Gia Nguyệt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013200"/>
            <a:ext cx="6430975" cy="1097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113784"/>
            <a:ext cx="2572390" cy="154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Sau </a:t>
            </a: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我</a:t>
            </a: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/</a:t>
            </a: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你</a:t>
            </a: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+ người quen → bỏ </a:t>
            </a: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的</a:t>
            </a: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cũng đúng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062" y="4113784"/>
            <a:ext cx="3602553" cy="154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我老师 = 我的老师</a:t>
            </a:r>
          </a:p>
          <a:p>
            <a:pPr>
              <a:buNone/>
            </a:pP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lǎoshī = wǒ de lǎoshī</a:t>
            </a:r>
          </a:p>
          <a:p>
            <a:pPr>
              <a:buNone/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giáo viên của tôi</a:t>
            </a:r>
          </a:p>
          <a:p>
            <a:pPr>
              <a:spcBef>
                <a:spcPts val="800"/>
              </a:spcBef>
              <a:buNone/>
            </a:pPr>
            <a:r>
              <a:rPr sz="18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我姐姐 = 我的姐姐</a:t>
            </a:r>
          </a:p>
          <a:p>
            <a:pPr>
              <a:buNone/>
            </a:pP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jiějie = wǒ de jiějie</a:t>
            </a:r>
          </a:p>
          <a:p>
            <a:pPr>
              <a:buNone/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chị gái của tôi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语法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用“吗”的是非问句</a:t>
            </a:r>
          </a:p>
        </p:txBody>
      </p:sp>
      <p:pic>
        <p:nvPicPr>
          <p:cNvPr id="6" name="Picture 5" descr="na_ma_ho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1902968"/>
            <a:ext cx="4297680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2599944"/>
            <a:ext cx="2572390" cy="1467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吗</a:t>
            </a: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= …KHÔNG?  (trả lời </a:t>
            </a: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对</a:t>
            </a: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/ </a:t>
            </a: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不是</a:t>
            </a: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77062" y="2599944"/>
            <a:ext cx="3602553" cy="14671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你是法国人吗？</a:t>
            </a:r>
          </a:p>
          <a:p>
            <a:pPr>
              <a:buNone/>
            </a:pP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shì Fǎguó rén ma?</a:t>
            </a:r>
          </a:p>
          <a:p>
            <a:pPr>
              <a:buNone/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là người Pháp không?</a:t>
            </a:r>
          </a:p>
          <a:p>
            <a:pPr>
              <a:spcBef>
                <a:spcPts val="800"/>
              </a:spcBef>
              <a:buNone/>
            </a:pPr>
            <a:r>
              <a:rPr sz="18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你也很忙吗？</a:t>
            </a:r>
          </a:p>
          <a:p>
            <a:pPr>
              <a:buNone/>
            </a:pP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yě hěn máng ma?</a:t>
            </a:r>
          </a:p>
          <a:p>
            <a:pPr>
              <a:buNone/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cũng rất bận không?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167632"/>
            <a:ext cx="6430975" cy="10972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268216"/>
            <a:ext cx="2572390" cy="1235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9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哪</a:t>
            </a:r>
            <a:r>
              <a:rPr sz="19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 = NÀO?  (trả lời tên nước)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77062" y="4268216"/>
            <a:ext cx="3602553" cy="1235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你是哪国人？</a:t>
            </a:r>
          </a:p>
          <a:p>
            <a:pPr>
              <a:buNone/>
            </a:pPr>
            <a:r>
              <a:rPr sz="1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shì nǎ guó rén?</a:t>
            </a:r>
          </a:p>
          <a:p>
            <a:pPr>
              <a:buNone/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là người nước nào?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0262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自我介绍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开场问候 — Bước 1: Chào mở đầu</a:t>
            </a:r>
          </a:p>
        </p:txBody>
      </p:sp>
      <p:pic>
        <p:nvPicPr>
          <p:cNvPr id="6" name="Picture 5" descr="intro_ch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2405888"/>
            <a:ext cx="3291840" cy="32918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409728"/>
          <a:ext cx="7436813" cy="32841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0639"/>
                <a:gridCol w="2235108"/>
                <a:gridCol w="3251066"/>
              </a:tblGrid>
              <a:tr h="749808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你好！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hǎo!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chào!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大家好！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Dàjiā hǎo!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Chào mọi người!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1034735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我来介绍一下儿。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lái jièshào yíxiàr.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Mình xin tự giới thiệu một chút.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slide23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介绍 · 一下儿 là từ mở rộng ngoài Bài 3 — chỉ cần nói được cả câu theo mẫu.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7596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0262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自我介绍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10810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基本信息 — Bước 2a: Tên · Quốc tịch</a:t>
            </a:r>
          </a:p>
        </p:txBody>
      </p:sp>
      <p:pic>
        <p:nvPicPr>
          <p:cNvPr id="6" name="Picture 5" descr="intro_ten_quoct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2625344"/>
            <a:ext cx="3291840" cy="32918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861625"/>
          <a:ext cx="7436813" cy="28192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9861"/>
                <a:gridCol w="1874827"/>
                <a:gridCol w="4062125"/>
              </a:tblGrid>
              <a:tr h="749808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1034735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我叫明安。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jiào Míng'ān.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Mình tên là Minh An. (thay bằng tên em)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1034735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我是越南人。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shì Yuènán rén.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Mình là người Việt Nam.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8" name="slide24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Muốn nói "đến từ" thay cho "là người": 我来自越南 (Wǒ láizì Yuènán) — 来自 là từ mở rộng ngoài Bài 3.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77596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0262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自我介绍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10810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基本信息 — Bước 2b: Tuổi · Học/Làm · Sở thích</a:t>
            </a:r>
          </a:p>
        </p:txBody>
      </p:sp>
      <p:pic>
        <p:nvPicPr>
          <p:cNvPr id="6" name="Picture 5" descr="intro_tuoi_sothi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2625344"/>
            <a:ext cx="3291840" cy="32918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050289"/>
          <a:ext cx="7436813" cy="44419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8458"/>
                <a:gridCol w="2014900"/>
                <a:gridCol w="3663455"/>
              </a:tblGrid>
              <a:tr h="681281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94016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我今年九岁。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jīnnián jiǔ suì.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Năm nay mình 9 tuổi. (thay bằng tuổi em)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94016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我是小学生。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shì xiǎoxuéshēng.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Mình là học sinh tiểu học.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94016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我在学校学习。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zài xuéxiào xuéxí.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Mình học ở trường.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940167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我喜欢学习汉语。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 xǐhuan xuéxí Hànyǔ.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Mình thích học tiếng Trung.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8" name="slide25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Người lớn nói nghề nghiệp: 我在……工作 (làm việc tại…) · 我是职员 (nhân viên văn phòng). 今年/岁/在/学习/喜欢/汉语 là từ mở rộng, học kỹ ở các buổi sau.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502623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自我介绍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结束语 — Bước 3: Lời kết</a:t>
            </a:r>
          </a:p>
        </p:txBody>
      </p:sp>
      <p:pic>
        <p:nvPicPr>
          <p:cNvPr id="6" name="Picture 5" descr="intro_ketthu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2405888"/>
            <a:ext cx="3291840" cy="329184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784632"/>
          <a:ext cx="7436814" cy="25343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0384"/>
                <a:gridCol w="2318209"/>
                <a:gridCol w="3338221"/>
              </a:tblGrid>
              <a:tr h="749808"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Tiếng Việt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1034735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很高兴认识大家。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Hěn gāoxìng rènshi dàjiā.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Rất vui được làm quen với mọi người.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谢谢大家！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Xièxie dàjiā!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Cảm ơn mọi người!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8" name="slide26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  <p:sp>
        <p:nvSpPr>
          <p:cNvPr id="9" name="TextBox 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1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📖 很高兴认识 · 谢谢 · 大家 đã học ở Buổi 2 — chỉ cần ghép lại.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4415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3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第二部分 · 生词拓展</a:t>
            </a:r>
          </a:p>
          <a:p>
            <a:pPr algn="ctr">
              <a:spcBef>
                <a:spcPts val="1000"/>
              </a:spcBef>
              <a:buNone/>
            </a:pPr>
            <a:r>
              <a:rPr sz="18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Phần 2 — Từ mở rộng: 7 nước khác + 4 cấp học + trò chơi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094341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1-2/11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yuen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越南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Yuènán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Việt Nam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我是越南人。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Yuènán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Việt Nam.</a:t>
            </a:r>
          </a:p>
        </p:txBody>
      </p:sp>
      <p:pic>
        <p:nvPicPr>
          <p:cNvPr id="9" name="Picture 8" descr="meigu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美国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Měiguó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Mỹ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我是美国人。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Měiguó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Mỹ.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lide28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094341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3-4/11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yingg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英国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Yīngguó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Anh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我是英国人。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Yīngguó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Anh.</a:t>
            </a:r>
          </a:p>
        </p:txBody>
      </p:sp>
      <p:pic>
        <p:nvPicPr>
          <p:cNvPr id="9" name="Picture 8" descr="rib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日本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Rìběn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Nhật Bản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我是日本人。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Rìběn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Nhật.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lide29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094341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5-6/11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hang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韩国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Hánguó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Hàn Quốc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我是韩国人。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Hánguó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Hàn Quốc.</a:t>
            </a:r>
          </a:p>
        </p:txBody>
      </p:sp>
      <p:pic>
        <p:nvPicPr>
          <p:cNvPr id="9" name="Picture 8" descr="degu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德国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Déguó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Đức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我是德国人。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Déguó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Đức.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lide30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094341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7-8/11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aodaliy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澳大利亚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Àodàlìyà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Úc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我是澳大利亚人。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Àodàlìyà rén.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người Úc.</a:t>
            </a:r>
          </a:p>
        </p:txBody>
      </p:sp>
      <p:pic>
        <p:nvPicPr>
          <p:cNvPr id="9" name="Picture 8" descr="xiaoxueshe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小学生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xiǎoxuéshēng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học sinh tiểu học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我是小学生。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xiǎoxuéshēng.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học sinh tiểu học.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lide31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2212685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9-10/11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chuzhongshe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4963" y="1611376"/>
            <a:ext cx="1920240" cy="1920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初中生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chūzhōngshēng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học sinh cấp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我是初中生。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chūzhōngshēng.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học sinh cấp 2.</a:t>
            </a:r>
          </a:p>
        </p:txBody>
      </p:sp>
      <p:pic>
        <p:nvPicPr>
          <p:cNvPr id="9" name="Picture 8" descr="gaozhongshe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490" y="1611376"/>
            <a:ext cx="192024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70167" y="3641344"/>
            <a:ext cx="5272887" cy="14025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4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高中生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gāozhōngshēng</a:t>
            </a:r>
          </a:p>
          <a:p>
            <a:pPr algn="ctr">
              <a:spcBef>
                <a:spcPts val="300"/>
              </a:spcBef>
              <a:buNone/>
            </a:pPr>
            <a:r>
              <a:rPr sz="15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học sinh cấp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0167" y="5190236"/>
            <a:ext cx="5272887" cy="13020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buNone/>
            </a:pPr>
            <a:r>
              <a:rPr sz="17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我是高中生。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gāozhōngshēng.</a:t>
            </a:r>
          </a:p>
          <a:p>
            <a:pPr algn="ctr">
              <a:spcBef>
                <a:spcPts val="200"/>
              </a:spcBef>
              <a:buNone/>
            </a:pPr>
            <a:r>
              <a:rPr sz="13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học sinh cấp 3.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5847" y="1611376"/>
            <a:ext cx="13716" cy="4880864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slide32.mp3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975998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生词拓展 11/11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/>
            </a:r>
          </a:p>
        </p:txBody>
      </p:sp>
      <p:pic>
        <p:nvPicPr>
          <p:cNvPr id="6" name="Picture 5" descr="daxueshe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987" y="1611376"/>
            <a:ext cx="310896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57496"/>
            <a:ext cx="4659654" cy="1634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sz="54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大学生</a:t>
            </a:r>
          </a:p>
          <a:p>
            <a:pPr algn="ctr">
              <a:spcBef>
                <a:spcPts val="600"/>
              </a:spcBef>
              <a:buNone/>
            </a:pPr>
            <a:r>
              <a:rPr sz="22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dàxuéshēng</a:t>
            </a:r>
          </a:p>
          <a:p>
            <a:pPr algn="ctr">
              <a:spcBef>
                <a:spcPts val="400"/>
              </a:spcBef>
              <a:buNone/>
            </a:pPr>
            <a:r>
              <a:rPr sz="18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sinh viên đại học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5494" y="1611376"/>
            <a:ext cx="5977561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我是大学生。</a:t>
            </a:r>
          </a:p>
          <a:p>
            <a:pPr>
              <a:spcBef>
                <a:spcPts val="200"/>
              </a:spcBef>
              <a:buNone/>
            </a:pPr>
            <a:r>
              <a:rPr sz="14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     Wǒ shì dàxuéshēng.</a:t>
            </a:r>
          </a:p>
          <a:p>
            <a:pPr>
              <a:spcBef>
                <a:spcPts val="100"/>
              </a:spcBef>
              <a:buNone/>
            </a:pPr>
            <a:r>
              <a:rPr sz="14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   Tôi là sinh viên đại học.</a:t>
            </a:r>
          </a:p>
        </p:txBody>
      </p:sp>
      <p:pic>
        <p:nvPicPr>
          <p:cNvPr id="9" name="slide33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游戏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配对游戏 (1/5) · 课本生词</a:t>
            </a:r>
          </a:p>
        </p:txBody>
      </p:sp>
      <p:pic>
        <p:nvPicPr>
          <p:cNvPr id="6" name="Picture 5" descr="taigu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627" y="1611376"/>
            <a:ext cx="1483698" cy="1483698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  <p:pic>
        <p:nvPicPr>
          <p:cNvPr id="8" name="Picture 7" descr="r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604" y="1611376"/>
            <a:ext cx="1483698" cy="1483698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3638617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  <p:pic>
        <p:nvPicPr>
          <p:cNvPr id="10" name="Picture 9" descr="fagu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627" y="3287098"/>
            <a:ext cx="1483698" cy="148369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48640" y="3287098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  <p:pic>
        <p:nvPicPr>
          <p:cNvPr id="12" name="Picture 11" descr="gu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604" y="3287098"/>
            <a:ext cx="1483698" cy="1483698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638617" y="3287098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  <p:pic>
        <p:nvPicPr>
          <p:cNvPr id="14" name="Picture 13" descr="zhonggu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627" y="4962820"/>
            <a:ext cx="1483698" cy="1483698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48640" y="4962820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2330" y="1611376"/>
            <a:ext cx="474072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A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中国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Zhōngguó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法国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Fǎguó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guó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泰国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Tàiguó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E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人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rén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游戏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配对游戏 (2/5) · 课本生词</a:t>
            </a:r>
          </a:p>
        </p:txBody>
      </p:sp>
      <p:pic>
        <p:nvPicPr>
          <p:cNvPr id="6" name="Picture 5" descr="jiej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8627" y="1611376"/>
            <a:ext cx="1483698" cy="1483698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  <p:pic>
        <p:nvPicPr>
          <p:cNvPr id="8" name="Picture 7" descr="t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8604" y="1611376"/>
            <a:ext cx="1483698" cy="1483698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3638617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  <p:pic>
        <p:nvPicPr>
          <p:cNvPr id="10" name="Picture 9" descr="zh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8627" y="3287098"/>
            <a:ext cx="1483698" cy="1483698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48640" y="3287098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  <p:pic>
        <p:nvPicPr>
          <p:cNvPr id="12" name="Picture 11" descr="she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604" y="3287098"/>
            <a:ext cx="1483698" cy="1483698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638617" y="3287098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  <p:pic>
        <p:nvPicPr>
          <p:cNvPr id="14" name="Picture 13" descr="mang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8627" y="4962820"/>
            <a:ext cx="1483698" cy="1483698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548640" y="4962820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2330" y="1611376"/>
            <a:ext cx="474072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A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谁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shéi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她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tā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zhè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忙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máng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E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姐姐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jiějie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游戏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配对游戏 (3/5) · 生词拓展</a:t>
            </a:r>
          </a:p>
        </p:txBody>
      </p:sp>
      <p:pic>
        <p:nvPicPr>
          <p:cNvPr id="6" name="Picture 5" descr="rib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696" y="1611376"/>
            <a:ext cx="2321560" cy="2321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  <p:pic>
        <p:nvPicPr>
          <p:cNvPr id="8" name="Picture 7" descr="meigu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9673" y="1611376"/>
            <a:ext cx="2321560" cy="232156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3638617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  <p:pic>
        <p:nvPicPr>
          <p:cNvPr id="10" name="Picture 9" descr="yinggu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96" y="4124960"/>
            <a:ext cx="2321560" cy="23215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48640" y="4124960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  <p:pic>
        <p:nvPicPr>
          <p:cNvPr id="12" name="Picture 11" descr="yuen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9673" y="4124960"/>
            <a:ext cx="2321560" cy="23215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638617" y="4124960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2330" y="1611376"/>
            <a:ext cx="474072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A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美国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Měiguó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日本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Rìběn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英国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Yīngguó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越南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Yuènán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游戏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配对游戏 (4/5) · 生词拓展</a:t>
            </a:r>
          </a:p>
        </p:txBody>
      </p:sp>
      <p:pic>
        <p:nvPicPr>
          <p:cNvPr id="6" name="Picture 5" descr="xiaoxueshe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696" y="1611376"/>
            <a:ext cx="2321560" cy="2321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  <p:pic>
        <p:nvPicPr>
          <p:cNvPr id="8" name="Picture 7" descr="hangu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9673" y="1611376"/>
            <a:ext cx="2321560" cy="232156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3638617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  <p:pic>
        <p:nvPicPr>
          <p:cNvPr id="10" name="Picture 9" descr="aodaliy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96" y="4124960"/>
            <a:ext cx="2321560" cy="23215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48640" y="4124960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  <p:pic>
        <p:nvPicPr>
          <p:cNvPr id="12" name="Picture 11" descr="degu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9673" y="4124960"/>
            <a:ext cx="2321560" cy="23215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638617" y="4124960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2330" y="1611376"/>
            <a:ext cx="474072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A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德国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Déguó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澳大利亚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Àodàlìyà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韩国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Hánguó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小学生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xiǎoxuéshēng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37056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>
              <a:buNone/>
            </a:pPr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游戏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6421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buNone/>
            </a:pPr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配对游戏 (5/5) · 生词拓展</a:t>
            </a:r>
          </a:p>
        </p:txBody>
      </p:sp>
      <p:pic>
        <p:nvPicPr>
          <p:cNvPr id="6" name="Picture 5" descr="gaozhongshe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696" y="1611376"/>
            <a:ext cx="2321560" cy="2321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548640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1</a:t>
            </a:r>
          </a:p>
        </p:txBody>
      </p:sp>
      <p:pic>
        <p:nvPicPr>
          <p:cNvPr id="8" name="Picture 7" descr="daxueshe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9673" y="1611376"/>
            <a:ext cx="2321560" cy="232156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3638617" y="1611376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2</a:t>
            </a:r>
          </a:p>
        </p:txBody>
      </p:sp>
      <p:pic>
        <p:nvPicPr>
          <p:cNvPr id="10" name="Picture 9" descr="chuzhongshe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696" y="4124960"/>
            <a:ext cx="2321560" cy="23215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548640" y="4124960"/>
            <a:ext cx="329184" cy="329184"/>
          </a:xfrm>
          <a:prstGeom prst="ellipse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2330" y="1611376"/>
            <a:ext cx="4740725" cy="48808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A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初中生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chūzhōngshēng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大学生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dàxuéshēng</a:t>
            </a:r>
          </a:p>
          <a:p>
            <a:pPr>
              <a:spcBef>
                <a:spcPts val="1400"/>
              </a:spcBef>
              <a:buNone/>
            </a:pPr>
            <a:r>
              <a:rPr sz="18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C  </a:t>
            </a:r>
            <a:r>
              <a:rPr sz="22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高中生</a:t>
            </a:r>
            <a:r>
              <a:rPr sz="1300" b="0" i="1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  gāozhōngshēng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