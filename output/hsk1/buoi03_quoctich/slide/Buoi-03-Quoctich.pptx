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microsoft.com/office/2007/relationships/media" Target="../media/media12.mp3"/><Relationship Id="rId5" Type="http://schemas.openxmlformats.org/officeDocument/2006/relationships/video" Target="../media/media12.mp3"/><Relationship Id="rId6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microsoft.com/office/2007/relationships/media" Target="../media/media13.mp3"/><Relationship Id="rId5" Type="http://schemas.openxmlformats.org/officeDocument/2006/relationships/video" Target="../media/media13.mp3"/><Relationship Id="rId6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microsoft.com/office/2007/relationships/media" Target="../media/media14.mp3"/><Relationship Id="rId5" Type="http://schemas.openxmlformats.org/officeDocument/2006/relationships/video" Target="../media/media14.mp3"/><Relationship Id="rId6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microsoft.com/office/2007/relationships/media" Target="../media/media17.mp3"/><Relationship Id="rId5" Type="http://schemas.openxmlformats.org/officeDocument/2006/relationships/video" Target="../media/media17.mp3"/><Relationship Id="rId6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microsoft.com/office/2007/relationships/media" Target="../media/media18.mp3"/><Relationship Id="rId5" Type="http://schemas.openxmlformats.org/officeDocument/2006/relationships/video" Target="../media/media18.mp3"/><Relationship Id="rId6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microsoft.com/office/2007/relationships/media" Target="../media/media25.mp3"/><Relationship Id="rId4" Type="http://schemas.openxmlformats.org/officeDocument/2006/relationships/video" Target="../media/media25.mp3"/><Relationship Id="rId5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media" Target="../media/media26.mp3"/><Relationship Id="rId4" Type="http://schemas.openxmlformats.org/officeDocument/2006/relationships/video" Target="../media/media26.mp3"/><Relationship Id="rId5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7.mp3"/><Relationship Id="rId3" Type="http://schemas.openxmlformats.org/officeDocument/2006/relationships/video" Target="../media/media27.mp3"/><Relationship Id="rId4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我是中国人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Tôi là người Trung Quốc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Buổi 3</a:t>
            </a:r>
          </a:p>
        </p:txBody>
      </p:sp>
      <p:pic>
        <p:nvPicPr>
          <p:cNvPr id="4" name="Picture 3" descr="icon_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46304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hôm 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944"/>
              </a:spcBef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mình là người nước nào: 我是……人 (và 10 tên nước hay gặp).</a:t>
            </a:r>
          </a:p>
          <a:p>
            <a:pPr>
              <a:spcBef>
                <a:spcPts val="1944"/>
              </a:spcBef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的 để nói "của ai" — và biết khi nào được BỎ 的.</a:t>
            </a:r>
          </a:p>
          <a:p>
            <a:pPr>
              <a:spcBef>
                <a:spcPts val="1944"/>
              </a:spcBef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"đây là ai?" bằng 这是谁, giới thiệu người khác bằng 这是我……</a:t>
            </a:r>
          </a:p>
          <a:p>
            <a:pPr>
              <a:spcBef>
                <a:spcPts val="1944"/>
              </a:spcBef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quốc tịch người khác bằng 你是哪国人？</a:t>
            </a:r>
          </a:p>
          <a:p>
            <a:pPr>
              <a:spcBef>
                <a:spcPts val="1944"/>
              </a:spcBef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Tự giới thiệu bản thân bằng vài câu đơn giản (chào hỏi, tên, quốc tịch, đang học cấp nào).</a:t>
            </a:r>
          </a:p>
        </p:txBody>
      </p:sp>
      <p:pic>
        <p:nvPicPr>
          <p:cNvPr id="7" name="Picture 6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人</a:t>
            </a:r>
          </a:p>
        </p:txBody>
      </p:sp>
      <p:pic>
        <p:nvPicPr>
          <p:cNvPr id="6" name="Picture 5" descr="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人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rén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người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中国人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Zhōngguó rén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người Trung Quốc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法国人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Fǎguó rén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người Pháp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越南人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Yuènán rén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người Việt Nam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的</a:t>
            </a:r>
          </a:p>
        </p:txBody>
      </p:sp>
      <p:pic>
        <p:nvPicPr>
          <p:cNvPr id="6" name="Picture 5" descr="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particle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我的名字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de míngzi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tên của tôi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你的老师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de lǎoshī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giáo viên của bạn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白家月的中文老师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Bái Jiāyuè de Zhōngwén lǎoshī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giáo viên tiếng Trung của Bạch Gia Nguyệt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中国</a:t>
            </a:r>
          </a:p>
        </p:txBody>
      </p:sp>
      <p:pic>
        <p:nvPicPr>
          <p:cNvPr id="6" name="Picture 5" descr="zhongg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中国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Zhōngguó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Trung Quốc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我是中国人。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shì Zhōngguó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là người Trung Quốc.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中国老师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Zhōngguó lǎoshī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giáo viên (người) Trung Quốc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她是中国人。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shì Zhōngguó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ấy là người Trung Quốc.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她 (tā) = "cô ấy" — từ mới nhỏ, sẽ học kỹ ở buổi sau, dùng tạm ở đây theo đúng câu gốc trong sách.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法国</a:t>
            </a:r>
          </a:p>
        </p:txBody>
      </p:sp>
      <p:pic>
        <p:nvPicPr>
          <p:cNvPr id="6" name="Picture 5" descr="fag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法国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Fǎguó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我是法国人。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shì Fǎguó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là người Pháp.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法国老师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Fǎguó lǎoshī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giáo viên người Pháp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你是法国人吗？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shì Fǎguó rén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là người Pháp à?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中文</a:t>
            </a:r>
          </a:p>
        </p:txBody>
      </p:sp>
      <p:pic>
        <p:nvPicPr>
          <p:cNvPr id="6" name="Picture 5" descr="zhong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中文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Zhōngwén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tiếng Trung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中文老师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Zhōngwén lǎoshī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giáo viên tiếng Trung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你的中文很好。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de Zhōngwén hěn hǎo.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Tiếng Trung của bạn giỏi lắm.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中文名字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Zhōngwén míngzi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tên tiếng Trung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这</a:t>
            </a:r>
          </a:p>
        </p:txBody>
      </p:sp>
      <p:pic>
        <p:nvPicPr>
          <p:cNvPr id="6" name="Picture 5" descr="z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đây, này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这是谁？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shéi?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ai?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这是我女朋友。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wǒ nǚpéngyou.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bạn gái của tôi.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这是我的名字。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wǒ de míngzi.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tên của tôi.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谁</a:t>
            </a:r>
          </a:p>
        </p:txBody>
      </p:sp>
      <p:pic>
        <p:nvPicPr>
          <p:cNvPr id="6" name="Picture 5" descr="she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谁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shéi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这是谁？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shéi?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ai?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你是谁？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shì shéi?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là ai?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她是谁？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shì shéi?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ấy là ai?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女朋友</a:t>
            </a:r>
          </a:p>
        </p:txBody>
      </p:sp>
      <p:pic>
        <p:nvPicPr>
          <p:cNvPr id="6" name="Picture 5" descr="nvpeng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女朋友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nǚpéngyou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gái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这是我女朋友。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wǒ nǚpéngyou.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bạn gái của tôi.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你女朋友是哪国人？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nǚpéngyou shì nǎ guó rén?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gái của bạn là người nước nào?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她是我女朋友。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shì wǒ nǚpéngyou.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ấy là bạn gái của tôi.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哪</a:t>
            </a:r>
          </a:p>
        </p:txBody>
      </p:sp>
      <p:pic>
        <p:nvPicPr>
          <p:cNvPr id="6" name="Picture 5" descr="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nǎ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nào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你是哪国人？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shì nǎ guó rén?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là người nước nào?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你女朋友是哪国人？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nǚpéngyou shì nǎ guó rén?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gái của bạn là người nước nào?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老师是哪国人？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Lǎoshī shì nǎ guó rén?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Giáo viên là người nước nào?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都</a:t>
            </a:r>
          </a:p>
        </p:txBody>
      </p:sp>
      <p:pic>
        <p:nvPicPr>
          <p:cNvPr id="6" name="Picture 5" descr="d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dōu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我们都是学生。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dōu shì xuésheng.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tôi đều là học sinh.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你们都是老师吗？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Nǐmen dōu shì lǎoshī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Các bạn đều là giáo viên à?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我们都是中国人。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dōu shì Zhōngguó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tôi đều là người Trung Quốc.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都 sẽ học kỹ hơn ở Buổi 12 — ở đây dùng trước vì rất tiện khi nói về nhóm người.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泰国</a:t>
            </a:r>
          </a:p>
        </p:txBody>
      </p:sp>
      <p:pic>
        <p:nvPicPr>
          <p:cNvPr id="6" name="Picture 5" descr="taig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泰国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Tàiguó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Thái 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她也是泰国人。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yě shì Tàiguó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Cô ấy cũng là người Thái Lan.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你是泰国人吗？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shì Tàiguó rén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là người Thái Lan à?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我不是泰国人。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bú shì Tàiguó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không phải người Thái Lan.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12-13/23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越南 · 美国</a:t>
            </a:r>
          </a:p>
        </p:txBody>
      </p:sp>
      <p:pic>
        <p:nvPicPr>
          <p:cNvPr id="6" name="Picture 5" descr="yue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611376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越南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Yuènán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Việt Nam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我是越南人。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Yuènán 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người Việt Nam.</a:t>
            </a:r>
          </a:p>
        </p:txBody>
      </p:sp>
      <p:pic>
        <p:nvPicPr>
          <p:cNvPr id="9" name="Picture 8" descr="meigu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11376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美国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Měiguó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我是美国人。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Měiguó 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người Mỹ.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14-15/23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英国 · 日本</a:t>
            </a:r>
          </a:p>
        </p:txBody>
      </p:sp>
      <p:pic>
        <p:nvPicPr>
          <p:cNvPr id="6" name="Picture 5" descr="yingg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611376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英国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Yīngguó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我是英国人。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Yīngguó 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người Anh.</a:t>
            </a:r>
          </a:p>
        </p:txBody>
      </p:sp>
      <p:pic>
        <p:nvPicPr>
          <p:cNvPr id="9" name="Picture 8" descr="rib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11376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日本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Rìběn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Nhật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她也是日本人。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yě shì Rìběn 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cũng là người Nhật.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16-17/23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韩国 · 德国</a:t>
            </a:r>
          </a:p>
        </p:txBody>
      </p:sp>
      <p:pic>
        <p:nvPicPr>
          <p:cNvPr id="6" name="Picture 5" descr="hang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611376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韩国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Hánguó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Hàn Quốc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我们都是韩国人。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dōu shì Hánguó 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tôi đều là người Hàn Quốc.</a:t>
            </a:r>
          </a:p>
        </p:txBody>
      </p:sp>
      <p:pic>
        <p:nvPicPr>
          <p:cNvPr id="9" name="Picture 8" descr="degu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11376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德国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Déguó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Đức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你是德国人吗？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shì Déguó rén ma?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là người Đức à?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18/23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澳大利亚</a:t>
            </a:r>
          </a:p>
        </p:txBody>
      </p:sp>
      <p:pic>
        <p:nvPicPr>
          <p:cNvPr id="6" name="Picture 5" descr="aodali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澳大利亚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propn.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Àodàlìyà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我是澳大利亚人。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shì Àodàlìyà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là người Úc.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你是澳大利亚人吗？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shì Àodàlìyà rén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là người Úc à?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我们都是澳大利亚人。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dōu shì Àodàlìyà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tôi đều là người Úc.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19/23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男朋友</a:t>
            </a:r>
          </a:p>
        </p:txBody>
      </p:sp>
      <p:pic>
        <p:nvPicPr>
          <p:cNvPr id="6" name="Picture 5" descr="nanpeng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611376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男朋友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nánpéngyou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trai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这是我男朋友。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shì wǒ nánpéngyou.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Đây là bạn trai của tôi.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你男朋友是哪国人？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nánpéngyou shì nǎ guó rén?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trai của bạn là người nước nào?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我男朋友是中国人。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nánpéngyou shì Zhōngguó rén.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trai của tôi là người Trung Quốc.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20-21/23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小学生 · 初中生</a:t>
            </a:r>
          </a:p>
        </p:txBody>
      </p:sp>
      <p:pic>
        <p:nvPicPr>
          <p:cNvPr id="6" name="Picture 5" descr="xiaoxue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611376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小学生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xiǎoxuéshēng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sinh tiểu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我是小学生。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xiǎoxuéshēng.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học sinh tiểu học.</a:t>
            </a:r>
          </a:p>
        </p:txBody>
      </p:sp>
      <p:pic>
        <p:nvPicPr>
          <p:cNvPr id="9" name="Picture 8" descr="chuzhongsh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11376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初中生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chūzhōngshēng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sinh cấp 2 (THCS)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我不是初中生，我是小学生。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shì chūzhōngshēng, wǒ shì xiǎoxuéshēng.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không phải học sinh cấp 2, tôi là học sinh tiểu học.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22-23/23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高中生 · 大学生</a:t>
            </a:r>
          </a:p>
        </p:txBody>
      </p:sp>
      <p:pic>
        <p:nvPicPr>
          <p:cNvPr id="6" name="Picture 5" descr="gaozhongs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611376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高中生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gāozhōngshēng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sinh cấp 3 (THPT)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我男朋友是高中生。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nánpéngyou shì gāozhōngshēng.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trai của tôi là học sinh cấp 3.</a:t>
            </a:r>
          </a:p>
        </p:txBody>
      </p:sp>
      <p:pic>
        <p:nvPicPr>
          <p:cNvPr id="9" name="Picture 8" descr="daxueshe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11376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大学生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dàxuéshēng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sinh viên đại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我女朋友也是大学生。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nǚpéngyou yě shì dàxuéshēng.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gái của tôi cũng là sinh viên đại học.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1 — 李文 và 白家月 gặp lại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41300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我是中国人。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Zhōngguó rén.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455" y="2763520"/>
            <a:ext cx="213360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我是法国人。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Fǎguó rén.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8675" y="3915664"/>
            <a:ext cx="456438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我的中文老师也是中国人。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de Zhōngwén lǎoshī yě shì Zhōngguó rén.</a:t>
            </a:r>
          </a:p>
        </p:txBody>
      </p:sp>
      <p:sp>
        <p:nvSpPr>
          <p:cNvPr id="11" name="Oval 10"/>
          <p:cNvSpPr/>
          <p:nvPr/>
        </p:nvSpPr>
        <p:spPr>
          <a:xfrm>
            <a:off x="11399093" y="3797889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2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 — 安妮 xem ảnh trong điện thoại 陈天中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0288"/>
            <a:ext cx="173736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这是谁？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shéi?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93251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2265" y="3202432"/>
            <a:ext cx="251079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这是我女朋友。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wǒ nǚpéngyou.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308465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54576"/>
            <a:ext cx="319532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你女朋友是哪国人？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nǚpéngyou shì nǎ guó rén?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42368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2265" y="5506720"/>
            <a:ext cx="251079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她也是泰国人。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yě shì Tàiguó rén.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53889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4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是 — nói mình là người nước nào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09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 nối 2 phần để nói AI ĐÓ LÀ GÌ/AI. Nói quốc tịch: [Ai] + 是 + [nước] + 人. Phủ định thêm 不 ngay TRƯỚC 是.</a:t>
            </a:r>
          </a:p>
          <a:p>
            <a:pPr>
              <a:spcBef>
                <a:spcPts val="130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我是法国人。</a:t>
            </a:r>
          </a:p>
          <a:p>
            <a:pPr>
              <a:spcBef>
                <a:spcPts val="19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Fǎguó rén.</a:t>
            </a:r>
          </a:p>
          <a:p>
            <a:pPr>
              <a:spcBef>
                <a:spcPts val="19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người Pháp.</a:t>
            </a:r>
          </a:p>
          <a:p>
            <a:pPr>
              <a:spcBef>
                <a:spcPts val="130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她是中文老师。</a:t>
            </a:r>
          </a:p>
          <a:p>
            <a:pPr>
              <a:spcBef>
                <a:spcPts val="19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shì Zhōngwén lǎoshī.</a:t>
            </a:r>
          </a:p>
          <a:p>
            <a:pPr>
              <a:spcBef>
                <a:spcPts val="19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là giáo viên tiếng Trung.</a:t>
            </a:r>
          </a:p>
          <a:p>
            <a:pPr>
              <a:spcBef>
                <a:spcPts val="130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我老师不是法国人。</a:t>
            </a:r>
          </a:p>
          <a:p>
            <a:pPr>
              <a:spcBef>
                <a:spcPts val="195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lǎoshī bú shì Fǎguó rén.</a:t>
            </a:r>
          </a:p>
          <a:p>
            <a:pPr>
              <a:spcBef>
                <a:spcPts val="195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Giáo viên của tôi không phải người Pháp.</a:t>
            </a:r>
          </a:p>
          <a:p>
            <a:pPr>
              <a:spcBef>
                <a:spcPts val="979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3 câu trên lấy nguyên từ sách. Nhớ luôn có 人 sau tên nước — thiếu 人 là sai.</a:t>
            </a:r>
          </a:p>
        </p:txBody>
      </p:sp>
      <p:pic>
        <p:nvPicPr>
          <p:cNvPr id="7" name="Picture 6" descr="icon_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975" y="2050288"/>
            <a:ext cx="4094480" cy="4094480"/>
          </a:xfrm>
          <a:prstGeom prst="rect">
            <a:avLst/>
          </a:prstGeom>
        </p:spPr>
      </p:pic>
      <p:pic>
        <p:nvPicPr>
          <p:cNvPr id="8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我是中国 ❌ — phải nói 我是中国人 ✅ (thiếu 人 là câu sai, không phải 'tôi là Trung Quốc' như tiếng Việt hay nói tắt).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的 — nói CỦA AI (sở hữu)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53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 nghĩa là "CỦA". Đặt giữa: [người] + 的 + [đồ vật/người khác]. Nếu trước 的 là TÔI/BẠN và sau 的 là người thân/thầy cô/bạn học thì được BỎ 的.</a:t>
            </a:r>
          </a:p>
          <a:p>
            <a:pPr>
              <a:spcBef>
                <a:spcPts val="1374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你的名字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de míngzi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tên của bạn</a:t>
            </a:r>
          </a:p>
          <a:p>
            <a:pPr>
              <a:spcBef>
                <a:spcPts val="1374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白家月的中文老师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Bái Jiāyuè de Zhōngwén lǎoshī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giáo viên tiếng Trung của Bạch Gia Nguyệt</a:t>
            </a:r>
          </a:p>
          <a:p>
            <a:pPr>
              <a:spcBef>
                <a:spcPts val="1374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我老师／我学生／你同学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lǎoshī / wǒ xuésheng / nǐ tóngxué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giáo viên của tôi / học sinh của tôi / bạn học của bạn</a:t>
            </a:r>
          </a:p>
          <a:p>
            <a:pPr>
              <a:spcBef>
                <a:spcPts val="1031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Câu ví dụ 3 không cần 的 vẫn đúng — vì trước là đại từ (我/你), sau là người quen thuộc (老师/学生/同学).</a:t>
            </a:r>
          </a:p>
        </p:txBody>
      </p:sp>
      <p:pic>
        <p:nvPicPr>
          <p:cNvPr id="7" name="Picture 6" descr="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729232"/>
            <a:ext cx="4297680" cy="4297680"/>
          </a:xfrm>
          <a:prstGeom prst="rect">
            <a:avLst/>
          </a:prstGeom>
        </p:spPr>
      </p:pic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phải lúc nào cũng bắt buộc có 的 — nói ngắn 我老师 nghe tự nhiên hơn 我的老师 khi nói về người thân/thầy cô/bạn học.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哪 và 吗 — 2 cách hỏi quốc tịch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09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你是哪国人？ = hỏi MỞ, chưa đoán trước (nước nào?). 你是法国人吗？ = đoán thử 1 nước rồi hỏi có đúng không.</a:t>
            </a:r>
          </a:p>
          <a:p>
            <a:pPr>
              <a:spcBef>
                <a:spcPts val="1377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你是哪国人？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shì nǎ guó rén?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là người nước nào?</a:t>
            </a:r>
          </a:p>
          <a:p>
            <a:pPr>
              <a:spcBef>
                <a:spcPts val="1377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你是法国人吗？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shì Fǎguó rén ma?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là người Pháp à?</a:t>
            </a:r>
          </a:p>
          <a:p>
            <a:pPr>
              <a:spcBef>
                <a:spcPts val="1377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你女朋友是哪国人？</a:t>
            </a:r>
          </a:p>
          <a:p>
            <a:pPr>
              <a:spcBef>
                <a:spcPts val="206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nǚpéngyou shì nǎ guó rén?</a:t>
            </a:r>
          </a:p>
          <a:p>
            <a:pPr>
              <a:spcBef>
                <a:spcPts val="206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gái của bạn là người nước nào?</a:t>
            </a:r>
          </a:p>
          <a:p>
            <a:pPr>
              <a:spcBef>
                <a:spcPts val="1033"/>
              </a:spcBef>
              <a:buNone/>
            </a:pPr>
            <a:r>
              <a:rPr sz="11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哪 (nǎ, "nào") phát âm gần giống 那 (nà, "đó/kia") — đừng nhầm 2 chữ này.</a:t>
            </a:r>
          </a:p>
        </p:txBody>
      </p:sp>
      <p:pic>
        <p:nvPicPr>
          <p:cNvPr id="7" name="Picture 6" descr="she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975" y="2050288"/>
            <a:ext cx="4094480" cy="4094480"/>
          </a:xfrm>
          <a:prstGeom prst="rect">
            <a:avLst/>
          </a:prstGeom>
        </p:spPr>
      </p:pic>
      <p:pic>
        <p:nvPicPr>
          <p:cNvPr id="8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 câu hỏi có 哪 → phải trả lời TÊN NƯỚC cụ thể. Nghe câu hỏi có 吗 → chỉ cần 是/不是.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 câu khẩu ngữ (1/2)</a:t>
            </a:r>
          </a:p>
        </p:txBody>
      </p:sp>
      <p:pic>
        <p:nvPicPr>
          <p:cNvPr id="6" name="Picture 5" descr="icon_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405888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11377"/>
          <a:ext cx="7436814" cy="488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548"/>
                <a:gridCol w="2744212"/>
                <a:gridCol w="3293054"/>
              </a:tblGrid>
              <a:tr h="649051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你是哪国人？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shì nǎ guó rén?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là người nước nào?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我是中国人。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shì Zhōngguó rén.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là người Trung Quốc.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我是法国人。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shì Fǎguó rén.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là người Pháp.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89569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我是越南人。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shì Yuènán rén.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là người Việt Nam.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49051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这是谁？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shì shéi?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Đây là ai?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2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 câu khẩu ngữ (2/2)</a:t>
            </a:r>
          </a:p>
        </p:txBody>
      </p:sp>
      <p:pic>
        <p:nvPicPr>
          <p:cNvPr id="6" name="Picture 5" descr="icon_mega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405888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11377"/>
          <a:ext cx="7436814" cy="488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57"/>
                <a:gridCol w="2660530"/>
                <a:gridCol w="3484027"/>
              </a:tblGrid>
              <a:tr h="58947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81347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这是我女朋友。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shì wǒ nǚpéngyou.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Đây là bạn gái của tôi.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81347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你女朋友是哪国人？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nǚpéngyou shì nǎ guó rén?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gái của bạn là người nước nào?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81347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她也是泰国人。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 yě shì Tàiguó rén.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Cô ấy cũng là người Thái Lan.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103747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我的中文老师也是中国人。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de Zhōngwén lǎoshī yě shì Zhōngguó rén.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Giáo viên tiếng Trung của tôi cũng là người Trung Quốc.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81347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你的中文很好。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de Zhōngwén hěn hǎo.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Trung của bạn giỏi lắm.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2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Mẫu câu giới thiệu bản thân (1/2) — dùng ngay hôm nay</a:t>
            </a:r>
          </a:p>
        </p:txBody>
      </p:sp>
      <p:pic>
        <p:nvPicPr>
          <p:cNvPr id="6" name="Picture 5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2625344"/>
            <a:ext cx="3291840" cy="32918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50288"/>
          <a:ext cx="7436814" cy="4441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765"/>
                <a:gridCol w="3034385"/>
                <a:gridCol w="2828664"/>
              </a:tblGrid>
              <a:tr h="622122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2212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大家好！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Dàjiā hǎo!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Chào mọi người!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85852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很高兴认识大家。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Hěn gāoxìng rènshi dàjiā.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Rất vui được làm quen với mọi người.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212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我叫……。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jiào...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tên là…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2122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我是越南人。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shì Yuènán rén.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là người Việt Nam.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1094935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我是小学生／初中生／高中生／大学生。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shì xiǎoxuéshēng/chūzhōngshēng/gāozhōngshēng/dàxuéshēng.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là học sinh tiểu học/cấp 2/cấp 3/sinh viên đại học.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2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Mẫu câu giới thiệu bản thân (2/2) — xem trước, học kỹ ở buổi sau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06624"/>
          <a:ext cx="11094414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6821"/>
                <a:gridCol w="2741142"/>
                <a:gridCol w="6636451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我今年……岁。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jīnnián... suì.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Năm nay tôi … tuổi. (岁 → học kỹ ở Buổi 4)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我来自越南。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láizì Yuènán.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đến từ Việt Nam. (来自 → ngoài 300 từ chuẩn)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我喜欢中文。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xǐhuan Zhōngwén.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thích tiếng Trung. (喜欢 → học kỹ ở Buổi 9)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2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3 câu này chỉ để làm quen trước — ngữ pháp/từ mới (岁, 来自, 喜欢) sẽ dạy đầy đủ ở đúng buổi của nó, không kiểm tra ở Buổi 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Lỗi người Việt hay mắc</a:t>
            </a:r>
          </a:p>
        </p:txBody>
      </p:sp>
      <p:pic>
        <p:nvPicPr>
          <p:cNvPr id="6" name="Picture 5" descr="icon_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366008"/>
            <a:ext cx="1371600" cy="13716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11377"/>
          <a:ext cx="9357053" cy="488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723"/>
                <a:gridCol w="2716564"/>
                <a:gridCol w="4225766"/>
              </a:tblGrid>
              <a:tr h="68359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Sai (thường gặp)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Đúng (nên làm)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Vì sao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8359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我是中国 ❌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我是中国人 ✅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Thiếu 人 là sai!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9433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我的老师 (lúc nào cũng có 的)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我老师 (bỏ 的 vẫn đúng)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Nói về thầy cô/người thân: bỏ 的 cũng được.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9433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哪 và 那 — đọc na ná nhau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哪 = nào? · 那 = đó/kia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Nghe kỹ dấu thanh: nǎ khác nà.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9433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谁 và 什么 — dễ lẫn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谁 hỏi NGƯỜI · 什么 hỏi ĐỒ VẬT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谁 = ai, 什么 = cái gì.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83594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我是不中国人 ❌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我不是中国人 ✅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不 đứng NGAY TRƯỚC 是.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slide3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Bài tập buổi này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Nghe/đọc/viết bám 23 từ vựng (11 từ chính + 12 từ mở rộng) và 3 điểm ngữ pháp: 是 (quốc tịch), 的 (sở hữu), 哪/吗.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HSKK: tự giới thiệu quốc tịch bản thân bằng các mẫu câu đã học.</a:t>
            </a:r>
          </a:p>
        </p:txBody>
      </p:sp>
      <p:pic>
        <p:nvPicPr>
          <p:cNvPr id="7" name="Picture 6" descr="icon_p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