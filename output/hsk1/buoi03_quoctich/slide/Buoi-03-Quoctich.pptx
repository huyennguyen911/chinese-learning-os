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5.jpg"/><Relationship Id="rId4" Type="http://schemas.openxmlformats.org/officeDocument/2006/relationships/image" Target="../media/image9.jpg"/><Relationship Id="rId5" Type="http://schemas.openxmlformats.org/officeDocument/2006/relationships/image" Target="../media/image22.jpg"/><Relationship Id="rId6" Type="http://schemas.openxmlformats.org/officeDocument/2006/relationships/image" Target="../media/image6.jpg"/><Relationship Id="rId7" Type="http://schemas.openxmlformats.org/officeDocument/2006/relationships/image" Target="../media/image23.jpg"/><Relationship Id="rId8" Type="http://schemas.openxmlformats.org/officeDocument/2006/relationships/image" Target="../media/image8.jpg"/><Relationship Id="rId9" Type="http://schemas.openxmlformats.org/officeDocument/2006/relationships/image" Target="../media/image19.png"/><Relationship Id="rId10" Type="http://schemas.openxmlformats.org/officeDocument/2006/relationships/image" Target="../media/image4.jpg"/><Relationship Id="rId11" Type="http://schemas.openxmlformats.org/officeDocument/2006/relationships/image" Target="../media/image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5.jpg"/><Relationship Id="rId4" Type="http://schemas.openxmlformats.org/officeDocument/2006/relationships/image" Target="../media/image17.jpg"/><Relationship Id="rId5" Type="http://schemas.openxmlformats.org/officeDocument/2006/relationships/image" Target="../media/image7.jpg"/><Relationship Id="rId6" Type="http://schemas.openxmlformats.org/officeDocument/2006/relationships/image" Target="../media/image16.jpg"/><Relationship Id="rId7" Type="http://schemas.openxmlformats.org/officeDocument/2006/relationships/image" Target="../media/image18.jpg"/><Relationship Id="rId8" Type="http://schemas.openxmlformats.org/officeDocument/2006/relationships/image" Target="../media/image10.jpg"/><Relationship Id="rId9" Type="http://schemas.openxmlformats.org/officeDocument/2006/relationships/image" Target="../media/image24.jpg"/><Relationship Id="rId10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667512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r>
              <a:rPr sz="4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我是中国人</a:t>
            </a:r>
          </a:p>
          <a:p>
            <a:pPr algn="l">
              <a:spcBef>
                <a:spcPts val="1000"/>
              </a:spcBef>
              <a:buNone/>
            </a:pPr>
            <a:r>
              <a:rPr sz="20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Tôi là người Trung Quốc</a:t>
            </a:r>
          </a:p>
          <a:p>
            <a:pPr algn="l">
              <a:spcBef>
                <a:spcPts val="600"/>
              </a:spcBef>
              <a:buNone/>
            </a:pPr>
            <a:r>
              <a:rPr sz="14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HSK1 · Buổi 3</a:t>
            </a:r>
          </a:p>
        </p:txBody>
      </p:sp>
      <p:pic>
        <p:nvPicPr>
          <p:cNvPr id="4" name="Picture 3" descr="icon_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463040"/>
            <a:ext cx="39319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今天学什么？— Mục tiêu hôm nay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6522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Nói được mình là người nước nào: 我是……人！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Biết cách nói "của ai" bằng 的.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Hỏi &amp; trả lời "đây là ai?" — 这是谁？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Tự giới thiệu bản thân thật tự tin!</a:t>
            </a:r>
          </a:p>
        </p:txBody>
      </p:sp>
      <p:pic>
        <p:nvPicPr>
          <p:cNvPr id="7" name="Picture 6" descr="icon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948688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r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611376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人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rén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người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中国人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Zhōngguó rén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người Trung Quốc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越南人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Yuènán rén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người Việt Nam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2/23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4659654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的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de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白家月的中文老师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Bái Jiāyuè de Zhōngwén lǎoshī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giáo viên tiếng Trung của Bạch Gia Nguyệt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你的名字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de míngzi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tên của bạn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3/23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zhong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611376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中国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Zhōngguó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Trung Quốc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我是中国人。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shì Zhōngguó rén.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Tôi là người Trung Quốc.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中国老师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Zhōngguó lǎoshī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giáo viên (người) Trung Quốc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4/23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fa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611376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法国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Fǎguó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Pháp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我是法国人。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shì Fǎguó rén.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Tôi là người Pháp.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你是法国人吗？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shì Fǎguó rén ma?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là người Pháp à?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5/23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4659654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中文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Zhōngwén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tiếng Trung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中文老师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Zhōngwén lǎoshī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giáo viên tiếng Trung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你的中文很好。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de Zhōngwén hěn hǎo.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Tiếng Trung của bạn giỏi lắm.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6/23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z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611376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đây, này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这是谁？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Zhè shì shéi?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Đây là ai?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这是我女生朋友。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Zhè shì wǒ nǚshēng péngyou.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Đây là bạn nữ của tôi.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7/23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she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611376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谁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shéi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这是谁？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Zhè shì shéi?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Đây là ai?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你是谁？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shì shéi?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là ai?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63917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8-9/23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nvpengyo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女生朋友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nǚshēng péngyou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bạn nữ (bạn thường, không phải người yêu)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这是我女生朋友。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wǒ nǚshēng péngyou.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Đây là bạn nữ của tôi.</a:t>
            </a:r>
          </a:p>
        </p:txBody>
      </p:sp>
      <p:pic>
        <p:nvPicPr>
          <p:cNvPr id="9" name="Picture 8" descr="nanpengy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男生朋友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nánshēng péngyou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bạn nam (bạn thường, không phải người yêu)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这是我男生朋友。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wǒ nánshēng péngyou.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Đây là bạn nam của tôi.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女生朋友/男生朋友 = bạn (thường), chỉ nói rõ giới tính — khác 女朋友/男朋友 (người yêu, không dạy ở buổi này).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2083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10/23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4659654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哪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nǎ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你是哪国人？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shì nǎ guó rén?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là người nước nào?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你女生朋友是哪国人？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nǚshēng péngyou shì nǎ guó rén?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nữ của bạn là người nước nào?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2083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11/23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4659654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都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dōu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đều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我们都是学生。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Wǒmen dōu shì xuésheng.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Chúng tôi đều là học sinh.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我们都是中国人。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Wǒmen dōu shì Zhōngguó rén.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Chúng tôi đều là người Trung Quốc.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都 sẽ học kỹ hơn ở Buổi 12 — ở đây dùng trước cho tiện.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2083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12/23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tai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611376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泰国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Tàiguó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Thái 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你是泰国人吗？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shì Tàiguó rén ma?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là người Thái Lan à?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我不是泰国人。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bú shì Tàiguó rén.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Tôi không phải người Thái Lan.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1 — 李文 và 白家月 gặp lại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11376"/>
            <a:ext cx="273304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李文: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我是中国人。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Zhōngguó rén.</a:t>
            </a:r>
          </a:p>
        </p:txBody>
      </p:sp>
      <p:sp>
        <p:nvSpPr>
          <p:cNvPr id="7" name="Oval 6"/>
          <p:cNvSpPr/>
          <p:nvPr/>
        </p:nvSpPr>
        <p:spPr>
          <a:xfrm>
            <a:off x="371977" y="1493601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88247" y="2763520"/>
            <a:ext cx="2654808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我是法国人。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Fǎguó rén.</a:t>
            </a:r>
          </a:p>
        </p:txBody>
      </p:sp>
      <p:sp>
        <p:nvSpPr>
          <p:cNvPr id="9" name="Oval 8"/>
          <p:cNvSpPr/>
          <p:nvPr/>
        </p:nvSpPr>
        <p:spPr>
          <a:xfrm>
            <a:off x="11399093" y="2645745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58635" y="3915664"/>
            <a:ext cx="488442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我的中文老师也是中国人。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de Zhōngwén lǎoshī yě shì Zhōngguó rén.</a:t>
            </a:r>
          </a:p>
        </p:txBody>
      </p:sp>
      <p:sp>
        <p:nvSpPr>
          <p:cNvPr id="11" name="Oval 10"/>
          <p:cNvSpPr/>
          <p:nvPr/>
        </p:nvSpPr>
        <p:spPr>
          <a:xfrm>
            <a:off x="11399093" y="3797889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7596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10810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2 — 安妮 xem ảnh trong điện thoại 陈天中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0288"/>
            <a:ext cx="204851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这是谁？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shéi?</a:t>
            </a:r>
          </a:p>
        </p:txBody>
      </p:sp>
      <p:sp>
        <p:nvSpPr>
          <p:cNvPr id="7" name="Oval 6"/>
          <p:cNvSpPr/>
          <p:nvPr/>
        </p:nvSpPr>
        <p:spPr>
          <a:xfrm>
            <a:off x="371977" y="1932513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5485" y="3202432"/>
            <a:ext cx="341757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这是我女生朋友。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wǒ nǚshēng péngyou.</a:t>
            </a:r>
          </a:p>
        </p:txBody>
      </p:sp>
      <p:sp>
        <p:nvSpPr>
          <p:cNvPr id="9" name="Oval 8"/>
          <p:cNvSpPr/>
          <p:nvPr/>
        </p:nvSpPr>
        <p:spPr>
          <a:xfrm>
            <a:off x="11399093" y="3084657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54576"/>
            <a:ext cx="410210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你女生朋友是哪国人？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nǚshēng péngyou shì nǎ guó rén?</a:t>
            </a:r>
          </a:p>
        </p:txBody>
      </p:sp>
      <p:sp>
        <p:nvSpPr>
          <p:cNvPr id="11" name="Oval 10"/>
          <p:cNvSpPr/>
          <p:nvPr/>
        </p:nvSpPr>
        <p:spPr>
          <a:xfrm>
            <a:off x="371977" y="4236801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75319" y="5506720"/>
            <a:ext cx="2967736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她也是泰国人。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Tā yě shì Tàiguó rén.</a:t>
            </a:r>
          </a:p>
        </p:txBody>
      </p:sp>
      <p:sp>
        <p:nvSpPr>
          <p:cNvPr id="13" name="Oval 12"/>
          <p:cNvSpPr/>
          <p:nvPr/>
        </p:nvSpPr>
        <p:spPr>
          <a:xfrm>
            <a:off x="11399093" y="5388945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7596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10810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是 — nói mình là người nước nào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0288"/>
            <a:ext cx="6430975" cy="409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是 nghĩa là "LÀ". Nói quốc tịch: Ai + 是 + Tên nước + 人. Muốn nói KHÔNG PHẢI thì thêm 不 ngay trước 是.</a:t>
            </a:r>
          </a:p>
          <a:p>
            <a:pPr>
              <a:spcBef>
                <a:spcPts val="2000"/>
              </a:spcBef>
              <a:buNone/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我是法国人。</a:t>
            </a:r>
          </a:p>
          <a:p>
            <a:pPr>
              <a:spcBef>
                <a:spcPts val="300"/>
              </a:spcBef>
              <a:buNone/>
            </a:pP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Fǎguó rén.</a:t>
            </a:r>
          </a:p>
          <a:p>
            <a:pPr>
              <a:spcBef>
                <a:spcPts val="300"/>
              </a:spcBef>
              <a:buNone/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Pháp.</a:t>
            </a:r>
          </a:p>
          <a:p>
            <a:pPr>
              <a:spcBef>
                <a:spcPts val="2000"/>
              </a:spcBef>
              <a:buNone/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我老师不是法国人。</a:t>
            </a:r>
          </a:p>
          <a:p>
            <a:pPr>
              <a:spcBef>
                <a:spcPts val="300"/>
              </a:spcBef>
              <a:buNone/>
            </a:pP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lǎoshī bú shì Fǎguó rén.</a:t>
            </a:r>
          </a:p>
          <a:p>
            <a:pPr>
              <a:spcBef>
                <a:spcPts val="300"/>
              </a:spcBef>
              <a:buNone/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Giáo viên của tôi không phải người Pháp.</a:t>
            </a:r>
          </a:p>
        </p:txBody>
      </p:sp>
      <p:pic>
        <p:nvPicPr>
          <p:cNvPr id="7" name="Picture 6" descr="icon_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975" y="2050288"/>
            <a:ext cx="4094480" cy="409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我是中国 ❌ → 我是中国人 ✅ — đừng quên 人!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的 — nói CỦA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6430975" cy="4533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的 nghĩa là "CỦA". [Ai] + 的 + [đồ vật/người]. Nói về thầy cô/người thân thì có thể BỎ 的.</a:t>
            </a:r>
          </a:p>
          <a:p>
            <a:pPr>
              <a:spcBef>
                <a:spcPts val="2000"/>
              </a:spcBef>
              <a:buNone/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你的名字</a:t>
            </a:r>
          </a:p>
          <a:p>
            <a:pPr>
              <a:spcBef>
                <a:spcPts val="300"/>
              </a:spcBef>
              <a:buNone/>
            </a:pP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de míngzi</a:t>
            </a:r>
          </a:p>
          <a:p>
            <a:pPr>
              <a:spcBef>
                <a:spcPts val="300"/>
              </a:spcBef>
              <a:buNone/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tên của bạn</a:t>
            </a:r>
          </a:p>
          <a:p>
            <a:pPr>
              <a:spcBef>
                <a:spcPts val="2000"/>
              </a:spcBef>
              <a:buNone/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我老师／我学生／你同学</a:t>
            </a:r>
          </a:p>
          <a:p>
            <a:pPr>
              <a:spcBef>
                <a:spcPts val="300"/>
              </a:spcBef>
              <a:buNone/>
            </a:pP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lǎoshī / wǒ xuésheng / nǐ tóngxué</a:t>
            </a:r>
          </a:p>
          <a:p>
            <a:pPr>
              <a:spcBef>
                <a:spcPts val="300"/>
              </a:spcBef>
              <a:buNone/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giáo viên của tôi / học sinh của tôi / bạn học của bạn</a:t>
            </a:r>
          </a:p>
        </p:txBody>
      </p:sp>
      <p:pic>
        <p:nvPicPr>
          <p:cNvPr id="7" name="Picture 6" descr="icon_l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729232"/>
            <a:ext cx="429768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我老师 nghe tự nhiên hơn 我的老师 khi nói về người quen!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7596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10810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哪 và 吗 — 2 cách hỏi quốc tịch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0288"/>
            <a:ext cx="6430975" cy="409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你是哪国人？ = hỏi MỞ (nước nào?). 你是法国人吗？ = đoán thử 1 nước rồi hỏi đúng/sai.</a:t>
            </a:r>
          </a:p>
          <a:p>
            <a:pPr>
              <a:spcBef>
                <a:spcPts val="2000"/>
              </a:spcBef>
              <a:buNone/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你是哪国人？</a:t>
            </a:r>
          </a:p>
          <a:p>
            <a:pPr>
              <a:spcBef>
                <a:spcPts val="300"/>
              </a:spcBef>
              <a:buNone/>
            </a:pP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shì nǎ guó rén?</a:t>
            </a:r>
          </a:p>
          <a:p>
            <a:pPr>
              <a:spcBef>
                <a:spcPts val="300"/>
              </a:spcBef>
              <a:buNone/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là người nước nào?</a:t>
            </a:r>
          </a:p>
          <a:p>
            <a:pPr>
              <a:spcBef>
                <a:spcPts val="2000"/>
              </a:spcBef>
              <a:buNone/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你是法国人吗？</a:t>
            </a:r>
          </a:p>
          <a:p>
            <a:pPr>
              <a:spcBef>
                <a:spcPts val="300"/>
              </a:spcBef>
              <a:buNone/>
            </a:pP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shì Fǎguó rén ma?</a:t>
            </a:r>
          </a:p>
          <a:p>
            <a:pPr>
              <a:spcBef>
                <a:spcPts val="300"/>
              </a:spcBef>
              <a:buNone/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là người Pháp à?</a:t>
            </a:r>
          </a:p>
        </p:txBody>
      </p:sp>
      <p:pic>
        <p:nvPicPr>
          <p:cNvPr id="7" name="Picture 6" descr="icon_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975" y="2050288"/>
            <a:ext cx="4094480" cy="409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哪(nǎ) ≠ 那(nà) — đừng nhầm nhé!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口语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常用句子 (1/2) — 10 câu khẩu ngữ</a:t>
            </a:r>
          </a:p>
        </p:txBody>
      </p:sp>
      <p:pic>
        <p:nvPicPr>
          <p:cNvPr id="6" name="Picture 5" descr="icon_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405888"/>
            <a:ext cx="3291840" cy="32918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02384"/>
          <a:ext cx="7436814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3735"/>
                <a:gridCol w="2546854"/>
                <a:gridCol w="3056225"/>
              </a:tblGrid>
              <a:tr h="749808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你是哪国人？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shì nǎ guó rén?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là người nước nào?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我是中国人。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shì Zhōngguó rén.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là người Trung Quốc.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我是法国人。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shì Fǎguó rén.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là người Pháp.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我是越南人。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shì Yuènán rén.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là người Việt Nam.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这是谁？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Zhè shì shéi?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Đây là ai?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口语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常用句子 (2/2) — 10 câu khẩu ngữ</a:t>
            </a:r>
          </a:p>
        </p:txBody>
      </p:sp>
      <p:pic>
        <p:nvPicPr>
          <p:cNvPr id="6" name="Picture 5" descr="icon_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405888"/>
            <a:ext cx="3291840" cy="32918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11377"/>
          <a:ext cx="7436813" cy="4880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545"/>
                <a:gridCol w="2482879"/>
                <a:gridCol w="3251389"/>
              </a:tblGrid>
              <a:tr h="683594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94336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这是我女生朋友。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Zhè shì wǒ nǚshēng péngyou.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Đây là bạn nữ của tôi.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94336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你女生朋友是哪国人？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nǚshēng péngyou shì nǎ guó rén?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nữ của bạn là người nước nào?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83594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她也是泰国人。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Tā yě shì Tàiguó rén.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Cô ấy cũng là người Thái Lan.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94336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我的中文老师也是中国人。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de Zhōngwén lǎoshī yě shì Zhōngguó rén.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Giáo viên tiếng Trung của tôi cũng là người Trung Quốc.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83594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你的中文很好。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de Zhōngwén hěn hǎo.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Trung của bạn giỏi lắm.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31029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13-14/23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yuen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越南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Yuènán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Việt Nam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我是越南人。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Yuènán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Việt Nam.</a:t>
            </a:r>
          </a:p>
        </p:txBody>
      </p:sp>
      <p:pic>
        <p:nvPicPr>
          <p:cNvPr id="9" name="Picture 8" descr="meigu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美国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Měiguó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Mỹ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我是美国人。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Měiguó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Mỹ.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31029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15-16/23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ying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英国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Yīngguó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我是英国人。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Yīngguó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Anh.</a:t>
            </a:r>
          </a:p>
        </p:txBody>
      </p:sp>
      <p:pic>
        <p:nvPicPr>
          <p:cNvPr id="9" name="Picture 8" descr="rib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日本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Rìběn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Nhật Bản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我是日本人。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Rìběn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Nhật.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31029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17-18/23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hang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韩国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Hánguó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Hàn Quốc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我是韩国人。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Hánguó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Hàn Quốc.</a:t>
            </a:r>
          </a:p>
        </p:txBody>
      </p:sp>
      <p:pic>
        <p:nvPicPr>
          <p:cNvPr id="9" name="Picture 8" descr="degu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德国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Déguó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Đức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我是德国人。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Déguó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Đức.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975998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19/23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aodaliy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611376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澳大利亚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Àodàlìyà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Úc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我是澳大利亚人。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shì Àodàlìyà rén.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Tôi là người Úc.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31029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20-21/23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xiaoxueshe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小学生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xiǎoxuéshēng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học sinh tiểu học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我是小学生。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xiǎoxuéshēng.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 tiểu học.</a:t>
            </a:r>
          </a:p>
        </p:txBody>
      </p:sp>
      <p:pic>
        <p:nvPicPr>
          <p:cNvPr id="9" name="Picture 8" descr="chuzhongshe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初中生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chūzhōngshēng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học sinh cấp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我是初中生。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chūzhōngshēng.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 cấp 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31029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22-23/23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gaozhongshe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高中生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gāozhōngshēng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học sinh cấp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我是高中生。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gāozhōngshēng.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 cấp 3.</a:t>
            </a:r>
          </a:p>
        </p:txBody>
      </p:sp>
      <p:pic>
        <p:nvPicPr>
          <p:cNvPr id="9" name="Picture 8" descr="daxueshe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大学生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dàxuéshēng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sinh viên đại học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4830064"/>
            <a:ext cx="5272887" cy="1662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 algn="ctr">
              <a:spcBef>
                <a:spcPts val="600"/>
              </a:spcBef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我是大学生。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dàxuéshēng.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sinh viên đại học.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7596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自我介绍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10810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自我介绍 (1/2) — Mẫu câu giới thiệu bản thân</a:t>
            </a:r>
          </a:p>
        </p:txBody>
      </p:sp>
      <p:pic>
        <p:nvPicPr>
          <p:cNvPr id="6" name="Picture 5" descr="icon_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625344"/>
            <a:ext cx="3291840" cy="32918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396744"/>
          <a:ext cx="7436813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68"/>
                <a:gridCol w="2460710"/>
                <a:gridCol w="3007535"/>
              </a:tblGrid>
              <a:tr h="749808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大家好！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Dàjiā hǎo!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Chào mọi người!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我叫……。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jiào...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tên là…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我是越南人。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shì Yuènán rén.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là người Việt Nam.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我是学生。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shì xuésheng.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là học sinh.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Chọn từ đã học: 小学生/初中生/高中生/大学生 thay cho 学生 nếu muốn nói rõ cấp học.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自我介绍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自我介绍 (2/2) — xem trước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927096"/>
          <a:ext cx="11094414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4674"/>
                <a:gridCol w="3646953"/>
                <a:gridCol w="4222787"/>
              </a:tblGrid>
              <a:tr h="749808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我今年……岁。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jīnnián... suì.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Năm nay tôi … tuổi.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我喜欢中文。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xǐhuan Zhōngwén.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thích tiếng Trung.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2 câu này chỉ làm quen trước — 岁 học kỹ ở Buổi 4, 喜欢 học kỹ ở Buổi 9, không kiểm tra ở Buổi 3.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自我介绍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自我介绍 — Đoạn văn mẫu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① </a:t>
            </a:r>
            <a:r>
              <a:rPr sz="13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大家好，我叫陈小雨。</a:t>
            </a:r>
          </a:p>
          <a:p>
            <a:pPr>
              <a:spcBef>
                <a:spcPts val="64"/>
              </a:spcBef>
              <a:buNone/>
            </a:pPr>
            <a:r>
              <a:rPr sz="10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Dàjiā hǎo, wǒ jiào Chén Xiǎoyǔ.</a:t>
            </a:r>
          </a:p>
          <a:p>
            <a:pPr>
              <a:spcBef>
                <a:spcPts val="64"/>
              </a:spcBef>
              <a:buNone/>
            </a:pPr>
            <a:r>
              <a:rPr sz="10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Chào mọi người, mình tên là Trần Tiểu Vũ.</a:t>
            </a:r>
          </a:p>
          <a:p>
            <a:pPr>
              <a:spcBef>
                <a:spcPts val="906"/>
              </a:spcBef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② </a:t>
            </a:r>
            <a:r>
              <a:rPr sz="13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我是越南人，也是小学生。</a:t>
            </a:r>
          </a:p>
          <a:p>
            <a:pPr>
              <a:spcBef>
                <a:spcPts val="64"/>
              </a:spcBef>
              <a:buNone/>
            </a:pPr>
            <a:r>
              <a:rPr sz="10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Yuènán rén, yě shì xiǎoxuéshēng.</a:t>
            </a:r>
          </a:p>
          <a:p>
            <a:pPr>
              <a:spcBef>
                <a:spcPts val="64"/>
              </a:spcBef>
              <a:buNone/>
            </a:pPr>
            <a:r>
              <a:rPr sz="10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Mình là người Việt Nam, cũng là học sinh tiểu học.</a:t>
            </a:r>
          </a:p>
          <a:p>
            <a:pPr>
              <a:spcBef>
                <a:spcPts val="906"/>
              </a:spcBef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③ </a:t>
            </a:r>
            <a:r>
              <a:rPr sz="13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我的中文老师是中国人。</a:t>
            </a:r>
          </a:p>
          <a:p>
            <a:pPr>
              <a:spcBef>
                <a:spcPts val="64"/>
              </a:spcBef>
              <a:buNone/>
            </a:pPr>
            <a:r>
              <a:rPr sz="10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de Zhōngwén lǎoshī shì Zhōngguó rén.</a:t>
            </a:r>
          </a:p>
          <a:p>
            <a:pPr>
              <a:spcBef>
                <a:spcPts val="64"/>
              </a:spcBef>
              <a:buNone/>
            </a:pPr>
            <a:r>
              <a:rPr sz="10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Cô giáo tiếng Trung của mình là người Trung Quốc.</a:t>
            </a:r>
          </a:p>
          <a:p>
            <a:pPr>
              <a:spcBef>
                <a:spcPts val="906"/>
              </a:spcBef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④ </a:t>
            </a:r>
            <a:r>
              <a:rPr sz="13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我女生朋友是法国人。</a:t>
            </a:r>
          </a:p>
          <a:p>
            <a:pPr>
              <a:spcBef>
                <a:spcPts val="64"/>
              </a:spcBef>
              <a:buNone/>
            </a:pPr>
            <a:r>
              <a:rPr sz="10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nǚshēng péngyou shì Fǎguó rén.</a:t>
            </a:r>
          </a:p>
          <a:p>
            <a:pPr>
              <a:spcBef>
                <a:spcPts val="64"/>
              </a:spcBef>
              <a:buNone/>
            </a:pPr>
            <a:r>
              <a:rPr sz="10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nữ của mình là người Pháp.</a:t>
            </a:r>
          </a:p>
          <a:p>
            <a:pPr>
              <a:spcBef>
                <a:spcPts val="906"/>
              </a:spcBef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⑤ </a:t>
            </a:r>
            <a:r>
              <a:rPr sz="13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我男生朋友是泰国人。</a:t>
            </a:r>
          </a:p>
          <a:p>
            <a:pPr>
              <a:spcBef>
                <a:spcPts val="64"/>
              </a:spcBef>
              <a:buNone/>
            </a:pPr>
            <a:r>
              <a:rPr sz="10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nánshēng péngyou shì Tàiguó rén.</a:t>
            </a:r>
          </a:p>
          <a:p>
            <a:pPr>
              <a:spcBef>
                <a:spcPts val="64"/>
              </a:spcBef>
              <a:buNone/>
            </a:pPr>
            <a:r>
              <a:rPr sz="10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nam của mình là người Thái Lan.</a:t>
            </a:r>
          </a:p>
          <a:p>
            <a:pPr>
              <a:spcBef>
                <a:spcPts val="906"/>
              </a:spcBef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⑥ </a:t>
            </a:r>
            <a:r>
              <a:rPr sz="13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我们都喜欢中文。</a:t>
            </a:r>
          </a:p>
          <a:p>
            <a:pPr>
              <a:spcBef>
                <a:spcPts val="64"/>
              </a:spcBef>
              <a:buNone/>
            </a:pPr>
            <a:r>
              <a:rPr sz="10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Wǒmen dōu xǐhuan Zhōngwén.</a:t>
            </a:r>
          </a:p>
          <a:p>
            <a:pPr>
              <a:spcBef>
                <a:spcPts val="64"/>
              </a:spcBef>
              <a:buNone/>
            </a:pPr>
            <a:r>
              <a:rPr sz="10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Chúng mình đều thích tiếng Trung.</a:t>
            </a:r>
          </a:p>
          <a:p>
            <a:pPr>
              <a:spcBef>
                <a:spcPts val="906"/>
              </a:spcBef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⑦ </a:t>
            </a:r>
            <a:r>
              <a:rPr sz="13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很高兴认识你！</a:t>
            </a:r>
          </a:p>
          <a:p>
            <a:pPr>
              <a:spcBef>
                <a:spcPts val="64"/>
              </a:spcBef>
              <a:buNone/>
            </a:pPr>
            <a:r>
              <a:rPr sz="10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Hěn gāoxìng rènshi nǐ!</a:t>
            </a:r>
          </a:p>
          <a:p>
            <a:pPr>
              <a:spcBef>
                <a:spcPts val="64"/>
              </a:spcBef>
              <a:buNone/>
            </a:pPr>
            <a:r>
              <a:rPr sz="10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Rất vui được quen bạn!</a:t>
            </a:r>
          </a:p>
          <a:p>
            <a:pPr>
              <a:spcBef>
                <a:spcPts val="776"/>
              </a:spcBef>
              <a:buNone/>
            </a:pPr>
            <a:r>
              <a:rPr sz="1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Đoạn mẫu dùng lại gần hết từ vựng/ngữ pháp Buổi 3 (是/的/也/都 + tên nước) cộng câu chào đã học ở Buổi 2 (很高兴认识你！). 喜欢 là từ xem trước, học kỹ ở Buổi 9. Hãy thử viết đoạn tương tự cho chính mình!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游戏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配对游戏 (1/2) — Nối ảnh với từ</a:t>
            </a:r>
          </a:p>
        </p:txBody>
      </p:sp>
      <p:pic>
        <p:nvPicPr>
          <p:cNvPr id="6" name="Picture 5" descr="fa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772" y="1611376"/>
            <a:ext cx="813409" cy="813409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  <p:pic>
        <p:nvPicPr>
          <p:cNvPr id="8" name="Picture 7" descr="yuen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3749" y="1611376"/>
            <a:ext cx="813409" cy="813409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3638617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  <p:pic>
        <p:nvPicPr>
          <p:cNvPr id="10" name="Picture 9" descr="nanpengyo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3772" y="2616809"/>
            <a:ext cx="813409" cy="813409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48640" y="2616809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  <p:pic>
        <p:nvPicPr>
          <p:cNvPr id="12" name="Picture 11" descr="xiaoxueshe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749" y="2616809"/>
            <a:ext cx="813409" cy="813409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638617" y="2616809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  <p:pic>
        <p:nvPicPr>
          <p:cNvPr id="14" name="Picture 13" descr="zh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3772" y="3622242"/>
            <a:ext cx="813409" cy="813409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48640" y="3622242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  <p:pic>
        <p:nvPicPr>
          <p:cNvPr id="16" name="Picture 15" descr="chuzhongsheng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3749" y="3622242"/>
            <a:ext cx="813409" cy="813409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3638617" y="3622242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6</a:t>
            </a:r>
          </a:p>
        </p:txBody>
      </p:sp>
      <p:pic>
        <p:nvPicPr>
          <p:cNvPr id="18" name="Picture 17" descr="nvpengyou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3772" y="4627675"/>
            <a:ext cx="813409" cy="813409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548640" y="4627675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7</a:t>
            </a:r>
          </a:p>
        </p:txBody>
      </p:sp>
      <p:pic>
        <p:nvPicPr>
          <p:cNvPr id="20" name="Picture 19" descr="hangu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3749" y="4627675"/>
            <a:ext cx="813409" cy="813409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3638617" y="4627675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8</a:t>
            </a:r>
          </a:p>
        </p:txBody>
      </p:sp>
      <p:pic>
        <p:nvPicPr>
          <p:cNvPr id="22" name="Picture 21" descr="zhongguo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3772" y="5633108"/>
            <a:ext cx="813409" cy="813409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548640" y="5633108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9</a:t>
            </a:r>
          </a:p>
        </p:txBody>
      </p:sp>
      <p:pic>
        <p:nvPicPr>
          <p:cNvPr id="24" name="Picture 23" descr="ren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03749" y="5633108"/>
            <a:ext cx="813409" cy="813409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3638617" y="5633108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2330" y="1611376"/>
            <a:ext cx="474072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A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男生朋友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nánshēng péngyou · bạn nam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女生朋友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nǚshēng péngyou · bạn nữ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小学生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xiǎoxuéshēng · học sinh tiểu học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中国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Zhōngguó · Trung Quốc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E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zhè · đây, này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F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韩国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Hánguó · Hàn Quốc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G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初中生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chūzhōngshēng · học sinh cấp 2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H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越南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Yuènán · Việt Nam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I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法国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Fǎguó · Pháp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J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人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rén · người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游戏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配对游戏 (2/2) — Nối ảnh với từ</a:t>
            </a:r>
          </a:p>
        </p:txBody>
      </p:sp>
      <p:pic>
        <p:nvPicPr>
          <p:cNvPr id="6" name="Picture 5" descr="de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772" y="1611376"/>
            <a:ext cx="813409" cy="813409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  <p:pic>
        <p:nvPicPr>
          <p:cNvPr id="8" name="Picture 7" descr="daxueshe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3749" y="1611376"/>
            <a:ext cx="813409" cy="813409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3638617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  <p:pic>
        <p:nvPicPr>
          <p:cNvPr id="10" name="Picture 9" descr="yinggu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3772" y="2616809"/>
            <a:ext cx="813409" cy="813409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48640" y="2616809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  <p:pic>
        <p:nvPicPr>
          <p:cNvPr id="12" name="Picture 11" descr="she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749" y="2616809"/>
            <a:ext cx="813409" cy="813409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638617" y="2616809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  <p:pic>
        <p:nvPicPr>
          <p:cNvPr id="14" name="Picture 13" descr="meigu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3772" y="3622242"/>
            <a:ext cx="813409" cy="813409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48640" y="3622242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  <p:pic>
        <p:nvPicPr>
          <p:cNvPr id="16" name="Picture 15" descr="rib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3749" y="3622242"/>
            <a:ext cx="813409" cy="813409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3638617" y="3622242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6</a:t>
            </a:r>
          </a:p>
        </p:txBody>
      </p:sp>
      <p:pic>
        <p:nvPicPr>
          <p:cNvPr id="18" name="Picture 17" descr="taiguo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3772" y="4627675"/>
            <a:ext cx="813409" cy="813409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548640" y="4627675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7</a:t>
            </a:r>
          </a:p>
        </p:txBody>
      </p:sp>
      <p:pic>
        <p:nvPicPr>
          <p:cNvPr id="20" name="Picture 19" descr="gaozhongshen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3749" y="4627675"/>
            <a:ext cx="813409" cy="813409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3638617" y="4627675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8</a:t>
            </a:r>
          </a:p>
        </p:txBody>
      </p:sp>
      <p:pic>
        <p:nvPicPr>
          <p:cNvPr id="22" name="Picture 21" descr="aodaliya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3772" y="5633108"/>
            <a:ext cx="813409" cy="813409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548640" y="5633108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2330" y="1611376"/>
            <a:ext cx="474072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A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泰国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Tàiguó · Thái Lan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澳大利亚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Àodàlìyà · Úc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高中生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gāozhōngshēng · học sinh cấp 3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美国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Měiguó · Mỹ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E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英国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Yīngguó · Anh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F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谁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shéi · ai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G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德国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Déguó · Đức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H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日本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Rìběn · Nhật Bản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I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大学生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dàxuéshēng · sinh viên đại học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