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microsoft.com/office/2007/relationships/media" Target="../media/media4.mp3"/><Relationship Id="rId5" Type="http://schemas.openxmlformats.org/officeDocument/2006/relationships/video" Target="../media/media4.mp3"/><Relationship Id="rId6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microsoft.com/office/2007/relationships/media" Target="../media/media5.mp3"/><Relationship Id="rId5" Type="http://schemas.openxmlformats.org/officeDocument/2006/relationships/video" Target="../media/media5.mp3"/><Relationship Id="rId6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microsoft.com/office/2007/relationships/media" Target="../media/media6.mp3"/><Relationship Id="rId5" Type="http://schemas.openxmlformats.org/officeDocument/2006/relationships/video" Target="../media/media6.mp3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microsoft.com/office/2007/relationships/media" Target="../media/media7.mp3"/><Relationship Id="rId5" Type="http://schemas.openxmlformats.org/officeDocument/2006/relationships/video" Target="../media/media7.mp3"/><Relationship Id="rId6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microsoft.com/office/2007/relationships/media" Target="../media/media9.mp3"/><Relationship Id="rId5" Type="http://schemas.openxmlformats.org/officeDocument/2006/relationships/video" Target="../media/media9.mp3"/><Relationship Id="rId6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1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microsoft.com/office/2007/relationships/media" Target="../media/media23.mp3"/><Relationship Id="rId5" Type="http://schemas.openxmlformats.org/officeDocument/2006/relationships/video" Target="../media/media23.mp3"/><Relationship Id="rId6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microsoft.com/office/2007/relationships/media" Target="../media/media24.mp3"/><Relationship Id="rId5" Type="http://schemas.openxmlformats.org/officeDocument/2006/relationships/video" Target="../media/media24.mp3"/><Relationship Id="rId6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microsoft.com/office/2007/relationships/media" Target="../media/media25.mp3"/><Relationship Id="rId5" Type="http://schemas.openxmlformats.org/officeDocument/2006/relationships/video" Target="../media/media25.mp3"/><Relationship Id="rId6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microsoft.com/office/2007/relationships/media" Target="../media/media26.mp3"/><Relationship Id="rId5" Type="http://schemas.openxmlformats.org/officeDocument/2006/relationships/video" Target="../media/media26.mp3"/><Relationship Id="rId6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microsoft.com/office/2007/relationships/media" Target="../media/media27.mp3"/><Relationship Id="rId4" Type="http://schemas.openxmlformats.org/officeDocument/2006/relationships/video" Target="../media/media27.mp3"/><Relationship Id="rId5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我有两个孩子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Tôi có hai con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Buổi 4</a:t>
            </a:r>
          </a:p>
        </p:txBody>
      </p:sp>
      <p:pic>
        <p:nvPicPr>
          <p:cNvPr id="4" name="Picture 3" descr="family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34686"/>
            <a:ext cx="4480560" cy="2988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được nhà mình có mấy người: 你家有几口人？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Hỏi/đáp có anh chị em, con cái bằng 有/没有.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tuổi đúng cách: trẻ em dùng 几岁, người lớn dùng 多大.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Phân biệt 二 và 两 khi nói số, và đọc đúng biến điệu của 一.</a:t>
            </a:r>
          </a:p>
        </p:txBody>
      </p:sp>
      <p:pic>
        <p:nvPicPr>
          <p:cNvPr id="7" name="Picture 6" descr="ic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第一部分 · 课本生词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1-2/21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y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我有一个妹妹。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yí ge mèimei.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một em gái.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没有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méiyǒu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có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我没有哥哥。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méiyǒu gēge.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không có anh trai.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3-4/21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duōshao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bao nhiêu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她有多少个学生？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yǒu duōshao ge xuésheng?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có bao nhiêu học sinh?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mấy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你家有几口人？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jiā yǒu jǐ kǒu rén?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bạn có mấy người?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5-6/21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cái (lượng từ chung)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她有二十个学生。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yǒu èrshí ge xuésheng.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có hai mươi học sinh.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口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lượng từ đếm người trong nhà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我家有四口人。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sì kǒu rén.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có bốn người.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0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7-8/21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ba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2111135"/>
            <a:ext cx="2286000" cy="12864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bàba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我爸爸很忙。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bàba hěn máng.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mình rất bận.</a:t>
            </a:r>
          </a:p>
        </p:txBody>
      </p:sp>
      <p:pic>
        <p:nvPicPr>
          <p:cNvPr id="9" name="Picture 8" descr="ma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我妈妈是老师。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māma shì lǎoshī.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mình là giáo viên.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7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5751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9-10/21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ge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哥哥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gēge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anh trai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gēge.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anh trai.</a:t>
            </a:r>
          </a:p>
        </p:txBody>
      </p:sp>
      <p:pic>
        <p:nvPicPr>
          <p:cNvPr id="9" name="Picture 8" descr="meime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897456"/>
            <a:ext cx="2286000" cy="1713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妹妹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mèimei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em gái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我妹妹五岁。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mèimei wǔ suì.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Em gái mình 5 tuổi.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8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11-12/21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er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0755"/>
            <a:ext cx="2286000" cy="1527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儿子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érzi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trai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这是您儿子吗？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shì nín érzi ma?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con trai của cô/chú ạ?</a:t>
            </a:r>
          </a:p>
        </p:txBody>
      </p:sp>
      <p:pic>
        <p:nvPicPr>
          <p:cNvPr id="9" name="Picture 8" descr="n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nǚ'ér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gái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您女儿多大？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 nǚ'ér duō dà?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gái của cô/chú bao nhiêu tuổi?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9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13-14/21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j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897456"/>
            <a:ext cx="2286000" cy="1713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nhà, gia đình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我家很大。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hěn dà.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rất lớn.</a:t>
            </a:r>
          </a:p>
        </p:txBody>
      </p:sp>
      <p:pic>
        <p:nvPicPr>
          <p:cNvPr id="9" name="Picture 8" descr="hai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孩子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cái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我有两个孩子。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háizi.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con.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0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15-16/21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爸爸、妈妈和我。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Bàba, māma hé wǒ.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Bố, mẹ và mình.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…thì sao?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我有两个哥哥，你呢？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gēge, nǐ ne?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anh trai, còn bạn thì sao?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1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17-18/21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s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tuổi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他今年五岁。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jīnnián wǔ suì.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Năm nay em ấy 5 tuổi.</a:t>
            </a:r>
          </a:p>
        </p:txBody>
      </p:sp>
      <p:pic>
        <p:nvPicPr>
          <p:cNvPr id="9" name="Picture 8" descr="jinni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jīnnián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năm nay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她今年十二岁。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jīnnián shí'èr suì.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Năm nay chị ấy 12 tuổi.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2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19-20/21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duō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(hỏi mức độ) bao nhiêu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你女儿多大？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nǚ'ér duō dà?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gái bạn bao nhiêu tuổi?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(tuổi) lớn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你儿子多大？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érzi duō dà?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trai bạn bao nhiêu tuổi?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多 + 大 ghép lại thành 多大 = câu hỏi tuổi dùng cho người từ 10 tuổi trở lên (trẻ dưới 10 tuổi hỏi bằng 几岁).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21/21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ta_n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8985"/>
            <a:ext cx="3108960" cy="20737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anh ấy, nó (nam)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他是我哥哥。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shì wǒ gēge.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Anh ấy là anh trai của mình.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他今年五岁。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jīnnián wǔ suì.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Năm nay cậu ấy 5 tuổi.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他 (tā) chỉ NAM/con trai. 她 (tā) chỉ NỮ/con gái (đã học ở Buổi 3). Hai chữ đọc GIỐNG HỆT NHAU, chỉ khác mặt chữ (亻người vs 女 nữ) — nghe không phân biệt được, phải nhìn chữ viết hoặc dựa vào ngữ cảnh.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081528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一飞忙吗？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Yīfēi máng ma?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9543" y="2763520"/>
            <a:ext cx="2953512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她很忙。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hěn máng.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5664"/>
            <a:ext cx="4020312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她有多少个学生？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yǒu duōshao ge xuésheng?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79788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7831" y="5067808"/>
            <a:ext cx="4205224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她有二十个学生。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yǒu èrshí ge xuésheng.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95003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4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483108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我有两个哥哥，你呢？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gēge, nǐ ne?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3687" y="2763520"/>
            <a:ext cx="357936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我没有哥哥。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méiyǒu gēge.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5664"/>
            <a:ext cx="3892296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你家有几口人？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jiā yǒu jǐ kǒu rén?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79788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3615" y="5067808"/>
            <a:ext cx="694944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我家有四口人，爸爸、妈妈、妹妹和我。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sì kǒu rén, bàba, māma, mèimei hé wǒ.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95003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pic>
        <p:nvPicPr>
          <p:cNvPr id="14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081528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这是您儿子吗？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shì nín érzi ma?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2935" y="2458010"/>
            <a:ext cx="6040120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是的。我有两个孩子，一个儿子，一个女儿。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de. Wǒ yǒu liǎng ge háizi, yí ge érzi, yí ge nǚ'ér.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34023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04644"/>
            <a:ext cx="2853944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您儿子几岁？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 érzi jǐ suì?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18686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89111" y="4151278"/>
            <a:ext cx="2853944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他今年五岁。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jīnnián wǔ suì.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03350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97912"/>
            <a:ext cx="2853944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您女儿多大？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 nǚ'ér duō dà?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88013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89111" y="5844546"/>
            <a:ext cx="2853944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她今年十二。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jīnnián shí'èr.</a:t>
            </a:r>
          </a:p>
        </p:txBody>
      </p:sp>
      <p:sp>
        <p:nvSpPr>
          <p:cNvPr id="17" name="Oval 16"/>
          <p:cNvSpPr/>
          <p:nvPr/>
        </p:nvSpPr>
        <p:spPr>
          <a:xfrm>
            <a:off x="11399093" y="5726771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8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“有”字句</a:t>
            </a:r>
          </a:p>
        </p:txBody>
      </p:sp>
      <p:pic>
        <p:nvPicPr>
          <p:cNvPr id="6" name="Picture 5" descr="you_zij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442464"/>
            <a:ext cx="4297680" cy="28712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702560"/>
            <a:ext cx="2572390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CÓ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7062" y="2702560"/>
            <a:ext cx="3602553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我有一个妹妹。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yí ge mèimei.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một em gái.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我有两个孩子。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háizi.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con.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70248"/>
            <a:ext cx="643097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70832"/>
            <a:ext cx="2572390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/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没有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KHÔNG CÓ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7062" y="4370832"/>
            <a:ext cx="3602553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我没有哥哥。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méiyǒu gēge.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không có anh trai.</a:t>
            </a:r>
          </a:p>
        </p:txBody>
      </p:sp>
      <p:pic>
        <p:nvPicPr>
          <p:cNvPr id="12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nói “不有” ❌ — phủ định của 有 luôn là 没 hoặc 没有.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“一”的变调 — Đọc đúng “一”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82949"/>
            <a:ext cx="4437766" cy="829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đứng một mình / đếm số → đọc yī (thanh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1682949"/>
            <a:ext cx="6400617" cy="829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一、二、三……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yī, èr, sān……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một, hai, ba…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2344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2683"/>
            <a:ext cx="4437766" cy="12616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+ từ vốn thanh 4 (kể cả đọc nhẹ gốc thanh 4) → đọc yí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2692683"/>
            <a:ext cx="6400617" cy="12616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 ge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cái</a:t>
            </a:r>
          </a:p>
          <a:p>
            <a:pPr>
              <a:spcBef>
                <a:spcPts val="718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一岁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 suì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tuổi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44705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35044"/>
            <a:ext cx="4437766" cy="19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+ từ thanh 1/2/3 → đọc yì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2438" y="4135044"/>
            <a:ext cx="6400617" cy="19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一天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 tiān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ngày</a:t>
            </a:r>
          </a:p>
          <a:p>
            <a:pPr>
              <a:spcBef>
                <a:spcPts val="718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一年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 nián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năm</a:t>
            </a:r>
          </a:p>
          <a:p>
            <a:pPr>
              <a:spcBef>
                <a:spcPts val="718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一本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 běn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quyển</a:t>
            </a:r>
          </a:p>
        </p:txBody>
      </p:sp>
      <p:pic>
        <p:nvPicPr>
          <p:cNvPr id="14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đọc 一个 là “yī ge” — luôn đổi thành “yí ge” vì 个 vốn là thanh 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数字的表达 — Số lớn &amp; 二 vs 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18208"/>
            <a:ext cx="4437766" cy="2251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&gt; 100: đọc đủ cả chữ, kể cả số 0 ở giữa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1918208"/>
            <a:ext cx="6400617" cy="2251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一百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yìbǎi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100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二百零八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èrbǎi líng bā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208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一千五百二十八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yìqiān wǔbǎi èrshíbā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1528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70248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二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(èr) khi đếm số/số thứ tự,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两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(liǎng) khi đứng trước lượng từ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4370832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十二、二十二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shí'èr, èrshí'èr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12, 22 (dùng 二)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两个人、两口人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liǎng ge rén, liǎng kǒu rén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hai người (dùng 两 vì có lượng từ)</a:t>
            </a:r>
          </a:p>
        </p:txBody>
      </p:sp>
      <p:pic>
        <p:nvPicPr>
          <p:cNvPr id="11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nói “二个人” ❌ — đứng trước lượng từ luôn đổi 二 thành 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语气助词“呢” — Hỏi lại cho gọn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1825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A……, B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呢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? = A thế này, còn B thì sao?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331825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我有两个哥哥，你呢？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gēge, nǐ ne?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2 anh trai, còn bạn thì sao?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我是越南人，你呢？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Yuènán rén, nǐ ne?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là người Việt Nam, còn bạn?</a:t>
            </a:r>
          </a:p>
        </p:txBody>
      </p:sp>
      <p:pic>
        <p:nvPicPr>
          <p:cNvPr id="8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名量词和名量结构 — Đếm người, đếm đồ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6208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+ Lượng từ + Danh từ — không được bỏ lượng từ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426208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四口人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sì kǒu rén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bốn người (trong nhà)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两个哥哥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liǎng ge gēge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hai anh trai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93896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94480"/>
            <a:ext cx="4437766" cy="123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口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chỉ dùng để đếm NGƯỜI TRONG NHÀ. Đếm chung dùng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个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4094480"/>
            <a:ext cx="6400617" cy="123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我家有五口人。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wǔ kǒu rén.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có năm người.</a:t>
            </a:r>
          </a:p>
        </p:txBody>
      </p:sp>
      <p:pic>
        <p:nvPicPr>
          <p:cNvPr id="11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Chưa chắc dùng lượng từ nào thì dùng 个 — riêng đếm người trong nhà luôn dùng 口.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第二部分 · 生词拓展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家谱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家谱 — 爷爷奶奶 · 叔叔阿姨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19191" cy="840722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本家（爸爸这边）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68865"/>
          <a:ext cx="5419191" cy="3269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222"/>
                <a:gridCol w="1289630"/>
                <a:gridCol w="2937339"/>
              </a:tblGrid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爷爷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yéye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ông nội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奶奶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nǎinai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 nội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姑姑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gūgu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cô (chị/em gái của bố)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叔叔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shūshu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 (em trai của bố)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婶婶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shěnshen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thím (vợ của chú)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3863" y="1611376"/>
            <a:ext cx="5419191" cy="840722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外家（妈妈这边）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3863" y="2568865"/>
          <a:ext cx="5419191" cy="3923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222"/>
                <a:gridCol w="1289630"/>
                <a:gridCol w="2937339"/>
              </a:tblGrid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外公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wàigōng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ông ngoại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外婆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wàipó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 ngoại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阿姨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āyí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dì (chị/em gái của mẹ)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舅舅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jiùjiu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cậu (anh/em trai của mẹ)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舅妈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jiùmā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mợ (vợ của cậu)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姨夫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yífu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dượng (chồng của dì)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家谱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家谱 — 弟弟 · 侄子侄女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19191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同辈（跟我一样大）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623616"/>
          <a:ext cx="5419191" cy="691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222"/>
                <a:gridCol w="1192222"/>
                <a:gridCol w="3034747"/>
              </a:tblGrid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弟弟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dìdi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em trai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3863" y="1611376"/>
            <a:ext cx="5419191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晚辈（比我小一辈）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3863" y="2623616"/>
          <a:ext cx="5419191" cy="1382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222"/>
                <a:gridCol w="1192222"/>
                <a:gridCol w="3034747"/>
              </a:tblGrid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侄子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zhízi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cháu trai (con của anh/em trai)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侄女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zhínǚ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cháu gái (con của anh/em trai)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slide2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量词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b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35600"/>
            <a:ext cx="3108960" cy="2060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本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běn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lượng từ đếm sách, vở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一本书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yì běn shū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một quyển sách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两本书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liǎng běn shū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hai quyển sách</a:t>
            </a:r>
          </a:p>
        </p:txBody>
      </p:sp>
      <p:pic>
        <p:nvPicPr>
          <p:cNvPr id="9" name="slide2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(1/3) · 家人</a:t>
            </a:r>
          </a:p>
        </p:txBody>
      </p:sp>
      <p:pic>
        <p:nvPicPr>
          <p:cNvPr id="6" name="Picture 5" descr="yey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nain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72" y="1611376"/>
            <a:ext cx="1960763" cy="148369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waigo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81" y="3287098"/>
            <a:ext cx="2182591" cy="148369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waip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gugu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36" y="4962820"/>
            <a:ext cx="2231481" cy="148369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外婆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wàipó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爷爷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yéye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姑姑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gūgu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奶奶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nǎinai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外公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wàigōng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(2/3) · 家人</a:t>
            </a:r>
          </a:p>
        </p:txBody>
      </p:sp>
      <p:pic>
        <p:nvPicPr>
          <p:cNvPr id="6" name="Picture 5" descr="ay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18" y="1611376"/>
            <a:ext cx="2227917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shush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865" y="1611376"/>
            <a:ext cx="1657176" cy="148369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jiuji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453" y="3287098"/>
            <a:ext cx="1858046" cy="148369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shenshe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jium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5" y="4962820"/>
            <a:ext cx="2224363" cy="14836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舅妈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jiùmā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阿姨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āyí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婶婶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shěnshen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叔叔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shūshu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舅舅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jiùjiu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(3/3) · 家人</a:t>
            </a:r>
          </a:p>
        </p:txBody>
      </p:sp>
      <p:pic>
        <p:nvPicPr>
          <p:cNvPr id="6" name="Picture 5" descr="yi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did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zhiz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605" y="3287098"/>
            <a:ext cx="2081742" cy="148369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zhin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925" y="3287098"/>
            <a:ext cx="2235057" cy="1483698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be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54" y="4962820"/>
            <a:ext cx="2238645" cy="148369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侄女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zhínǚ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姨夫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yífu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本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běn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dìdi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侄子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zhízi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1-2/8 · 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yis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bác sĩ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我爸爸是医生。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bàba shì yīshēng.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mình là bác sĩ.</a:t>
            </a:r>
          </a:p>
        </p:txBody>
      </p:sp>
      <p:pic>
        <p:nvPicPr>
          <p:cNvPr id="9" name="Picture 8" descr="hu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护士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hùshi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y tá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我妈妈是护士。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māma shì hùshi.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mình là y tá.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0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3-4/8 · 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jingc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警察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jǐngchá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công 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我叔叔是警察。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shūshu shì jǐngchá.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 mình là công an.</a:t>
            </a:r>
          </a:p>
        </p:txBody>
      </p:sp>
      <p:pic>
        <p:nvPicPr>
          <p:cNvPr id="9" name="Picture 8" descr="sij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853831"/>
            <a:ext cx="2286000" cy="18010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司机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sījī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tài xế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我舅舅是司机。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jiùjiu shì sījī.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mình là tài xế.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1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5-6/8 · 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chu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厨师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chúshī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đầu bếp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我姑姑是厨师。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gūgu shì chúshī.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mình là đầu bếp.</a:t>
            </a:r>
          </a:p>
        </p:txBody>
      </p:sp>
      <p:pic>
        <p:nvPicPr>
          <p:cNvPr id="9" name="Picture 8" descr="nongm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农民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nóngmín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nông dân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我外公是农民。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wàigōng shì nóngmín.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Ông ngoại mình là nông dân.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2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7-8/8 · 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zhi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职员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zhíyuán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nhân viên văn phòng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我姨夫是职员。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yífu shì zhíyuán.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Dượng mình là nhân viên văn phòng.</a:t>
            </a:r>
          </a:p>
        </p:txBody>
      </p:sp>
      <p:pic>
        <p:nvPicPr>
          <p:cNvPr id="9" name="Picture 8" descr="gongwuyu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4403"/>
            <a:ext cx="2286000" cy="15199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公务员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gōngwùyuán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công chức nhà nước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我舅舅是公务员。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jiùjiu shì gōngwùyuán.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mình là công chức nhà nước.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3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(1/2) · 职业</a:t>
            </a:r>
          </a:p>
        </p:txBody>
      </p:sp>
      <p:pic>
        <p:nvPicPr>
          <p:cNvPr id="6" name="Picture 5" descr="yis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hu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jingch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sij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126111"/>
            <a:ext cx="2943673" cy="231925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护士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hùshi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司机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sījī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yīshēng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警察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jǐngchá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(2/2) · 职业</a:t>
            </a:r>
          </a:p>
        </p:txBody>
      </p:sp>
      <p:pic>
        <p:nvPicPr>
          <p:cNvPr id="6" name="Picture 5" descr="chu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nongm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zhiyu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gongwuyu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7125"/>
            <a:ext cx="2943673" cy="1957229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公务员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gōngwùyuán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厨师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chúshī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职员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zhíyuán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农民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nóngmín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我的家</a:t>
            </a:r>
          </a:p>
        </p:txBody>
      </p:sp>
      <p:pic>
        <p:nvPicPr>
          <p:cNvPr id="6" name="Picture 5" descr="wodej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975" y="3075929"/>
            <a:ext cx="2926079" cy="19517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11376"/>
            <a:ext cx="78025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我来介绍一下我的家。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lái jièshào yíxià wǒ de jiā.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xin giới thiệu về gia đình mình.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我家有五口人：爷爷、爸爸、妈妈、弟弟和我。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wǔ kǒu rén: yéye, bàba, māma, dìdi hé wǒ.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có 5 người: ông nội, bố, mẹ, em trai và mình.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我爷爷今年七十岁。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yéye jīnnián qīshí suì.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Ông nội mình năm nay 70 tuổi.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我爸爸是医生，我妈妈是老师。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bàba shì yīshēng, wǒ māma shì lǎoshī.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mình là bác sĩ, mẹ mình là giáo viên.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⑤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我弟弟五岁，他很可爱。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dìdi wǔ suì, tā hěn kě'ài.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Em trai mình 5 tuổi, em ấy rất đáng yêu.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⑥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我今年十岁，我是小学生。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jīnnián shí suì, wǒ shì xiǎoxuéshēng.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năm nay 10 tuổi, mình là học sinh tiểu học.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⑦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我很爱我的家人。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hěn ài wǒ de jiārén.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rất yêu gia đình của mình.</a:t>
            </a:r>
          </a:p>
        </p:txBody>
      </p:sp>
      <p:pic>
        <p:nvPicPr>
          <p:cNvPr id="8" name="slide3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该你了！介绍你的家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Thay các thông tin dưới đây bằng gia đình thật của em, rồi nói to thành 1 đoạn văn giống bài mẫu.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 ___ 口人：___。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(Điền số người và tên các thành viên trong nhà em)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 ___ 是 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(Chọn 1 người trong nhà + nghề nghiệp của người đó)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 ___ 岁，我是 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(Điền tuổi và "em là học sinh tiểu học" hoặc nghề của em)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