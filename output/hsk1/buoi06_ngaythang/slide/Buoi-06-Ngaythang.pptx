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microsoft.com/office/2007/relationships/media" Target="../media/media3.mp3"/><Relationship Id="rId5" Type="http://schemas.openxmlformats.org/officeDocument/2006/relationships/video" Target="../media/media3.mp3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microsoft.com/office/2007/relationships/media" Target="../media/media5.mp3"/><Relationship Id="rId5" Type="http://schemas.openxmlformats.org/officeDocument/2006/relationships/video" Target="../media/media5.mp3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microsoft.com/office/2007/relationships/media" Target="../media/media7.mp3"/><Relationship Id="rId5" Type="http://schemas.openxmlformats.org/officeDocument/2006/relationships/video" Target="../media/media7.mp3"/><Relationship Id="rId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microsoft.com/office/2007/relationships/media" Target="../media/media8.mp3"/><Relationship Id="rId5" Type="http://schemas.openxmlformats.org/officeDocument/2006/relationships/video" Target="../media/media8.mp3"/><Relationship Id="rId6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microsoft.com/office/2007/relationships/media" Target="../media/media11.mp3"/><Relationship Id="rId5" Type="http://schemas.openxmlformats.org/officeDocument/2006/relationships/video" Target="../media/media11.mp3"/><Relationship Id="rId6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3"/><Relationship Id="rId3" Type="http://schemas.openxmlformats.org/officeDocument/2006/relationships/video" Target="../media/media24.mp3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9.jpg"/><Relationship Id="rId4" Type="http://schemas.openxmlformats.org/officeDocument/2006/relationships/image" Target="../media/image1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5.jpg"/><Relationship Id="rId4" Type="http://schemas.openxmlformats.org/officeDocument/2006/relationships/image" Target="../media/image18.jpg"/><Relationship Id="rId5" Type="http://schemas.openxmlformats.org/officeDocument/2006/relationships/image" Target="../media/image2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今天我休息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Ngày tháng &amp; nghỉ làm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HSK1 · Buổi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ngày/tháng/thứ theo đúng thứ tự tiếng Trung (năm→tháng→ngày→thứ).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được 会 để nói mình biết làm việc gì (do học mà có).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Hiểu câu vị ngữ chỉ có danh từ, không cần 是 (vd: 今天9月8号。).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 · 昨天 · 明天</a:t>
            </a:r>
          </a:p>
        </p:txBody>
      </p:sp>
      <p:pic>
        <p:nvPicPr>
          <p:cNvPr id="6" name="Picture 5" descr="jint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昨天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今天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晴天，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明天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会更好。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zuótiān xiàyǔ, jīntiān qíngtiān, míngtiān huì gèng hǎo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Hôm qua mưa, hôm nay nắng, ngày mai sẽ tốt hơn.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jīntiān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hôm nay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昨天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zuótiān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hôm qua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míngtiān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ngày mai</a:t>
            </a:r>
          </a:p>
        </p:txBody>
      </p:sp>
      <p:pic>
        <p:nvPicPr>
          <p:cNvPr id="11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月 · 上个月 · 下个月</a:t>
            </a:r>
          </a:p>
        </p:txBody>
      </p:sp>
      <p:pic>
        <p:nvPicPr>
          <p:cNvPr id="6" name="Picture 5" descr="y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现在几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月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上个月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八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月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下个月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月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xiànzài jǐ yuè? shàng ge yuè bā yuè, xià ge yuè shí yuè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Bây giờ tháng mấy? Tháng trước tháng Tám, tháng tới tháng Mười.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月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yuè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tháng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上个月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shàng ge yuè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tháng trước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下个月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xià ge yuè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tháng tới</a:t>
            </a:r>
          </a:p>
        </p:txBody>
      </p:sp>
      <p:pic>
        <p:nvPicPr>
          <p:cNvPr id="11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号 · 日 — Cách nói ngày</a:t>
            </a:r>
          </a:p>
        </p:txBody>
      </p:sp>
      <p:pic>
        <p:nvPicPr>
          <p:cNvPr id="6" name="Picture 5" descr="h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2926"/>
            <a:ext cx="2575407" cy="1930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号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hào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ngày (mồng)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今天几号？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jīntiān jǐ hào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Hôm nay mồng mấy?</a:t>
            </a:r>
          </a:p>
        </p:txBody>
      </p:sp>
      <p:pic>
        <p:nvPicPr>
          <p:cNvPr id="9" name="Picture 8" descr="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582926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日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rì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ngày (trang trọng)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生日快乐！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shēngrì kuàilè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Chúc mừng sinh nhật!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号 dùng khi nói miệng hằng ngày; 日 trang trọng hơn (giấy tờ, văn viết) — nghĩa như nhau.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星期 · 上个星期 · 下个星期</a:t>
            </a:r>
          </a:p>
        </p:txBody>
      </p:sp>
      <p:pic>
        <p:nvPicPr>
          <p:cNvPr id="6" name="Picture 5" descr="xing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星期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几？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上个星期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我很忙，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下个星期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我休息。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xīngqī jǐ? shàng ge xīngqī wǒ hěn máng, xià ge xīngqī wǒ xiūxi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Thứ mấy? Tuần trước mình rất bận, tuần tới mình nghỉ.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xīngqī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tuần/thứ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上个星期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shàng ge xīngqī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tuần trước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613912"/>
            <a:ext cx="2301374" cy="287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下个星期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xià ge xīngqī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tuần tới</a:t>
            </a:r>
          </a:p>
        </p:txBody>
      </p:sp>
      <p:pic>
        <p:nvPicPr>
          <p:cNvPr id="11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星期日 · 星期天 — Chủ nhật</a:t>
            </a:r>
          </a:p>
        </p:txBody>
      </p:sp>
      <p:pic>
        <p:nvPicPr>
          <p:cNvPr id="6" name="Picture 5" descr="xingqi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2926"/>
            <a:ext cx="2575407" cy="1449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星期日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Xīngqīrì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Chủ nhật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今天星期日。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jīntiān xīngqīrì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Hôm nay Chủ nhật.</a:t>
            </a:r>
          </a:p>
        </p:txBody>
      </p:sp>
      <p:pic>
        <p:nvPicPr>
          <p:cNvPr id="9" name="Picture 8" descr="xingqiti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582926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星期天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Xīngqītiān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Chủ nhật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星期天我休息。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xīngqītiān wǒ xiūxi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Chủ nhật mình nghỉ.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8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Hai từ này nghĩa giống hệt nhau, dùng từ nào cũng được.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休息 — Nghỉ ngơi</a:t>
            </a:r>
          </a:p>
        </p:txBody>
      </p:sp>
      <p:pic>
        <p:nvPicPr>
          <p:cNvPr id="6" name="Picture 5" descr="xiux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休息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xiūxi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nghỉ ngơi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今天我休息。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jīntiān wǒ xiūxi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Hôm nay mình nghỉ.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你累了，快休息吧。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lèi le, kuài xiūxi ba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mệt rồi, nghỉ đi.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做 · 做饭</a:t>
            </a:r>
          </a:p>
        </p:txBody>
      </p:sp>
      <p:pic>
        <p:nvPicPr>
          <p:cNvPr id="6" name="Picture 5" descr="z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2926"/>
            <a:ext cx="2575407" cy="17205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zuò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làm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你做什么？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nǐ zuò shénme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Bạn làm gì thế?</a:t>
            </a:r>
          </a:p>
        </p:txBody>
      </p:sp>
      <p:pic>
        <p:nvPicPr>
          <p:cNvPr id="9" name="Picture 8" descr="zuof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582926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做饭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zuò fàn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nấu cơm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妈妈会做饭。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māma huì zuò fàn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Mẹ biết nấu cơm.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面条儿 · 饺子</a:t>
            </a:r>
          </a:p>
        </p:txBody>
      </p:sp>
      <p:pic>
        <p:nvPicPr>
          <p:cNvPr id="6" name="Picture 5" descr="miantia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2926"/>
            <a:ext cx="2575407" cy="16027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面条儿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miàntiáor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我喜欢吃面条儿。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xǐhuan chī miàntiáor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Mình thích ăn mì.</a:t>
            </a:r>
          </a:p>
        </p:txBody>
      </p:sp>
      <p:pic>
        <p:nvPicPr>
          <p:cNvPr id="9" name="Picture 8" descr="jiao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461006"/>
            <a:ext cx="2575407" cy="1449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246100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饺子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jiǎozi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sủi cảo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4391914"/>
            <a:ext cx="2468880" cy="1451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我们一起包饺子。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wǒmen yìqǐ bāo jiǎozi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Chúng ta cùng gói sủi cảo.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菜 — Món ăn</a:t>
            </a:r>
          </a:p>
        </p:txBody>
      </p:sp>
      <p:pic>
        <p:nvPicPr>
          <p:cNvPr id="6" name="Picture 5" descr="c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菜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món 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这个菜真好吃。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cài zhēn hǎochī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Món này ngon thật.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妈妈做了三个菜。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māma zuòle sān ge cài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Mẹ làm 3 món.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一些 — Một ít</a:t>
            </a:r>
          </a:p>
        </p:txBody>
      </p:sp>
      <p:pic>
        <p:nvPicPr>
          <p:cNvPr id="6" name="Picture 5" descr="yix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6884"/>
            <a:ext cx="4602175" cy="3349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一些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yìxiē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một 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我会做一些菜。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huì zuò yìxiē cài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Mình biết làm vài món.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桌子上有一些水果。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zhuōzi shàng yǒu yìxiē shuǐguǒ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Trên bàn có ít trái cây.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上班 · 下班</a:t>
            </a:r>
          </a:p>
        </p:txBody>
      </p:sp>
      <p:pic>
        <p:nvPicPr>
          <p:cNvPr id="6" name="Picture 5" descr="shangb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2926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上班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shàngbān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đi làm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你几点上班？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nǐ jǐ diǎn shàngbān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Mấy giờ bạn đi làm?</a:t>
            </a:r>
          </a:p>
        </p:txBody>
      </p:sp>
      <p:pic>
        <p:nvPicPr>
          <p:cNvPr id="9" name="Picture 8" descr="xiab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582926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2582926"/>
            <a:ext cx="24688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下班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xiàbān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tan làm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4513834"/>
            <a:ext cx="246888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爸爸六点下班。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bàba liù diǎn xiàbān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Bố 6 giờ tan làm.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新 — Mới</a:t>
            </a:r>
          </a:p>
        </p:txBody>
      </p:sp>
      <p:pic>
        <p:nvPicPr>
          <p:cNvPr id="6" name="Picture 5" descr="x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新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xīn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这是我的新电脑。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shì wǒ de xīn diànnǎo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Đây là máy tính mới của mình.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我有一个新朋友。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yǒu yí ge xīn péngyou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Mình có một người bạn mới.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电脑 — Máy tính</a:t>
            </a:r>
          </a:p>
        </p:txBody>
      </p:sp>
      <p:pic>
        <p:nvPicPr>
          <p:cNvPr id="6" name="Picture 5" descr="diann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571"/>
            <a:ext cx="4602175" cy="2800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电脑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diànnǎo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máy tính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这是你的电脑吗？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shì nǐ de diànnǎo ma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Đây là máy tính của bạn à?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我用电脑学习。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yòng diànnǎo xuéxí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Mình dùng máy tính để học.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真 — Thật là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zhēn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thật là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真好看！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zhēn hǎokàn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Đẹp thật!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这个真好吃。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zhēn hǎochī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Cái này ngon thật.</a:t>
            </a:r>
          </a:p>
        </p:txBody>
      </p:sp>
      <p:pic>
        <p:nvPicPr>
          <p:cNvPr id="8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好看 — Đẹp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好看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hǎokàn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đẹp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你的新电脑真好看。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de xīn diànnǎo zhēn hǎokàn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Máy tính mới của bạn đẹp thật.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这张照片很好看。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zhāng zhàopiàn hěn hǎokàn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Bức ảnh này đẹp.</a:t>
            </a:r>
          </a:p>
        </p:txBody>
      </p:sp>
      <p:pic>
        <p:nvPicPr>
          <p:cNvPr id="8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喜欢 — Thích</a:t>
            </a:r>
          </a:p>
        </p:txBody>
      </p:sp>
      <p:pic>
        <p:nvPicPr>
          <p:cNvPr id="6" name="Picture 5" descr="xih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xǐhuan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我喜欢它。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xǐhuan tā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Mình thích nó.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你喜欢做什么？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xǐhuan zuò shénme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thích làm gì?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它 — Nó</a:t>
            </a:r>
          </a:p>
        </p:txBody>
      </p:sp>
      <p:pic>
        <p:nvPicPr>
          <p:cNvPr id="6" name="Picture 5" descr="ta_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它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tā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我也很喜欢它。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yě hěn xǐhuan tā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Mình cũng rất thích nó.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这是我的猫，它很可爱。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 shì wǒ de māo, tā hěn kě'ài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Đây là mèo của mình, nó rất đáng yêu.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会话1 · 问日期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今天几号？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Jīntiān jǐ hào?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今天9月8号。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Jīntiān jiǔ yuè bā hào.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768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星期几？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Xīngqī jǐ?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2864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星期日。今天我休息。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Xīngqīrì. Jīntiān wǒ xiūxi.</a:t>
            </a:r>
          </a:p>
        </p:txBody>
      </p:sp>
      <p:pic>
        <p:nvPicPr>
          <p:cNvPr id="12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会话2 · 问会不会做饭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杨同乐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你会做饭吗？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Nǐ huì zuò fàn 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我会做。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huì zuò.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768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你会做什么？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Nǐ huì zuò shénme?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2864"/>
            <a:ext cx="5432907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我会做面条儿、饺子，也会做一些菜。星期天我也做饭。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huì zuò miàntiáor, jiǎozi, yě huì zuò yìxiē cài. Xīngqītiān wǒ yě zuò fàn.</a:t>
            </a:r>
          </a:p>
        </p:txBody>
      </p:sp>
      <p:pic>
        <p:nvPicPr>
          <p:cNvPr id="12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会话3 · 下班聊新电脑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杨同乐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同乐，下班吗？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Tónglè, xiàbān 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324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下班。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Xiàbān.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072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这是你的新电脑吗？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Zhè shì nǐ de xīn diànnǎo ma?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1820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是的，是我的新电脑。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Shì de, shì wǒ de xīn diànnǎo.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9568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5.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真好看！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Zhēn hǎokàn!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5907316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6.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我也很喜欢它。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Wǒ yě hěn xǐhuan tā.</a:t>
            </a:r>
          </a:p>
        </p:txBody>
      </p:sp>
      <p:pic>
        <p:nvPicPr>
          <p:cNvPr id="14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时间的表达（1）— Nói ngày tháng đúng thứ tự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F2933"/>
                </a:solidFill>
                <a:latin typeface="Calibri"/>
              </a:rPr>
              <a:t>Tiếng Trung nói ngày tháng theo thứ tự 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年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 (năm) → 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月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 (tháng) → 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日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号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 (ngày) → </a:t>
            </a:r>
            <a:r>
              <a:rPr sz="20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星期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 (thứ) — ngược với tiếng Việt (thứ→ngày→tháng→năm).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2025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年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9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月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8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号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星期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èr líng èr wǔ nián jiǔ yuè bā hào, xīngqīyī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Ngày 8 tháng 9 năm 2025, thứ Hai.</a:t>
            </a:r>
          </a:p>
          <a:p>
            <a:pPr>
              <a:spcBef>
                <a:spcPts val="2000"/>
              </a:spcBef>
              <a:buNone/>
            </a:pP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今天9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月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8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号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星期</a:t>
            </a:r>
            <a:r>
              <a:rPr sz="2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日。</a:t>
            </a:r>
          </a:p>
          <a:p>
            <a:pPr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jīntiān jiǔ yuè bā hào, xīngqīrì</a:t>
            </a:r>
          </a:p>
          <a:p>
            <a:pPr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Hôm nay 8/9, Chủ nhật.</a:t>
            </a:r>
          </a:p>
        </p:txBody>
      </p:sp>
      <p:pic>
        <p:nvPicPr>
          <p:cNvPr id="7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tập · 12 tháng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11376"/>
          <a:ext cx="11094414" cy="488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817"/>
                <a:gridCol w="4126022"/>
                <a:gridCol w="3667575"/>
              </a:tblGrid>
              <a:tr h="375451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月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Yīyuè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1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Èryuè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Sānyuè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四月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Sìyuè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4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五月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Wǔyuè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六月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Liùyuè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6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七月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Qīyuè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7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八月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Bāyuè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九月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Jiǔyuè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Shíyuè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10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十一月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Shíyīyuè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11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4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十二月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Shí'èryuè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tháng 12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tập · 7 thứ trong tuần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11376"/>
          <a:ext cx="11094413" cy="488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5955"/>
                <a:gridCol w="4604401"/>
                <a:gridCol w="1754057"/>
              </a:tblGrid>
              <a:tr h="61010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星期一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Xīngqīyī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Thứ Hai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星期二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Xīngqī'èr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Thứ Ba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Xīngqīsān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Thứ Tư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Xīngqīsì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Thứ Năm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Xīngqīwǔ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Thứ Sáu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Xīngqīliù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Thứ Bảy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101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星期日 / 星期天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Xīngqīrì / Xīngqītiān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Chủ Nhật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名词谓语句 · 能愿动词「会」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4120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名词谓语句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— Vị ngữ chỉ có danh từ (không cần 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是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484120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今天9月8号。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jīntiān jiǔ yuè bā hào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Hôm nay 8/9.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我妹妹12岁。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mèimei shí'èr suì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Em gái mình 12 tuổi.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51808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52392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能愿动词「会」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— Biết làm gì nhờ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152392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你会做饭吗？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nǐ huì zuò fàn ma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Bạn biết nấu cơm không?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我不会做菜。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bú huì zuò cài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Mình không biết nấu món ăn.</a:t>
            </a:r>
          </a:p>
        </p:txBody>
      </p:sp>
      <p:pic>
        <p:nvPicPr>
          <p:cNvPr id="11" name="slide2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第二部分 · 文化拓展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9352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小语的彩蛋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中国美食——饺子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119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7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饺子是中国传统美食，特别是过年、团圆的时候常吃。</a:t>
            </a:r>
          </a:p>
          <a:p>
            <a:pPr>
              <a:spcBef>
                <a:spcPts val="326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3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Jiǎozi shì Zhōngguó chuántǒng měishí, tèbié shì guònián, tuányuán de shíhou cháng chī. (Sủi cảo là món ăn truyền thống Trung Quốc, hay ăn dịp Tết, đoàn viên.)</a:t>
            </a:r>
          </a:p>
          <a:p>
            <a:pPr>
              <a:spcBef>
                <a:spcPts val="2119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7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饺子的形状像元宝，代表财富和好运。</a:t>
            </a:r>
          </a:p>
          <a:p>
            <a:pPr>
              <a:spcBef>
                <a:spcPts val="326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3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Jiǎozi de xíngzhuàng xiàng yuánbǎo, dàibiǎo cáifù hé hǎoyùn. (Hình dáng sủi cảo giống thỏi vàng cổ, tượng trưng cho tài lộc và may mắn.)</a:t>
            </a:r>
          </a:p>
          <a:p>
            <a:pPr>
              <a:spcBef>
                <a:spcPts val="2119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17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我们一起包饺子吧！</a:t>
            </a:r>
          </a:p>
          <a:p>
            <a:pPr>
              <a:spcBef>
                <a:spcPts val="326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3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Wǒmen yìqǐ bāo jiǎozi ba! (Chúng ta cùng gói sủi cảo nhé!)</a:t>
            </a:r>
          </a:p>
        </p:txBody>
      </p:sp>
      <p:pic>
        <p:nvPicPr>
          <p:cNvPr id="7" name="Picture 6" descr="jiao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868244"/>
            <a:ext cx="4206240" cy="23671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吃饭</a:t>
            </a:r>
          </a:p>
        </p:txBody>
      </p:sp>
      <p:pic>
        <p:nvPicPr>
          <p:cNvPr id="6" name="Picture 5" descr="zuo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miantia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856173"/>
            <a:ext cx="2943673" cy="183196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jiaoz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441"/>
            <a:ext cx="2943673" cy="16565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ca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菜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cài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饺子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jiǎozi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做饭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zuò fàn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面条儿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miàntiáor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生活</a:t>
            </a:r>
          </a:p>
        </p:txBody>
      </p:sp>
      <p:pic>
        <p:nvPicPr>
          <p:cNvPr id="6" name="Picture 5" descr="diann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6528"/>
            <a:ext cx="2943673" cy="179125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xiux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xiab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下班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xiàbān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电脑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diànnǎo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休息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xiūxi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日期词 (1)</a:t>
            </a:r>
          </a:p>
        </p:txBody>
      </p:sp>
      <p:pic>
        <p:nvPicPr>
          <p:cNvPr id="6" name="Picture 5" descr="jint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y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h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82287"/>
            <a:ext cx="2943673" cy="2206905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r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日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rì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jīntiān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号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hào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月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yuè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日期词 (2)</a:t>
            </a:r>
          </a:p>
        </p:txBody>
      </p:sp>
      <p:pic>
        <p:nvPicPr>
          <p:cNvPr id="6" name="Picture 5" descr="xing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xingqi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943857"/>
            <a:ext cx="2943673" cy="165659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xingqiti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星期天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Xīngqītiān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xīngqī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星期日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Xīngqīrì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感受词 (1)</a:t>
            </a:r>
          </a:p>
        </p:txBody>
      </p:sp>
      <p:pic>
        <p:nvPicPr>
          <p:cNvPr id="6" name="Picture 5" descr="z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8844"/>
            <a:ext cx="2943673" cy="196662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yixi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00830"/>
            <a:ext cx="2943673" cy="2142651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x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zhe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zhēn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做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zuò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一些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yìxiē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新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xīn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感受词 (2)</a:t>
            </a:r>
          </a:p>
        </p:txBody>
      </p:sp>
      <p:pic>
        <p:nvPicPr>
          <p:cNvPr id="6" name="Picture 5" descr="haok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xihu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ta_c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它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tā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好看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hǎokàn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喜欢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xǐhuan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