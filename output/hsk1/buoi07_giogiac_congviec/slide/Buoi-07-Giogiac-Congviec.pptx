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microsoft.com/office/2007/relationships/media" Target="../media/media1.mp3"/><Relationship Id="rId5" Type="http://schemas.openxmlformats.org/officeDocument/2006/relationships/video" Target="../media/media1.mp3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microsoft.com/office/2007/relationships/media" Target="../media/media2.mp3"/><Relationship Id="rId5" Type="http://schemas.openxmlformats.org/officeDocument/2006/relationships/video" Target="../media/media2.mp3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microsoft.com/office/2007/relationships/media" Target="../media/media3.mp3"/><Relationship Id="rId5" Type="http://schemas.openxmlformats.org/officeDocument/2006/relationships/video" Target="../media/media3.mp3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Relationship Id="rId4" Type="http://schemas.microsoft.com/office/2007/relationships/media" Target="../media/media4.mp3"/><Relationship Id="rId5" Type="http://schemas.openxmlformats.org/officeDocument/2006/relationships/video" Target="../media/media4.mp3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microsoft.com/office/2007/relationships/media" Target="../media/media6.mp3"/><Relationship Id="rId5" Type="http://schemas.openxmlformats.org/officeDocument/2006/relationships/video" Target="../media/media6.mp3"/><Relationship Id="rId6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microsoft.com/office/2007/relationships/media" Target="../media/media7.mp3"/><Relationship Id="rId5" Type="http://schemas.openxmlformats.org/officeDocument/2006/relationships/video" Target="../media/media7.mp3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microsoft.com/office/2007/relationships/media" Target="../media/media8.mp3"/><Relationship Id="rId5" Type="http://schemas.openxmlformats.org/officeDocument/2006/relationships/video" Target="../media/media8.mp3"/><Relationship Id="rId6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2.jpg"/><Relationship Id="rId4" Type="http://schemas.openxmlformats.org/officeDocument/2006/relationships/image" Target="../media/image1.jpg"/><Relationship Id="rId5" Type="http://schemas.openxmlformats.org/officeDocument/2006/relationships/image" Target="../media/image10.jpg"/><Relationship Id="rId6" Type="http://schemas.microsoft.com/office/2007/relationships/media" Target="../media/media18.mp3"/><Relationship Id="rId7" Type="http://schemas.openxmlformats.org/officeDocument/2006/relationships/video" Target="../media/media18.mp3"/><Relationship Id="rId8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3"/><Relationship Id="rId3" Type="http://schemas.openxmlformats.org/officeDocument/2006/relationships/video" Target="../media/media23.mp3"/><Relationship Id="rId4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我晚上六点半下班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Tôi tan làm lúc 6 giờ rưỡi tối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Buổi 7</a:t>
            </a:r>
          </a:p>
        </p:txBody>
      </p:sp>
      <p:pic>
        <p:nvPicPr>
          <p:cNvPr id="4" name="Picture 3" descr="suns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34686"/>
            <a:ext cx="4480560" cy="2988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được MẤY GIỜ, xếp đúng thứ tự TO → NHỎ (năm/tháng/ngày/giờ...).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Biết dùng 上午/中午/下午/晚上/半夜 đúng buổi trong ngày.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Biết thêm 吧 để rủ rê nhẹ nhàng, thêm 呢 để nói chắc chắn hơn.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Kể được 1 ngày của mình bằng tiếng Trung.</a:t>
            </a:r>
          </a:p>
        </p:txBody>
      </p:sp>
      <p:pic>
        <p:nvPicPr>
          <p:cNvPr id="7" name="Picture 6" descr="ic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第一部分 · 课本生词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1-2/27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现在／点 — Bây giờ là mấy giờ?</a:t>
            </a:r>
          </a:p>
        </p:txBody>
      </p:sp>
      <p:pic>
        <p:nvPicPr>
          <p:cNvPr id="6" name="Picture 5" descr="xianzai_wa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1376"/>
            <a:ext cx="2575407" cy="2575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bây giờ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现在几点？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jǐ diǎn?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mấy giờ rồi?</a:t>
            </a:r>
          </a:p>
        </p:txBody>
      </p:sp>
      <p:pic>
        <p:nvPicPr>
          <p:cNvPr id="9" name="Picture 8" descr="dian_clo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611376"/>
            <a:ext cx="2575407" cy="25754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diǎn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giờ (đơn vị)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现在四点十五分。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sì diǎn shíwǔ fēn.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là 4 giờ 15 phút.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4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3-4/27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分／半 — Đọc số phút</a:t>
            </a:r>
          </a:p>
        </p:txBody>
      </p:sp>
      <p:pic>
        <p:nvPicPr>
          <p:cNvPr id="6" name="Picture 5" descr="ban_cl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1376"/>
            <a:ext cx="2575407" cy="2575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分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fēn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phút (mốc giờ)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现在十点十分。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shí diǎn shí fēn.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là 10 giờ 10 phút.</a:t>
            </a:r>
          </a:p>
        </p:txBody>
      </p:sp>
      <p:pic>
        <p:nvPicPr>
          <p:cNvPr id="9" name="Picture 8" descr="ban_dra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611376"/>
            <a:ext cx="2575407" cy="25754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半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rưỡi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现在三点半。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sān diǎn bàn.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là 3 giờ rưỡi.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5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5-6/27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早上／上午 — Buổi sáng</a:t>
            </a:r>
          </a:p>
        </p:txBody>
      </p:sp>
      <p:pic>
        <p:nvPicPr>
          <p:cNvPr id="6" name="Picture 5" descr="sunr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早上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zǎoshang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sáng sớm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早上八点四十。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Zǎoshang bā diǎn sìshí.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8 giờ 40 sáng sớm.</a:t>
            </a:r>
          </a:p>
        </p:txBody>
      </p:sp>
      <p:pic>
        <p:nvPicPr>
          <p:cNvPr id="9" name="Picture 8" descr="shangwu_sk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611376"/>
            <a:ext cx="2575407" cy="25754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shàngwǔ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buổi sáng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我上午十点有课。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shàngwǔ shí diǎn yǒu kè.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có tiết học lúc 10 giờ sáng.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6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早上 là lúc trời vừa sáng, còn 上午 là cả buổi sáng dài hơn (có thể nói 上午十点, 上午十一点...).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7-8/27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下午／晚上 — Buổi chiều &amp; buổi tối</a:t>
            </a:r>
          </a:p>
        </p:txBody>
      </p:sp>
      <p:pic>
        <p:nvPicPr>
          <p:cNvPr id="6" name="Picture 5" descr="suns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79066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2050288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xiàwǔ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buổi chiều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599180"/>
            <a:ext cx="2468880" cy="289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我们下午两点见吧。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xiàwǔ liǎng diǎn jiàn ba.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Chiều nay 2 giờ mình gặp nhau nhé.</a:t>
            </a:r>
          </a:p>
        </p:txBody>
      </p:sp>
      <p:pic>
        <p:nvPicPr>
          <p:cNvPr id="9" name="Picture 8" descr="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479066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2050288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晚上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wǎnshang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buổi tối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599180"/>
            <a:ext cx="2468880" cy="289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我晚上六点半下班。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wǎnshang liù diǎn bàn xiàbān.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Tối nay tôi tan làm lúc 6 giờ rưỡi.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2050288"/>
            <a:ext cx="13716" cy="44419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7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 — Tiết học</a:t>
            </a:r>
          </a:p>
        </p:txBody>
      </p:sp>
      <p:pic>
        <p:nvPicPr>
          <p:cNvPr id="6" name="Picture 5" descr="classroom_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53740"/>
            <a:ext cx="3870655" cy="25859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3615" y="1611376"/>
            <a:ext cx="21031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课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tiết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3935" y="1611376"/>
            <a:ext cx="43891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我上午有课。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shàngwǔ yǒu kè.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Sáng nay tôi có tiết học.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下午两点还有课。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Xiàwǔ liǎng diǎn hái yǒu kè.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Chiều 2 giờ vẫn còn tiết học.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10-11/27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上课／下课 — Lên lớp &amp; tan học</a:t>
            </a:r>
          </a:p>
        </p:txBody>
      </p:sp>
      <p:pic>
        <p:nvPicPr>
          <p:cNvPr id="6" name="Picture 5" descr="classroom_stu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1376"/>
            <a:ext cx="2575407" cy="2575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上课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shàngkè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lên lớp, đi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我们上午十点上课。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shàngwǔ shí diǎn shàngkè.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tôi học lúc 10 giờ sáng.</a:t>
            </a:r>
          </a:p>
        </p:txBody>
      </p:sp>
      <p:pic>
        <p:nvPicPr>
          <p:cNvPr id="9" name="Picture 8" descr="classroom_o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040154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下课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xiàkè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tan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我们四点半下课。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sì diǎn bàn xiàkè.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tôi tan học lúc 4 giờ rưỡi.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9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12-13/27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见／事 — Gặp nhau &amp; bận việc</a:t>
            </a:r>
          </a:p>
        </p:txBody>
      </p:sp>
      <p:pic>
        <p:nvPicPr>
          <p:cNvPr id="6" name="Picture 5" descr="friends_m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gặp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明天见！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 jiàn!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Mai gặp lại!</a:t>
            </a:r>
          </a:p>
        </p:txBody>
      </p:sp>
      <p:pic>
        <p:nvPicPr>
          <p:cNvPr id="9" name="Picture 8" descr="shi_home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611376"/>
            <a:ext cx="2575407" cy="25754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việc, chuyện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下午我还有事。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Xiàwǔ wǒ hái yǒu shì.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Chiều nay tôi vẫn còn việc.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0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14-15/27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吧／呢 — 2 chữ thêm cuối câu</a:t>
            </a:r>
          </a:p>
        </p:txBody>
      </p:sp>
      <p:pic>
        <p:nvPicPr>
          <p:cNvPr id="6" name="Picture 5" descr="chat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ba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giống thêm chữ "nhé"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我们两点见吧。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liǎng diǎn jiàn ba.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gặp nhau lúc 2 giờ nhé.</a:t>
            </a:r>
          </a:p>
        </p:txBody>
      </p:sp>
      <p:pic>
        <p:nvPicPr>
          <p:cNvPr id="9" name="Picture 8" descr="chattin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611376"/>
            <a:ext cx="2575407" cy="25754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giống thêm chữ "đấy"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我还上课呢。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hái shàngkè ne.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vẫn đang học đấy.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1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吧 và 呢 sẽ học kỹ hơn ở phần 语法 phía sau.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16-18/27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电影院／电影／看 — Đi xem phim</a:t>
            </a:r>
          </a:p>
        </p:txBody>
      </p:sp>
      <p:pic>
        <p:nvPicPr>
          <p:cNvPr id="6" name="Picture 5" descr="dianying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45114"/>
            <a:ext cx="3550210" cy="24133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电影院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看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电影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qù diànyǐngyuàn kàn diànyǐng.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đi rạp xem phim.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diànyǐngyuàn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rạp chiếu phim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diànyǐng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xem, nhìn</a:t>
            </a:r>
          </a:p>
        </p:txBody>
      </p:sp>
      <p:pic>
        <p:nvPicPr>
          <p:cNvPr id="11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19-21/27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在／家／里 — Ở đâu vậy?</a:t>
            </a:r>
          </a:p>
        </p:txBody>
      </p:sp>
      <p:pic>
        <p:nvPicPr>
          <p:cNvPr id="6" name="Picture 5" descr="j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2526"/>
            <a:ext cx="3550211" cy="31785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家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里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zài jiā li ne.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đang ở nhà.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zài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ở, tại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里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lǐ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trong, bên trong</a:t>
            </a:r>
          </a:p>
        </p:txBody>
      </p:sp>
      <p:pic>
        <p:nvPicPr>
          <p:cNvPr id="11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里 đứng sau 家/店 thì đọc nhẹ "li", không đọc nặng "lǐ".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22-23/27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医院／上班 — Đi làm</a:t>
            </a:r>
          </a:p>
        </p:txBody>
      </p:sp>
      <p:pic>
        <p:nvPicPr>
          <p:cNvPr id="6" name="Picture 5" descr="yi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990"/>
            <a:ext cx="3550211" cy="26616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我八点去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医院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上班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bā diǎn qù yīyuàn shàngbān.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đi làm ở bệnh viện lúc 8 giờ.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yīyuàn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bệnh viện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上班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shàngbān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 làm</a:t>
            </a:r>
          </a:p>
        </p:txBody>
      </p:sp>
      <p:pic>
        <p:nvPicPr>
          <p:cNvPr id="10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24-25/27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店／菜 — Ra cửa hàng mua đồ</a:t>
            </a:r>
          </a:p>
        </p:txBody>
      </p:sp>
      <p:pic>
        <p:nvPicPr>
          <p:cNvPr id="6" name="Picture 5" descr="d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里买些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菜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qù diàn li mǎi xiē cài ba.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ra cửa hàng mua ít rau nhé.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cửa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菜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cài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rau, món ăn</a:t>
            </a:r>
          </a:p>
        </p:txBody>
      </p:sp>
      <p:pic>
        <p:nvPicPr>
          <p:cNvPr id="10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26-27/27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分钟／后 — Còn bao lâu nữa?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分钟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fēnzhōng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phút (khoảng thời gian)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我十分钟后去。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shí fēnzhōng hòu qù.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10 phút nữa tôi đi.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后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hòu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sau, sau đó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下课后，我想去超市。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Xiàkè hòu, wǒ xiǎng qù chāoshì.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Sau khi tan học, tôi muốn đi siêu thị.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分 (đã học ở slide đầu) dùng để nói MỐC GIỜ (2 giờ 10 phút); 分钟 dùng để nói MỘT KHOẢNG thời gian dài bao lâu (10 phút nữa).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1 · 打电话约时间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安妮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现在几点？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jǐ diǎn?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672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早上八点四十。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Zǎoshang bā diǎn sìshí.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768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我上午十点十分有课。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shàngwǔ shí diǎn shí fēn yǒu kè.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2864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好的，我们下午两点见吧。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de, wǒmen xiàwǔ liǎng diǎn jiàn ba.</a:t>
            </a:r>
          </a:p>
        </p:txBody>
      </p:sp>
      <p:pic>
        <p:nvPicPr>
          <p:cNvPr id="12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2 · 约看电影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李文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下午我想去电影院看电影，你去吗？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Xiàwǔ wǒ xiǎng qù diànyǐngyuàn kàn diànyǐng, nǐ qù 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672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我不想去，下午还有事。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bù xiǎng qù, xiàwǔ hái yǒu shì.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768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好的。明天呢？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de. Míngtiān ne?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2864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我明天下午两点还上课呢，四点半下课。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míngtiān xiàwǔ liǎng diǎn hái shàngkè ne, sì diǎn bàn xiàkè.</a:t>
            </a:r>
          </a:p>
        </p:txBody>
      </p:sp>
      <p:pic>
        <p:nvPicPr>
          <p:cNvPr id="12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3 · 打电话问在哪儿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刘明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35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喂，你在哪儿呢？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Wèi, nǐ zài nǎr 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324"/>
            <a:ext cx="5432907" cy="67635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我在家里呢。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zài jiā li 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072"/>
            <a:ext cx="5432907" cy="67635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我晚上六点半下班。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wǎnshang liù diǎn bàn xiàbān.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1820"/>
            <a:ext cx="5432907" cy="67635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我八点去医院上班。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bā diǎn qù yīyuàn shàngbān.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9568"/>
            <a:ext cx="5432907" cy="67635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好的，你去店里买些菜吧。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de, nǐ qù diàn li mǎi xiē cài ba.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5907316"/>
            <a:ext cx="5432907" cy="67635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好，我十分钟后去。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Hǎo, wǒ shí fēnzhōng hòu qù.</a:t>
            </a:r>
          </a:p>
        </p:txBody>
      </p:sp>
      <p:pic>
        <p:nvPicPr>
          <p:cNvPr id="14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Nói giờ: TO nói trước, NHỎ nói sau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66280"/>
            <a:ext cx="4437766" cy="130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Xếp từ TO → NHỎ: năm → tháng → ngày → thứ → buổi → giờ → phút (ngược tiếng Việt!)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266280"/>
            <a:ext cx="6400617" cy="130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2026年9月10号（星期四）晚上七点半。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Èr líng èr liù nián jiǔ yuè shí hào (xīngqīsì) wǎnshang qī diǎn bàn.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7 giờ rưỡi tối, thứ Năm, ngày 10 tháng 9 năm 2026 (tiếng Việt nói ngược lại).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55342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43925"/>
            <a:ext cx="4437766" cy="12273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刻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15 phút, nói nhanh gọn hơn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3743925"/>
            <a:ext cx="6400617" cy="12273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现在七点一刻。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qī diǎn yí kè.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là 7 giờ 15 phút.</a:t>
            </a:r>
          </a:p>
          <a:p>
            <a:pPr>
              <a:spcBef>
                <a:spcPts val="704"/>
              </a:spcBef>
              <a:buNone/>
            </a:pP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现在七点三刻。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qī diǎn sān kè.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là 7 giờ 45 phút.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59904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48487"/>
            <a:ext cx="4437766" cy="780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Thêm 2 buổi mới: </a:t>
            </a: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中午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(buổi trưa), </a:t>
            </a: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半夜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(nửa đêm)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2438" y="5148487"/>
            <a:ext cx="6400617" cy="780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中午十二点，半夜两点。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Zhōngwǔ shí'èr diǎn, bànyè liǎng diǎn.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12 giờ trưa, 2 giờ đêm khuya.</a:t>
            </a:r>
          </a:p>
        </p:txBody>
      </p:sp>
      <p:pic>
        <p:nvPicPr>
          <p:cNvPr id="14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Nhớ như xếp hộp: hộp TO ở ngoài, hộp NHỎ ở trong — năm ngoài cùng, phút trong cùng!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Xếp lại cho đúng thứ tự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Ghép các mảnh dưới đây thành 1 câu đúng thứ tự TO → NHỎ (nói miệng).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点半／晚上／七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Diǎn bàn ／ Wǎnshang ／ Qī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十点／上午／有课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Shí diǎn ／ Shàngwǔ ／ Yǒu kè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半夜／两点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Bànyè ／ Liǎng diǎn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Nhìn mặt trời, biết ngay buổi nào!</a:t>
            </a:r>
          </a:p>
        </p:txBody>
      </p:sp>
      <p:pic>
        <p:nvPicPr>
          <p:cNvPr id="6" name="Picture 5" descr="sunr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1339"/>
            <a:ext cx="2650159" cy="1767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378391"/>
            <a:ext cx="265015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早上／上午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97847"/>
            <a:ext cx="265015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zǎoshang / shàngwǔ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80727"/>
            <a:ext cx="26501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Mặt trời mới mọc, đang lên cao</a:t>
            </a:r>
          </a:p>
        </p:txBody>
      </p:sp>
      <p:pic>
        <p:nvPicPr>
          <p:cNvPr id="10" name="Picture 9" descr="no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391" y="2321339"/>
            <a:ext cx="2650159" cy="1767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3391" y="4378391"/>
            <a:ext cx="265015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中午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3391" y="4597847"/>
            <a:ext cx="265015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zhōngwǔ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3391" y="4780727"/>
            <a:ext cx="26501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Mặt trời ở ngay trên đỉnh đầu</a:t>
            </a:r>
          </a:p>
        </p:txBody>
      </p:sp>
      <p:pic>
        <p:nvPicPr>
          <p:cNvPr id="14" name="Picture 13" descr="suns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142" y="2321339"/>
            <a:ext cx="2650159" cy="17677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8142" y="4378391"/>
            <a:ext cx="265015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8142" y="4597847"/>
            <a:ext cx="265015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xiàwǔ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4780727"/>
            <a:ext cx="26501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Mặt trời đang từ từ xuống</a:t>
            </a:r>
          </a:p>
        </p:txBody>
      </p:sp>
      <p:pic>
        <p:nvPicPr>
          <p:cNvPr id="18" name="Picture 17" descr="nigh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2893" y="2321339"/>
            <a:ext cx="2650159" cy="17677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92893" y="4378391"/>
            <a:ext cx="265015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晚上／半夜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2893" y="4597847"/>
            <a:ext cx="265015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wǎnshang / bànyè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2893" y="4780727"/>
            <a:ext cx="26501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Trời đã tối, có sao</a:t>
            </a:r>
          </a:p>
        </p:txBody>
      </p:sp>
      <p:pic>
        <p:nvPicPr>
          <p:cNvPr id="22" name="slide22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Đoán xem là buổi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Mặt trời mới mọc, đang lên cao → là buổi ____？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Mặt trời ở ngay trên đỉnh đầu → là buổi ____？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Trời tối, có rất nhiều sao → là buổi ____？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Nói giờ TRƯỚC, làm gì thì nói SAU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6397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Câu tiếng Trung luôn nói GIỜ trước, rồi mới nói LÀM GÌ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336397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她上午十点半上课。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shàngwǔ shí diǎn bàn shàngkè.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ấy 10 rưỡi sáng thì lên lớp.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我们下午两点见吧。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xiàwǔ liǎng diǎn jiàn ba.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Chiều nay 2 giờ mình gặp nhau nhé.</a:t>
            </a:r>
          </a:p>
        </p:txBody>
      </p:sp>
      <p:pic>
        <p:nvPicPr>
          <p:cNvPr id="8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Đặt câu tiếng Trung, luôn hỏi mình: MẤY GIỜ trước, rồi mới LÀM GÌ!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上课／十点半／她／上午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Shàngkè ／ Shí diǎn bàn ／ Tā ／ Shàngwǔ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两点／见吧／下午／我们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Liǎng diǎn ／ Jiàn ba ／ Xiàwǔ ／ Wǒmen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吧 = thêm chữ "nhé" vào cuối câu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6397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Muốn rủ ai làm gì cho nhẹ nhàng, dễ thương → thêm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336397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我们两点见吧。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liǎng diǎn jiàn ba.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gặp nhau lúc 2 giờ nhé.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你去店里买吧。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qù diàn li mǎi ba.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ra cửa hàng mua đi nhé.</a:t>
            </a:r>
          </a:p>
        </p:txBody>
      </p:sp>
      <p:pic>
        <p:nvPicPr>
          <p:cNvPr id="8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Muốn rủ ai làm gì cho dễ thương, đừng quên thêm 吧!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Thêm 吧 cho câu nhẹ nhàng hơn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我们下午三点见___。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Wǒmen xiàwǔ sān diǎn jiàn ___.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你去超市买___。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Nǐ qù chāoshì mǎi ___.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呢 = thêm chữ "đấy/mà" vào cuối câu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6397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Muốn nói chắc chắn, rõ ràng hơn 1 chút → thêm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336397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我还上课呢。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hái shàngkè ne.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vẫn đang học đấy.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我在家里呢。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zài jiā li ne.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đang ở nhà đấy.</a:t>
            </a:r>
          </a:p>
        </p:txBody>
      </p:sp>
      <p:pic>
        <p:nvPicPr>
          <p:cNvPr id="8" name="slide2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 giúp câu nói nghe chắc chắn, rõ ràng hơn.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Chọn 吧 hay 呢?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(ne)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11094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我们两点见___。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Wǒmen liǎng diǎn jiàn ___.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我还有事___。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hái yǒu shì ___.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你去超市买___。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Nǐ qù chāoshì mǎi ___.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我在家里___。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zài jiā li ___.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4950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· 我的一天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我的一天（上）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大家好，我叫小美，我是学生。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Dàjiā hǎo, wǒ jiào Xiǎoměi, wǒ shì xuésheng.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mọi người, mình tên là Tiểu Mỹ, mình là học sinh.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早上八点，我去上课，我很高兴。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Zǎoshang bā diǎn, wǒ qù shàngkè, wǒ hěn gāoxìng.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8 giờ sáng, mình đi học, mình rất vui.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上午十点，我有课。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Shàngwǔ shí diǎn, wǒ yǒu kè.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10 giờ sáng, mình có tiết học.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中午十二点，我去吃饭，午饭很好吃！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Zhōngwǔ shí'èr diǎn, wǒ qù chīfàn, wǔfàn hěn hǎochī!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12 giờ trưa, mình đi ăn cơm, cơm trưa rất ngon!</a:t>
            </a:r>
          </a:p>
        </p:txBody>
      </p:sp>
      <p:pic>
        <p:nvPicPr>
          <p:cNvPr id="7" name="slide3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4950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· 我的一天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我的一天（下）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下午两点，我还有课，四点半下课，下午很忙。</a:t>
            </a:r>
          </a:p>
          <a:p>
            <a:pPr>
              <a:spcBef>
                <a:spcPts val="8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Xiàwǔ liǎng diǎn, wǒ hái yǒu kè, sì diǎn bàn xiàkè, xiàwǔ hěn máng.</a:t>
            </a:r>
          </a:p>
          <a:p>
            <a:pPr>
              <a:spcBef>
                <a:spcPts val="8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2 giờ chiều, mình vẫn còn tiết học, 4 rưỡi tan học, buổi chiều rất bận.</a:t>
            </a:r>
          </a:p>
          <a:p>
            <a:pPr>
              <a:spcBef>
                <a:spcPts val="1236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下课后，我想去超市买东西。</a:t>
            </a:r>
          </a:p>
          <a:p>
            <a:pPr>
              <a:spcBef>
                <a:spcPts val="8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Xiàkè hòu, wǒ xiǎng qù chāoshì mǎi dōngxi.</a:t>
            </a:r>
          </a:p>
          <a:p>
            <a:pPr>
              <a:spcBef>
                <a:spcPts val="8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Tan học xong, mình muốn đi siêu thị mua đồ.</a:t>
            </a:r>
          </a:p>
          <a:p>
            <a:pPr>
              <a:spcBef>
                <a:spcPts val="1236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晚上，我在家吃晚饭，晚饭也很好吃。</a:t>
            </a:r>
          </a:p>
          <a:p>
            <a:pPr>
              <a:spcBef>
                <a:spcPts val="8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Wǎnshang, wǒ zài jiā chī wǎnfàn, wǎnfàn yě hěn hǎochī.</a:t>
            </a:r>
          </a:p>
          <a:p>
            <a:pPr>
              <a:spcBef>
                <a:spcPts val="8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Buổi tối, mình ăn cơm tối ở nhà, cơm tối cũng rất ngon.</a:t>
            </a:r>
          </a:p>
          <a:p>
            <a:pPr>
              <a:spcBef>
                <a:spcPts val="1236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晚饭后，我喜欢看电影，电影很好看。</a:t>
            </a:r>
          </a:p>
          <a:p>
            <a:pPr>
              <a:spcBef>
                <a:spcPts val="8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Wǎnfàn hòu, wǒ xǐhuan kàn diànyǐng, diànyǐng hěn hǎokàn.</a:t>
            </a:r>
          </a:p>
          <a:p>
            <a:pPr>
              <a:spcBef>
                <a:spcPts val="8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Sau bữa tối, mình thích xem phim, phim rất hay.</a:t>
            </a:r>
          </a:p>
          <a:p>
            <a:pPr>
              <a:spcBef>
                <a:spcPts val="1236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⑤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现在晚上八点，我很累，也很高兴。</a:t>
            </a:r>
          </a:p>
          <a:p>
            <a:pPr>
              <a:spcBef>
                <a:spcPts val="8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wǎnshang bā diǎn, wǒ hěn lèi, yě hěn gāoxìng.</a:t>
            </a:r>
          </a:p>
          <a:p>
            <a:pPr>
              <a:spcBef>
                <a:spcPts val="8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là 8 giờ tối, mình hơi mệt, nhưng cũng rất vui.</a:t>
            </a:r>
          </a:p>
          <a:p>
            <a:pPr>
              <a:spcBef>
                <a:spcPts val="1236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⑥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明天见！</a:t>
            </a:r>
          </a:p>
          <a:p>
            <a:pPr>
              <a:spcBef>
                <a:spcPts val="8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 jiàn!</a:t>
            </a:r>
          </a:p>
          <a:p>
            <a:pPr>
              <a:spcBef>
                <a:spcPts val="8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Mai gặp lại!</a:t>
            </a:r>
          </a:p>
        </p:txBody>
      </p:sp>
      <p:pic>
        <p:nvPicPr>
          <p:cNvPr id="7" name="slide3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根据课文回答 — Trả lời theo bài đọc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Học sinh trả lời miệng bằng tiếng Trung.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早上，小美几点去上课？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Zǎoshang, Xiǎoměi jǐ diǎn qù shàngkè?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小美下午几点下课？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Xiǎoměi xiàwǔ jǐ diǎn xiàkè?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晚饭后，小美喜欢做什么？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Wǎnfàn hòu, Xiǎoměi xǐhuan zuò shénme?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综合练习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选词填空 — Điền từ đúng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(yīyuàn)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十二点半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(shí'èr diǎn bàn)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课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(kè)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(xiànzài)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见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(jiàn)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17216"/>
            <a:ext cx="11094415" cy="387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1 từ trong khung điền vào mỗi câu (nguyên đề trong sách, trang 052).</a:t>
            </a:r>
          </a:p>
          <a:p>
            <a:pPr>
              <a:spcBef>
                <a:spcPts val="2264"/>
              </a:spcBef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她星期天没有___。</a:t>
            </a:r>
          </a:p>
          <a:p>
            <a:pPr>
              <a:spcBef>
                <a:spcPts val="348"/>
              </a:spcBef>
              <a:buNone/>
            </a:pP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Tā xīngqītiān méiyǒu ___.</a:t>
            </a:r>
          </a:p>
          <a:p>
            <a:pPr>
              <a:spcBef>
                <a:spcPts val="2264"/>
              </a:spcBef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我们中午___下课，下午两点___吧。</a:t>
            </a:r>
          </a:p>
          <a:p>
            <a:pPr>
              <a:spcBef>
                <a:spcPts val="348"/>
              </a:spcBef>
              <a:buNone/>
            </a:pP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Wǒmen zhōngwǔ ___ xiàkè, xiàwǔ liǎng diǎn ___ ba.</a:t>
            </a:r>
          </a:p>
          <a:p>
            <a:pPr>
              <a:spcBef>
                <a:spcPts val="2264"/>
              </a:spcBef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白家月：对不起，我___有事呢，你去吧。</a:t>
            </a:r>
          </a:p>
          <a:p>
            <a:pPr>
              <a:spcBef>
                <a:spcPts val="348"/>
              </a:spcBef>
              <a:buNone/>
            </a:pP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李文：好的，你忙吧。</a:t>
            </a:r>
          </a:p>
          <a:p>
            <a:pPr>
              <a:spcBef>
                <a:spcPts val="2264"/>
              </a:spcBef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王一雪：你今天晚上几点去___上班？</a:t>
            </a:r>
          </a:p>
          <a:p>
            <a:pPr>
              <a:spcBef>
                <a:spcPts val="348"/>
              </a:spcBef>
              <a:buNone/>
            </a:pP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刘明：晚上八点。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第二部分 · 生词拓展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你还记得吗？</a:t>
            </a:r>
          </a:p>
        </p:txBody>
      </p:sp>
      <p:pic>
        <p:nvPicPr>
          <p:cNvPr id="6" name="Picture 5" descr="dianying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1620"/>
            <a:ext cx="2943673" cy="200107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yiyu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668703"/>
            <a:ext cx="2943673" cy="220690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di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ji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952" y="4124960"/>
            <a:ext cx="2593003" cy="23215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医院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yīyuàn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jiā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电影院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diànyǐngyuàn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店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diàn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