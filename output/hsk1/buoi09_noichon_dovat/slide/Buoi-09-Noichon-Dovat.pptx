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38.mp3" ContentType="audio/mpeg"/>
  <Override PartName="/ppt/media/media39.mp3" ContentType="audio/mpeg"/>
  <Override PartName="/ppt/media/media4.mp3" ContentType="audio/mpeg"/>
  <Override PartName="/ppt/media/media40.mp3" ContentType="audio/mpeg"/>
  <Override PartName="/ppt/media/media41.mp3" ContentType="audio/mpeg"/>
  <Override PartName="/ppt/media/media42.mp3" ContentType="audio/mpeg"/>
  <Override PartName="/ppt/media/media43.mp3" ContentType="audio/mpeg"/>
  <Override PartName="/ppt/media/media44.mp3" ContentType="audio/mpeg"/>
  <Override PartName="/ppt/media/media45.mp3" ContentType="audio/mpeg"/>
  <Override PartName="/ppt/media/media46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Relationship Id="rId6" Type="http://schemas.microsoft.com/office/2007/relationships/media" Target="../media/media24.mp3"/><Relationship Id="rId7" Type="http://schemas.openxmlformats.org/officeDocument/2006/relationships/video" Target="../media/media24.mp3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Relationship Id="rId6" Type="http://schemas.microsoft.com/office/2007/relationships/media" Target="../media/media25.mp3"/><Relationship Id="rId7" Type="http://schemas.openxmlformats.org/officeDocument/2006/relationships/video" Target="../media/media25.mp3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Relationship Id="rId6" Type="http://schemas.microsoft.com/office/2007/relationships/media" Target="../media/media26.mp3"/><Relationship Id="rId7" Type="http://schemas.openxmlformats.org/officeDocument/2006/relationships/video" Target="../media/media26.mp3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Relationship Id="rId6" Type="http://schemas.microsoft.com/office/2007/relationships/media" Target="../media/media27.mp3"/><Relationship Id="rId7" Type="http://schemas.openxmlformats.org/officeDocument/2006/relationships/video" Target="../media/media27.mp3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Relationship Id="rId6" Type="http://schemas.microsoft.com/office/2007/relationships/media" Target="../media/media28.mp3"/><Relationship Id="rId7" Type="http://schemas.openxmlformats.org/officeDocument/2006/relationships/video" Target="../media/media28.mp3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Relationship Id="rId6" Type="http://schemas.microsoft.com/office/2007/relationships/media" Target="../media/media29.mp3"/><Relationship Id="rId7" Type="http://schemas.openxmlformats.org/officeDocument/2006/relationships/video" Target="../media/media29.mp3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Relationship Id="rId6" Type="http://schemas.microsoft.com/office/2007/relationships/media" Target="../media/media30.mp3"/><Relationship Id="rId7" Type="http://schemas.openxmlformats.org/officeDocument/2006/relationships/video" Target="../media/media30.mp3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Relationship Id="rId6" Type="http://schemas.microsoft.com/office/2007/relationships/media" Target="../media/media31.mp3"/><Relationship Id="rId7" Type="http://schemas.openxmlformats.org/officeDocument/2006/relationships/video" Target="../media/media31.mp3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2.png"/><Relationship Id="rId5" Type="http://schemas.microsoft.com/office/2007/relationships/media" Target="../media/media32.mp3"/><Relationship Id="rId6" Type="http://schemas.openxmlformats.org/officeDocument/2006/relationships/video" Target="../media/media32.mp3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Relationship Id="rId5" Type="http://schemas.microsoft.com/office/2007/relationships/media" Target="../media/media33.mp3"/><Relationship Id="rId6" Type="http://schemas.openxmlformats.org/officeDocument/2006/relationships/video" Target="../media/media33.mp3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2.png"/><Relationship Id="rId5" Type="http://schemas.microsoft.com/office/2007/relationships/media" Target="../media/media34.mp3"/><Relationship Id="rId6" Type="http://schemas.openxmlformats.org/officeDocument/2006/relationships/video" Target="../media/media34.mp3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2.png"/><Relationship Id="rId5" Type="http://schemas.microsoft.com/office/2007/relationships/media" Target="../media/media35.mp3"/><Relationship Id="rId6" Type="http://schemas.openxmlformats.org/officeDocument/2006/relationships/video" Target="../media/media35.mp3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2.png"/><Relationship Id="rId5" Type="http://schemas.microsoft.com/office/2007/relationships/media" Target="../media/media36.mp3"/><Relationship Id="rId6" Type="http://schemas.openxmlformats.org/officeDocument/2006/relationships/video" Target="../media/media36.mp3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2.png"/><Relationship Id="rId5" Type="http://schemas.microsoft.com/office/2007/relationships/media" Target="../media/media37.mp3"/><Relationship Id="rId6" Type="http://schemas.openxmlformats.org/officeDocument/2006/relationships/video" Target="../media/media37.mp3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Relationship Id="rId5" Type="http://schemas.microsoft.com/office/2007/relationships/media" Target="../media/media38.mp3"/><Relationship Id="rId6" Type="http://schemas.openxmlformats.org/officeDocument/2006/relationships/video" Target="../media/media38.mp3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Relationship Id="rId5" Type="http://schemas.microsoft.com/office/2007/relationships/media" Target="../media/media39.mp3"/><Relationship Id="rId6" Type="http://schemas.openxmlformats.org/officeDocument/2006/relationships/video" Target="../media/media39.mp3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.png"/><Relationship Id="rId6" Type="http://schemas.microsoft.com/office/2007/relationships/media" Target="../media/media40.mp3"/><Relationship Id="rId7" Type="http://schemas.openxmlformats.org/officeDocument/2006/relationships/video" Target="../media/media40.mp3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2.png"/><Relationship Id="rId6" Type="http://schemas.microsoft.com/office/2007/relationships/media" Target="../media/media41.mp3"/><Relationship Id="rId7" Type="http://schemas.openxmlformats.org/officeDocument/2006/relationships/video" Target="../media/media41.mp3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2.png"/><Relationship Id="rId6" Type="http://schemas.microsoft.com/office/2007/relationships/media" Target="../media/media42.mp3"/><Relationship Id="rId7" Type="http://schemas.openxmlformats.org/officeDocument/2006/relationships/video" Target="../media/media42.mp3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2.png"/><Relationship Id="rId6" Type="http://schemas.microsoft.com/office/2007/relationships/media" Target="../media/media43.mp3"/><Relationship Id="rId7" Type="http://schemas.openxmlformats.org/officeDocument/2006/relationships/video" Target="../media/media43.mp3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.png"/><Relationship Id="rId6" Type="http://schemas.microsoft.com/office/2007/relationships/media" Target="../media/media44.mp3"/><Relationship Id="rId7" Type="http://schemas.openxmlformats.org/officeDocument/2006/relationships/video" Target="../media/media44.mp3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2.png"/><Relationship Id="rId6" Type="http://schemas.microsoft.com/office/2007/relationships/media" Target="../media/media45.mp3"/><Relationship Id="rId7" Type="http://schemas.openxmlformats.org/officeDocument/2006/relationships/video" Target="../media/media45.mp3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2.png"/><Relationship Id="rId6" Type="http://schemas.microsoft.com/office/2007/relationships/media" Target="../media/media46.mp3"/><Relationship Id="rId7" Type="http://schemas.openxmlformats.org/officeDocument/2006/relationships/video" Target="../media/media46.mp3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我明天上午在学校学习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Sáng mai tôi học ở trường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HSK1 · Buổi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có ai/cái gì ở đâu bằng 有/是 (存现句).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Sắp đúng thứ tự khi câu có cả thời gian và nơi chốn.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Đếm thứ tự bằng 第 (第一, 第二本...).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Kể được lịch cuối tuần: ở đâu, làm gì, với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前边 · 边 · 家</a:t>
            </a:r>
          </a:p>
        </p:txBody>
      </p:sp>
      <p:pic>
        <p:nvPicPr>
          <p:cNvPr id="6" name="Picture 5" descr="phoduongVN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前边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有一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家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Xuéxiào qiánbian yǒu yì jiā diànyǐngyuàn.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Phía trước trường học có một rạp chiếu phim.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qiánbian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phía trước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bian/biān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hậu tố chỉ phía/bên; khi là danh từ riêng đọc biān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jiā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lượng từ (cho rạp/cửa hàng/doanh nghiệp — khác 家=nhà đã học Buổi 4)</a:t>
            </a:r>
          </a:p>
        </p:txBody>
      </p:sp>
      <p:pic>
        <p:nvPicPr>
          <p:cNvPr id="11" name="slide04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4-5/23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那个 · 外边</a:t>
            </a:r>
          </a:p>
        </p:txBody>
      </p:sp>
      <p:pic>
        <p:nvPicPr>
          <p:cNvPr id="6" name="Picture 5" descr="gapngoai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那个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外边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有很多人。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Nàge diànyǐngyuàn wàibian yǒu hěn duō rén.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Bên ngoài rạp chiếu phim đó có rất nhiều người.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nàge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cái đó, cái kia (khẩu ngữ: nèige)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wàibian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bên ngoài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6-7/23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椅子 · 上</a:t>
            </a:r>
          </a:p>
        </p:txBody>
      </p:sp>
      <p:pic>
        <p:nvPicPr>
          <p:cNvPr id="6" name="Picture 5" descr="ghes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椅子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有一本中文书。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Yǐzi shang yǒu yì běn Zhōngwén shū.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Trên ghế có một quyển sách tiếng Trung.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椅子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yǐzi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cái ghế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shang/shàng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trên (đứng sau danh từ, đọc nhẹ shang); chỉ vị trí cao/thứ tự trước thì đọc shàng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5751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8-10/23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本 · 书 · 那</a:t>
            </a:r>
          </a:p>
        </p:txBody>
      </p:sp>
      <p:pic>
        <p:nvPicPr>
          <p:cNvPr id="6" name="Picture 5" descr="chongsac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本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书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是我的。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Nà běn shū shì wǒ de.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Quyển sách đó là của tôi.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本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běn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lượng từ cho sách/vở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sách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nà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đó, kia (đại từ; đứng một mình hoặc + lượng từ + danh từ như 那本书 — khác 那个 luôn dùng lượng từ 个)</a:t>
            </a:r>
          </a:p>
        </p:txBody>
      </p:sp>
      <p:pic>
        <p:nvPicPr>
          <p:cNvPr id="11" name="slide07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11-12/23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第 · 学习</a:t>
            </a:r>
          </a:p>
        </p:txBody>
      </p:sp>
      <p:pic>
        <p:nvPicPr>
          <p:cNvPr id="6" name="Picture 5" descr="hocsinhhoct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3003740"/>
            <a:ext cx="3550210" cy="20961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学习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中文，这是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一课。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xuéxí Zhōngwén, zhè shì dì-yī kè.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học tiếng Trung, đây là bài thứ nhất.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第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dì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tiền tố chỉ số thứ tự (第一, 第二...)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学习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xuéxí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học tập</a:t>
            </a:r>
          </a:p>
        </p:txBody>
      </p:sp>
      <p:pic>
        <p:nvPicPr>
          <p:cNvPr id="10" name="slide08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13-15/23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做 · 白天 · 读书</a:t>
            </a:r>
          </a:p>
        </p:txBody>
      </p:sp>
      <p:pic>
        <p:nvPicPr>
          <p:cNvPr id="6" name="Picture 5" descr="docsach_n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白天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在家里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读书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báitiān zài jiā li dúshū.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Ban ngày tôi đọc sách ở nhà.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zuò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làm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白天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báitiān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ban ngày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读书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dúshū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đọc sách, đi học</a:t>
            </a:r>
          </a:p>
        </p:txBody>
      </p:sp>
      <p:pic>
        <p:nvPicPr>
          <p:cNvPr id="11" name="slide09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16-20/23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和 · 朋友 · 唱 · 歌 · 好听</a:t>
            </a:r>
          </a:p>
        </p:txBody>
      </p:sp>
      <p:pic>
        <p:nvPicPr>
          <p:cNvPr id="6" name="Picture 5" descr="hatcav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5886"/>
            <a:ext cx="3550210" cy="23718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朋友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唱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歌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，很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好听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hé péngyou chàng gē, hěn hǎotīng.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hát cùng bạn, hát rất hay.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1325960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hé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và, với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158744"/>
            <a:ext cx="1325960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朋友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péngyou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bạn bè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158744"/>
            <a:ext cx="1325960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chàng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hát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158744"/>
            <a:ext cx="1325960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歌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gē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bài hát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158744"/>
            <a:ext cx="1325960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好听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hǎotīng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hay, dễ nghe</a:t>
            </a:r>
          </a:p>
        </p:txBody>
      </p:sp>
      <p:pic>
        <p:nvPicPr>
          <p:cNvPr id="13" name="slide10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21-23/23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电视 · 狗 · 玩</a:t>
            </a:r>
          </a:p>
        </p:txBody>
      </p:sp>
      <p:pic>
        <p:nvPicPr>
          <p:cNvPr id="6" name="Picture 5" descr="chotiv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我在家看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电视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，和小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狗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玩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zài jiā kàn diànshì, hé xiǎo gǒu wán.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ở nhà xem ti vi, chơi với chó con.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电视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diànshì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ti 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gǒu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con chó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玩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chơi (khẩu ngữ hay nói 玩儿)</a:t>
            </a:r>
          </a:p>
        </p:txBody>
      </p:sp>
      <p:pic>
        <p:nvPicPr>
          <p:cNvPr id="11" name="slide11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学校前边有一家电影院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95909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李文: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学校前边有一家电影院。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Xuéxiào qiánbian yǒu yì jiā diànyǐngyuàn.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3615" y="2763520"/>
            <a:ext cx="694944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白家月: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对。我们晚上去那个电影院看电影吧。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Duì. Wǒmen wǎnshang qù nàge diànyǐngyuàn kàn diànyǐng ba.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683666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李文: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好！我们七点在电影院外边见，好吗？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Hǎo! Wǒmen qī diǎn zài diànyǐngyuàn wàibian jiàn, hǎo ma?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4903" y="5067808"/>
            <a:ext cx="451815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白家月: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好的，晚上七点见！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Hǎo de, wǎnshang qī diǎn jiàn!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4" name="slide12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椅子上有一本中文书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6708648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白家月: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椅子上有一本中文书，那是谁的书？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Yǐzi shang yǒu yì běn Zhōngwén shū, nà shì shéi de shū?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3615" y="2763520"/>
            <a:ext cx="694944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陈天中: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是我的书，谢谢。这是我的第二本中文书。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Shì wǒ de shū, xièxie. Zhè shì wǒ de dì-èr běn Zhōngwén shū.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576986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白家月: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不客气。你明天上午在哪儿？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Bú kèqi. Nǐ míngtiān shàngwǔ zài nǎr?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9047" y="5067808"/>
            <a:ext cx="514400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陈天中: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我明天上午在学校学习。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míngtiān shàngwǔ zài xuéxiào xuéxí.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4" name="slide13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你星期六做什么？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991864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明天星期六，你做什么？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Míngtiān Xīngqīliù, nǐ zuò shénme?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3695" y="2458010"/>
            <a:ext cx="630936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我白天在家里读书，晚上和朋友们去外边唱歌。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báitiān zài jiā li dúshū, wǎnshang hé péngyoumen qù wàibian chàng gē.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34023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4644"/>
            <a:ext cx="3081528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你唱歌很好听。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Nǐ chàng gē hěn hǎotīng.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868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1191" y="4151278"/>
            <a:ext cx="3991864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谢谢！您星期六做什么？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Xièxie! Nín Xīngqīliù zuò shénme?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03350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7912"/>
            <a:ext cx="604012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我在家里做饭、看电视，和孩子们、小狗玩。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zài jiā li zuò fàn, kàn diànshì, hé háizimen, xiǎo gǒu wán.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8013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3943" y="5844546"/>
            <a:ext cx="3309112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杨同乐: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我也有一只小狗。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yě yǒu yì zhī xiǎo gǒu.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2677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pic>
        <p:nvPicPr>
          <p:cNvPr id="18" name="slide14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存现句(1)：有 / 是 biểu thị tồn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</a:rPr>
              <a:t>[Nơi chốn] + </a:t>
            </a:r>
            <a:r>
              <a:rPr sz="1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8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是</a:t>
            </a:r>
            <a:r>
              <a:rPr sz="1800" b="1" i="0">
                <a:solidFill>
                  <a:srgbClr val="1F2933"/>
                </a:solidFill>
                <a:latin typeface="Calibri"/>
              </a:rPr>
              <a:t> + người/vật = ở [nơi chốn] có [ai/cái gì]. Phủ định </a:t>
            </a:r>
            <a:r>
              <a:rPr sz="1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没有</a:t>
            </a:r>
            <a:r>
              <a:rPr sz="1800" b="1" i="0">
                <a:solidFill>
                  <a:srgbClr val="1F2933"/>
                </a:solidFill>
                <a:latin typeface="Calibri"/>
              </a:rPr>
              <a:t>: KHÔNG dùng số từ+lượng từ trước tân ngữ.</a:t>
            </a:r>
          </a:p>
          <a:p>
            <a:pPr>
              <a:spcBef>
                <a:spcPts val="1891"/>
              </a:spcBef>
              <a:buNone/>
            </a:pP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学校前边</a:t>
            </a:r>
            <a:r>
              <a:rPr sz="24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一家电影院。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Xuéxiào qiánbian yǒu yì jiā diànyǐngyuàn.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Phía trước trường có 1 rạp chiếu phim.</a:t>
            </a:r>
          </a:p>
          <a:p>
            <a:pPr>
              <a:spcBef>
                <a:spcPts val="1891"/>
              </a:spcBef>
              <a:buNone/>
            </a:pP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电影院前边</a:t>
            </a:r>
            <a:r>
              <a:rPr sz="24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是</a:t>
            </a: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一家超市。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Diànyǐngyuàn qiánbian shì yì jiā chāoshì.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Phía trước rạp chiếu phim là 1 siêu thị.</a:t>
            </a:r>
          </a:p>
          <a:p>
            <a:pPr>
              <a:spcBef>
                <a:spcPts val="1891"/>
              </a:spcBef>
              <a:buNone/>
            </a:pP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桌子上</a:t>
            </a:r>
            <a:r>
              <a:rPr sz="24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没有</a:t>
            </a: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小猫。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Zhuōzi shang méiyǒu xiǎo māo.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Trên bàn không có con mèo nào.</a:t>
            </a:r>
          </a:p>
        </p:txBody>
      </p:sp>
      <p:pic>
        <p:nvPicPr>
          <p:cNvPr id="7" name="slide15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Thời gian đứng TRƯỚC nơi chốn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</a:rPr>
              <a:t>Khi câu có cả từ chỉ thời gian và từ chỉ nơi chốn cùng làm trạng ngữ: thời gian luôn đứng TRƯỚC nơi chốn (ngược với thói quen tiếng Việt hay nói nơi chốn trước).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七点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在电影院外边见。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Wǒmen qī diǎn zài diànyǐngyuàn wàibian jiàn.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7 giờ chúng ta gặp nhau bên ngoài rạp.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安妮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下午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在家里学中文。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Ānnī xiàwǔ zài jiā li xué Zhōngwén.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Chiều Annie học tiếng Trung ở nhà.</a:t>
            </a:r>
          </a:p>
        </p:txBody>
      </p:sp>
      <p:pic>
        <p:nvPicPr>
          <p:cNvPr id="7" name="slide16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第 + số từ — biểu thị thứ tự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52192"/>
          <a:ext cx="11094414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744"/>
                <a:gridCol w="3389960"/>
                <a:gridCol w="5264710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</a:rPr>
                        <a:t>第 + số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第一，第二，第三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nhất, thứ hai, thứ ba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</a:rPr>
                        <a:t>第 + số từ + 量词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第一个，第二个，第一本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cái thứ nhất, cái thứ hai, quyển thứ nhất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</a:rPr>
                        <a:t>第 + số từ + 量词 + 名词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第一个学生，第一本书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học sinh thứ nhất, quyển sách thứ nhất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第 luôn đứng NGAY TRƯỚC số từ, không thêm gì ở giữa — khác 两/二 thường phải đi kèm lượng từ ngay.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我的周末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①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我家前边是一家小商店，商店外边有几只小狗，很可爱。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</a:rPr>
              <a:t>Wǒ jiā qiánbian shì yì jiā xiǎo shāngdiàn, shāngdiàn wàibian yǒu jǐ zhī xiǎo gǒu, hěn kě'ài.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</a:rPr>
              <a:t>Phía trước nhà tôi là một cửa hàng nhỏ, ngoài cửa hàng có mấy con chó con, rất dễ thương.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②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星期六白天我在家里读书，椅子上有我的第一本中文书。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</a:rPr>
              <a:t>Xīngqīliù báitiān wǒ zài jiā li dúshū, yǐzi shang yǒu wǒ de dì-yī běn Zhōngwén shū.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</a:rPr>
              <a:t>Ban ngày thứ Bảy tôi đọc sách ở nhà, trên ghế có quyển sách tiếng Trung đầu tiên của tôi.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③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晚上我和朋友们去电影院看电影，七点在电影院外边见，然后我们一起唱歌，唱得很好听。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</a:rPr>
              <a:t>Wǎnshang wǒ hé péngyoumen qù diànyǐngyuàn kàn diànyǐng, qī diǎn zài diànyǐngyuàn wàibian jiàn, ránhòu wǒmen yìqǐ chàng gē, chàng de hěn hǎotīng.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</a:rPr>
              <a:t>Buổi tối tôi và các bạn đi xem phim, 7 giờ gặp nhau bên ngoài rạp, sau đó cùng nhau hát, hát rất hay.</a:t>
            </a:r>
          </a:p>
        </p:txBody>
      </p:sp>
      <p:pic>
        <p:nvPicPr>
          <p:cNvPr id="7" name="slide18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有 / 是 / 没有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(yǒu)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(shì)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没有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(méiyǒu)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学校前边[___]一家电影院。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桌子上[___]小猫，只有一本书。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电影院前边[___]一家超市。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434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48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 (chú ý thứ tự thời gian-nơi chốn)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7776"/>
            <a:ext cx="11094415" cy="4474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在家里 / 下午 / 安妮 / 学中文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见 / 电影院外边 / 七点 / 我们 / 在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读书 / 白天 / 在家里 / 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sang tiếng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Trên ghế có một quyển sách.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Đây là quyển sách thứ hai của tôi.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Tối nay tôi và bạn bè ra ngoài hát.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生词拓展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方位词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上下左右前后里外 + 边</a:t>
            </a:r>
          </a:p>
        </p:txBody>
      </p:sp>
      <p:pic>
        <p:nvPicPr>
          <p:cNvPr id="6" name="Picture 5" descr="phuongvi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87" y="1611376"/>
            <a:ext cx="9507121" cy="48808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方位词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边 · 面 · 方 — Chọn hậu tố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边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— khẩu ngữ, LUÔN dùng được → ưu tiên chọn khi nói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161137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书在桌子上边。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Shū zài zhuōzi shàngbian.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Sách ở trên bàn.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教室里边很安静。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Jiàoshì lǐbian hěn ānjìng.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Trong lớp học rất yên tĩnh.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7906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79648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面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— nghĩa GIỐNG HỆT 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边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, dùng thay được cho nhau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3279648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上面 = 上边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shàngmian = shàngbian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Hai từ này nghĩa hoàn toàn như nhau.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你的书在桌子上面。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Nǐ de shū zài zhuōzi shàngmian.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Sách của bạn ở trên bàn.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47336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47920"/>
            <a:ext cx="4437766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方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— trang trọng, hay gặp trong văn viết/thông báo → CHỈ CẦN NHẬN BIẾT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4947920"/>
            <a:ext cx="6400617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前方到站。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Qiánfāng dào zhàn.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Phía trước sắp đến trạm. (thông báo trên xe/tàu)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上方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shàngfāng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phía trên (thường gặp trong văn viết, ít dùng khi nói)</a:t>
            </a:r>
          </a:p>
        </p:txBody>
      </p:sp>
      <p:pic>
        <p:nvPicPr>
          <p:cNvPr id="14" name="slide24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4855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方位词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đúng phương vị từ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上边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(shàngbian)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里边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(lǐbian)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下边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(xiàbian)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铅笔在书包[___]。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碗、筷子和勺子在桌子[___]。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猫在椅子[___]。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313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学习用品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铅笔 · 尺子 · 橡皮</a:t>
            </a:r>
          </a:p>
        </p:txBody>
      </p:sp>
      <p:pic>
        <p:nvPicPr>
          <p:cNvPr id="6" name="Picture 5" descr="hocsinhdungcu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990"/>
            <a:ext cx="3550211" cy="2661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铅笔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、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尺子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橡皮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在书包里边。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Qiānbǐ, chǐzi hé xiàngpí zài shūbāo lǐbian.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Bút chì, thước và tẩy ở trong cặp sách.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铅笔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qiānbǐ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bút chì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尺子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chǐzi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cái thước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橡皮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xiàngpí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cục tẩy</a:t>
            </a:r>
          </a:p>
        </p:txBody>
      </p:sp>
      <p:pic>
        <p:nvPicPr>
          <p:cNvPr id="11" name="slide26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313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学习用品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书包 · 笔记本</a:t>
            </a:r>
          </a:p>
        </p:txBody>
      </p:sp>
      <p:pic>
        <p:nvPicPr>
          <p:cNvPr id="6" name="Picture 5" descr="hocsinhdungcu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笔记本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书包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Bǐjìběn zài shūbāo shàngbian.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Quyển vở ở trên cặp sách.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shūbāo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cặp sách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笔记本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bǐjìběn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quyển vở</a:t>
            </a:r>
          </a:p>
        </p:txBody>
      </p:sp>
      <p:pic>
        <p:nvPicPr>
          <p:cNvPr id="10" name="slide27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313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厨房用品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碗 · 筷子 · 勺子</a:t>
            </a:r>
          </a:p>
        </p:txBody>
      </p:sp>
      <p:pic>
        <p:nvPicPr>
          <p:cNvPr id="6" name="Picture 5" descr="chenbatduaTh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碗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、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筷子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勺子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在桌子上边。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Wǎn, kuàizi hé sháozi zài zhuōzi shàngbian.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Bát, đũa và thìa ở trên bàn.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wǎn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cái bát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筷子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kuàizi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đôi đũa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勺子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sháozi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cái thìa</a:t>
            </a:r>
          </a:p>
        </p:txBody>
      </p:sp>
      <p:pic>
        <p:nvPicPr>
          <p:cNvPr id="11" name="slide28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房间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客厅</a:t>
            </a:r>
          </a:p>
        </p:txBody>
      </p:sp>
      <p:pic>
        <p:nvPicPr>
          <p:cNvPr id="6" name="Picture 5" descr="phongkh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00378"/>
            <a:ext cx="3550210" cy="25028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我们在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客厅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看电视。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Wǒmen zài kètīng kàn diànshì.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Chúng tôi xem ti vi ở phòng khách.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7178443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客厅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kètīng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phòng khách</a:t>
            </a:r>
          </a:p>
        </p:txBody>
      </p:sp>
      <p:pic>
        <p:nvPicPr>
          <p:cNvPr id="9" name="slide29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房间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卧室</a:t>
            </a:r>
          </a:p>
        </p:txBody>
      </p:sp>
      <p:pic>
        <p:nvPicPr>
          <p:cNvPr id="6" name="Picture 5" descr="phongng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75328"/>
            <a:ext cx="3550211" cy="23529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我的书在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卧室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de shū zài wòshì li.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Sách của tôi ở trong phòng ngủ.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7178443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卧室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wòshì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phòng ngủ</a:t>
            </a:r>
          </a:p>
        </p:txBody>
      </p:sp>
      <p:pic>
        <p:nvPicPr>
          <p:cNvPr id="9" name="slide30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房间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厨房</a:t>
            </a:r>
          </a:p>
        </p:txBody>
      </p:sp>
      <p:pic>
        <p:nvPicPr>
          <p:cNvPr id="6" name="Picture 5" descr="nhab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妈妈在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厨房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做饭。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Māma zài chúfáng zuò fàn.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Mẹ nấu cơm ở nhà bếp.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7178443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chúfáng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nhà bếp</a:t>
            </a:r>
          </a:p>
        </p:txBody>
      </p:sp>
      <p:pic>
        <p:nvPicPr>
          <p:cNvPr id="9" name="slide31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房间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浴室</a:t>
            </a:r>
          </a:p>
        </p:txBody>
      </p:sp>
      <p:pic>
        <p:nvPicPr>
          <p:cNvPr id="6" name="Picture 5" descr="phongt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浴室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在卧室旁边。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Yùshì zài wòshì pángbiān.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Phòng tắm ở cạnh phòng ngủ.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7178443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浴室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yùshì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phòng tắm</a:t>
            </a:r>
          </a:p>
        </p:txBody>
      </p:sp>
      <p:pic>
        <p:nvPicPr>
          <p:cNvPr id="9" name="slide32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房间</a:t>
            </a:r>
          </a:p>
        </p:txBody>
      </p:sp>
      <p:pic>
        <p:nvPicPr>
          <p:cNvPr id="6" name="Picture 5" descr="phongkh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4527"/>
            <a:ext cx="2943673" cy="207525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phongng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6673"/>
            <a:ext cx="2943673" cy="195096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nhabe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phongta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客厅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kètīng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卧室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wòshì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厨房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chúfáng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浴室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yùshì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东西</a:t>
            </a:r>
          </a:p>
        </p:txBody>
      </p:sp>
      <p:pic>
        <p:nvPicPr>
          <p:cNvPr id="6" name="Picture 5" descr="obj_qian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obj_shub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obj_w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obj_kuaiz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铅笔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qiānbǐ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书包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shūbāo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碗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wǎn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筷子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kuàizi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