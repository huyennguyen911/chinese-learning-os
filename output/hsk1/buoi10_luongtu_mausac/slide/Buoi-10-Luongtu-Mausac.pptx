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2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3"/><Relationship Id="rId3" Type="http://schemas.openxmlformats.org/officeDocument/2006/relationships/video" Target="../media/media1.mp3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3"/><Relationship Id="rId3" Type="http://schemas.openxmlformats.org/officeDocument/2006/relationships/video" Target="../media/media9.mp3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3"/><Relationship Id="rId3" Type="http://schemas.openxmlformats.org/officeDocument/2006/relationships/video" Target="../media/media10.mp3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3"/><Relationship Id="rId3" Type="http://schemas.openxmlformats.org/officeDocument/2006/relationships/video" Target="../media/media11.mp3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量词 · 一点儿 · 有点儿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今天学什么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Đếm: 数 + 量 + 名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Lượng từ (个 / 口 / 件 / 张 …)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Phân biệt 一点儿 và 有点儿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Màu sắc</a:t>
            </a:r>
          </a:p>
        </p:txBody>
      </p:sp>
      <p:pic>
        <p:nvPicPr>
          <p:cNvPr id="7" name="Picture 6" descr="rea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584019"/>
            <a:ext cx="4206240" cy="28055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 · 想 · 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会 = biết làm (kỹ năng học được):  我会说汉语。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想 = muốn (nhẹ):  我想去公园。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能 / 可以 = có thể / được phép:  我能坐这儿吗？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颜色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94413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0771"/>
                <a:gridCol w="1331329"/>
                <a:gridCol w="3106436"/>
                <a:gridCol w="4215877"/>
              </a:tblGrid>
              <a:tr h="417576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Màu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颜色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yánsè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màu sắc (từ chung)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红色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hóngsè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màu đỏ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橙色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chéngsè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màu cam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黄色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huángsè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màu vàng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绿色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lǜsè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màu xanh lá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蓝色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lánsè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màu xanh dương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紫色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zǐsè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màu tím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粉色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fěnsè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màu hồng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白色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báisè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màu trắng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黑色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hēisè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màu đen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17576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灰色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huīsè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màu xám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436893" y="2410435"/>
            <a:ext cx="436365" cy="229666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36893" y="2828011"/>
            <a:ext cx="436365" cy="229666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36893" y="3245587"/>
            <a:ext cx="436365" cy="229666"/>
          </a:xfrm>
          <a:prstGeom prst="roundRect">
            <a:avLst/>
          </a:prstGeom>
          <a:solidFill>
            <a:srgbClr val="F1C40F"/>
          </a:solidFill>
          <a:ln w="1270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36893" y="3663163"/>
            <a:ext cx="436365" cy="229666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36893" y="4080739"/>
            <a:ext cx="436365" cy="229666"/>
          </a:xfrm>
          <a:prstGeom prst="roundRect">
            <a:avLst/>
          </a:prstGeom>
          <a:solidFill>
            <a:srgbClr val="2980B9"/>
          </a:solidFill>
          <a:ln w="1270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36893" y="4498315"/>
            <a:ext cx="436365" cy="229666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36893" y="4915891"/>
            <a:ext cx="436365" cy="229666"/>
          </a:xfrm>
          <a:prstGeom prst="roundRect">
            <a:avLst/>
          </a:prstGeom>
          <a:solidFill>
            <a:srgbClr val="F78FB3"/>
          </a:solidFill>
          <a:ln w="1270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36893" y="5333467"/>
            <a:ext cx="436365" cy="2296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36893" y="5751043"/>
            <a:ext cx="436365" cy="229666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36893" y="6168619"/>
            <a:ext cx="436365" cy="229666"/>
          </a:xfrm>
          <a:prstGeom prst="roundRect">
            <a:avLst/>
          </a:prstGeom>
          <a:solidFill>
            <a:srgbClr val="95A5A6"/>
          </a:solidFill>
          <a:ln w="1270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lide0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学习用品</a:t>
            </a:r>
          </a:p>
        </p:txBody>
      </p:sp>
      <p:pic>
        <p:nvPicPr>
          <p:cNvPr id="6" name="Picture 5" descr="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46604"/>
            <a:ext cx="3840480" cy="28803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1481328"/>
          <a:ext cx="6888174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925"/>
                <a:gridCol w="2479743"/>
                <a:gridCol w="2617506"/>
              </a:tblGrid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铅笔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qiānbǐ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bút chì  (一支)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本子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běnzi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quyển vở  (一本)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书包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shūbāo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cặp sách  (一个)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尺子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chǐzi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thước kẻ  (一把)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橡皮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xiàngpí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cục tẩy  (一块)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杯子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bēizi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cái cốc  (一个)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筷子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kuàizi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đôi đũa  (一双)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slide0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数 + 量 + 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Số + Lượng từ + Danh từ. Giữa SỐ và DANH TỪ bắt buộc có lượng từ.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一个人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yí gè rén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một người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三本书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sān běn shū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ba quyển sách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Sai:  三书 ❌   →   Đúng:  三本书 ✔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Giống tiếng Việt: một *con* mèo, một *cái* bàn, một *quyển* sách — mỗi vật một 'từ đếm' riêng.</a:t>
            </a:r>
          </a:p>
          <a:p>
            <a:pPr>
              <a:spcBef>
                <a:spcPts val="1200"/>
              </a:spcBef>
            </a:pPr>
            <a:r>
              <a:rPr sz="12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Nguồn: HSK标准教程1, Bài 5</a:t>
            </a:r>
          </a:p>
        </p:txBody>
      </p:sp>
      <p:pic>
        <p:nvPicPr>
          <p:cNvPr id="7" name="Picture 6" descr="shuliangm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553525"/>
            <a:ext cx="4297680" cy="2866518"/>
          </a:xfrm>
          <a:prstGeom prst="rect">
            <a:avLst/>
          </a:prstGeom>
        </p:spPr>
      </p:pic>
      <p:pic>
        <p:nvPicPr>
          <p:cNvPr id="8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个 · 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个 (gè) = lượng từ vạn năng — dùng khi chưa chắc.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口 (kǒu) = đếm người trong GIA ĐÌNH.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一个老师，两个学生。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yí gè lǎoshī, liǎng gè xuéshēng.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một giáo viên, hai học sinh.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我家有五口人。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jiā yǒu wǔ kǒu rén.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Nhà mình có 5 người.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Chú ý: 二 → 两 khi đứng trước lượng từ (两个, không nói 二个).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Chưa chắc dùng lượng từ nào? Cứ dùng 个. Nhưng hỏi số người trong nhà thì luôn 口.</a:t>
            </a:r>
          </a:p>
        </p:txBody>
      </p:sp>
      <p:pic>
        <p:nvPicPr>
          <p:cNvPr id="7" name="Picture 6" descr="geko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53525"/>
            <a:ext cx="4297680" cy="2866518"/>
          </a:xfrm>
          <a:prstGeom prst="rect">
            <a:avLst/>
          </a:prstGeom>
        </p:spPr>
      </p:pic>
      <p:pic>
        <p:nvPicPr>
          <p:cNvPr id="8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件 · 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件 (jiàn) = quần áo &amp; sự việc.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张 (zhāng) = vật MỎNG, PHẲNG.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一件衣服 / 一件事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yí jiàn yīfu / yí jiàn shì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một bộ quần áo / một việc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一张桌子、一张票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yì zhāng zhuōzi, yì zhāng piào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một cái bàn, một tấm vé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张 cho thứ có mặt phẳng: bàn, giường, vé, giấy, ảnh, bản đồ.</a:t>
            </a:r>
          </a:p>
          <a:p>
            <a:pPr>
              <a:spcBef>
                <a:spcPts val="1200"/>
              </a:spcBef>
            </a:pPr>
            <a:r>
              <a:rPr sz="12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Nguồn: HSK标准教程1, Bài 9</a:t>
            </a:r>
          </a:p>
        </p:txBody>
      </p:sp>
      <p:pic>
        <p:nvPicPr>
          <p:cNvPr id="7" name="Picture 6" descr="jianzha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553525"/>
            <a:ext cx="4297680" cy="2866518"/>
          </a:xfrm>
          <a:prstGeom prst="rect">
            <a:avLst/>
          </a:prstGeom>
        </p:spPr>
      </p:pic>
      <p:pic>
        <p:nvPicPr>
          <p:cNvPr id="8" name="slide0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量词（一）：人・动物・长条物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94415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量词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Dùng cho (liên tưởng)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个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gè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chung — người, đồ vật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一个人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位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wèi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người (lịch sự)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一位老师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口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kǒu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người trong nhà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五口人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只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động vật nhỏ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一只猫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条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tiáo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vật dài (cá, đường, quần)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一条鱼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支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vật dài mảnh (bút)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一支笔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双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shuāng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đôi (giày, đũa)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一双鞋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把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bǎ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vật có cán (ô, ghế, dao)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一把伞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量词（二）：物品・食物・饮料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94415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量词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Dùng cho (liên tưởng)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件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jiàn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quần áo, sự việc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一件衣服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张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zhāng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vật mỏng phẳng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一张纸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本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běn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sách vở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一本书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辆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liàng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xe cộ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一辆车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杯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bēi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cốc (đồ uống)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一杯咖啡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瓶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píng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chai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一瓶水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块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kuài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cục / tiền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五块钱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些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xiē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một số (số nhiều)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一些书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一点儿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一点儿 = 'một chút' (số lượng ít). Đứng SAU tính từ, hoặc TRƯỚC danh từ.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便宜一点儿吧。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Piányi yìdiǎnr ba.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Rẻ hơn chút đi. (形容词 + 一点儿)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我想喝一点儿水。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xiǎng hē yìdiǎnr shuǐ.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muốn uống chút nước. (一点儿 + 名词)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Nói nhanh rút thành 一点 hoặc 点儿.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Muốn 'hơn một chút':  大一点儿 (to hơn tí) · 快一点儿 (nhanh lên tí).</a:t>
            </a:r>
          </a:p>
        </p:txBody>
      </p:sp>
      <p:pic>
        <p:nvPicPr>
          <p:cNvPr id="7" name="Picture 6" descr="yidian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98" y="1481328"/>
            <a:ext cx="3736163" cy="5010912"/>
          </a:xfrm>
          <a:prstGeom prst="rect">
            <a:avLst/>
          </a:prstGeom>
        </p:spPr>
      </p:pic>
      <p:pic>
        <p:nvPicPr>
          <p:cNvPr id="8" name="slide1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有点儿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有点儿 = 'hơi…', đứng TRƯỚC tính từ. Thường mang ý CHÊ, không vừa ý.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这件衣服有点儿贵。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Zhè jiàn yīfu yǒudiǎnr guì.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Bộ đồ này hơi đắt.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今天有点儿累。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Jīntiān yǒudiǎnr lèi.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Hôm nay hơi mệt.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有点儿 + 形容词, thường là điều tiêu cực: 贵 / 累 / 难 / 忙.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有点儿 = than phiền · 一点儿 = mong muốn.</a:t>
            </a:r>
          </a:p>
        </p:txBody>
      </p:sp>
      <p:pic>
        <p:nvPicPr>
          <p:cNvPr id="7" name="Picture 6" descr="youdian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034" y="1481328"/>
            <a:ext cx="3474362" cy="5010912"/>
          </a:xfrm>
          <a:prstGeom prst="rect">
            <a:avLst/>
          </a:prstGeom>
        </p:spPr>
      </p:pic>
      <p:pic>
        <p:nvPicPr>
          <p:cNvPr id="8" name="slide1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有点儿 · 一点儿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487168"/>
          <a:ext cx="11094415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So sánh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有点儿 yǒudiǎnr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一点儿 yìdiǎnr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Vị trí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有点儿 + 形容词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形容词 + 一点儿 / 一点儿 + 名词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Sắc thái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chê, không vừa ý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mong muốn / so sánh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有点儿贵 (đắt quá)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便宜一点儿 (rẻ chút đi)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买东西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① Hỏi giá:  这件衣服多少钱？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② Thêm màu:  这件 红色的 衣服多少钱？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③ Mặc cả:  有点儿贵 → 便宜一点儿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这件红色的衣服多少钱？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Zhè jiàn hóngsè de yīfu duōshao qián?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Bộ đồ đỏ này bao nhiêu tiền?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有点儿贵，便宜一点儿吧。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Yǒudiǎnr guì, piányi yìdiǎnr ba.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Hơi đắt, rẻ chút đi.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 nối màu với đồ vật:  红色的衣服 = bộ đồ (màu) đỏ.</a:t>
            </a:r>
          </a:p>
        </p:txBody>
      </p:sp>
      <p:pic>
        <p:nvPicPr>
          <p:cNvPr id="7" name="Picture 6" descr="app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123" y="1481328"/>
            <a:ext cx="3758184" cy="5010912"/>
          </a:xfrm>
          <a:prstGeom prst="rect">
            <a:avLst/>
          </a:prstGeom>
        </p:spPr>
      </p:pic>
      <p:pic>
        <p:nvPicPr>
          <p:cNvPr id="8" name="slide1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在商店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你喜欢什么颜色？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xǐhuan shénme yánsè?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93615" y="2350105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我喜欢蓝色。这件蓝色的衣服多少钱？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xǐhuan lánsè. Zhè jiàn lánsè de yīfu duōshao qián?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18882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这件一百块。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jiàn yìbǎi kuài.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93615" y="4087659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有点儿贵，便宜一点儿吧。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Yǒudiǎnr guì, piányi yìdiǎnr ba.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56436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好，九十块。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Hǎo, jiǔshí kuài.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93615" y="5825213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好，我要这件。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Hǎo, wǒ yào zhè jiàn.</a:t>
            </a:r>
          </a:p>
        </p:txBody>
      </p:sp>
      <p:pic>
        <p:nvPicPr>
          <p:cNvPr id="12" name="slide1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常用句（一）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94415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中文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Việt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这是什么颜色？— 这是红色。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 shì shénme yánsè? — Zhè shì hóngsè.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Đây là màu gì? — Màu đỏ.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我喜欢蓝色。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xǐhuan lánsè.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Mình thích màu xanh dương.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我有三个苹果。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yǒu sān gè píngguǒ.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Mình có ba quả táo.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我家有四口人。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jiā yǒu sì kǒu rén.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Nhà mình có bốn người.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这件衣服很漂亮。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 jiàn yīfu hěn piàoliang.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Bộ quần áo này rất đẹp.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1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常用句（二）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94415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中文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Việt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我想买一张桌子。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xiǎng mǎi yì zhāng zhuōzi.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Mình muốn mua một cái bàn.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这件衣服有点儿贵。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 jiàn yīfu yǒudiǎnr guì.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Bộ đồ này hơi đắt.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便宜一点儿吧。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Piányi yìdiǎnr ba.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Rẻ hơn một chút đi.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我会说一点儿汉语。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huì shuō yìdiǎnr Hànyǔ.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Mình biết nói một chút tiếng Trung.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我想喝一点儿水。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xiǎng hē yìdiǎnr shuǐ.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Mình muốn uống một chút nước.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1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阅读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推荐材料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200"/>
              </a:spcBef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Trong 2 giáo trình (đọc lại 课文):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《HSK标准教程1》Bài 5「这是我的家」— 数量名 + 口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《HSK标准教程1》Bài 9「多少钱」— 件 / 张 + mua sắm + 块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《HSK标准教程1》Bài 11「他在哪儿工作」— 一点儿 / 有点儿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《汉语教程1·上》Bài 13–14 — hỏi giá, màu sắc, lượng từ</a:t>
            </a:r>
          </a:p>
          <a:p>
            <a:pPr>
              <a:spcBef>
                <a:spcPts val="1200"/>
              </a:spcBef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Nguồn luyện đọc thêm (trình độ HSK1):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Du Chinese (app) — mục Newbie / HSK1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The Chairman's Bao — bài trình độ HSK1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Mandarin Companion — Readers Level 0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hsk.academy — HSK1 reading online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谢谢！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Buổi sau: 了 (thay đổi + hoàn thành) · Thời tiết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