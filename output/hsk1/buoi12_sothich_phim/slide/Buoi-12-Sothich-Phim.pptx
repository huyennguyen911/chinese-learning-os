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951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2026-09-15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microsoft.com/office/2007/relationships/media" Target="../media/media9.mp3"/><Relationship Id="rId6" Type="http://schemas.openxmlformats.org/officeDocument/2006/relationships/video" Target="../media/media9.mp3"/><Relationship Id="rId7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3"/><Relationship Id="rId3" Type="http://schemas.openxmlformats.org/officeDocument/2006/relationships/video" Target="../media/media22.mp3"/><Relationship Id="rId4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3.mp3"/><Relationship Id="rId3" Type="http://schemas.openxmlformats.org/officeDocument/2006/relationships/video" Target="../media/media23.mp3"/><Relationship Id="rId4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4.mp3"/><Relationship Id="rId3" Type="http://schemas.openxmlformats.org/officeDocument/2006/relationships/video" Target="../media/media24.mp3"/><Relationship Id="rId4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microsoft.com/office/2007/relationships/media" Target="../media/media25.mp3"/><Relationship Id="rId4" Type="http://schemas.openxmlformats.org/officeDocument/2006/relationships/video" Target="../media/media25.mp3"/><Relationship Id="rId5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26.mp3"/><Relationship Id="rId4" Type="http://schemas.openxmlformats.org/officeDocument/2006/relationships/video" Target="../media/media26.mp3"/><Relationship Id="rId5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27.mp3"/><Relationship Id="rId4" Type="http://schemas.openxmlformats.org/officeDocument/2006/relationships/video" Target="../media/media27.mp3"/><Relationship Id="rId5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7.jpg"/><Relationship Id="rId5" Type="http://schemas.openxmlformats.org/officeDocument/2006/relationships/image" Target="../media/image20.jpg"/><Relationship Id="rId6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lang="zh-CN"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我看了一个电影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</a:rPr>
              <a:t>Wǒ kànle yí ge diànyǐng · Tôi đã xem một bộ phim</a:t>
            </a:r>
          </a:p>
          <a:p>
            <a:pPr algn="l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</a:rPr>
              <a:t>Buổi 12 · Sở thích &amp; phim · 了(2)</a:t>
            </a:r>
          </a:p>
        </p:txBody>
      </p:sp>
      <p:pic>
        <p:nvPicPr>
          <p:cNvPr id="4" name="Picture 3" descr="title_mov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934686"/>
            <a:ext cx="4480560" cy="2988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zh-CN"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Mục tiêu buổi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Nghe/dùng được 了 khi kể một việc đã làm xong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Biết đúng chỗ đặt 都 (đều) trong câu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Làm quen "từ tách được" như 说话／睡觉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Biết thêm nhiều từ chỉ sở thích để nói về mình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94095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· Trên chuyến tàu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shang_huo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zh-CN"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过年了，我们</a:t>
            </a:r>
            <a:r>
              <a:rPr lang="zh-CN"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上火车</a:t>
            </a:r>
            <a:r>
              <a:rPr lang="zh-CN"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回家，中午车就</a:t>
            </a:r>
            <a:r>
              <a:rPr lang="zh-CN"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开</a:t>
            </a:r>
            <a:r>
              <a:rPr lang="zh-CN"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Guònián le, wǒmen shàng huǒchē huí jiā, zhōngwǔ chē jiù kāi le.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Tết đến rồi, chúng tôi lên tàu về nhà, buổi trưa tàu khởi hành.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613912"/>
            <a:ext cx="2301374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shàng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lên (tàu, xe)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613912"/>
            <a:ext cx="2301374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火车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huǒchē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tàu hỏa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613912"/>
            <a:ext cx="2301374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kāi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chạy, khởi hành (xe)</a:t>
            </a:r>
          </a:p>
        </p:txBody>
      </p:sp>
      <p:pic>
        <p:nvPicPr>
          <p:cNvPr id="11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youxie_youde.jpg"/>
          <p:cNvPicPr>
            <a:picLocks noChangeAspect="1"/>
          </p:cNvPicPr>
          <p:nvPr/>
        </p:nvPicPr>
        <p:blipFill>
          <a:blip r:embed="rId2"/>
          <a:srcRect l="27412" r="27412"/>
          <a:stretch>
            <a:fillRect/>
          </a:stretch>
        </p:blipFill>
        <p:spPr>
          <a:xfrm>
            <a:off x="548640" y="1611376"/>
            <a:ext cx="3258986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36226" y="2461006"/>
            <a:ext cx="32918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5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有些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yǒuxiē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có một số (người/vật)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6226" y="4391914"/>
            <a:ext cx="3291840" cy="1451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车上</a:t>
            </a:r>
            <a:r>
              <a:rPr lang="zh-CN"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有些</a:t>
            </a: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人在看书。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Chē shang yǒuxiē rén zài kàn shū.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Trên tàu có một số người đang đọc sách.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6706" y="2461006"/>
            <a:ext cx="37663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5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有的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yǒude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có người, có cái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6706" y="4391914"/>
            <a:ext cx="3766348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有的</a:t>
            </a: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人累了，睡觉了。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Yǒude rén lèi le, shuìjiào le.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Có người mệt rồi, ngủ luôn.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2386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168398"/>
            <a:ext cx="37663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5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明年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míngnián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năm sau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99306"/>
            <a:ext cx="3766348" cy="2037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明年</a:t>
            </a: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，我还要坐火车回家过年。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Míngnián, wǒ hái yào zuò huǒchē huí jiā guònián.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Năm sau, tôi vẫn muốn đi tàu về nhà ăn Tết.</a:t>
            </a:r>
          </a:p>
        </p:txBody>
      </p:sp>
      <p:pic>
        <p:nvPicPr>
          <p:cNvPr id="8" name="Picture 7" descr="mingnian_guonian.jpg"/>
          <p:cNvPicPr>
            <a:picLocks noChangeAspect="1"/>
          </p:cNvPicPr>
          <p:nvPr/>
        </p:nvPicPr>
        <p:blipFill>
          <a:blip r:embed="rId2"/>
          <a:srcRect l="27731" r="27731"/>
          <a:stretch>
            <a:fillRect/>
          </a:stretch>
        </p:blipFill>
        <p:spPr>
          <a:xfrm>
            <a:off x="4863628" y="1611376"/>
            <a:ext cx="3258986" cy="4880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51214" y="2168398"/>
            <a:ext cx="32918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5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过年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guònián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ăn Tết, đón năm mới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1214" y="4099306"/>
            <a:ext cx="3291840" cy="2037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过年</a:t>
            </a: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的时候，全家人在一起，很开心。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Guònián de shíhou, quánjiārén zài yìqǐ, hěn kāixīn.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Lúc ăn Tết, cả nhà quây quần bên nhau, rất vui.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9308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去年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qùnián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năm ngoái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去年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过年，我们也是坐火车回家的。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Qùnián guònián, wǒmen yě shì zuò huǒchē huí jiā de.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Tết năm ngoái, chúng tôi cũng đi tàu về nhà.</a:t>
            </a:r>
          </a:p>
        </p:txBody>
      </p:sp>
      <p:pic>
        <p:nvPicPr>
          <p:cNvPr id="8" name="slide0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0426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· Trong lớp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x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zh-CN"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老师教我们</a:t>
            </a:r>
            <a:r>
              <a:rPr lang="zh-CN"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写</a:t>
            </a:r>
            <a:r>
              <a:rPr lang="zh-CN"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字，我们认真地</a:t>
            </a:r>
            <a:r>
              <a:rPr lang="zh-CN"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听</a:t>
            </a:r>
            <a:r>
              <a:rPr lang="zh-CN"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，都</a:t>
            </a:r>
            <a:r>
              <a:rPr lang="zh-CN"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听见</a:t>
            </a:r>
            <a:r>
              <a:rPr lang="zh-CN"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Lǎoshī jiāo wǒmen xiě zì, wǒmen rènzhēn de tīng, dōu tīngjiàn le.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Cô giáo dạy chúng em viết chữ, chúng em chăm chú nghe, ai cũng nghe thấy rõ.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613912"/>
            <a:ext cx="2301374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写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xiě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viết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613912"/>
            <a:ext cx="2301374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听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tīng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nghe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613912"/>
            <a:ext cx="2301374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听见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tīngjiàn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nghe thấy</a:t>
            </a:r>
          </a:p>
        </p:txBody>
      </p:sp>
      <p:pic>
        <p:nvPicPr>
          <p:cNvPr id="11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buyao_shuohua.jpg"/>
          <p:cNvPicPr>
            <a:picLocks noChangeAspect="1"/>
          </p:cNvPicPr>
          <p:nvPr/>
        </p:nvPicPr>
        <p:blipFill>
          <a:blip r:embed="rId2"/>
          <a:srcRect l="27731" r="27731"/>
          <a:stretch>
            <a:fillRect/>
          </a:stretch>
        </p:blipFill>
        <p:spPr>
          <a:xfrm>
            <a:off x="548640" y="1611376"/>
            <a:ext cx="3258986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36226" y="2582926"/>
            <a:ext cx="32918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5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说话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shuōhuà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nói chuyện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6226" y="4513834"/>
            <a:ext cx="329184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我说了很多话。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 shuōle hěn duō huà.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Tôi đã nói rất nhiều lời.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6706" y="2582926"/>
            <a:ext cx="37663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5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不要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búyào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đừng, không được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6706" y="4513834"/>
            <a:ext cx="3766348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请大家</a:t>
            </a:r>
            <a:r>
              <a:rPr lang="zh-CN"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不要</a:t>
            </a: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说话！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Qǐng dàjiā búyào shuōhuà!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Mọi người đừng nói chuyện!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2386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naxie_zi_v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71551"/>
            <a:ext cx="3550211" cy="23605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zh-CN"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你们都会写</a:t>
            </a:r>
            <a:r>
              <a:rPr lang="zh-CN"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哪些字</a:t>
            </a:r>
            <a:r>
              <a:rPr lang="zh-CN"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了？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Nǐmen dōu huì xiě nǎxiē zì le?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Các em đều đã biết viết những chữ nào rồi?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哪些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nǎxiē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những cái nào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413" y="3158744"/>
            <a:ext cx="3520641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字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chữ</a:t>
            </a:r>
          </a:p>
        </p:txBody>
      </p:sp>
      <p:pic>
        <p:nvPicPr>
          <p:cNvPr id="10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专有名词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168398"/>
            <a:ext cx="37663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5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汉语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Hànyǔ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tiếng Trung (tiếng nói)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924" y="4099306"/>
            <a:ext cx="4727704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21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我每天在学校学</a:t>
            </a:r>
            <a:r>
              <a:rPr lang="zh-CN" sz="21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汉语</a:t>
            </a:r>
            <a:r>
              <a:rPr lang="zh-CN" sz="21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，进步很快。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 dirty="0" err="1">
                <a:solidFill>
                  <a:srgbClr val="8E2B20"/>
                </a:solidFill>
                <a:latin typeface="Calibri"/>
              </a:rPr>
              <a:t>Wǒ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měitiān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zài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xuéxiào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xué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Hànyǔ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,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jìnbù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hěn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kuài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 dirty="0" err="1">
                <a:solidFill>
                  <a:srgbClr val="6B7683"/>
                </a:solidFill>
                <a:latin typeface="Calibri"/>
              </a:rPr>
              <a:t>Mỗi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ngày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tôi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học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tiếng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Trung ở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trường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tiến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bộ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rất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nhanh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.</a:t>
            </a:r>
          </a:p>
        </p:txBody>
      </p:sp>
      <p:pic>
        <p:nvPicPr>
          <p:cNvPr id="8" name="Picture 7" descr="xie.jpg"/>
          <p:cNvPicPr>
            <a:picLocks noChangeAspect="1"/>
          </p:cNvPicPr>
          <p:nvPr/>
        </p:nvPicPr>
        <p:blipFill>
          <a:blip r:embed="rId2"/>
          <a:srcRect l="27731" r="27731"/>
          <a:stretch>
            <a:fillRect/>
          </a:stretch>
        </p:blipFill>
        <p:spPr>
          <a:xfrm>
            <a:off x="4863628" y="1611376"/>
            <a:ext cx="3258986" cy="4880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51214" y="2168398"/>
            <a:ext cx="32918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5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汉字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Hànzì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chữ Hán (chữ viết)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1214" y="4099306"/>
            <a:ext cx="384078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21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汉字</a:t>
            </a:r>
            <a:r>
              <a:rPr lang="zh-CN" sz="21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虽然难，但是很有意思。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 dirty="0" err="1">
                <a:solidFill>
                  <a:srgbClr val="8E2B20"/>
                </a:solidFill>
                <a:latin typeface="Calibri"/>
              </a:rPr>
              <a:t>Hànzì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suīrán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nán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,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dànshì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hěn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yǒu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</a:rPr>
              <a:t>yìsi</a:t>
            </a:r>
            <a:r>
              <a:rPr sz="1500" b="0" i="1" dirty="0">
                <a:solidFill>
                  <a:srgbClr val="8E2B20"/>
                </a:solidFill>
                <a:latin typeface="Calibri"/>
              </a:rPr>
              <a:t>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 dirty="0" err="1">
                <a:solidFill>
                  <a:srgbClr val="6B7683"/>
                </a:solidFill>
                <a:latin typeface="Calibri"/>
              </a:rPr>
              <a:t>Chữ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Hán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tuy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khó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nhưng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rất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thú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</a:rPr>
              <a:t>vị</a:t>
            </a:r>
            <a:r>
              <a:rPr sz="1500" b="0" i="0" dirty="0">
                <a:solidFill>
                  <a:srgbClr val="6B7683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9308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tamen_fami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3628"/>
            <a:ext cx="3588410" cy="23935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67713"/>
            <a:ext cx="358841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他们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7169"/>
            <a:ext cx="358841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000" b="0" i="1">
                <a:solidFill>
                  <a:srgbClr val="6B7683"/>
                </a:solidFill>
                <a:latin typeface="Calibri"/>
              </a:rPr>
              <a:t>tāmen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0049"/>
            <a:ext cx="358841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họ (nam / chung, có cả nam cả nữ)</a:t>
            </a:r>
          </a:p>
        </p:txBody>
      </p:sp>
      <p:pic>
        <p:nvPicPr>
          <p:cNvPr id="10" name="Picture 9" descr="tamen_n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642" y="1683628"/>
            <a:ext cx="3588410" cy="23935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1642" y="4167713"/>
            <a:ext cx="358841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她们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1642" y="4387169"/>
            <a:ext cx="358841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000" b="0" i="1">
                <a:solidFill>
                  <a:srgbClr val="6B7683"/>
                </a:solidFill>
                <a:latin typeface="Calibri"/>
              </a:rPr>
              <a:t>tāmen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1642" y="4570049"/>
            <a:ext cx="358841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họ (toàn nữ)</a:t>
            </a:r>
          </a:p>
        </p:txBody>
      </p:sp>
      <p:pic>
        <p:nvPicPr>
          <p:cNvPr id="14" name="Picture 13" descr="tamen_va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644" y="1687445"/>
            <a:ext cx="3588410" cy="23859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54644" y="4167713"/>
            <a:ext cx="358841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它们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4644" y="4387169"/>
            <a:ext cx="358841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000" b="0" i="1">
                <a:solidFill>
                  <a:srgbClr val="6B7683"/>
                </a:solidFill>
                <a:latin typeface="Calibri"/>
              </a:rPr>
              <a:t>tāmen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4644" y="4570049"/>
            <a:ext cx="358841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lang="zh-CN"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nó (đồ vật, con vật)</a:t>
            </a:r>
          </a:p>
        </p:txBody>
      </p:sp>
      <p:pic>
        <p:nvPicPr>
          <p:cNvPr id="18" name="slide11.mp3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6771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Sở thích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aihao.jpg"/>
          <p:cNvPicPr>
            <a:picLocks noChangeAspect="1"/>
          </p:cNvPicPr>
          <p:nvPr/>
        </p:nvPicPr>
        <p:blipFill>
          <a:blip r:embed="rId2"/>
          <a:srcRect l="18553" r="18553"/>
          <a:stretch>
            <a:fillRect/>
          </a:stretch>
        </p:blipFill>
        <p:spPr>
          <a:xfrm>
            <a:off x="548640" y="1611376"/>
            <a:ext cx="4602175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爱好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àihào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sở thích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</a:t>
            </a:r>
            <a:r>
              <a:rPr lang="zh-CN"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爱好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是画画儿。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de àihào shì huàhuàr.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Sở thích của tôi là vẽ tranh.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你的</a:t>
            </a:r>
            <a:r>
              <a:rPr lang="zh-CN"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爱好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是什么？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de àihào shì shénme?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Sở thích của bạn là gì?</a:t>
            </a:r>
          </a:p>
        </p:txBody>
      </p:sp>
      <p:pic>
        <p:nvPicPr>
          <p:cNvPr id="9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changge.jpg"/>
          <p:cNvPicPr>
            <a:picLocks noChangeAspect="1"/>
          </p:cNvPicPr>
          <p:nvPr/>
        </p:nvPicPr>
        <p:blipFill>
          <a:blip r:embed="rId2"/>
          <a:srcRect l="18553" r="18553"/>
          <a:stretch>
            <a:fillRect/>
          </a:stretch>
        </p:blipFill>
        <p:spPr>
          <a:xfrm>
            <a:off x="548640" y="1611376"/>
            <a:ext cx="4602175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唱歌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chànggē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hát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妹妹喜欢</a:t>
            </a:r>
            <a:r>
              <a:rPr lang="zh-CN"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唱歌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Mèimei xǐhuan chànggē.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Em gái thích hát.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tiaowu_vn.jpg"/>
          <p:cNvPicPr>
            <a:picLocks noChangeAspect="1"/>
          </p:cNvPicPr>
          <p:nvPr/>
        </p:nvPicPr>
        <p:blipFill>
          <a:blip r:embed="rId2"/>
          <a:srcRect l="18704" r="18704"/>
          <a:stretch>
            <a:fillRect/>
          </a:stretch>
        </p:blipFill>
        <p:spPr>
          <a:xfrm>
            <a:off x="548640" y="1611376"/>
            <a:ext cx="4602175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跳舞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tiàowǔ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nhảy múa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她们在学校</a:t>
            </a:r>
            <a:r>
              <a:rPr lang="zh-CN"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跳舞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Tāmen zài xuéxiào tiàowǔ.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Các bạn ấy múa ở trường.</a:t>
            </a:r>
          </a:p>
        </p:txBody>
      </p:sp>
      <p:pic>
        <p:nvPicPr>
          <p:cNvPr id="9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huahuar.jpg"/>
          <p:cNvPicPr>
            <a:picLocks noChangeAspect="1"/>
          </p:cNvPicPr>
          <p:nvPr/>
        </p:nvPicPr>
        <p:blipFill>
          <a:blip r:embed="rId2"/>
          <a:srcRect l="18553" r="18553"/>
          <a:stretch>
            <a:fillRect/>
          </a:stretch>
        </p:blipFill>
        <p:spPr>
          <a:xfrm>
            <a:off x="548640" y="1611376"/>
            <a:ext cx="4602175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4" y="3218246"/>
            <a:ext cx="2569687" cy="16671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画画儿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 dirty="0" err="1">
                <a:solidFill>
                  <a:srgbClr val="8E2B20"/>
                </a:solidFill>
                <a:latin typeface="Calibri"/>
              </a:rPr>
              <a:t>huàhuàr</a:t>
            </a:r>
            <a:endParaRPr sz="2200" b="0" i="1" dirty="0">
              <a:solidFill>
                <a:srgbClr val="8E2B20"/>
              </a:solidFill>
              <a:latin typeface="Calibri"/>
            </a:endParaRPr>
          </a:p>
          <a:p>
            <a:pPr algn="ctr">
              <a:spcBef>
                <a:spcPts val="400"/>
              </a:spcBef>
              <a:buNone/>
            </a:pPr>
            <a:r>
              <a:rPr sz="1800" b="0" i="0" dirty="0" err="1">
                <a:solidFill>
                  <a:srgbClr val="1F2933"/>
                </a:solidFill>
                <a:latin typeface="Calibri"/>
              </a:rPr>
              <a:t>vẽ</a:t>
            </a:r>
            <a:r>
              <a:rPr sz="1800" b="0" i="0" dirty="0">
                <a:solidFill>
                  <a:srgbClr val="1F2933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</a:rPr>
              <a:t>tranh</a:t>
            </a:r>
            <a:endParaRPr sz="1800" b="0" i="0" dirty="0">
              <a:solidFill>
                <a:srgbClr val="1F2933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37353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我周末在家</a:t>
            </a:r>
            <a:r>
              <a:rPr lang="zh-CN"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画画儿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zhōumò zài jiā huàhuàr.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Cuối tuần tôi ở nhà vẽ tranh.</a:t>
            </a:r>
          </a:p>
        </p:txBody>
      </p:sp>
      <p:pic>
        <p:nvPicPr>
          <p:cNvPr id="9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tan_gangqin.jpg"/>
          <p:cNvPicPr>
            <a:picLocks noChangeAspect="1"/>
          </p:cNvPicPr>
          <p:nvPr/>
        </p:nvPicPr>
        <p:blipFill>
          <a:blip r:embed="rId2"/>
          <a:srcRect l="18102" r="18102"/>
          <a:stretch>
            <a:fillRect/>
          </a:stretch>
        </p:blipFill>
        <p:spPr>
          <a:xfrm>
            <a:off x="548640" y="1611376"/>
            <a:ext cx="4602175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3218246"/>
            <a:ext cx="2377440" cy="16671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弹钢琴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 dirty="0" err="1">
                <a:solidFill>
                  <a:srgbClr val="8E2B20"/>
                </a:solidFill>
                <a:latin typeface="Calibri"/>
              </a:rPr>
              <a:t>tán</a:t>
            </a:r>
            <a:r>
              <a:rPr sz="22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2200" b="0" i="1" dirty="0" err="1">
                <a:solidFill>
                  <a:srgbClr val="8E2B20"/>
                </a:solidFill>
                <a:latin typeface="Calibri"/>
              </a:rPr>
              <a:t>gāngqín</a:t>
            </a:r>
            <a:endParaRPr sz="2200" b="0" i="1" dirty="0">
              <a:solidFill>
                <a:srgbClr val="8E2B20"/>
              </a:solidFill>
              <a:latin typeface="Calibri"/>
            </a:endParaRPr>
          </a:p>
          <a:p>
            <a:pPr algn="ctr">
              <a:spcBef>
                <a:spcPts val="400"/>
              </a:spcBef>
              <a:buNone/>
            </a:pPr>
            <a:r>
              <a:rPr sz="1800" b="0" i="0" dirty="0" err="1">
                <a:solidFill>
                  <a:srgbClr val="1F2933"/>
                </a:solidFill>
                <a:latin typeface="Calibri"/>
              </a:rPr>
              <a:t>chơi</a:t>
            </a:r>
            <a:r>
              <a:rPr sz="1800" b="0" i="0" dirty="0">
                <a:solidFill>
                  <a:srgbClr val="1F2933"/>
                </a:solidFill>
                <a:latin typeface="Calibri"/>
              </a:rPr>
              <a:t> piano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姐姐会</a:t>
            </a:r>
            <a:r>
              <a:rPr lang="zh-CN"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弹钢琴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Jiějie huì tán gāngqín.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Chị gái biết chơi piano.</a:t>
            </a:r>
          </a:p>
        </p:txBody>
      </p:sp>
      <p:pic>
        <p:nvPicPr>
          <p:cNvPr id="9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tan_jita.jpg"/>
          <p:cNvPicPr>
            <a:picLocks noChangeAspect="1"/>
          </p:cNvPicPr>
          <p:nvPr/>
        </p:nvPicPr>
        <p:blipFill>
          <a:blip r:embed="rId2"/>
          <a:srcRect l="18553" r="18553"/>
          <a:stretch>
            <a:fillRect/>
          </a:stretch>
        </p:blipFill>
        <p:spPr>
          <a:xfrm>
            <a:off x="548640" y="1611376"/>
            <a:ext cx="4602175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3218246"/>
            <a:ext cx="2557330" cy="16671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弹吉他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 dirty="0" err="1">
                <a:solidFill>
                  <a:srgbClr val="8E2B20"/>
                </a:solidFill>
                <a:latin typeface="Calibri"/>
              </a:rPr>
              <a:t>tán</a:t>
            </a:r>
            <a:r>
              <a:rPr sz="22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2200" b="0" i="1" dirty="0" err="1">
                <a:solidFill>
                  <a:srgbClr val="8E2B20"/>
                </a:solidFill>
                <a:latin typeface="Calibri"/>
              </a:rPr>
              <a:t>jítā</a:t>
            </a:r>
            <a:endParaRPr sz="2200" b="0" i="1" dirty="0">
              <a:solidFill>
                <a:srgbClr val="8E2B20"/>
              </a:solidFill>
              <a:latin typeface="Calibri"/>
            </a:endParaRPr>
          </a:p>
          <a:p>
            <a:pPr algn="ctr">
              <a:spcBef>
                <a:spcPts val="400"/>
              </a:spcBef>
              <a:buNone/>
            </a:pPr>
            <a:r>
              <a:rPr sz="1800" b="0" i="0" dirty="0" err="1">
                <a:solidFill>
                  <a:srgbClr val="1F2933"/>
                </a:solidFill>
                <a:latin typeface="Calibri"/>
              </a:rPr>
              <a:t>chơi</a:t>
            </a:r>
            <a:r>
              <a:rPr sz="1800" b="0" i="0" dirty="0">
                <a:solidFill>
                  <a:srgbClr val="1F2933"/>
                </a:solidFill>
                <a:latin typeface="Calibri"/>
              </a:rPr>
              <a:t> guitar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哥哥在家</a:t>
            </a:r>
            <a:r>
              <a:rPr lang="zh-CN"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弹吉他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Gēge zài jiā tán jítā.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Anh trai chơi guitar ở nhà.</a:t>
            </a:r>
          </a:p>
        </p:txBody>
      </p:sp>
      <p:pic>
        <p:nvPicPr>
          <p:cNvPr id="9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ti_zuqiu.jpg"/>
          <p:cNvPicPr>
            <a:picLocks noChangeAspect="1"/>
          </p:cNvPicPr>
          <p:nvPr/>
        </p:nvPicPr>
        <p:blipFill>
          <a:blip r:embed="rId2"/>
          <a:srcRect l="18553" r="18553"/>
          <a:stretch>
            <a:fillRect/>
          </a:stretch>
        </p:blipFill>
        <p:spPr>
          <a:xfrm>
            <a:off x="548640" y="1611376"/>
            <a:ext cx="4602175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3218246"/>
            <a:ext cx="2377440" cy="16671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踢足球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 dirty="0" err="1">
                <a:solidFill>
                  <a:srgbClr val="8E2B20"/>
                </a:solidFill>
                <a:latin typeface="Calibri"/>
              </a:rPr>
              <a:t>tī</a:t>
            </a:r>
            <a:r>
              <a:rPr sz="22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2200" b="0" i="1" dirty="0" err="1">
                <a:solidFill>
                  <a:srgbClr val="8E2B20"/>
                </a:solidFill>
                <a:latin typeface="Calibri"/>
              </a:rPr>
              <a:t>zúqiú</a:t>
            </a:r>
            <a:endParaRPr sz="2200" b="0" i="1" dirty="0">
              <a:solidFill>
                <a:srgbClr val="8E2B20"/>
              </a:solidFill>
              <a:latin typeface="Calibri"/>
            </a:endParaRPr>
          </a:p>
          <a:p>
            <a:pPr algn="ctr">
              <a:spcBef>
                <a:spcPts val="400"/>
              </a:spcBef>
              <a:buNone/>
            </a:pPr>
            <a:r>
              <a:rPr sz="1800" b="0" i="0" dirty="0" err="1">
                <a:solidFill>
                  <a:srgbClr val="1F2933"/>
                </a:solidFill>
                <a:latin typeface="Calibri"/>
              </a:rPr>
              <a:t>đá</a:t>
            </a:r>
            <a:r>
              <a:rPr sz="1800" b="0" i="0" dirty="0">
                <a:solidFill>
                  <a:srgbClr val="1F2933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</a:rPr>
              <a:t>bóng</a:t>
            </a:r>
            <a:endParaRPr sz="1800" b="0" i="0" dirty="0">
              <a:solidFill>
                <a:srgbClr val="1F2933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弟弟和朋友们</a:t>
            </a:r>
            <a:r>
              <a:rPr lang="zh-CN"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踢足球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Dìdi hé péngyoumen tī zúqiú.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Em trai và các bạn đá bóng.</a:t>
            </a:r>
          </a:p>
        </p:txBody>
      </p:sp>
      <p:pic>
        <p:nvPicPr>
          <p:cNvPr id="9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da_lanqiu.jpg"/>
          <p:cNvPicPr>
            <a:picLocks noChangeAspect="1"/>
          </p:cNvPicPr>
          <p:nvPr/>
        </p:nvPicPr>
        <p:blipFill>
          <a:blip r:embed="rId2"/>
          <a:srcRect l="18553" r="18553"/>
          <a:stretch>
            <a:fillRect/>
          </a:stretch>
        </p:blipFill>
        <p:spPr>
          <a:xfrm>
            <a:off x="548640" y="1611376"/>
            <a:ext cx="4602175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4" y="3218246"/>
            <a:ext cx="2705611" cy="16671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打篮球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 dirty="0" err="1">
                <a:solidFill>
                  <a:srgbClr val="8E2B20"/>
                </a:solidFill>
                <a:latin typeface="Calibri"/>
              </a:rPr>
              <a:t>dǎ</a:t>
            </a:r>
            <a:r>
              <a:rPr sz="22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2200" b="0" i="1" dirty="0" err="1">
                <a:solidFill>
                  <a:srgbClr val="8E2B20"/>
                </a:solidFill>
                <a:latin typeface="Calibri"/>
              </a:rPr>
              <a:t>lánqiú</a:t>
            </a:r>
            <a:endParaRPr sz="2200" b="0" i="1" dirty="0">
              <a:solidFill>
                <a:srgbClr val="8E2B20"/>
              </a:solidFill>
              <a:latin typeface="Calibri"/>
            </a:endParaRPr>
          </a:p>
          <a:p>
            <a:pPr algn="ctr">
              <a:spcBef>
                <a:spcPts val="400"/>
              </a:spcBef>
              <a:buNone/>
            </a:pPr>
            <a:r>
              <a:rPr sz="1800" b="0" i="0" dirty="0" err="1">
                <a:solidFill>
                  <a:srgbClr val="1F2933"/>
                </a:solidFill>
                <a:latin typeface="Calibri"/>
              </a:rPr>
              <a:t>chơi</a:t>
            </a:r>
            <a:r>
              <a:rPr sz="1800" b="0" i="0" dirty="0">
                <a:solidFill>
                  <a:srgbClr val="1F2933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</a:rPr>
              <a:t>bóng</a:t>
            </a:r>
            <a:r>
              <a:rPr sz="1800" b="0" i="0" dirty="0">
                <a:solidFill>
                  <a:srgbClr val="1F2933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</a:rPr>
              <a:t>rổ</a:t>
            </a:r>
            <a:endParaRPr sz="1800" b="0" i="0" dirty="0">
              <a:solidFill>
                <a:srgbClr val="1F2933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我喜欢</a:t>
            </a:r>
            <a:r>
              <a:rPr lang="zh-CN"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打篮球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xǐhuan dǎ lánqiú.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thích chơi bóng rổ.</a:t>
            </a:r>
          </a:p>
        </p:txBody>
      </p:sp>
      <p:pic>
        <p:nvPicPr>
          <p:cNvPr id="9" name="slide1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pingpong2.jpg"/>
          <p:cNvPicPr>
            <a:picLocks noChangeAspect="1"/>
          </p:cNvPicPr>
          <p:nvPr/>
        </p:nvPicPr>
        <p:blipFill>
          <a:blip r:embed="rId2"/>
          <a:srcRect l="19155" r="19155"/>
          <a:stretch>
            <a:fillRect/>
          </a:stretch>
        </p:blipFill>
        <p:spPr>
          <a:xfrm>
            <a:off x="548640" y="1611376"/>
            <a:ext cx="4602175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3218246"/>
            <a:ext cx="3291840" cy="16671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打乒乓球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 dirty="0" err="1">
                <a:solidFill>
                  <a:srgbClr val="8E2B20"/>
                </a:solidFill>
                <a:latin typeface="Calibri"/>
              </a:rPr>
              <a:t>dǎ</a:t>
            </a:r>
            <a:r>
              <a:rPr sz="22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2200" b="0" i="1" dirty="0" err="1">
                <a:solidFill>
                  <a:srgbClr val="8E2B20"/>
                </a:solidFill>
                <a:latin typeface="Calibri"/>
              </a:rPr>
              <a:t>pīngpāngqiú</a:t>
            </a:r>
            <a:endParaRPr sz="2200" b="0" i="1" dirty="0">
              <a:solidFill>
                <a:srgbClr val="8E2B20"/>
              </a:solidFill>
              <a:latin typeface="Calibri"/>
            </a:endParaRPr>
          </a:p>
          <a:p>
            <a:pPr algn="ctr">
              <a:spcBef>
                <a:spcPts val="400"/>
              </a:spcBef>
              <a:buNone/>
            </a:pPr>
            <a:r>
              <a:rPr sz="1800" b="0" i="0" dirty="0" err="1">
                <a:solidFill>
                  <a:srgbClr val="1F2933"/>
                </a:solidFill>
                <a:latin typeface="Calibri"/>
              </a:rPr>
              <a:t>chơi</a:t>
            </a:r>
            <a:r>
              <a:rPr sz="1800" b="0" i="0" dirty="0">
                <a:solidFill>
                  <a:srgbClr val="1F2933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</a:rPr>
              <a:t>bóng</a:t>
            </a:r>
            <a:r>
              <a:rPr sz="1800" b="0" i="0" dirty="0">
                <a:solidFill>
                  <a:srgbClr val="1F2933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</a:rPr>
              <a:t>bàn</a:t>
            </a:r>
            <a:endParaRPr sz="1800" b="0" i="0" dirty="0">
              <a:solidFill>
                <a:srgbClr val="1F2933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169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 dirty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他和爸爸</a:t>
            </a:r>
            <a:r>
              <a:rPr lang="zh-CN" sz="23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打乒乓球</a:t>
            </a:r>
            <a:r>
              <a:rPr lang="zh-CN" sz="23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 dirty="0">
                <a:solidFill>
                  <a:srgbClr val="8E2B20"/>
                </a:solidFill>
                <a:latin typeface="Calibri"/>
              </a:rPr>
              <a:t>     </a:t>
            </a:r>
            <a:r>
              <a:rPr sz="1600" b="0" i="1" dirty="0" err="1">
                <a:solidFill>
                  <a:srgbClr val="8E2B20"/>
                </a:solidFill>
                <a:latin typeface="Calibri"/>
              </a:rPr>
              <a:t>Tā</a:t>
            </a:r>
            <a:r>
              <a:rPr sz="16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8E2B20"/>
                </a:solidFill>
                <a:latin typeface="Calibri"/>
              </a:rPr>
              <a:t>hé</a:t>
            </a:r>
            <a:r>
              <a:rPr sz="16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8E2B20"/>
                </a:solidFill>
                <a:latin typeface="Calibri"/>
              </a:rPr>
              <a:t>bàba</a:t>
            </a:r>
            <a:r>
              <a:rPr sz="16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8E2B20"/>
                </a:solidFill>
                <a:latin typeface="Calibri"/>
              </a:rPr>
              <a:t>dǎ</a:t>
            </a:r>
            <a:r>
              <a:rPr sz="16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8E2B20"/>
                </a:solidFill>
                <a:latin typeface="Calibri"/>
              </a:rPr>
              <a:t>pīngpāngqiú</a:t>
            </a:r>
            <a:r>
              <a:rPr sz="1600" b="0" i="1" dirty="0">
                <a:solidFill>
                  <a:srgbClr val="8E2B2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buNone/>
            </a:pPr>
            <a:r>
              <a:rPr sz="1600" b="0" i="0" dirty="0">
                <a:solidFill>
                  <a:srgbClr val="6B7683"/>
                </a:solidFill>
                <a:latin typeface="Calibri"/>
              </a:rPr>
              <a:t>    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Bạn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ấy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và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bố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chơi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bóng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bàn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.</a:t>
            </a:r>
          </a:p>
        </p:txBody>
      </p:sp>
      <p:pic>
        <p:nvPicPr>
          <p:cNvPr id="9" name="slide2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youyong.jpg"/>
          <p:cNvPicPr>
            <a:picLocks noChangeAspect="1"/>
          </p:cNvPicPr>
          <p:nvPr/>
        </p:nvPicPr>
        <p:blipFill>
          <a:blip r:embed="rId2"/>
          <a:srcRect l="18754" r="18754"/>
          <a:stretch>
            <a:fillRect/>
          </a:stretch>
        </p:blipFill>
        <p:spPr>
          <a:xfrm>
            <a:off x="548640" y="1611376"/>
            <a:ext cx="4602175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游泳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yóuyǒng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bơi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夏天我们去</a:t>
            </a:r>
            <a:r>
              <a:rPr lang="zh-CN"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游泳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Xiàtiān wǒmen qù yóuyǒng.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Mùa hè chúng tôi đi bơi.</a:t>
            </a:r>
          </a:p>
        </p:txBody>
      </p:sp>
      <p:pic>
        <p:nvPicPr>
          <p:cNvPr id="9" name="slide2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qi_zixingche.jpg"/>
          <p:cNvPicPr>
            <a:picLocks noChangeAspect="1"/>
          </p:cNvPicPr>
          <p:nvPr/>
        </p:nvPicPr>
        <p:blipFill>
          <a:blip r:embed="rId2"/>
          <a:srcRect l="18553" r="18553"/>
          <a:stretch>
            <a:fillRect/>
          </a:stretch>
        </p:blipFill>
        <p:spPr>
          <a:xfrm>
            <a:off x="548640" y="1611376"/>
            <a:ext cx="4602175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3218246"/>
            <a:ext cx="3113384" cy="16671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骑自行车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 dirty="0" err="1">
                <a:solidFill>
                  <a:srgbClr val="8E2B20"/>
                </a:solidFill>
                <a:latin typeface="Calibri"/>
              </a:rPr>
              <a:t>qí</a:t>
            </a:r>
            <a:r>
              <a:rPr sz="22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2200" b="0" i="1" dirty="0" err="1">
                <a:solidFill>
                  <a:srgbClr val="8E2B20"/>
                </a:solidFill>
                <a:latin typeface="Calibri"/>
              </a:rPr>
              <a:t>zìxíngchē</a:t>
            </a:r>
            <a:endParaRPr sz="2200" b="0" i="1" dirty="0">
              <a:solidFill>
                <a:srgbClr val="8E2B20"/>
              </a:solidFill>
              <a:latin typeface="Calibri"/>
            </a:endParaRPr>
          </a:p>
          <a:p>
            <a:pPr algn="ctr">
              <a:spcBef>
                <a:spcPts val="400"/>
              </a:spcBef>
              <a:buNone/>
            </a:pPr>
            <a:r>
              <a:rPr sz="1800" b="0" i="0" dirty="0" err="1">
                <a:solidFill>
                  <a:srgbClr val="1F2933"/>
                </a:solidFill>
                <a:latin typeface="Calibri"/>
              </a:rPr>
              <a:t>đạp</a:t>
            </a:r>
            <a:r>
              <a:rPr sz="1800" b="0" i="0" dirty="0">
                <a:solidFill>
                  <a:srgbClr val="1F2933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</a:rPr>
              <a:t>xe</a:t>
            </a:r>
            <a:r>
              <a:rPr sz="1800" b="0" i="0" dirty="0">
                <a:solidFill>
                  <a:srgbClr val="1F2933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</a:rPr>
              <a:t>đạp</a:t>
            </a:r>
            <a:endParaRPr sz="1800" b="0" i="0" dirty="0">
              <a:solidFill>
                <a:srgbClr val="1F2933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5121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 dirty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我每天</a:t>
            </a:r>
            <a:r>
              <a:rPr lang="zh-CN" sz="23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骑自行车</a:t>
            </a:r>
            <a:r>
              <a:rPr lang="zh-CN" sz="23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上学。</a:t>
            </a:r>
          </a:p>
          <a:p>
            <a:pPr>
              <a:spcBef>
                <a:spcPts val="300"/>
              </a:spcBef>
              <a:buNone/>
            </a:pPr>
            <a:r>
              <a:rPr sz="1600" b="0" i="1" dirty="0">
                <a:solidFill>
                  <a:srgbClr val="8E2B20"/>
                </a:solidFill>
                <a:latin typeface="Calibri"/>
              </a:rPr>
              <a:t>     </a:t>
            </a:r>
            <a:r>
              <a:rPr sz="1600" b="0" i="1" dirty="0" err="1">
                <a:solidFill>
                  <a:srgbClr val="8E2B20"/>
                </a:solidFill>
                <a:latin typeface="Calibri"/>
              </a:rPr>
              <a:t>Wǒ</a:t>
            </a:r>
            <a:r>
              <a:rPr sz="16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8E2B20"/>
                </a:solidFill>
                <a:latin typeface="Calibri"/>
              </a:rPr>
              <a:t>měitiān</a:t>
            </a:r>
            <a:r>
              <a:rPr sz="16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8E2B20"/>
                </a:solidFill>
                <a:latin typeface="Calibri"/>
              </a:rPr>
              <a:t>qí</a:t>
            </a:r>
            <a:r>
              <a:rPr sz="16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8E2B20"/>
                </a:solidFill>
                <a:latin typeface="Calibri"/>
              </a:rPr>
              <a:t>zìxíngchē</a:t>
            </a:r>
            <a:r>
              <a:rPr sz="1600" b="0" i="1" dirty="0">
                <a:solidFill>
                  <a:srgbClr val="8E2B20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8E2B20"/>
                </a:solidFill>
                <a:latin typeface="Calibri"/>
              </a:rPr>
              <a:t>shàngxué</a:t>
            </a:r>
            <a:r>
              <a:rPr sz="1600" b="0" i="1" dirty="0">
                <a:solidFill>
                  <a:srgbClr val="8E2B2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buNone/>
            </a:pPr>
            <a:r>
              <a:rPr sz="1600" b="0" i="0" dirty="0">
                <a:solidFill>
                  <a:srgbClr val="6B7683"/>
                </a:solidFill>
                <a:latin typeface="Calibri"/>
              </a:rPr>
              <a:t>    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Mỗi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ngày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tôi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đạp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xe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đi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7683"/>
                </a:solidFill>
                <a:latin typeface="Calibri"/>
              </a:rPr>
              <a:t>học</a:t>
            </a:r>
            <a:r>
              <a:rPr sz="1600" b="0" i="0" dirty="0">
                <a:solidFill>
                  <a:srgbClr val="6B7683"/>
                </a:solidFill>
                <a:latin typeface="Calibri"/>
              </a:rPr>
              <a:t>.</a:t>
            </a:r>
          </a:p>
        </p:txBody>
      </p:sp>
      <p:pic>
        <p:nvPicPr>
          <p:cNvPr id="9" name="slide2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endParaRPr/>
          </a:p>
        </p:txBody>
      </p:sp>
      <p:pic>
        <p:nvPicPr>
          <p:cNvPr id="6" name="Picture 5" descr="paizhao.jpg"/>
          <p:cNvPicPr>
            <a:picLocks noChangeAspect="1"/>
          </p:cNvPicPr>
          <p:nvPr/>
        </p:nvPicPr>
        <p:blipFill>
          <a:blip r:embed="rId2"/>
          <a:srcRect l="18553" r="18553"/>
          <a:stretch>
            <a:fillRect/>
          </a:stretch>
        </p:blipFill>
        <p:spPr>
          <a:xfrm>
            <a:off x="548640" y="1611376"/>
            <a:ext cx="4602175" cy="4880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lang="zh-CN"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拍照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pāizhào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chụp ảnh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我喜欢</a:t>
            </a:r>
            <a:r>
              <a:rPr lang="zh-CN" sz="2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拍照</a:t>
            </a:r>
            <a:r>
              <a:rPr lang="zh-CN" sz="2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xǐhuan pāizhào.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thích chụp ảnh.</a:t>
            </a:r>
          </a:p>
        </p:txBody>
      </p:sp>
      <p:pic>
        <p:nvPicPr>
          <p:cNvPr id="9" name="slide2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zh-CN"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课文1 · 在火车上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343144" cy="89080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白家月: </a:t>
            </a:r>
            <a:r>
              <a:rPr lang="zh-CN"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你们上火车后看见王老师了吗？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Nǐmen shàng huǒchē hòu kànjiàn Wáng lǎoshī le ma?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buNone/>
            </a:pPr>
            <a:r>
              <a:rPr lang="zh-CN"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80935" y="2631749"/>
            <a:ext cx="4262120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陈天中: </a:t>
            </a:r>
            <a:r>
              <a:rPr lang="zh-CN"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没看见。中午车开后，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Méi kànjiàn. Zhōngwǔ chē kāi hòu,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513974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buNone/>
            </a:pPr>
            <a:r>
              <a:rPr lang="zh-CN"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9911" y="3652122"/>
            <a:ext cx="5343144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陈天中: </a:t>
            </a:r>
            <a:r>
              <a:rPr lang="zh-CN"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有些人在看书，有的人睡觉了。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yǒuxiē rén zài kàn shū, yǒude rén shuìjiào le.</a:t>
            </a:r>
          </a:p>
        </p:txBody>
      </p:sp>
      <p:sp>
        <p:nvSpPr>
          <p:cNvPr id="11" name="Oval 10"/>
          <p:cNvSpPr/>
          <p:nvPr/>
        </p:nvSpPr>
        <p:spPr>
          <a:xfrm>
            <a:off x="11399093" y="3534347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buNone/>
            </a:pPr>
            <a:r>
              <a:rPr lang="zh-CN"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72495"/>
            <a:ext cx="2370328" cy="89080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白家月: </a:t>
            </a:r>
            <a:r>
              <a:rPr lang="zh-CN"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你呢？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Nǐ ne?</a:t>
            </a:r>
          </a:p>
        </p:txBody>
      </p:sp>
      <p:sp>
        <p:nvSpPr>
          <p:cNvPr id="13" name="Oval 12"/>
          <p:cNvSpPr/>
          <p:nvPr/>
        </p:nvSpPr>
        <p:spPr>
          <a:xfrm>
            <a:off x="371977" y="4554720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buNone/>
            </a:pPr>
            <a:r>
              <a:rPr lang="zh-CN"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1447" y="5692868"/>
            <a:ext cx="3721608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陈天中: </a:t>
            </a:r>
            <a:r>
              <a:rPr lang="zh-CN"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我看了一个电影。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Wǒ kànle yí ge diànyǐng.</a:t>
            </a:r>
          </a:p>
        </p:txBody>
      </p:sp>
      <p:sp>
        <p:nvSpPr>
          <p:cNvPr id="15" name="Oval 14"/>
          <p:cNvSpPr/>
          <p:nvPr/>
        </p:nvSpPr>
        <p:spPr>
          <a:xfrm>
            <a:off x="11399093" y="557509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buNone/>
            </a:pPr>
            <a:r>
              <a:rPr lang="zh-CN"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pic>
        <p:nvPicPr>
          <p:cNvPr id="16" name="slide2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zh-CN"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课文2 · 你们会写汉字了吗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545738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None/>
            </a:pPr>
            <a:r>
              <a:rPr lang="zh-CN"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11376"/>
            <a:ext cx="3545738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None/>
            </a:pPr>
            <a:r>
              <a:rPr lang="zh-CN"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7316" y="1611376"/>
            <a:ext cx="3545738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None/>
            </a:pPr>
            <a:r>
              <a:rPr lang="zh-CN"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陈天中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8576"/>
            <a:ext cx="3545738" cy="109210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pPr algn="l">
              <a:buNone/>
            </a:pPr>
            <a:r>
              <a:rPr sz="1400" b="1" i="0">
                <a:solidFill>
                  <a:srgbClr val="8E2B20"/>
                </a:solidFill>
                <a:latin typeface="Calibri"/>
              </a:rPr>
              <a:t>1. </a:t>
            </a:r>
            <a:r>
              <a:rPr lang="zh-CN"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你们会说汉语了，也会写汉字了吗？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</a:rPr>
              <a:t>Nǐmen huì shuō Hànyǔ le, yě huì xiě Hànzì le ma?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3242176"/>
            <a:ext cx="3545738" cy="603100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pPr algn="l">
              <a:buNone/>
            </a:pPr>
            <a:r>
              <a:rPr sz="1400" b="1" i="0">
                <a:solidFill>
                  <a:srgbClr val="8E2B20"/>
                </a:solidFill>
                <a:latin typeface="Calibri"/>
              </a:rPr>
              <a:t>2. </a:t>
            </a:r>
            <a:r>
              <a:rPr lang="zh-CN"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我们都会写了。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</a:rPr>
              <a:t>Wǒmen dōu huì xiě 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3926776"/>
            <a:ext cx="3545738" cy="603100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pPr algn="l">
              <a:buNone/>
            </a:pPr>
            <a:r>
              <a:rPr sz="1400" b="1" i="0">
                <a:solidFill>
                  <a:srgbClr val="8E2B20"/>
                </a:solidFill>
                <a:latin typeface="Calibri"/>
              </a:rPr>
              <a:t>3. </a:t>
            </a:r>
            <a:r>
              <a:rPr lang="zh-CN"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老师，我听不见。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</a:rPr>
              <a:t>Lǎoshī, wǒ tīng bú jiàn.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1376"/>
            <a:ext cx="3545738" cy="60310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pPr algn="l">
              <a:buNone/>
            </a:pPr>
            <a:r>
              <a:rPr sz="1400" b="1" i="0">
                <a:solidFill>
                  <a:srgbClr val="8E2B20"/>
                </a:solidFill>
                <a:latin typeface="Calibri"/>
              </a:rPr>
              <a:t>4. </a:t>
            </a:r>
            <a:r>
              <a:rPr lang="zh-CN"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请大家不要说话！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</a:rPr>
              <a:t>Qǐng dàjiā búyào shuōhuà!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95976"/>
            <a:ext cx="3545738" cy="60310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pPr algn="l">
              <a:buNone/>
            </a:pPr>
            <a:r>
              <a:rPr sz="1400" b="1" i="0">
                <a:solidFill>
                  <a:srgbClr val="8E2B20"/>
                </a:solidFill>
                <a:latin typeface="Calibri"/>
              </a:rPr>
              <a:t>5. </a:t>
            </a:r>
            <a:r>
              <a:rPr lang="zh-CN"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你们都会写哪些汉字了？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</a:rPr>
              <a:t>Nǐmen dōu huì xiě nǎxiē Hànzì le?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5980576"/>
            <a:ext cx="3545738" cy="603100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76200" bIns="38100" rtlCol="0" anchor="ctr"/>
          <a:lstStyle/>
          <a:p>
            <a:pPr algn="l">
              <a:buNone/>
            </a:pPr>
            <a:r>
              <a:rPr sz="1400" b="1" i="0">
                <a:solidFill>
                  <a:srgbClr val="8E2B20"/>
                </a:solidFill>
                <a:latin typeface="Calibri"/>
              </a:rPr>
              <a:t>6. </a:t>
            </a:r>
            <a:r>
              <a:rPr lang="zh-CN"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我会写这些字了，您看！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</a:rPr>
              <a:t>Wǒ huì xiě zhèxiē zì le, nín kàn!</a:t>
            </a:r>
          </a:p>
        </p:txBody>
      </p:sp>
      <p:pic>
        <p:nvPicPr>
          <p:cNvPr id="15" name="slide2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zh-CN"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课文3 · 孩子们都上学了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166872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刘明: </a:t>
            </a:r>
            <a:r>
              <a:rPr lang="zh-CN"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明年女儿上中学。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Míngnián nǚ'ér shàng zhōngxué.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buNone/>
            </a:pPr>
            <a:r>
              <a:rPr lang="zh-CN"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8775" y="2458010"/>
            <a:ext cx="3764280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lang="zh-CN"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对。儿子也上小学了。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Duì. Érzi yě shàng xiǎoxué le.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34023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buNone/>
            </a:pPr>
            <a:r>
              <a:rPr lang="zh-CN"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04644"/>
            <a:ext cx="3849624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刘明: </a:t>
            </a:r>
            <a:r>
              <a:rPr lang="zh-CN"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我们家有了一个中学生。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Wǒmen jiā yǒule yí ge zhōngxuéshēng.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18686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buNone/>
            </a:pPr>
            <a:r>
              <a:rPr lang="zh-CN"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6359" y="4151278"/>
            <a:ext cx="3536696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lang="zh-CN"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还有了一个小学生。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Hái yǒule yí ge xiǎoxuéshēng.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03350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buNone/>
            </a:pPr>
            <a:r>
              <a:rPr lang="zh-CN"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97912"/>
            <a:ext cx="3622040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刘明: </a:t>
            </a:r>
            <a:r>
              <a:rPr lang="zh-CN"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上学后，他们都忙了。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Shàngxué hòu, tāmen dōu máng le.</a:t>
            </a:r>
          </a:p>
        </p:txBody>
      </p:sp>
      <p:sp>
        <p:nvSpPr>
          <p:cNvPr id="15" name="Oval 14"/>
          <p:cNvSpPr/>
          <p:nvPr/>
        </p:nvSpPr>
        <p:spPr>
          <a:xfrm>
            <a:off x="371977" y="488013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buNone/>
            </a:pPr>
            <a:r>
              <a:rPr lang="zh-CN"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1191" y="5844546"/>
            <a:ext cx="3991864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lang="zh-CN"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是的。太晚了，睡觉吧。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Shì de. Tài wǎn le, shuìjiào ba.</a:t>
            </a:r>
          </a:p>
        </p:txBody>
      </p:sp>
      <p:sp>
        <p:nvSpPr>
          <p:cNvPr id="17" name="Oval 16"/>
          <p:cNvSpPr/>
          <p:nvPr/>
        </p:nvSpPr>
        <p:spPr>
          <a:xfrm>
            <a:off x="11399093" y="5726771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buNone/>
            </a:pPr>
            <a:r>
              <a:rPr lang="zh-CN"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8" name="slide2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zh-CN"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动态助词 了(2) — Báo việc đã xong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zh-CN"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了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 đặt SAU động từ, báo hành động đã xảy ra/hoàn thành. Phủ định dùng </a:t>
            </a:r>
            <a:r>
              <a:rPr lang="zh-CN"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, BỎ </a:t>
            </a:r>
            <a:r>
              <a:rPr lang="zh-CN"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了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 (không nói "</a:t>
            </a:r>
            <a:r>
              <a:rPr lang="zh-CN"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...</a:t>
            </a:r>
            <a:r>
              <a:rPr lang="zh-CN"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了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").</a:t>
            </a:r>
          </a:p>
          <a:p>
            <a:pPr>
              <a:spcBef>
                <a:spcPts val="1943"/>
              </a:spcBef>
              <a:buNone/>
            </a:pPr>
            <a:r>
              <a:rPr lang="zh-CN"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我看</a:t>
            </a:r>
            <a:r>
              <a:rPr lang="zh-CN" sz="2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了</a:t>
            </a:r>
            <a:r>
              <a:rPr lang="zh-CN"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一个电影。</a:t>
            </a:r>
          </a:p>
          <a:p>
            <a:pPr>
              <a:spcBef>
                <a:spcPts val="291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Wǒ kànle yí ge diànyǐng.</a:t>
            </a:r>
          </a:p>
          <a:p>
            <a:pPr>
              <a:spcBef>
                <a:spcPts val="291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Tôi đã xem một bộ phim.</a:t>
            </a:r>
          </a:p>
          <a:p>
            <a:pPr>
              <a:spcBef>
                <a:spcPts val="1943"/>
              </a:spcBef>
              <a:buNone/>
            </a:pPr>
            <a:r>
              <a:rPr lang="zh-CN"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我买</a:t>
            </a:r>
            <a:r>
              <a:rPr lang="zh-CN" sz="2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了</a:t>
            </a:r>
            <a:r>
              <a:rPr lang="zh-CN"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一个新电脑。</a:t>
            </a:r>
          </a:p>
          <a:p>
            <a:pPr>
              <a:spcBef>
                <a:spcPts val="291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Wǒ mǎile yí ge xīn diànnǎo.</a:t>
            </a:r>
          </a:p>
          <a:p>
            <a:pPr>
              <a:spcBef>
                <a:spcPts val="291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Tôi đã mua một cái máy tính mới.</a:t>
            </a:r>
          </a:p>
          <a:p>
            <a:pPr>
              <a:spcBef>
                <a:spcPts val="1943"/>
              </a:spcBef>
              <a:buNone/>
            </a:pPr>
            <a:r>
              <a:rPr lang="zh-CN"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我昨天</a:t>
            </a:r>
            <a:r>
              <a:rPr lang="zh-CN" sz="2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lang="zh-CN" sz="2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去商店买东西。</a:t>
            </a:r>
          </a:p>
          <a:p>
            <a:pPr>
              <a:spcBef>
                <a:spcPts val="291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Wǒ zuótiān méi qù shāngdiàn mǎi dōngxi.</a:t>
            </a:r>
          </a:p>
          <a:p>
            <a:pPr>
              <a:spcBef>
                <a:spcPts val="291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Hôm qua tôi không đi cửa hàng mua đồ.</a:t>
            </a:r>
          </a:p>
        </p:txBody>
      </p:sp>
      <p:pic>
        <p:nvPicPr>
          <p:cNvPr id="7" name="Picture 6" descr="k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618486"/>
            <a:ext cx="4297680" cy="2866644"/>
          </a:xfrm>
          <a:prstGeom prst="rect">
            <a:avLst/>
          </a:prstGeom>
        </p:spPr>
      </p:pic>
      <p:pic>
        <p:nvPicPr>
          <p:cNvPr id="8" name="slide2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zh-CN"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· 了(2) — Điền 了 hoặc 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Từ cần dùng:  </a:t>
            </a:r>
            <a:r>
              <a:rPr lang="zh-CN"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(le)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lang="zh-CN"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(méi)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11094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我看[___]一个电影。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我昨天[___]去商店买东西。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3.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白家月：你们昨天在车上做什么[___]？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</a:rPr>
              <a:t>   </a:t>
            </a:r>
            <a:r>
              <a:rPr lang="zh-CN"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陈天中：我看[___]一本书。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zh-CN"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离合词(1) — Từ tách được</a:t>
            </a:r>
          </a:p>
        </p:txBody>
      </p:sp>
      <p:pic>
        <p:nvPicPr>
          <p:cNvPr id="6" name="Picture 5" descr="buyao_shuoh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2953944"/>
            <a:ext cx="3291840" cy="219572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77288"/>
          <a:ext cx="7436814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1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合 (ghép)</a:t>
                      </a:r>
                    </a:p>
                  </a:txBody>
                  <a:tcPr marL="127000" marR="101600" marT="38100" marB="38100" anchor="ctr">
                    <a:solidFill>
                      <a:srgbClr val="8E2B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分 (tách)</a:t>
                      </a:r>
                    </a:p>
                  </a:txBody>
                  <a:tcPr marL="127000" marR="101600" marT="38100" marB="38100" anchor="ctr">
                    <a:solidFill>
                      <a:srgbClr val="8E2B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睡觉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睡了觉 ／ 睡了一觉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上课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上了课 ／ 上中文课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下班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下了班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说话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说了话 ／ 说了很多话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slide2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zh-CN"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· 离合词 — Tách từ cho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Từ cần dùng:  </a:t>
            </a:r>
            <a:r>
              <a:rPr lang="zh-CN"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睡了觉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(shuìle jiào)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lang="zh-CN"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上了课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(shàngle kè)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lang="zh-CN"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说了话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(shuōle huà)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11094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昨天晚上我很累，早早就[___]。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今天上午我们[___]中文课。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3.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老师和我们[___]，我们都听见了。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zh-CN"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范围副词 都 — Đứng SAU đối tượng, TRƯỚC phủ định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43097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zh-CN"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都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 (đều) biểu thị toàn bộ. Đối tượng được khái quát đứng TRƯỚC </a:t>
            </a:r>
            <a:r>
              <a:rPr lang="zh-CN"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都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; phủ định thì từ phủ định đứng SAU </a:t>
            </a:r>
            <a:r>
              <a:rPr lang="zh-CN"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都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.</a:t>
            </a:r>
          </a:p>
          <a:p>
            <a:pPr>
              <a:spcBef>
                <a:spcPts val="1661"/>
              </a:spcBef>
              <a:buNone/>
            </a:pP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</a:t>
            </a:r>
            <a:r>
              <a:rPr lang="zh-CN"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都</a:t>
            </a: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会写了。</a:t>
            </a:r>
          </a:p>
          <a:p>
            <a:pPr>
              <a:spcBef>
                <a:spcPts val="249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Wǒmen dōu huì xiě le.</a:t>
            </a:r>
          </a:p>
          <a:p>
            <a:pPr>
              <a:spcBef>
                <a:spcPts val="249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Chúng tôi đều biết viết rồi.</a:t>
            </a:r>
          </a:p>
          <a:p>
            <a:pPr>
              <a:spcBef>
                <a:spcPts val="1661"/>
              </a:spcBef>
              <a:buNone/>
            </a:pP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</a:t>
            </a:r>
            <a:r>
              <a:rPr lang="zh-CN"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都</a:t>
            </a: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没听见。</a:t>
            </a:r>
          </a:p>
          <a:p>
            <a:pPr>
              <a:spcBef>
                <a:spcPts val="249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Tóngxuémen dōu méi tīngjiàn.</a:t>
            </a:r>
          </a:p>
          <a:p>
            <a:pPr>
              <a:spcBef>
                <a:spcPts val="249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Các bạn học đều không nghe thấy.</a:t>
            </a:r>
          </a:p>
          <a:p>
            <a:pPr>
              <a:spcBef>
                <a:spcPts val="1661"/>
              </a:spcBef>
              <a:buNone/>
            </a:pP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我和我的朋友们</a:t>
            </a:r>
            <a:r>
              <a:rPr lang="zh-CN" sz="2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都</a:t>
            </a:r>
            <a:r>
              <a:rPr lang="zh-CN" sz="21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去。</a:t>
            </a:r>
          </a:p>
          <a:p>
            <a:pPr>
              <a:spcBef>
                <a:spcPts val="249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Wǒ hé wǒ de péngyoumen dōu qù.</a:t>
            </a:r>
          </a:p>
          <a:p>
            <a:pPr>
              <a:spcBef>
                <a:spcPts val="249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Tôi và các bạn tôi đều đi.</a:t>
            </a:r>
          </a:p>
        </p:txBody>
      </p:sp>
      <p:pic>
        <p:nvPicPr>
          <p:cNvPr id="7" name="Picture 6" descr="tamen_fami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837942"/>
            <a:ext cx="4297680" cy="2866644"/>
          </a:xfrm>
          <a:prstGeom prst="rect">
            <a:avLst/>
          </a:prstGeom>
        </p:spPr>
      </p:pic>
      <p:pic>
        <p:nvPicPr>
          <p:cNvPr id="8" name="slide3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zh-CN"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· 都 — Điền vào đúng vị trí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Từ cần dùng:  </a:t>
            </a:r>
            <a:r>
              <a:rPr lang="zh-CN"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(dōu)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17216"/>
            <a:ext cx="11094415" cy="387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我们[___]会写汉字了。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同学们[___]没听见老师的问题。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3.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他没[___]老师说什么。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zh-CN"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Trên tàu, mọi người đang làm gì?</a:t>
            </a:r>
          </a:p>
        </p:txBody>
      </p:sp>
      <p:pic>
        <p:nvPicPr>
          <p:cNvPr id="6" name="Picture 5" descr="match_kans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19594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205028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match_shuijia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2208843"/>
            <a:ext cx="2943673" cy="1784993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205028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match_kandiany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13722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34441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2330" y="2050288"/>
            <a:ext cx="474072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看书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kàn shū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睡觉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shuìjiào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看电影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kàn diànyǐng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>
              <a:buNone/>
            </a:pPr>
            <a:r>
              <a:rPr lang="zh-CN"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zh-CN"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Nối sở thích với hình ảnh</a:t>
            </a:r>
          </a:p>
        </p:txBody>
      </p:sp>
      <p:pic>
        <p:nvPicPr>
          <p:cNvPr id="6" name="Picture 5" descr="chang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64" y="2050288"/>
            <a:ext cx="2005024" cy="133739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205028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tiaowu_v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121" y="2050288"/>
            <a:ext cx="2014664" cy="1337394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205028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ti_zuqi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964" y="3579706"/>
            <a:ext cx="2005024" cy="1337394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57970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2" name="Picture 11" descr="youyo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1505" y="3579706"/>
            <a:ext cx="2017897" cy="1337394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57970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14" name="Picture 13" descr="huahua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964" y="5109124"/>
            <a:ext cx="2005024" cy="13373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5109124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2050288"/>
            <a:ext cx="474072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唱歌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chànggē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跳舞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tiàowǔ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E 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踢足球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tī zúqiú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游泳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yóuyǒng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lang="zh-CN"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画画儿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huàhuàr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10207a7-7e4c-4d3c-8340-9923514c5c77}" enabled="1" method="Standard" siteId="{a2cf6df8-9540-4b4c-84c4-b50dff3d082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2378</Words>
  <Application>Microsoft Office PowerPoint</Application>
  <PresentationFormat>Widescreen</PresentationFormat>
  <Paragraphs>329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Huyen Nguyen Huynh My (BTS)</cp:lastModifiedBy>
  <cp:revision>2</cp:revision>
  <dcterms:created xsi:type="dcterms:W3CDTF">2013-01-27T09:14:16Z</dcterms:created>
  <dcterms:modified xsi:type="dcterms:W3CDTF">2026-09-15T02:08:54Z</dcterms:modified>
  <cp:category/>
</cp:coreProperties>
</file>