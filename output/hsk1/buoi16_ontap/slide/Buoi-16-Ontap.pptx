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2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microsoft.com/office/2007/relationships/media" Target="../media/media9.mp3"/><Relationship Id="rId4" Type="http://schemas.openxmlformats.org/officeDocument/2006/relationships/video" Target="../media/media9.mp3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microsoft.com/office/2007/relationships/media" Target="../media/media13.mp3"/><Relationship Id="rId4" Type="http://schemas.openxmlformats.org/officeDocument/2006/relationships/video" Target="../media/media13.mp3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microsoft.com/office/2007/relationships/media" Target="../media/media15.mp3"/><Relationship Id="rId4" Type="http://schemas.openxmlformats.org/officeDocument/2006/relationships/video" Target="../media/media15.mp3"/><Relationship Id="rId5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3"/><Relationship Id="rId3" Type="http://schemas.openxmlformats.org/officeDocument/2006/relationships/video" Target="../media/media16.mp3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HSK1 · 总复习</a:t>
            </a:r>
          </a:p>
          <a:p>
            <a:pPr algn="ctr">
              <a:spcBef>
                <a:spcPts val="1000"/>
              </a:spcBef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Ôn tập tổng hợp 15 bài · New HSK Course 1 (3.0)</a:t>
            </a:r>
          </a:p>
          <a:p>
            <a:pPr algn="ctr">
              <a:spcBef>
                <a:spcPts val="600"/>
              </a:spcBef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Buổi 16 · trước khi thi HSK1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Buổi này ôn gì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Toàn bộ ngữ pháp trọng tâm của 15 bài sách New HSK Course 1 (3.0)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~247 từ vựng cốt lõi (nhắm ~300 từ chuẩn 3.0) — xem lại ở trang học từ vựng riêng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是/有/在 · 的 · 形容词谓语句 · 名词谓语句 · 非主谓句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7 cách hỏi: 吗 · 呢 · 什么 · 谁 · 哪 · 几/多少 · 怎么(样) · 正反问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能愿动词: 会 · 想 · 能 · 要 · 可以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Cấu trúc đặc biệt: 连动句 · 存现句 · 双宾语句 · 离合词 · 并列复句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第1课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敬语 您 · 后缀 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您 (kính ngữ) khác 你 (thông thường) — dùng với người lớn tuổi/đáng kính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们: hậu tố số nhiều, gắn sau đại từ/danh từ CHỈ NGƯỜI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您好，王老师！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Nín hǎo, Wáng lǎoshī!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Em chào cô Vương ạ!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你们好！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Nǐmen hǎo!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Chào các bạn!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谢谢！→ 不客气！là mẫu đáp lễ cơ bản nhất.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们 chỉ dùng với NGƯỜI: 学生们 ✔ — KHÔNG dùng với vật: 猫们 ❌.</a:t>
            </a:r>
          </a:p>
        </p:txBody>
      </p:sp>
      <p:pic>
        <p:nvPicPr>
          <p:cNvPr id="7" name="Picture 6" descr="b01_nin_m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2243" y="1481328"/>
            <a:ext cx="3263943" cy="5010912"/>
          </a:xfrm>
          <a:prstGeom prst="rect">
            <a:avLst/>
          </a:prstGeom>
        </p:spPr>
      </p:pic>
      <p:pic>
        <p:nvPicPr>
          <p:cNvPr id="8" name="slide0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第2课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基本语序：主 + 谓 + 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Chủ ngữ + Vị ngữ (động từ) + Tân ngữ — trật tự cố định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我叫陈天中。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jiào Chén Tiānzhōng.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tên là Trần Thiên Trung.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我也认识他。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yě rènshi tā.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cũng quen anh ấy.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也 (cũng) LUÔN đứng trước động từ, không đứng cuối câu.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Trật tự tiếng Trung không đổi theo thì — không chia động từ, chỉ thêm từ.</a:t>
            </a:r>
          </a:p>
        </p:txBody>
      </p:sp>
      <p:pic>
        <p:nvPicPr>
          <p:cNvPr id="7" name="Picture 6" descr="b02_word_or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123" y="1481328"/>
            <a:ext cx="3758184" cy="5010912"/>
          </a:xfrm>
          <a:prstGeom prst="rect">
            <a:avLst/>
          </a:prstGeom>
        </p:spPr>
      </p:pic>
      <p:pic>
        <p:nvPicPr>
          <p:cNvPr id="8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第3课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是字句 · 的 · 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是: A 是 B — đồng nhất/thuộc loại; phủ định 不是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的: định ngữ + 的 + danh từ (sở hữu)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吗: câu hỏi có/không, thêm 吗 cuối câu trần thuật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我是中国人。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shì Zhōngguó rén.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là người Trung Quốc.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这是我的女朋友。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Zhè shì wǒ de nǚpéngyou.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Đây là bạn gái của tôi.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你是法国人吗？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Nǐ shì Fǎguó rén ma?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là người Pháp phải không?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的 có thể lược bỏ khi đi với người thân/tập thể: 我妈妈, 我们学校.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 nối 2 danh từ (A là B) — không dùng để nối tính từ (xem 形容词谓语句, 第10课).</a:t>
            </a:r>
          </a:p>
        </p:txBody>
      </p:sp>
      <p:pic>
        <p:nvPicPr>
          <p:cNvPr id="7" name="Picture 6" descr="b03_shi_de_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51426"/>
            <a:ext cx="4297680" cy="2870715"/>
          </a:xfrm>
          <a:prstGeom prst="rect">
            <a:avLst/>
          </a:prstGeom>
        </p:spPr>
      </p:pic>
      <p:pic>
        <p:nvPicPr>
          <p:cNvPr id="8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第4课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有字句 · 数字 · 量词 · 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有: sở hữu; phủ định 没/没有 (KHÔNG có 不有)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Số 2: 两 (trước lượng từ) vs 二 (số thứ tự)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Số + 量词 + 名词: 两个哥哥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呢(1): hỏi rút gọn — A呢?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我有两个哥哥，你呢？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yǒu liǎng ge gēge, nǐ ne?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có hai anh trai, còn bạn?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我家有四口人。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jiā yǒu sì kǒu rén.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Nhà mình có bốn người.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口 đếm người trong nhà, 个 là lượng từ vạn năng.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两个 ✔ / 二个 ❌ — 两 luôn đứng trước lượng từ.</a:t>
            </a:r>
          </a:p>
        </p:txBody>
      </p:sp>
      <p:pic>
        <p:nvPicPr>
          <p:cNvPr id="7" name="Picture 6" descr="b04_you_li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55657"/>
            <a:ext cx="4297680" cy="2862254"/>
          </a:xfrm>
          <a:prstGeom prst="rect">
            <a:avLst/>
          </a:prstGeom>
        </p:spPr>
      </p:pic>
      <p:pic>
        <p:nvPicPr>
          <p:cNvPr id="8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第5课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名词谓语句 · 能愿动词 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名词谓语句: vị ngữ chỉ là danh từ (ngày tháng/tuổi), có thể bỏ 是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会: biết làm gì (kỹ năng học được)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今天星期一。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Jīntiān xīngqīyī.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nay thứ Hai.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我会做菜。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huì zuò cài.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biết nấu ăn.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今天星期一 hoặc 今天是星期一 đều đúng — câu vị ngữ danh từ thường bỏ 是 cho gọn.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会 = kỹ năng học được, khác 能 (điều kiện/khả năng, 第8课).</a:t>
            </a:r>
          </a:p>
        </p:txBody>
      </p:sp>
      <p:pic>
        <p:nvPicPr>
          <p:cNvPr id="7" name="Picture 6" descr="b05_noun_pred_hu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375154"/>
            <a:ext cx="4297680" cy="3223260"/>
          </a:xfrm>
          <a:prstGeom prst="rect">
            <a:avLst/>
          </a:prstGeom>
        </p:spPr>
      </p:pic>
      <p:pic>
        <p:nvPicPr>
          <p:cNvPr id="8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第6课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能愿动词 想 · 连动句 · 怎么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想: muốn, dự định làm gì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连动句: 2 cụm động từ nối tiếp, cùng chủ ngữ, đúng trình tự hành động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怎么: hỏi CÁCH THỨC làm việc gì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我想去超市买东西。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xiǎng qù chāoshì mǎi dōngxi.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muốn đi siêu thị mua đồ.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你怎么去？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Nǐ zěnme qù?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đi bằng cách nào?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连动句: động từ 1 (đi) trước động từ 2 (mua) — đúng thứ tự làm thật.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怎么 hỏi CÁCH THỨC — khác 怎么样 hỏi TÌNH TRẠNG/Ý KIẾN (第10课).</a:t>
            </a:r>
          </a:p>
        </p:txBody>
      </p:sp>
      <p:pic>
        <p:nvPicPr>
          <p:cNvPr id="7" name="Picture 6" descr="b06_xiang_liando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375154"/>
            <a:ext cx="4297680" cy="3223260"/>
          </a:xfrm>
          <a:prstGeom prst="rect">
            <a:avLst/>
          </a:prstGeom>
        </p:spPr>
      </p:pic>
      <p:pic>
        <p:nvPicPr>
          <p:cNvPr id="8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第7课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点/分 · 吧 · 呢(2)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点/分: giờ cụ thể; 上午/下午/晚上: khoảng thời gian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吧: đề nghị/thương lượng cuối câu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呢(2): xác nhận sự việc đã biết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现在三点半，我们六点见吧。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Xiànzài sān diǎn bàn, wǒmen liù diǎn jiàn ba.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Bây giờ 3 rưỡi, 6 giờ mình gặp nhau nhé.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我六点半下班呢。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liù diǎn bàn xiàbān ne.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6 rưỡi mới tan làm cơ.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Từ chỉ thời gian LUÔN đứng trước động từ, giống mọi trạng ngữ khác.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吧 = rủ rê/đề nghị nhẹ nhàng — khác 吗 (hỏi thật, cần trả lời có/không).</a:t>
            </a:r>
          </a:p>
        </p:txBody>
      </p:sp>
      <p:pic>
        <p:nvPicPr>
          <p:cNvPr id="7" name="Picture 6" descr="b07_dian_fen_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649" y="1481328"/>
            <a:ext cx="3347132" cy="5010912"/>
          </a:xfrm>
          <a:prstGeom prst="rect">
            <a:avLst/>
          </a:prstGeom>
        </p:spPr>
      </p:pic>
      <p:pic>
        <p:nvPicPr>
          <p:cNvPr id="8" name="slide0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第8课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方位词 · 介词在 · 能愿动词 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方位词: 上/下/里/外/前/后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 + nơi chốn đứng TRƯỚC động từ (giới từ chỉ nơi diễn ra hành động)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能: có thể (năng lực/điều kiện khách quan)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猫在桌子下。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Māo zài zhuōzi xià.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Con mèo ở dưới bàn.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我爸爸在医院工作。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bàba zài yīyuàn gōngzuò.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Bố mình làm việc ở bệnh viện.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你能来吗？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Nǐ néng lái ma?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có thể đến được không?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在 ở đây là GIỚI TỪ (trước động từ) — khác 在 phó từ chỉ đang diễn ra (第11课), cùng chữ 2 vai trò.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能 = điều kiện khách quan; 会 = kỹ năng học được — đừng nhầm.</a:t>
            </a:r>
          </a:p>
        </p:txBody>
      </p:sp>
      <p:pic>
        <p:nvPicPr>
          <p:cNvPr id="7" name="Picture 6" descr="b08_fangwei_zai_ne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53525"/>
            <a:ext cx="4297680" cy="2866518"/>
          </a:xfrm>
          <a:prstGeom prst="rect">
            <a:avLst/>
          </a:prstGeom>
        </p:spPr>
      </p:pic>
      <p:pic>
        <p:nvPicPr>
          <p:cNvPr id="8" name="slide1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第9课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存现句 · 第 · 时间+处所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存现句: biểu thị có ai/cái gì tồn tại ở một nơi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第+số từ: số thứ tự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Khi cùng làm trạng ngữ: THỜI GIAN luôn đứng trước NƠI CHỐN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前边有一只狗。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Qiánbian yǒu yì zhī gǒu.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Đằng trước có một con chó.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我明天上午在学校学习。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míngtiān shàngwǔ zài xuéxiào xuéxí.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Sáng mai mình học ở trường.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明天(thời gian) đứng TRƯỚC 在学校(nơi chốn) trong câu ví dụ trên.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存现句 phủ định KHÔNG dùng số từ + lượng từ trước tân ngữ.</a:t>
            </a:r>
          </a:p>
        </p:txBody>
      </p:sp>
      <p:pic>
        <p:nvPicPr>
          <p:cNvPr id="7" name="Picture 6" descr="b09_cunxian_d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53525"/>
            <a:ext cx="4297680" cy="2866518"/>
          </a:xfrm>
          <a:prstGeom prst="rect">
            <a:avLst/>
          </a:prstGeom>
        </p:spPr>
      </p:pic>
      <p:pic>
        <p:nvPicPr>
          <p:cNvPr id="8" name="slide1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第10课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形容词谓语句 · 钱数 · 怎么样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Tính từ làm vị ngữ trực tiếp (không cần 是), thường có 很/真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钱数: 元/块 — 角/毛 — 分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怎么样: hỏi ý kiến/tình trạng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这儿的苹果真便宜！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Zhèr de píngguǒ zhēn piányi!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Táo ở đây rẻ thật!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这件衣服三十五块。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Zhè jiàn yīfu sānshíwǔ kuài.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Cái áo này 35 tệ.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这个怎么样？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Zhège zěnmeyàng?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Cái này thế nào?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元 (viết) = 块 (nói) — cùng nghĩa, khác văn phong.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SAI 我是好 ❌ → ĐÚNG 我很好 ✔ — tính từ vị ngữ không đi với 是.</a:t>
            </a:r>
          </a:p>
        </p:txBody>
      </p:sp>
      <p:pic>
        <p:nvPicPr>
          <p:cNvPr id="7" name="Picture 6" descr="b10_adj_pred_q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123" y="1481328"/>
            <a:ext cx="3758184" cy="5010912"/>
          </a:xfrm>
          <a:prstGeom prst="rect">
            <a:avLst/>
          </a:prstGeom>
        </p:spPr>
      </p:pic>
      <p:pic>
        <p:nvPicPr>
          <p:cNvPr id="8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第11课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正反问 · (正)在 · 能愿动词 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正反问: V不V / A不A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(正)在 + V (+呢): đang làm gì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要: muốn làm, định làm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你去不去？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Nǐ qù bu qù?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có đi không?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他正在看电视呢。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Tā zhèngzài kàn diànshì ne.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ấy đang xem tivi.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我要学中文。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yào xué Zhōngwén.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định học tiếng Trung.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正反问 với tính từ cũng dùng 不: 忙不忙？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Phủ định 'đang làm': 没(有) + V — KHÔNG dùng 不.</a:t>
            </a:r>
          </a:p>
        </p:txBody>
      </p:sp>
      <p:pic>
        <p:nvPicPr>
          <p:cNvPr id="7" name="Picture 6" descr="b11_zhengfan_z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375154"/>
            <a:ext cx="4297680" cy="3223260"/>
          </a:xfrm>
          <a:prstGeom prst="rect">
            <a:avLst/>
          </a:prstGeom>
        </p:spPr>
      </p:pic>
      <p:pic>
        <p:nvPicPr>
          <p:cNvPr id="8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第12课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非主谓句 · 了(1) · 太…了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非主谓句: câu không phân chủ-vị, hay dùng trong khẩu ngữ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了(1) cuối câu: tình huống MỚI / thay đổi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太 + tính từ + 了: cảm thán mức độ cao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下雨了！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Xià yǔ le!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Trời mưa rồi!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太好了！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Tài hǎo le!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Tuyệt quá!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非主谓句: 上课了。下雪了。— không có chủ ngữ rõ ràng, rất tự nhiên trong khẩu ngữ.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了(1) phủ định: bỏ 了, thêm 没: 没下雨 (không phải 不下雨了).</a:t>
            </a:r>
          </a:p>
        </p:txBody>
      </p:sp>
      <p:pic>
        <p:nvPicPr>
          <p:cNvPr id="7" name="Picture 6" descr="b12_feizhuwei_le_t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61918"/>
            <a:ext cx="4297680" cy="2849731"/>
          </a:xfrm>
          <a:prstGeom prst="rect">
            <a:avLst/>
          </a:prstGeom>
        </p:spPr>
      </p:pic>
      <p:pic>
        <p:nvPicPr>
          <p:cNvPr id="8" name="slide1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第13课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可以 · 动词+一下 · 双宾语句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可以: được phép / có thể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动词 + 一下: làm thử/một lần, ngắn gọn, lịch sự hơn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双宾语句: 1 động từ + 2 tân ngữ (给/问)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我可以看一下吗？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kěyǐ kàn yíxià ma?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xem thử một chút được không?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请给我一杯茶。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Qǐng gěi wǒ yì bēi chá.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Cho tôi một cốc trà.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双宾语句: 给 + người nhận + vật (给我一杯茶 = cho TÔI một cốc TRÀ).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一下 làm câu nhẹ nhàng/lịch sự hơn: 看一下 lịch sự hơn 看.</a:t>
            </a:r>
          </a:p>
        </p:txBody>
      </p:sp>
      <p:pic>
        <p:nvPicPr>
          <p:cNvPr id="7" name="Picture 6" descr="b13_keyi_yix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54224"/>
            <a:ext cx="4297680" cy="2865120"/>
          </a:xfrm>
          <a:prstGeom prst="rect">
            <a:avLst/>
          </a:prstGeom>
        </p:spPr>
      </p:pic>
      <p:pic>
        <p:nvPicPr>
          <p:cNvPr id="8" name="slide1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第14课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了(2) · 离合词 · 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了(2) ngay sau động từ: hành động ĐÃ xảy ra/hoàn thành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离合词: 上课/下班/说话… có thể tách ra, chèn thành phần vào giữa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都: toàn bộ — đối tượng khái quát đứng TRƯỚC 都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我看了一个电影。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kànle yí ge diànyǐng.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đã xem một bộ phim.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我们都是学生。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Wǒmen dōu shì xuésheng.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mình đều là học sinh.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离合词 tách được: 我上了两年学 (chèn '两年' vào giữa 上 và 学).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都/也 không đứng cuối câu — luôn ngay TRƯỚC động từ; phủ định thì từ phủ định đứng SAU 都.</a:t>
            </a:r>
          </a:p>
        </p:txBody>
      </p:sp>
      <p:pic>
        <p:nvPicPr>
          <p:cNvPr id="7" name="Picture 6" descr="b14_le_lihe_d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381449"/>
            <a:ext cx="4297680" cy="3210669"/>
          </a:xfrm>
          <a:prstGeom prst="rect">
            <a:avLst/>
          </a:prstGeom>
        </p:spPr>
      </p:pic>
      <p:pic>
        <p:nvPicPr>
          <p:cNvPr id="8" name="slide1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第15课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并列复句：……，还/也……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Câu ghép đẳng lập: 2 mệnh đề liên quan lô-gích, kết cấu đối xứng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我们去北京，还去西安。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Wǒmen qù Běijīng, hái qù Xī'ān.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mình đi Bắc Kinh, còn đi cả Tây An.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他喜欢旅游，我也喜欢。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Tā xǐhuan lǚyóu, wǒ yě xǐhuan.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ấy thích du lịch, mình cũng thích.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还/也 nối 2 vế câu có cấu trúc song song, giúp câu mạch lạc hơn.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Đây là bài cuối cùng — câu ghép đơn giản là bước đệm chuẩn bị lên HSK2.</a:t>
            </a:r>
          </a:p>
        </p:txBody>
      </p:sp>
      <p:pic>
        <p:nvPicPr>
          <p:cNvPr id="7" name="Picture 6" descr="b15_binglief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57721"/>
            <a:ext cx="4297680" cy="2858125"/>
          </a:xfrm>
          <a:prstGeom prst="rect">
            <a:avLst/>
          </a:prstGeom>
        </p:spPr>
      </p:pic>
      <p:pic>
        <p:nvPicPr>
          <p:cNvPr id="8" name="slide1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不 vs 没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12264"/>
          <a:ext cx="11094415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So sánh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不 bù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没 méi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không (chủ ý/thói quen)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chưa (việc đã qua)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Dùng cho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hiện tại · tương lai · thói quen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quá khứ / chưa xảy ra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Với 有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— (không có 不有)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没有 ✔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我不喝酒 (không uống rượu)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我没去 (chưa đi)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了(1) cuối câu vs 了(2) sau động từ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12264"/>
          <a:ext cx="11094415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了(1) cuối câu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了(2) sau động từ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Vị trí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cuối câu / chỗ ngắt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ngay sau động từ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Ý nghĩa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thay đổi / tình huống mới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hành động đã hoàn thành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下雨了 (trời mưa rồi)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看了电影 (đã xem phim)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Phủ định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没 + bỏ 了: 没下雨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没 + bỏ 了: 没看电影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Vận dụng tổng hợp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你好！你是学生吗？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hǎo! Nǐ shì xuésheng ma?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93615" y="2350105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是，我在大学学习汉语。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Shì, wǒ zài dàxué xuéxí Hànyǔ.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18882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你家有几口人？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jiā yǒu jǐ kǒu rén?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93615" y="4087659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我家有四口人，爸爸在医院工作。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jiā yǒu sì kǒu rén, bàba zài yīyuàn gōngzuò.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56436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现在十二点了，我请你吃饭吧。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Xiànzài shí'èr diǎn le, wǒ qǐng nǐ chīfàn ba.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93615" y="5825213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太好了！我们坐出租车去吧。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Tài hǎo le! Wǒmen zuò chūzūchē qù ba.</a:t>
            </a:r>
          </a:p>
        </p:txBody>
      </p:sp>
      <p:pic>
        <p:nvPicPr>
          <p:cNvPr id="12" name="slide2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辛苦了！祝考试顺利 🎉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15 bài ôn xong — chúc thi HSK1 tốt!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