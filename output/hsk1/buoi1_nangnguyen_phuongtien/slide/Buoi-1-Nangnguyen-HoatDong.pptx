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B0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920240"/>
            <a:ext cx="11094415" cy="3017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会 · 想 · 能</a:t>
            </a:r>
          </a:p>
          <a:p>
            <a:pPr algn="ctr">
              <a:spcBef>
                <a:spcPts val="1000"/>
              </a:spcBef>
            </a:pPr>
            <a:r>
              <a:rPr sz="2000" b="0" i="0">
                <a:solidFill>
                  <a:srgbClr val="F7E4E1"/>
                </a:solidFill>
                <a:latin typeface="Calibri"/>
                <a:ea typeface="Microsoft YaHei"/>
                <a:cs typeface="Microsoft YaHei"/>
              </a:rPr>
              <a:t>Buổi 1 — Nói được điều mình biết, mình muốn, mình có thể làm.</a:t>
            </a:r>
          </a:p>
          <a:p>
            <a:pPr algn="ctr">
              <a:spcBef>
                <a:spcPts val="600"/>
              </a:spcBef>
            </a:pPr>
            <a:r>
              <a:rPr sz="1400" b="0" i="0">
                <a:solidFill>
                  <a:srgbClr val="F7E4E1"/>
                </a:solidFill>
                <a:latin typeface="Calibri"/>
                <a:ea typeface="Microsoft YaHei"/>
                <a:cs typeface="Microsoft YaHei"/>
              </a:rPr>
              <a:t>HSK1 · Sơ cấp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07008"/>
          </a:xfrm>
          <a:prstGeom prst="rect">
            <a:avLst/>
          </a:prstGeom>
          <a:solidFill>
            <a:srgbClr val="B0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7F24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目标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Mục tiêu hôm nay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81328"/>
            <a:ext cx="6522415" cy="5010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Bef>
                <a:spcPts val="1300"/>
              </a:spcBef>
            </a:pPr>
            <a:r>
              <a:rPr sz="2000" b="1" i="0">
                <a:solidFill>
                  <a:srgbClr val="B03A2E"/>
                </a:solidFill>
                <a:latin typeface="Calibri"/>
                <a:ea typeface="Microsoft YaHei"/>
                <a:cs typeface="Microsoft YaHei"/>
              </a:rPr>
              <a:t>•  </a:t>
            </a:r>
            <a:r>
              <a:rPr sz="20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Nói được mình biết làm gì (会), muốn làm gì (想), có thể / được phép làm gì (能).</a:t>
            </a:r>
          </a:p>
          <a:p>
            <a:pPr>
              <a:spcBef>
                <a:spcPts val="1300"/>
              </a:spcBef>
            </a:pPr>
            <a:r>
              <a:rPr sz="2000" b="1" i="0">
                <a:solidFill>
                  <a:srgbClr val="B03A2E"/>
                </a:solidFill>
                <a:latin typeface="Calibri"/>
                <a:ea typeface="Microsoft YaHei"/>
                <a:cs typeface="Microsoft YaHei"/>
              </a:rPr>
              <a:t>•  </a:t>
            </a:r>
            <a:r>
              <a:rPr sz="20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Kể về hoạt động trong ngày và cách mình đi lại.</a:t>
            </a:r>
          </a:p>
          <a:p>
            <a:pPr>
              <a:spcBef>
                <a:spcPts val="1300"/>
              </a:spcBef>
            </a:pPr>
            <a:r>
              <a:rPr sz="2000" b="1" i="0">
                <a:solidFill>
                  <a:srgbClr val="B03A2E"/>
                </a:solidFill>
                <a:latin typeface="Calibri"/>
                <a:ea typeface="Microsoft YaHei"/>
                <a:cs typeface="Microsoft YaHei"/>
              </a:rPr>
              <a:t>•  </a:t>
            </a:r>
            <a:r>
              <a:rPr sz="20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Luyện 10 câu giao tiếp thông dụng dùng được ngay.</a:t>
            </a:r>
          </a:p>
        </p:txBody>
      </p:sp>
      <p:pic>
        <p:nvPicPr>
          <p:cNvPr id="7" name="Picture 6" descr="readin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36815" y="2586760"/>
            <a:ext cx="4206240" cy="280004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07008"/>
          </a:xfrm>
          <a:prstGeom prst="rect">
            <a:avLst/>
          </a:prstGeom>
          <a:solidFill>
            <a:srgbClr val="B0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7F24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复习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Nhắc lại buổi trước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81328"/>
            <a:ext cx="11094415" cy="5010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Bef>
                <a:spcPts val="1300"/>
              </a:spcBef>
            </a:pPr>
            <a:r>
              <a:rPr sz="2000" b="1" i="0">
                <a:solidFill>
                  <a:srgbClr val="B03A2E"/>
                </a:solidFill>
                <a:latin typeface="Calibri"/>
                <a:ea typeface="Microsoft YaHei"/>
                <a:cs typeface="Microsoft YaHei"/>
              </a:rPr>
              <a:t>•  </a:t>
            </a:r>
            <a:r>
              <a:rPr sz="20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Gọi điện với 喂:  喂，你好？你在哪儿？</a:t>
            </a:r>
          </a:p>
          <a:p>
            <a:pPr>
              <a:spcBef>
                <a:spcPts val="1300"/>
              </a:spcBef>
            </a:pPr>
            <a:r>
              <a:rPr sz="2000" b="1" i="0">
                <a:solidFill>
                  <a:srgbClr val="B03A2E"/>
                </a:solidFill>
                <a:latin typeface="Calibri"/>
                <a:ea typeface="Microsoft YaHei"/>
                <a:cs typeface="Microsoft YaHei"/>
              </a:rPr>
              <a:t>•  </a:t>
            </a:r>
            <a:r>
              <a:rPr sz="20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Câu liên động:  我去商店买东西。</a:t>
            </a:r>
          </a:p>
          <a:p>
            <a:pPr>
              <a:spcBef>
                <a:spcPts val="1300"/>
              </a:spcBef>
            </a:pPr>
            <a:r>
              <a:rPr sz="2000" b="1" i="0">
                <a:solidFill>
                  <a:srgbClr val="B03A2E"/>
                </a:solidFill>
                <a:latin typeface="Calibri"/>
                <a:ea typeface="Microsoft YaHei"/>
                <a:cs typeface="Microsoft YaHei"/>
              </a:rPr>
              <a:t>•  </a:t>
            </a:r>
            <a:r>
              <a:rPr sz="20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Trật tự câu:  主语 + 时间 + 地点 + 对象 + 动词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07008"/>
          </a:xfrm>
          <a:prstGeom prst="rect">
            <a:avLst/>
          </a:prstGeom>
          <a:solidFill>
            <a:srgbClr val="B0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7F24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生词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Từ vựng ①  Hoạt động trong ngày</a:t>
            </a:r>
          </a:p>
        </p:txBody>
      </p:sp>
      <p:pic>
        <p:nvPicPr>
          <p:cNvPr id="6" name="Picture 5" descr="ac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653492"/>
            <a:ext cx="3840480" cy="2666583"/>
          </a:xfrm>
          <a:prstGeom prst="rect">
            <a:avLst/>
          </a:prstGeom>
        </p:spPr>
      </p:pic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754880" y="1481328"/>
          <a:ext cx="6888174" cy="50109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90925"/>
                <a:gridCol w="2479743"/>
                <a:gridCol w="2617506"/>
              </a:tblGrid>
              <a:tr h="626364">
                <a:tc>
                  <a:txBody>
                    <a:bodyPr wrap="square"/>
                    <a:lstStyle/>
                    <a:p>
                      <a:pPr algn="ctr"/>
                      <a:r>
                        <a:rPr sz="1500" b="1" i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汉字</a:t>
                      </a:r>
                    </a:p>
                  </a:txBody>
                  <a:tcPr anchor="ctr" marL="127000" marR="101600" marT="38100" marB="38100">
                    <a:solidFill>
                      <a:srgbClr val="B03A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 i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Pinyin</a:t>
                      </a:r>
                    </a:p>
                  </a:txBody>
                  <a:tcPr anchor="ctr" marL="127000" marR="101600" marT="38100" marB="38100">
                    <a:solidFill>
                      <a:srgbClr val="B03A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 i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Nghĩa</a:t>
                      </a:r>
                    </a:p>
                  </a:txBody>
                  <a:tcPr anchor="ctr" marL="127000" marR="101600" marT="38100" marB="38100">
                    <a:solidFill>
                      <a:srgbClr val="B03A2E"/>
                    </a:solidFill>
                  </a:tcPr>
                </a:tc>
              </a:tr>
              <a:tr h="626364">
                <a:tc>
                  <a:txBody>
                    <a:bodyPr wrap="square"/>
                    <a:lstStyle/>
                    <a:p>
                      <a:pPr algn="ctr"/>
                      <a:r>
                        <a:rPr sz="2300" b="1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起床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1">
                          <a:solidFill>
                            <a:srgbClr val="B03A2E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qǐchuáng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ngủ dậy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</a:tr>
              <a:tr h="626364">
                <a:tc>
                  <a:txBody>
                    <a:bodyPr wrap="square"/>
                    <a:lstStyle/>
                    <a:p>
                      <a:pPr algn="ctr"/>
                      <a:r>
                        <a:rPr sz="2300" b="1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吃饭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1">
                          <a:solidFill>
                            <a:srgbClr val="B03A2E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chīfàn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ăn cơm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</a:tr>
              <a:tr h="626364">
                <a:tc>
                  <a:txBody>
                    <a:bodyPr wrap="square"/>
                    <a:lstStyle/>
                    <a:p>
                      <a:pPr algn="ctr"/>
                      <a:r>
                        <a:rPr sz="2300" b="1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上课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1">
                          <a:solidFill>
                            <a:srgbClr val="B03A2E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shàngkè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lên lớp / học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</a:tr>
              <a:tr h="626364">
                <a:tc>
                  <a:txBody>
                    <a:bodyPr wrap="square"/>
                    <a:lstStyle/>
                    <a:p>
                      <a:pPr algn="ctr"/>
                      <a:r>
                        <a:rPr sz="2300" b="1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做作业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1">
                          <a:solidFill>
                            <a:srgbClr val="B03A2E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zuò zuòyè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làm bài tập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</a:tr>
              <a:tr h="626364">
                <a:tc>
                  <a:txBody>
                    <a:bodyPr wrap="square"/>
                    <a:lstStyle/>
                    <a:p>
                      <a:pPr algn="ctr"/>
                      <a:r>
                        <a:rPr sz="2300" b="1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看电视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1">
                          <a:solidFill>
                            <a:srgbClr val="B03A2E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kàn diànshì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xem TV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</a:tr>
              <a:tr h="626364">
                <a:tc>
                  <a:txBody>
                    <a:bodyPr wrap="square"/>
                    <a:lstStyle/>
                    <a:p>
                      <a:pPr algn="ctr"/>
                      <a:r>
                        <a:rPr sz="2300" b="1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打电话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1">
                          <a:solidFill>
                            <a:srgbClr val="B03A2E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dǎ diànhuà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gọi điện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</a:tr>
              <a:tr h="626364">
                <a:tc>
                  <a:txBody>
                    <a:bodyPr wrap="square"/>
                    <a:lstStyle/>
                    <a:p>
                      <a:pPr algn="ctr"/>
                      <a:r>
                        <a:rPr sz="2300" b="1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睡觉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1">
                          <a:solidFill>
                            <a:srgbClr val="B03A2E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shuìjiào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đi ngủ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07008"/>
          </a:xfrm>
          <a:prstGeom prst="rect">
            <a:avLst/>
          </a:prstGeom>
          <a:solidFill>
            <a:srgbClr val="B0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7F24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生词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Từ vựng ②  Đi lại &amp; giao thông</a:t>
            </a:r>
          </a:p>
        </p:txBody>
      </p:sp>
      <p:pic>
        <p:nvPicPr>
          <p:cNvPr id="6" name="Picture 5" descr="tran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546604"/>
            <a:ext cx="3840480" cy="2880360"/>
          </a:xfrm>
          <a:prstGeom prst="rect">
            <a:avLst/>
          </a:prstGeom>
        </p:spPr>
      </p:pic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754880" y="1481328"/>
          <a:ext cx="6888174" cy="50109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90925"/>
                <a:gridCol w="2479743"/>
                <a:gridCol w="2617506"/>
              </a:tblGrid>
              <a:tr h="626364">
                <a:tc>
                  <a:txBody>
                    <a:bodyPr wrap="square"/>
                    <a:lstStyle/>
                    <a:p>
                      <a:pPr algn="ctr"/>
                      <a:r>
                        <a:rPr sz="1500" b="1" i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汉字</a:t>
                      </a:r>
                    </a:p>
                  </a:txBody>
                  <a:tcPr anchor="ctr" marL="127000" marR="101600" marT="38100" marB="38100">
                    <a:solidFill>
                      <a:srgbClr val="B03A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 i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Pinyin</a:t>
                      </a:r>
                    </a:p>
                  </a:txBody>
                  <a:tcPr anchor="ctr" marL="127000" marR="101600" marT="38100" marB="38100">
                    <a:solidFill>
                      <a:srgbClr val="B03A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 i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Nghĩa</a:t>
                      </a:r>
                    </a:p>
                  </a:txBody>
                  <a:tcPr anchor="ctr" marL="127000" marR="101600" marT="38100" marB="38100">
                    <a:solidFill>
                      <a:srgbClr val="B03A2E"/>
                    </a:solidFill>
                  </a:tcPr>
                </a:tc>
              </a:tr>
              <a:tr h="626364">
                <a:tc>
                  <a:txBody>
                    <a:bodyPr wrap="square"/>
                    <a:lstStyle/>
                    <a:p>
                      <a:pPr algn="ctr"/>
                      <a:r>
                        <a:rPr sz="2300" b="1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上学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1">
                          <a:solidFill>
                            <a:srgbClr val="B03A2E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shàngxué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đi học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</a:tr>
              <a:tr h="626364">
                <a:tc>
                  <a:txBody>
                    <a:bodyPr wrap="square"/>
                    <a:lstStyle/>
                    <a:p>
                      <a:pPr algn="ctr"/>
                      <a:r>
                        <a:rPr sz="2300" b="1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坐 (车)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1">
                          <a:solidFill>
                            <a:srgbClr val="B03A2E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zuò (chē)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đi (ngồi) — phương tiện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</a:tr>
              <a:tr h="626364">
                <a:tc>
                  <a:txBody>
                    <a:bodyPr wrap="square"/>
                    <a:lstStyle/>
                    <a:p>
                      <a:pPr algn="ctr"/>
                      <a:r>
                        <a:rPr sz="2300" b="1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公共汽车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1">
                          <a:solidFill>
                            <a:srgbClr val="B03A2E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gōnggòng qìchē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xe buýt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</a:tr>
              <a:tr h="626364">
                <a:tc>
                  <a:txBody>
                    <a:bodyPr wrap="square"/>
                    <a:lstStyle/>
                    <a:p>
                      <a:pPr algn="ctr"/>
                      <a:r>
                        <a:rPr sz="2300" b="1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地铁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1">
                          <a:solidFill>
                            <a:srgbClr val="B03A2E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dìtiě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tàu điện ngầm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</a:tr>
              <a:tr h="626364">
                <a:tc>
                  <a:txBody>
                    <a:bodyPr wrap="square"/>
                    <a:lstStyle/>
                    <a:p>
                      <a:pPr algn="ctr"/>
                      <a:r>
                        <a:rPr sz="2300" b="1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出租车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1">
                          <a:solidFill>
                            <a:srgbClr val="B03A2E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chūzūchē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taxi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</a:tr>
              <a:tr h="626364">
                <a:tc>
                  <a:txBody>
                    <a:bodyPr wrap="square"/>
                    <a:lstStyle/>
                    <a:p>
                      <a:pPr algn="ctr"/>
                      <a:r>
                        <a:rPr sz="2300" b="1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骑 (自行车)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1">
                          <a:solidFill>
                            <a:srgbClr val="B03A2E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qí (zìxíngchē)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đi (cưỡi) xe đạp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</a:tr>
              <a:tr h="626364">
                <a:tc>
                  <a:txBody>
                    <a:bodyPr wrap="square"/>
                    <a:lstStyle/>
                    <a:p>
                      <a:pPr algn="ctr"/>
                      <a:r>
                        <a:rPr sz="2300" b="1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走路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1">
                          <a:solidFill>
                            <a:srgbClr val="B03A2E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zǒulù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đi bộ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07008"/>
          </a:xfrm>
          <a:prstGeom prst="rect">
            <a:avLst/>
          </a:prstGeom>
          <a:solidFill>
            <a:srgbClr val="B0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7F24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语法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会 (huì)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81328"/>
            <a:ext cx="6430975" cy="5010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会 + động từ = biết làm (kỹ năng mình HỌC được).</a:t>
            </a:r>
          </a:p>
          <a:p>
            <a:pPr>
              <a:spcBef>
                <a:spcPts val="1700"/>
              </a:spcBef>
            </a:pPr>
            <a:r>
              <a:rPr sz="26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我会说汉语。</a:t>
            </a:r>
            <a:r>
              <a:rPr sz="1500" b="0" i="1">
                <a:solidFill>
                  <a:srgbClr val="B03A2E"/>
                </a:solidFill>
                <a:latin typeface="Calibri"/>
                <a:ea typeface="Microsoft YaHei"/>
                <a:cs typeface="Microsoft YaHei"/>
              </a:rPr>
              <a:t>  Wǒ huì shuō Hànyǔ.</a:t>
            </a:r>
          </a:p>
          <a:p>
            <a:pPr>
              <a:spcBef>
                <a:spcPts val="300"/>
              </a:spcBef>
            </a:pPr>
            <a:r>
              <a:rPr sz="15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Mình biết nói tiếng Trung.</a:t>
            </a:r>
          </a:p>
          <a:p>
            <a:pPr>
              <a:spcBef>
                <a:spcPts val="1700"/>
              </a:spcBef>
            </a:pPr>
            <a:r>
              <a:rPr sz="26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你会开车吗？</a:t>
            </a:r>
            <a:r>
              <a:rPr sz="1500" b="0" i="1">
                <a:solidFill>
                  <a:srgbClr val="B03A2E"/>
                </a:solidFill>
                <a:latin typeface="Calibri"/>
                <a:ea typeface="Microsoft YaHei"/>
                <a:cs typeface="Microsoft YaHei"/>
              </a:rPr>
              <a:t>  Nǐ huì kāichē ma?</a:t>
            </a:r>
          </a:p>
          <a:p>
            <a:pPr>
              <a:spcBef>
                <a:spcPts val="300"/>
              </a:spcBef>
            </a:pPr>
            <a:r>
              <a:rPr sz="15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Bạn biết lái xe không?</a:t>
            </a:r>
          </a:p>
          <a:p>
            <a:pPr>
              <a:spcBef>
                <a:spcPts val="1500"/>
              </a:spcBef>
            </a:pPr>
            <a:r>
              <a:rPr sz="15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• Phủ định: 不会 — 我不会游泳。</a:t>
            </a:r>
          </a:p>
          <a:p>
            <a:pPr>
              <a:spcBef>
                <a:spcPts val="1400"/>
              </a:spcBef>
            </a:pPr>
            <a:r>
              <a:rPr sz="1500" b="1" i="0">
                <a:solidFill>
                  <a:srgbClr val="B03A2E"/>
                </a:solidFill>
                <a:latin typeface="Calibri"/>
                <a:ea typeface="Microsoft YaHei"/>
                <a:cs typeface="Microsoft YaHei"/>
              </a:rPr>
              <a:t>🔑 Mẹo ghi nhớ: </a:t>
            </a:r>
            <a:r>
              <a:rPr sz="15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会 dùng cho việc phải HỌC mới biết: nói ngoại ngữ, lái xe, bơi, nấu ăn.</a:t>
            </a:r>
          </a:p>
          <a:p>
            <a:pPr>
              <a:spcBef>
                <a:spcPts val="1200"/>
              </a:spcBef>
            </a:pPr>
            <a:r>
              <a:rPr sz="1200" b="0" i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📖 Nguồn: HSK标准教程1, Bài 6</a:t>
            </a:r>
          </a:p>
        </p:txBody>
      </p:sp>
      <p:pic>
        <p:nvPicPr>
          <p:cNvPr id="7" name="Picture 6" descr="hui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5375" y="2778061"/>
            <a:ext cx="4297680" cy="241744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07008"/>
          </a:xfrm>
          <a:prstGeom prst="rect">
            <a:avLst/>
          </a:prstGeom>
          <a:solidFill>
            <a:srgbClr val="B0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7F24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语法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想 (xiǎng)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81328"/>
            <a:ext cx="6430975" cy="5010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想 + động từ = muốn làm điều gì đó.</a:t>
            </a:r>
          </a:p>
          <a:p>
            <a:pPr>
              <a:spcBef>
                <a:spcPts val="1700"/>
              </a:spcBef>
            </a:pPr>
            <a:r>
              <a:rPr sz="26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我想去公园。</a:t>
            </a:r>
            <a:r>
              <a:rPr sz="1500" b="0" i="1">
                <a:solidFill>
                  <a:srgbClr val="B03A2E"/>
                </a:solidFill>
                <a:latin typeface="Calibri"/>
                <a:ea typeface="Microsoft YaHei"/>
                <a:cs typeface="Microsoft YaHei"/>
              </a:rPr>
              <a:t>  Wǒ xiǎng qù gōngyuán.</a:t>
            </a:r>
          </a:p>
          <a:p>
            <a:pPr>
              <a:spcBef>
                <a:spcPts val="300"/>
              </a:spcBef>
            </a:pPr>
            <a:r>
              <a:rPr sz="15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Mình muốn đi công viên.</a:t>
            </a:r>
          </a:p>
          <a:p>
            <a:pPr>
              <a:spcBef>
                <a:spcPts val="1700"/>
              </a:spcBef>
            </a:pPr>
            <a:r>
              <a:rPr sz="26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周末你想做什么？</a:t>
            </a:r>
            <a:r>
              <a:rPr sz="1500" b="0" i="1">
                <a:solidFill>
                  <a:srgbClr val="B03A2E"/>
                </a:solidFill>
                <a:latin typeface="Calibri"/>
                <a:ea typeface="Microsoft YaHei"/>
                <a:cs typeface="Microsoft YaHei"/>
              </a:rPr>
              <a:t>  Zhōumò nǐ xiǎng zuò shénme?</a:t>
            </a:r>
          </a:p>
          <a:p>
            <a:pPr>
              <a:spcBef>
                <a:spcPts val="300"/>
              </a:spcBef>
            </a:pPr>
            <a:r>
              <a:rPr sz="15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Cuối tuần bạn muốn làm gì?</a:t>
            </a:r>
          </a:p>
          <a:p>
            <a:pPr>
              <a:spcBef>
                <a:spcPts val="1500"/>
              </a:spcBef>
            </a:pPr>
            <a:r>
              <a:rPr sz="15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• Phủ định: 不想</a:t>
            </a:r>
          </a:p>
          <a:p>
            <a:pPr>
              <a:spcBef>
                <a:spcPts val="1400"/>
              </a:spcBef>
            </a:pPr>
            <a:r>
              <a:rPr sz="1500" b="1" i="0">
                <a:solidFill>
                  <a:srgbClr val="B03A2E"/>
                </a:solidFill>
                <a:latin typeface="Calibri"/>
                <a:ea typeface="Microsoft YaHei"/>
                <a:cs typeface="Microsoft YaHei"/>
              </a:rPr>
              <a:t>🔑 Mẹo ghi nhớ: </a:t>
            </a:r>
            <a:r>
              <a:rPr sz="15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想 = mong muốn (nhẹ). Mạnh hơn, dứt khoát hơn thì dùng 要.</a:t>
            </a:r>
          </a:p>
          <a:p>
            <a:pPr>
              <a:spcBef>
                <a:spcPts val="1200"/>
              </a:spcBef>
            </a:pPr>
            <a:r>
              <a:rPr sz="1200" b="0" i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📖 Nguồn: HSK标准教程1, Bài 8</a:t>
            </a:r>
          </a:p>
        </p:txBody>
      </p:sp>
      <p:pic>
        <p:nvPicPr>
          <p:cNvPr id="7" name="Picture 6" descr="xian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5375" y="2553525"/>
            <a:ext cx="4297680" cy="286651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07008"/>
          </a:xfrm>
          <a:prstGeom prst="rect">
            <a:avLst/>
          </a:prstGeom>
          <a:solidFill>
            <a:srgbClr val="B0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7F24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语法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能 (néng)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81328"/>
            <a:ext cx="6430975" cy="5010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能 + động từ = có thể / được phép (nói về khả năng hoặc xin phép).</a:t>
            </a:r>
          </a:p>
          <a:p>
            <a:pPr>
              <a:spcBef>
                <a:spcPts val="1700"/>
              </a:spcBef>
            </a:pPr>
            <a:r>
              <a:rPr sz="26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我能坐这儿吗？</a:t>
            </a:r>
            <a:r>
              <a:rPr sz="1500" b="0" i="1">
                <a:solidFill>
                  <a:srgbClr val="B03A2E"/>
                </a:solidFill>
                <a:latin typeface="Calibri"/>
                <a:ea typeface="Microsoft YaHei"/>
                <a:cs typeface="Microsoft YaHei"/>
              </a:rPr>
              <a:t>  Wǒ néng zuò zhèr ma?</a:t>
            </a:r>
          </a:p>
          <a:p>
            <a:pPr>
              <a:spcBef>
                <a:spcPts val="300"/>
              </a:spcBef>
            </a:pPr>
            <a:r>
              <a:rPr sz="15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Mình ngồi đây được không?</a:t>
            </a:r>
          </a:p>
          <a:p>
            <a:pPr>
              <a:spcBef>
                <a:spcPts val="1700"/>
              </a:spcBef>
            </a:pPr>
            <a:r>
              <a:rPr sz="26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这儿能停车吗？</a:t>
            </a:r>
            <a:r>
              <a:rPr sz="1500" b="0" i="1">
                <a:solidFill>
                  <a:srgbClr val="B03A2E"/>
                </a:solidFill>
                <a:latin typeface="Calibri"/>
                <a:ea typeface="Microsoft YaHei"/>
                <a:cs typeface="Microsoft YaHei"/>
              </a:rPr>
              <a:t>  Zhèr néng tíngchē ma?</a:t>
            </a:r>
          </a:p>
          <a:p>
            <a:pPr>
              <a:spcBef>
                <a:spcPts val="300"/>
              </a:spcBef>
            </a:pPr>
            <a:r>
              <a:rPr sz="15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Ở đây đỗ xe được không?</a:t>
            </a:r>
          </a:p>
          <a:p>
            <a:pPr>
              <a:spcBef>
                <a:spcPts val="1500"/>
              </a:spcBef>
            </a:pPr>
            <a:r>
              <a:rPr sz="15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• Phủ định: 不能</a:t>
            </a:r>
          </a:p>
          <a:p>
            <a:pPr>
              <a:spcBef>
                <a:spcPts val="1400"/>
              </a:spcBef>
            </a:pPr>
            <a:r>
              <a:rPr sz="1500" b="1" i="0">
                <a:solidFill>
                  <a:srgbClr val="B03A2E"/>
                </a:solidFill>
                <a:latin typeface="Calibri"/>
                <a:ea typeface="Microsoft YaHei"/>
                <a:cs typeface="Microsoft YaHei"/>
              </a:rPr>
              <a:t>🔑 Mẹo ghi nhớ: </a:t>
            </a:r>
            <a:r>
              <a:rPr sz="15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能 nhấn 'có đủ điều kiện' (khỏe / rảnh / được phép). Xin phép: 能…吗？ = 可以…吗？</a:t>
            </a:r>
          </a:p>
          <a:p>
            <a:pPr>
              <a:spcBef>
                <a:spcPts val="1200"/>
              </a:spcBef>
            </a:pPr>
            <a:r>
              <a:rPr sz="1200" b="0" i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📖 Nguồn: HSK标准教程1, Bài 10</a:t>
            </a:r>
          </a:p>
        </p:txBody>
      </p:sp>
      <p:pic>
        <p:nvPicPr>
          <p:cNvPr id="7" name="Picture 6" descr="nen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5375" y="2553525"/>
            <a:ext cx="4297680" cy="286651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07008"/>
          </a:xfrm>
          <a:prstGeom prst="rect">
            <a:avLst/>
          </a:prstGeom>
          <a:solidFill>
            <a:srgbClr val="B0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7F24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拓展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要 / 可以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81328"/>
            <a:ext cx="11094415" cy="5010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Hai từ rất hay gặp, biết thêm để nói tự nhiên hơn:</a:t>
            </a:r>
          </a:p>
          <a:p>
            <a:pPr>
              <a:spcBef>
                <a:spcPts val="1700"/>
              </a:spcBef>
            </a:pPr>
            <a:r>
              <a:rPr sz="26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我要一杯咖啡。</a:t>
            </a:r>
            <a:r>
              <a:rPr sz="1500" b="0" i="1">
                <a:solidFill>
                  <a:srgbClr val="B03A2E"/>
                </a:solidFill>
                <a:latin typeface="Calibri"/>
                <a:ea typeface="Microsoft YaHei"/>
                <a:cs typeface="Microsoft YaHei"/>
              </a:rPr>
              <a:t>  Wǒ yào yì bēi kāfēi.</a:t>
            </a:r>
          </a:p>
          <a:p>
            <a:pPr>
              <a:spcBef>
                <a:spcPts val="300"/>
              </a:spcBef>
            </a:pPr>
            <a:r>
              <a:rPr sz="15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要 = muốn (mạnh) / sẽ / phải.</a:t>
            </a:r>
          </a:p>
          <a:p>
            <a:pPr>
              <a:spcBef>
                <a:spcPts val="1700"/>
              </a:spcBef>
            </a:pPr>
            <a:r>
              <a:rPr sz="26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我可以走了吗？</a:t>
            </a:r>
            <a:r>
              <a:rPr sz="1500" b="0" i="1">
                <a:solidFill>
                  <a:srgbClr val="B03A2E"/>
                </a:solidFill>
                <a:latin typeface="Calibri"/>
                <a:ea typeface="Microsoft YaHei"/>
                <a:cs typeface="Microsoft YaHei"/>
              </a:rPr>
              <a:t>  Wǒ kěyǐ zǒu le ma?</a:t>
            </a:r>
          </a:p>
          <a:p>
            <a:pPr>
              <a:spcBef>
                <a:spcPts val="300"/>
              </a:spcBef>
            </a:pPr>
            <a:r>
              <a:rPr sz="15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可以 = được phép / có thể.</a:t>
            </a:r>
          </a:p>
          <a:p>
            <a:pPr>
              <a:spcBef>
                <a:spcPts val="1400"/>
              </a:spcBef>
            </a:pPr>
            <a:r>
              <a:rPr sz="1500" b="1" i="0">
                <a:solidFill>
                  <a:srgbClr val="B03A2E"/>
                </a:solidFill>
                <a:latin typeface="Calibri"/>
                <a:ea typeface="Microsoft YaHei"/>
                <a:cs typeface="Microsoft YaHei"/>
              </a:rPr>
              <a:t>🔑 Mẹo ghi nhớ: </a:t>
            </a:r>
            <a:r>
              <a:rPr sz="15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Muốn xin phép, có thể nói 能…吗？ hoặc 可以…吗？ đều được.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07008"/>
          </a:xfrm>
          <a:prstGeom prst="rect">
            <a:avLst/>
          </a:prstGeom>
          <a:solidFill>
            <a:srgbClr val="B0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7F24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对比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会 / 能 / 可以  ·  想 / 要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737360"/>
          <a:ext cx="11094415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98138"/>
                <a:gridCol w="3698138"/>
                <a:gridCol w="3698139"/>
              </a:tblGrid>
              <a:tr h="749808">
                <a:tc>
                  <a:txBody>
                    <a:bodyPr wrap="square"/>
                    <a:lstStyle/>
                    <a:p>
                      <a:pPr algn="ctr"/>
                      <a:r>
                        <a:rPr sz="1500" b="1" i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Từ</a:t>
                      </a:r>
                    </a:p>
                  </a:txBody>
                  <a:tcPr anchor="ctr" marL="127000" marR="101600" marT="38100" marB="38100">
                    <a:solidFill>
                      <a:srgbClr val="B03A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 i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Ý nghĩa</a:t>
                      </a:r>
                    </a:p>
                  </a:txBody>
                  <a:tcPr anchor="ctr" marL="127000" marR="101600" marT="38100" marB="38100">
                    <a:solidFill>
                      <a:srgbClr val="B03A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 i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Ví dụ</a:t>
                      </a:r>
                    </a:p>
                  </a:txBody>
                  <a:tcPr anchor="ctr" marL="127000" marR="101600" marT="38100" marB="38100">
                    <a:solidFill>
                      <a:srgbClr val="B03A2E"/>
                    </a:solidFill>
                  </a:tcPr>
                </a:tc>
              </a:tr>
              <a:tr h="749808">
                <a:tc>
                  <a:txBody>
                    <a:bodyPr wrap="square"/>
                    <a:lstStyle/>
                    <a:p>
                      <a:pPr algn="l"/>
                      <a:r>
                        <a:rPr sz="1500" b="1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会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biết (kỹ năng học được)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我会说汉语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</a:tr>
              <a:tr h="749808">
                <a:tc>
                  <a:txBody>
                    <a:bodyPr wrap="square"/>
                    <a:lstStyle/>
                    <a:p>
                      <a:pPr algn="l"/>
                      <a:r>
                        <a:rPr sz="1500" b="1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能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khả năng / điều kiện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我感冒了，不能游泳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</a:tr>
              <a:tr h="749808">
                <a:tc>
                  <a:txBody>
                    <a:bodyPr wrap="square"/>
                    <a:lstStyle/>
                    <a:p>
                      <a:pPr algn="l"/>
                      <a:r>
                        <a:rPr sz="1500" b="1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可以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được phép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你可以走了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</a:tr>
              <a:tr h="749808">
                <a:tc>
                  <a:txBody>
                    <a:bodyPr wrap="square"/>
                    <a:lstStyle/>
                    <a:p>
                      <a:pPr algn="l"/>
                      <a:r>
                        <a:rPr sz="1500" b="1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想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muốn (nhẹ nhàng)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我想去公园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</a:tr>
              <a:tr h="749808">
                <a:tc>
                  <a:txBody>
                    <a:bodyPr wrap="square"/>
                    <a:lstStyle/>
                    <a:p>
                      <a:pPr algn="l"/>
                      <a:r>
                        <a:rPr sz="1500" b="1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要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muốn (mạnh) / sẽ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我要学汉语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07008"/>
          </a:xfrm>
          <a:prstGeom prst="rect">
            <a:avLst/>
          </a:prstGeom>
          <a:solidFill>
            <a:srgbClr val="B0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7F24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应用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Bạn đi lại thế nào?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81328"/>
            <a:ext cx="6430975" cy="5010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Công thức:  主语 + 想/会/能 + 坐/骑 + 交通工具 + 去 + 地方</a:t>
            </a:r>
          </a:p>
          <a:p>
            <a:pPr>
              <a:spcBef>
                <a:spcPts val="1700"/>
              </a:spcBef>
            </a:pPr>
            <a:r>
              <a:rPr sz="26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我每天骑自行车上学。</a:t>
            </a:r>
            <a:r>
              <a:rPr sz="1500" b="0" i="1">
                <a:solidFill>
                  <a:srgbClr val="B03A2E"/>
                </a:solidFill>
                <a:latin typeface="Calibri"/>
                <a:ea typeface="Microsoft YaHei"/>
                <a:cs typeface="Microsoft YaHei"/>
              </a:rPr>
              <a:t>  Wǒ měitiān qí zìxíngchē shàngxué.</a:t>
            </a:r>
          </a:p>
          <a:p>
            <a:pPr>
              <a:spcBef>
                <a:spcPts val="300"/>
              </a:spcBef>
            </a:pPr>
            <a:r>
              <a:rPr sz="15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Ngày nào mình cũng đạp xe đi học.</a:t>
            </a:r>
          </a:p>
          <a:p>
            <a:pPr>
              <a:spcBef>
                <a:spcPts val="1700"/>
              </a:spcBef>
            </a:pPr>
            <a:r>
              <a:rPr sz="26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你怎么去学校？— 我坐公共汽车去。</a:t>
            </a:r>
            <a:r>
              <a:rPr sz="1500" b="0" i="1">
                <a:solidFill>
                  <a:srgbClr val="B03A2E"/>
                </a:solidFill>
                <a:latin typeface="Calibri"/>
                <a:ea typeface="Microsoft YaHei"/>
                <a:cs typeface="Microsoft YaHei"/>
              </a:rPr>
              <a:t>  Nǐ zěnme qù xuéxiào? — Wǒ zuò gōnggòng qìchē qù.</a:t>
            </a:r>
          </a:p>
          <a:p>
            <a:pPr>
              <a:spcBef>
                <a:spcPts val="300"/>
              </a:spcBef>
            </a:pPr>
            <a:r>
              <a:rPr sz="15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Bạn đi học bằng gì? — Mình đi xe buýt.</a:t>
            </a:r>
          </a:p>
          <a:p>
            <a:pPr>
              <a:spcBef>
                <a:spcPts val="1400"/>
              </a:spcBef>
            </a:pPr>
            <a:r>
              <a:rPr sz="1500" b="1" i="0">
                <a:solidFill>
                  <a:srgbClr val="B03A2E"/>
                </a:solidFill>
                <a:latin typeface="Calibri"/>
                <a:ea typeface="Microsoft YaHei"/>
                <a:cs typeface="Microsoft YaHei"/>
              </a:rPr>
              <a:t>🔑 Mẹo ghi nhớ: </a:t>
            </a:r>
            <a:r>
              <a:rPr sz="15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Phương tiện (坐/骑…) luôn đứng TRƯỚC 去 + nơi đến.</a:t>
            </a:r>
          </a:p>
        </p:txBody>
      </p:sp>
      <p:pic>
        <p:nvPicPr>
          <p:cNvPr id="7" name="Picture 6" descr="appl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5375" y="2375154"/>
            <a:ext cx="4297680" cy="322326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07008"/>
          </a:xfrm>
          <a:prstGeom prst="rect">
            <a:avLst/>
          </a:prstGeom>
          <a:solidFill>
            <a:srgbClr val="B0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7F24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会话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Hội thoại mẫu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481328"/>
            <a:ext cx="6949440" cy="914100"/>
          </a:xfrm>
          <a:prstGeom prst="roundRect">
            <a:avLst/>
          </a:prstGeom>
          <a:solidFill>
            <a:srgbClr val="F4F5F7"/>
          </a:solidFill>
          <a:ln w="6350">
            <a:solidFill>
              <a:srgbClr val="6B76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63500" bIns="63500"/>
          <a:lstStyle/>
          <a:p>
            <a:pPr algn="l"/>
            <a:r>
              <a:rPr sz="1100" b="1" i="0">
                <a:solidFill>
                  <a:srgbClr val="B03A2E"/>
                </a:solidFill>
                <a:latin typeface="Calibri"/>
                <a:ea typeface="Microsoft YaHei"/>
                <a:cs typeface="Microsoft YaHei"/>
              </a:rPr>
              <a:t>A: </a:t>
            </a:r>
            <a:r>
              <a:rPr sz="19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你会骑自行车吗？</a:t>
            </a:r>
          </a:p>
          <a:p>
            <a:pPr algn="l"/>
            <a:r>
              <a:rPr sz="1200" b="0" i="1">
                <a:solidFill>
                  <a:srgbClr val="B03A2E"/>
                </a:solidFill>
                <a:latin typeface="Calibri"/>
                <a:ea typeface="Microsoft YaHei"/>
                <a:cs typeface="Microsoft YaHei"/>
              </a:rPr>
              <a:t>Nǐ huì qí zìxíngchē ma?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693615" y="2528388"/>
            <a:ext cx="6949440" cy="914100"/>
          </a:xfrm>
          <a:prstGeom prst="roundRect">
            <a:avLst/>
          </a:prstGeom>
          <a:solidFill>
            <a:srgbClr val="F7E4E1"/>
          </a:solidFill>
          <a:ln w="6350">
            <a:solidFill>
              <a:srgbClr val="B03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63500" bIns="63500"/>
          <a:lstStyle/>
          <a:p>
            <a:pPr algn="l"/>
            <a:r>
              <a:rPr sz="1100" b="1" i="0">
                <a:solidFill>
                  <a:srgbClr val="B03A2E"/>
                </a:solidFill>
                <a:latin typeface="Calibri"/>
                <a:ea typeface="Microsoft YaHei"/>
                <a:cs typeface="Microsoft YaHei"/>
              </a:rPr>
              <a:t>B: </a:t>
            </a:r>
            <a:r>
              <a:rPr sz="19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会。我每天骑自行车上学。</a:t>
            </a:r>
          </a:p>
          <a:p>
            <a:pPr algn="l"/>
            <a:r>
              <a:rPr sz="1200" b="0" i="1">
                <a:solidFill>
                  <a:srgbClr val="B03A2E"/>
                </a:solidFill>
                <a:latin typeface="Calibri"/>
                <a:ea typeface="Microsoft YaHei"/>
                <a:cs typeface="Microsoft YaHei"/>
              </a:rPr>
              <a:t>Huì. Wǒ měitiān qí zìxíngchē shàngxué.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575448"/>
            <a:ext cx="6949440" cy="914100"/>
          </a:xfrm>
          <a:prstGeom prst="roundRect">
            <a:avLst/>
          </a:prstGeom>
          <a:solidFill>
            <a:srgbClr val="F4F5F7"/>
          </a:solidFill>
          <a:ln w="6350">
            <a:solidFill>
              <a:srgbClr val="6B76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63500" bIns="63500"/>
          <a:lstStyle/>
          <a:p>
            <a:pPr algn="l"/>
            <a:r>
              <a:rPr sz="1100" b="1" i="0">
                <a:solidFill>
                  <a:srgbClr val="B03A2E"/>
                </a:solidFill>
                <a:latin typeface="Calibri"/>
                <a:ea typeface="Microsoft YaHei"/>
                <a:cs typeface="Microsoft YaHei"/>
              </a:rPr>
              <a:t>A: </a:t>
            </a:r>
            <a:r>
              <a:rPr sz="19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明天你想做什么？</a:t>
            </a:r>
          </a:p>
          <a:p>
            <a:pPr algn="l"/>
            <a:r>
              <a:rPr sz="1200" b="0" i="1">
                <a:solidFill>
                  <a:srgbClr val="B03A2E"/>
                </a:solidFill>
                <a:latin typeface="Calibri"/>
                <a:ea typeface="Microsoft YaHei"/>
                <a:cs typeface="Microsoft YaHei"/>
              </a:rPr>
              <a:t>Míngtiān nǐ xiǎng zuò shénme?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693615" y="4622508"/>
            <a:ext cx="6949440" cy="914100"/>
          </a:xfrm>
          <a:prstGeom prst="roundRect">
            <a:avLst/>
          </a:prstGeom>
          <a:solidFill>
            <a:srgbClr val="F7E4E1"/>
          </a:solidFill>
          <a:ln w="6350">
            <a:solidFill>
              <a:srgbClr val="B03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63500" bIns="63500"/>
          <a:lstStyle/>
          <a:p>
            <a:pPr algn="l"/>
            <a:r>
              <a:rPr sz="1100" b="1" i="0">
                <a:solidFill>
                  <a:srgbClr val="B03A2E"/>
                </a:solidFill>
                <a:latin typeface="Calibri"/>
                <a:ea typeface="Microsoft YaHei"/>
                <a:cs typeface="Microsoft YaHei"/>
              </a:rPr>
              <a:t>B: </a:t>
            </a:r>
            <a:r>
              <a:rPr sz="19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我想坐地铁去公园。你能来吗？</a:t>
            </a:r>
          </a:p>
          <a:p>
            <a:pPr algn="l"/>
            <a:r>
              <a:rPr sz="1200" b="0" i="1">
                <a:solidFill>
                  <a:srgbClr val="B03A2E"/>
                </a:solidFill>
                <a:latin typeface="Calibri"/>
                <a:ea typeface="Microsoft YaHei"/>
                <a:cs typeface="Microsoft YaHei"/>
              </a:rPr>
              <a:t>Wǒ xiǎng zuò dìtiě qù gōngyuán. Nǐ néng lái ma?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5669568"/>
            <a:ext cx="6949440" cy="914100"/>
          </a:xfrm>
          <a:prstGeom prst="roundRect">
            <a:avLst/>
          </a:prstGeom>
          <a:solidFill>
            <a:srgbClr val="F4F5F7"/>
          </a:solidFill>
          <a:ln w="6350">
            <a:solidFill>
              <a:srgbClr val="6B76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63500" bIns="63500"/>
          <a:lstStyle/>
          <a:p>
            <a:pPr algn="l"/>
            <a:r>
              <a:rPr sz="1100" b="1" i="0">
                <a:solidFill>
                  <a:srgbClr val="B03A2E"/>
                </a:solidFill>
                <a:latin typeface="Calibri"/>
                <a:ea typeface="Microsoft YaHei"/>
                <a:cs typeface="Microsoft YaHei"/>
              </a:rPr>
              <a:t>A: </a:t>
            </a:r>
            <a:r>
              <a:rPr sz="1900" b="1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我可以来。</a:t>
            </a:r>
          </a:p>
          <a:p>
            <a:pPr algn="l"/>
            <a:r>
              <a:rPr sz="1200" b="0" i="1">
                <a:solidFill>
                  <a:srgbClr val="B03A2E"/>
                </a:solidFill>
                <a:latin typeface="Calibri"/>
                <a:ea typeface="Microsoft YaHei"/>
                <a:cs typeface="Microsoft YaHei"/>
              </a:rPr>
              <a:t>Wǒ kěyǐ lái.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07008"/>
          </a:xfrm>
          <a:prstGeom prst="rect">
            <a:avLst/>
          </a:prstGeom>
          <a:solidFill>
            <a:srgbClr val="B0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7F24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口语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Câu giao tiếp (1/2)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737360"/>
          <a:ext cx="11094415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98138"/>
                <a:gridCol w="3698138"/>
                <a:gridCol w="3698139"/>
              </a:tblGrid>
              <a:tr h="749808">
                <a:tc>
                  <a:txBody>
                    <a:bodyPr wrap="square"/>
                    <a:lstStyle/>
                    <a:p>
                      <a:pPr algn="ctr"/>
                      <a:r>
                        <a:rPr sz="1500" b="1" i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中文</a:t>
                      </a:r>
                    </a:p>
                  </a:txBody>
                  <a:tcPr anchor="ctr" marL="127000" marR="101600" marT="38100" marB="38100">
                    <a:solidFill>
                      <a:srgbClr val="B03A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 i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Pinyin</a:t>
                      </a:r>
                    </a:p>
                  </a:txBody>
                  <a:tcPr anchor="ctr" marL="127000" marR="101600" marT="38100" marB="38100">
                    <a:solidFill>
                      <a:srgbClr val="B03A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 i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Tiếng Việt</a:t>
                      </a:r>
                    </a:p>
                  </a:txBody>
                  <a:tcPr anchor="ctr" marL="127000" marR="101600" marT="38100" marB="38100">
                    <a:solidFill>
                      <a:srgbClr val="B03A2E"/>
                    </a:solidFill>
                  </a:tcPr>
                </a:tc>
              </a:tr>
              <a:tr h="749808">
                <a:tc>
                  <a:txBody>
                    <a:bodyPr wrap="square"/>
                    <a:lstStyle/>
                    <a:p>
                      <a:pPr algn="l"/>
                      <a:r>
                        <a:rPr sz="1500" b="1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你会说汉语吗？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Nǐ huì shuō Hànyǔ ma?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Bạn biết nói tiếng Trung không?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</a:tr>
              <a:tr h="749808">
                <a:tc>
                  <a:txBody>
                    <a:bodyPr wrap="square"/>
                    <a:lstStyle/>
                    <a:p>
                      <a:pPr algn="l"/>
                      <a:r>
                        <a:rPr sz="1500" b="1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我会做中国菜。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Wǒ huì zuò Zhōngguó cài.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Mình biết nấu món Trung.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</a:tr>
              <a:tr h="749808">
                <a:tc>
                  <a:txBody>
                    <a:bodyPr wrap="square"/>
                    <a:lstStyle/>
                    <a:p>
                      <a:pPr algn="l"/>
                      <a:r>
                        <a:rPr sz="1500" b="1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你想做什么？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Nǐ xiǎng zuò shénme?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Bạn muốn làm gì?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</a:tr>
              <a:tr h="749808">
                <a:tc>
                  <a:txBody>
                    <a:bodyPr wrap="square"/>
                    <a:lstStyle/>
                    <a:p>
                      <a:pPr algn="l"/>
                      <a:r>
                        <a:rPr sz="1500" b="1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周末我想睡觉、看电视。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Zhōumò wǒ xiǎng shuìjiào, kàn diànshì.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Cuối tuần mình muốn ngủ, xem TV.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</a:tr>
              <a:tr h="749808">
                <a:tc>
                  <a:txBody>
                    <a:bodyPr wrap="square"/>
                    <a:lstStyle/>
                    <a:p>
                      <a:pPr algn="l"/>
                      <a:r>
                        <a:rPr sz="1500" b="1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我每天骑自行车上学。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Wǒ měitiān qí zìxíngchē shàngxué.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Ngày nào mình cũng đạp xe đi học.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07008"/>
          </a:xfrm>
          <a:prstGeom prst="rect">
            <a:avLst/>
          </a:prstGeom>
          <a:solidFill>
            <a:srgbClr val="B0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7F24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口语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Câu giao tiếp (2/2)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737360"/>
          <a:ext cx="11094415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98138"/>
                <a:gridCol w="3698138"/>
                <a:gridCol w="3698139"/>
              </a:tblGrid>
              <a:tr h="749808">
                <a:tc>
                  <a:txBody>
                    <a:bodyPr wrap="square"/>
                    <a:lstStyle/>
                    <a:p>
                      <a:pPr algn="ctr"/>
                      <a:r>
                        <a:rPr sz="1500" b="1" i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中文</a:t>
                      </a:r>
                    </a:p>
                  </a:txBody>
                  <a:tcPr anchor="ctr" marL="127000" marR="101600" marT="38100" marB="38100">
                    <a:solidFill>
                      <a:srgbClr val="B03A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 i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Pinyin</a:t>
                      </a:r>
                    </a:p>
                  </a:txBody>
                  <a:tcPr anchor="ctr" marL="127000" marR="101600" marT="38100" marB="38100">
                    <a:solidFill>
                      <a:srgbClr val="B03A2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 i="0">
                          <a:solidFill>
                            <a:srgbClr val="FFFFFF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Tiếng Việt</a:t>
                      </a:r>
                    </a:p>
                  </a:txBody>
                  <a:tcPr anchor="ctr" marL="127000" marR="101600" marT="38100" marB="38100">
                    <a:solidFill>
                      <a:srgbClr val="B03A2E"/>
                    </a:solidFill>
                  </a:tcPr>
                </a:tc>
              </a:tr>
              <a:tr h="749808">
                <a:tc>
                  <a:txBody>
                    <a:bodyPr wrap="square"/>
                    <a:lstStyle/>
                    <a:p>
                      <a:pPr algn="l"/>
                      <a:r>
                        <a:rPr sz="1500" b="1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你怎么去学校？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Nǐ zěnme qù xuéxiào?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Bạn đi học bằng gì?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</a:tr>
              <a:tr h="749808">
                <a:tc>
                  <a:txBody>
                    <a:bodyPr wrap="square"/>
                    <a:lstStyle/>
                    <a:p>
                      <a:pPr algn="l"/>
                      <a:r>
                        <a:rPr sz="1500" b="1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我坐公共汽车去。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Wǒ zuò gōnggòng qìchē qù.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Mình đi bằng xe buýt.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</a:tr>
              <a:tr h="749808">
                <a:tc>
                  <a:txBody>
                    <a:bodyPr wrap="square"/>
                    <a:lstStyle/>
                    <a:p>
                      <a:pPr algn="l"/>
                      <a:r>
                        <a:rPr sz="1500" b="1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这儿能停车吗？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Zhèr néng tíngchē ma?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Ở đây đỗ xe được không?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</a:tr>
              <a:tr h="749808">
                <a:tc>
                  <a:txBody>
                    <a:bodyPr wrap="square"/>
                    <a:lstStyle/>
                    <a:p>
                      <a:pPr algn="l"/>
                      <a:r>
                        <a:rPr sz="1500" b="1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我可以坐这儿吗？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Wǒ kěyǐ zuò zhèr ma?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Mình ngồi đây được không?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</a:tr>
              <a:tr h="749808">
                <a:tc>
                  <a:txBody>
                    <a:bodyPr wrap="square"/>
                    <a:lstStyle/>
                    <a:p>
                      <a:pPr algn="l"/>
                      <a:r>
                        <a:rPr sz="1500" b="1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你会开车吗？— 还不会。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Nǐ huì kāichē ma? — Hái bú huì.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Bạn biết lái xe không? — Chưa biết.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07008"/>
          </a:xfrm>
          <a:prstGeom prst="rect">
            <a:avLst/>
          </a:prstGeom>
          <a:solidFill>
            <a:srgbClr val="B0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7F24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阅读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Đọc thêm ở nhà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81328"/>
            <a:ext cx="11094415" cy="5010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Bef>
                <a:spcPts val="1200"/>
              </a:spcBef>
            </a:pPr>
            <a:r>
              <a:rPr sz="1700" b="1" i="0">
                <a:solidFill>
                  <a:srgbClr val="B03A2E"/>
                </a:solidFill>
                <a:latin typeface="Calibri"/>
                <a:ea typeface="Microsoft YaHei"/>
                <a:cs typeface="Microsoft YaHei"/>
              </a:rPr>
              <a:t>Trong 2 giáo trình (đọc lại 课文):</a:t>
            </a:r>
          </a:p>
          <a:p>
            <a:pPr>
              <a:spcBef>
                <a:spcPts val="400"/>
              </a:spcBef>
            </a:pPr>
            <a:r>
              <a:rPr sz="1500" b="1" i="0">
                <a:solidFill>
                  <a:srgbClr val="B03A2E"/>
                </a:solidFill>
                <a:latin typeface="Calibri"/>
                <a:ea typeface="Microsoft YaHei"/>
                <a:cs typeface="Microsoft YaHei"/>
              </a:rPr>
              <a:t>•  </a:t>
            </a:r>
            <a:r>
              <a:rPr sz="15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《HSK标准教程1》Bài 6「我会说汉语」— luyện 会</a:t>
            </a:r>
          </a:p>
          <a:p>
            <a:pPr>
              <a:spcBef>
                <a:spcPts val="400"/>
              </a:spcBef>
            </a:pPr>
            <a:r>
              <a:rPr sz="1500" b="1" i="0">
                <a:solidFill>
                  <a:srgbClr val="B03A2E"/>
                </a:solidFill>
                <a:latin typeface="Calibri"/>
                <a:ea typeface="Microsoft YaHei"/>
                <a:cs typeface="Microsoft YaHei"/>
              </a:rPr>
              <a:t>•  </a:t>
            </a:r>
            <a:r>
              <a:rPr sz="15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《HSK标准教程1》Bài 8「我想喝茶」— luyện 想</a:t>
            </a:r>
          </a:p>
          <a:p>
            <a:pPr>
              <a:spcBef>
                <a:spcPts val="400"/>
              </a:spcBef>
            </a:pPr>
            <a:r>
              <a:rPr sz="1500" b="1" i="0">
                <a:solidFill>
                  <a:srgbClr val="B03A2E"/>
                </a:solidFill>
                <a:latin typeface="Calibri"/>
                <a:ea typeface="Microsoft YaHei"/>
                <a:cs typeface="Microsoft YaHei"/>
              </a:rPr>
              <a:t>•  </a:t>
            </a:r>
            <a:r>
              <a:rPr sz="15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《HSK标准教程1》Bài 10「我能坐这儿吗」— luyện 能</a:t>
            </a:r>
          </a:p>
          <a:p>
            <a:pPr>
              <a:spcBef>
                <a:spcPts val="400"/>
              </a:spcBef>
            </a:pPr>
            <a:r>
              <a:rPr sz="1500" b="1" i="0">
                <a:solidFill>
                  <a:srgbClr val="B03A2E"/>
                </a:solidFill>
                <a:latin typeface="Calibri"/>
                <a:ea typeface="Microsoft YaHei"/>
                <a:cs typeface="Microsoft YaHei"/>
              </a:rPr>
              <a:t>•  </a:t>
            </a:r>
            <a:r>
              <a:rPr sz="15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《HSK标准教程1》Bài 13「他在学做中国菜呢」— hoạt động hằng ngày</a:t>
            </a:r>
          </a:p>
          <a:p>
            <a:pPr>
              <a:spcBef>
                <a:spcPts val="400"/>
              </a:spcBef>
            </a:pPr>
            <a:r>
              <a:rPr sz="1500" b="1" i="0">
                <a:solidFill>
                  <a:srgbClr val="B03A2E"/>
                </a:solidFill>
                <a:latin typeface="Calibri"/>
                <a:ea typeface="Microsoft YaHei"/>
                <a:cs typeface="Microsoft YaHei"/>
              </a:rPr>
              <a:t>•  </a:t>
            </a:r>
            <a:r>
              <a:rPr sz="15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《汉语教程1·上》Bài 10–12 — hội thoại hỏi đường / đi lại</a:t>
            </a:r>
          </a:p>
          <a:p>
            <a:pPr>
              <a:spcBef>
                <a:spcPts val="1200"/>
              </a:spcBef>
            </a:pPr>
            <a:r>
              <a:rPr sz="1700" b="1" i="0">
                <a:solidFill>
                  <a:srgbClr val="B03A2E"/>
                </a:solidFill>
                <a:latin typeface="Calibri"/>
                <a:ea typeface="Microsoft YaHei"/>
                <a:cs typeface="Microsoft YaHei"/>
              </a:rPr>
              <a:t>Nguồn luyện đọc thêm (trình độ HSK1):</a:t>
            </a:r>
          </a:p>
          <a:p>
            <a:pPr>
              <a:spcBef>
                <a:spcPts val="400"/>
              </a:spcBef>
            </a:pPr>
            <a:r>
              <a:rPr sz="1500" b="1" i="0">
                <a:solidFill>
                  <a:srgbClr val="B03A2E"/>
                </a:solidFill>
                <a:latin typeface="Calibri"/>
                <a:ea typeface="Microsoft YaHei"/>
                <a:cs typeface="Microsoft YaHei"/>
              </a:rPr>
              <a:t>•  </a:t>
            </a:r>
            <a:r>
              <a:rPr sz="15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Du Chinese (app) — mục Newbie / HSK1</a:t>
            </a:r>
          </a:p>
          <a:p>
            <a:pPr>
              <a:spcBef>
                <a:spcPts val="400"/>
              </a:spcBef>
            </a:pPr>
            <a:r>
              <a:rPr sz="1500" b="1" i="0">
                <a:solidFill>
                  <a:srgbClr val="B03A2E"/>
                </a:solidFill>
                <a:latin typeface="Calibri"/>
                <a:ea typeface="Microsoft YaHei"/>
                <a:cs typeface="Microsoft YaHei"/>
              </a:rPr>
              <a:t>•  </a:t>
            </a:r>
            <a:r>
              <a:rPr sz="15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The Chairman's Bao — bài trình độ HSK1</a:t>
            </a:r>
          </a:p>
          <a:p>
            <a:pPr>
              <a:spcBef>
                <a:spcPts val="400"/>
              </a:spcBef>
            </a:pPr>
            <a:r>
              <a:rPr sz="1500" b="1" i="0">
                <a:solidFill>
                  <a:srgbClr val="B03A2E"/>
                </a:solidFill>
                <a:latin typeface="Calibri"/>
                <a:ea typeface="Microsoft YaHei"/>
                <a:cs typeface="Microsoft YaHei"/>
              </a:rPr>
              <a:t>•  </a:t>
            </a:r>
            <a:r>
              <a:rPr sz="15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Mandarin Companion — Readers Level 0</a:t>
            </a:r>
          </a:p>
          <a:p>
            <a:pPr>
              <a:spcBef>
                <a:spcPts val="400"/>
              </a:spcBef>
            </a:pPr>
            <a:r>
              <a:rPr sz="1500" b="1" i="0">
                <a:solidFill>
                  <a:srgbClr val="B03A2E"/>
                </a:solidFill>
                <a:latin typeface="Calibri"/>
                <a:ea typeface="Microsoft YaHei"/>
                <a:cs typeface="Microsoft YaHei"/>
              </a:rPr>
              <a:t>•  </a:t>
            </a:r>
            <a:r>
              <a:rPr sz="1500" b="0" i="0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hsk.academy — HSK1 reading online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07008"/>
          </a:xfrm>
          <a:prstGeom prst="rect">
            <a:avLst/>
          </a:prstGeom>
          <a:solidFill>
            <a:srgbClr val="B0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7F24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作业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700" b="1" i="0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Bài tập về nhà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81328"/>
            <a:ext cx="11094415" cy="5010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0" i="1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(Phần bài tập sẽ được tạo bằng công cụ riêng — tạm để trống)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377440"/>
            <a:ext cx="11094415" cy="2103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600" b="1" i="0">
                <a:solidFill>
                  <a:srgbClr val="B03A2E"/>
                </a:solidFill>
                <a:latin typeface="Calibri"/>
                <a:ea typeface="Microsoft YaHei"/>
                <a:cs typeface="Microsoft YaHei"/>
              </a:rPr>
              <a:t>谢谢！</a:t>
            </a:r>
          </a:p>
          <a:p>
            <a:pPr algn="ctr">
              <a:spcBef>
                <a:spcPts val="1000"/>
              </a:spcBef>
            </a:pPr>
            <a:r>
              <a:rPr sz="1800" b="0" i="0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Buổi sau: Lượng từ + 一点儿 · Màu sắc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