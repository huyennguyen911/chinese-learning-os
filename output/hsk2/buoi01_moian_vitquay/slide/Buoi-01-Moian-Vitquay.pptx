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mp3" ContentType="audio/mpeg"/>
  <Override PartName="/ppt/media/media10.mp3" ContentType="audio/mpeg"/>
  <Override PartName="/ppt/media/media11.mp3" ContentType="audio/mpeg"/>
  <Override PartName="/ppt/media/media12.mp3" ContentType="audio/mpeg"/>
  <Override PartName="/ppt/media/media13.mp3" ContentType="audio/mpeg"/>
  <Override PartName="/ppt/media/media14.mp3" ContentType="audio/mpeg"/>
  <Override PartName="/ppt/media/media15.mp3" ContentType="audio/mpeg"/>
  <Override PartName="/ppt/media/media16.mp3" ContentType="audio/mpeg"/>
  <Override PartName="/ppt/media/media17.mp3" ContentType="audio/mpeg"/>
  <Override PartName="/ppt/media/media18.mp3" ContentType="audio/mpeg"/>
  <Override PartName="/ppt/media/media19.mp3" ContentType="audio/mpeg"/>
  <Override PartName="/ppt/media/media2.mp3" ContentType="audio/mpeg"/>
  <Override PartName="/ppt/media/media20.mp3" ContentType="audio/mpeg"/>
  <Override PartName="/ppt/media/media3.mp3" ContentType="audio/mpeg"/>
  <Override PartName="/ppt/media/media4.mp3" ContentType="audio/mpeg"/>
  <Override PartName="/ppt/media/media5.mp3" ContentType="audio/mpeg"/>
  <Override PartName="/ppt/media/media6.mp3" ContentType="audio/mpeg"/>
  <Override PartName="/ppt/media/media7.mp3" ContentType="audio/mpeg"/>
  <Override PartName="/ppt/media/media8.mp3" ContentType="audio/mpeg"/>
  <Override PartName="/ppt/media/media9.mp3" ContentType="audio/mpe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microsoft.com/office/2007/relationships/media" Target="../media/media1.mp3"/><Relationship Id="rId4" Type="http://schemas.openxmlformats.org/officeDocument/2006/relationships/video" Target="../media/media1.mp3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microsoft.com/office/2007/relationships/media" Target="../media/media2.mp3"/><Relationship Id="rId4" Type="http://schemas.openxmlformats.org/officeDocument/2006/relationships/video" Target="../media/media2.mp3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3"/><Relationship Id="rId3" Type="http://schemas.openxmlformats.org/officeDocument/2006/relationships/video" Target="../media/media3.mp3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microsoft.com/office/2007/relationships/media" Target="../media/media4.mp3"/><Relationship Id="rId4" Type="http://schemas.openxmlformats.org/officeDocument/2006/relationships/video" Target="../media/media4.mp3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microsoft.com/office/2007/relationships/media" Target="../media/media5.mp3"/><Relationship Id="rId4" Type="http://schemas.openxmlformats.org/officeDocument/2006/relationships/video" Target="../media/media5.mp3"/><Relationship Id="rId5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microsoft.com/office/2007/relationships/media" Target="../media/media6.mp3"/><Relationship Id="rId4" Type="http://schemas.openxmlformats.org/officeDocument/2006/relationships/video" Target="../media/media6.mp3"/><Relationship Id="rId5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7.mp3"/><Relationship Id="rId3" Type="http://schemas.openxmlformats.org/officeDocument/2006/relationships/video" Target="../media/media7.mp3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microsoft.com/office/2007/relationships/media" Target="../media/media8.mp3"/><Relationship Id="rId4" Type="http://schemas.openxmlformats.org/officeDocument/2006/relationships/video" Target="../media/media8.mp3"/><Relationship Id="rId5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microsoft.com/office/2007/relationships/media" Target="../media/media9.mp3"/><Relationship Id="rId4" Type="http://schemas.openxmlformats.org/officeDocument/2006/relationships/video" Target="../media/media9.mp3"/><Relationship Id="rId5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microsoft.com/office/2007/relationships/media" Target="../media/media10.mp3"/><Relationship Id="rId4" Type="http://schemas.openxmlformats.org/officeDocument/2006/relationships/video" Target="../media/media10.mp3"/><Relationship Id="rId5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microsoft.com/office/2007/relationships/media" Target="../media/media11.mp3"/><Relationship Id="rId4" Type="http://schemas.openxmlformats.org/officeDocument/2006/relationships/video" Target="../media/media11.mp3"/><Relationship Id="rId5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microsoft.com/office/2007/relationships/media" Target="../media/media12.mp3"/><Relationship Id="rId4" Type="http://schemas.openxmlformats.org/officeDocument/2006/relationships/video" Target="../media/media12.mp3"/><Relationship Id="rId5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3.mp3"/><Relationship Id="rId3" Type="http://schemas.openxmlformats.org/officeDocument/2006/relationships/video" Target="../media/media13.mp3"/><Relationship Id="rId4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4.mp3"/><Relationship Id="rId3" Type="http://schemas.openxmlformats.org/officeDocument/2006/relationships/video" Target="../media/media14.mp3"/><Relationship Id="rId4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5.mp3"/><Relationship Id="rId3" Type="http://schemas.openxmlformats.org/officeDocument/2006/relationships/video" Target="../media/media15.mp3"/><Relationship Id="rId4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microsoft.com/office/2007/relationships/media" Target="../media/media16.mp3"/><Relationship Id="rId4" Type="http://schemas.openxmlformats.org/officeDocument/2006/relationships/video" Target="../media/media16.mp3"/><Relationship Id="rId5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microsoft.com/office/2007/relationships/media" Target="../media/media17.mp3"/><Relationship Id="rId4" Type="http://schemas.openxmlformats.org/officeDocument/2006/relationships/video" Target="../media/media17.mp3"/><Relationship Id="rId5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microsoft.com/office/2007/relationships/media" Target="../media/media18.mp3"/><Relationship Id="rId4" Type="http://schemas.openxmlformats.org/officeDocument/2006/relationships/video" Target="../media/media18.mp3"/><Relationship Id="rId5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microsoft.com/office/2007/relationships/media" Target="../media/media19.mp3"/><Relationship Id="rId4" Type="http://schemas.openxmlformats.org/officeDocument/2006/relationships/video" Target="../media/media19.mp3"/><Relationship Id="rId5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0.mp3"/><Relationship Id="rId3" Type="http://schemas.openxmlformats.org/officeDocument/2006/relationships/video" Target="../media/media20.mp3"/><Relationship Id="rId4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920240"/>
            <a:ext cx="6675120" cy="3017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她请我们吃了北京烤鸭</a:t>
            </a:r>
          </a:p>
          <a:p>
            <a:pPr algn="l">
              <a:spcBef>
                <a:spcPts val="1000"/>
              </a:spcBef>
            </a:pPr>
            <a:r>
              <a:rPr sz="2000" b="0" i="0">
                <a:solidFill>
                  <a:srgbClr val="F7E4E1"/>
                </a:solidFill>
                <a:latin typeface="Calibri"/>
                <a:ea typeface="Microsoft YaHei"/>
                <a:cs typeface="Microsoft YaHei"/>
              </a:rPr>
              <a:t>Buổi 1 · 语气助词「吧」(2) · 是……的句 · 兼语句</a:t>
            </a:r>
          </a:p>
        </p:txBody>
      </p:sp>
      <p:pic>
        <p:nvPicPr>
          <p:cNvPr id="4" name="Picture 3" descr="pekingdu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6815" y="1463040"/>
            <a:ext cx="393192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今天学什么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6522415" cy="5010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1300"/>
              </a:spcBef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语气助词「吧」(2) — dùng để phỏng đoán, ước lượng</a:t>
            </a:r>
          </a:p>
          <a:p>
            <a:pPr>
              <a:spcBef>
                <a:spcPts val="1300"/>
              </a:spcBef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「是……的」句 — nhấn mạnh thời gian/nơi chốn/cách thức của việc đã xảy ra</a:t>
            </a:r>
          </a:p>
          <a:p>
            <a:pPr>
              <a:spcBef>
                <a:spcPts val="1300"/>
              </a:spcBef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兼语句 (请/让/叫) — nhờ vả, sai khiến ai làm gì</a:t>
            </a:r>
          </a:p>
          <a:p>
            <a:pPr>
              <a:spcBef>
                <a:spcPts val="1300"/>
              </a:spcBef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Chủ đề: được đón ở sân bay, mời ăn vịt quay Bắc Kinh, nhờ vả bạn bè</a:t>
            </a:r>
          </a:p>
        </p:txBody>
      </p:sp>
      <p:pic>
        <p:nvPicPr>
          <p:cNvPr id="7" name="Picture 6" descr="air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6815" y="1883664"/>
            <a:ext cx="42062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1/12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帮忙</a:t>
            </a:r>
          </a:p>
        </p:txBody>
      </p:sp>
      <p:pic>
        <p:nvPicPr>
          <p:cNvPr id="6" name="Picture 5" descr="bangma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987" y="2000500"/>
            <a:ext cx="3108960" cy="20706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27448"/>
            <a:ext cx="4659654" cy="1764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帮忙</a:t>
            </a:r>
            <a:r>
              <a:rPr sz="16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v.</a:t>
            </a:r>
          </a:p>
          <a:p>
            <a:pPr algn="ctr">
              <a:spcBef>
                <a:spcPts val="600"/>
              </a:spcBef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bāngmáng</a:t>
            </a:r>
          </a:p>
          <a:p>
            <a:pPr algn="ctr">
              <a:spcBef>
                <a:spcPts val="400"/>
              </a:spcBef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giúp đỡ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5494" y="1481328"/>
            <a:ext cx="5977561" cy="5010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我想请你帮个忙。</a:t>
            </a:r>
          </a:p>
          <a:p>
            <a:pPr>
              <a:spcBef>
                <a:spcPts val="200"/>
              </a:spcBef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Wǒ xiǎng qǐng nǐ bāng gè máng.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Mình muốn nhờ bạn giúp một việc.</a:t>
            </a:r>
          </a:p>
          <a:p>
            <a:pPr>
              <a:spcBef>
                <a:spcPts val="2200"/>
              </a:spcBef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谢谢你的帮忙。</a:t>
            </a:r>
          </a:p>
          <a:p>
            <a:pPr>
              <a:spcBef>
                <a:spcPts val="200"/>
              </a:spcBef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Xièxie nǐ de bāngmáng.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Cảm ơn sự giúp đỡ của bạn.</a:t>
            </a:r>
          </a:p>
          <a:p>
            <a:pPr>
              <a:spcBef>
                <a:spcPts val="2200"/>
              </a:spcBef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你能帮帮忙吗？</a:t>
            </a:r>
          </a:p>
          <a:p>
            <a:pPr>
              <a:spcBef>
                <a:spcPts val="200"/>
              </a:spcBef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Nǐ néng bāngbang máng ma?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Bạn có thể giúp một chút được không?</a:t>
            </a:r>
          </a:p>
        </p:txBody>
      </p:sp>
      <p:pic>
        <p:nvPicPr>
          <p:cNvPr id="9" name="slide03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2/12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不好意思</a:t>
            </a:r>
          </a:p>
        </p:txBody>
      </p:sp>
      <p:pic>
        <p:nvPicPr>
          <p:cNvPr id="6" name="Picture 5" descr="buhaoyis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987" y="1481328"/>
            <a:ext cx="310896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27448"/>
            <a:ext cx="4659654" cy="1764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不好意思</a:t>
            </a:r>
            <a:r>
              <a:rPr sz="16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idiom</a:t>
            </a:r>
          </a:p>
          <a:p>
            <a:pPr algn="ctr">
              <a:spcBef>
                <a:spcPts val="600"/>
              </a:spcBef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bù hǎoyìsi</a:t>
            </a:r>
          </a:p>
          <a:p>
            <a:pPr algn="ctr">
              <a:spcBef>
                <a:spcPts val="400"/>
              </a:spcBef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ngại quá, xin lỗi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5494" y="1481328"/>
            <a:ext cx="5977561" cy="5010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不好意思，我已经到了。</a:t>
            </a:r>
          </a:p>
          <a:p>
            <a:pPr>
              <a:spcBef>
                <a:spcPts val="200"/>
              </a:spcBef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Bù hǎoyìsi, wǒ yǐjīng dào le.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Ngại quá, mình đến rồi.</a:t>
            </a:r>
          </a:p>
          <a:p>
            <a:pPr>
              <a:spcBef>
                <a:spcPts val="2200"/>
              </a:spcBef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不好意思，我来晚了。</a:t>
            </a:r>
          </a:p>
          <a:p>
            <a:pPr>
              <a:spcBef>
                <a:spcPts val="200"/>
              </a:spcBef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Bù hǎoyìsi, wǒ lái wǎn le.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Xin lỗi, mình đến trễ rồi.</a:t>
            </a:r>
          </a:p>
          <a:p>
            <a:pPr>
              <a:spcBef>
                <a:spcPts val="2200"/>
              </a:spcBef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真不好意思，麻烦你了。</a:t>
            </a:r>
          </a:p>
          <a:p>
            <a:pPr>
              <a:spcBef>
                <a:spcPts val="200"/>
              </a:spcBef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Zhēn bù hǎoyìsi, máfan nǐ le.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Thật ngại quá, làm phiền bạn rồi.</a:t>
            </a:r>
          </a:p>
        </p:txBody>
      </p:sp>
      <p:pic>
        <p:nvPicPr>
          <p:cNvPr id="9" name="slide04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3/12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4659654" cy="5010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次</a:t>
            </a:r>
            <a:r>
              <a:rPr sz="16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m.</a:t>
            </a:r>
          </a:p>
          <a:p>
            <a:pPr algn="ctr">
              <a:spcBef>
                <a:spcPts val="600"/>
              </a:spcBef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cì</a:t>
            </a:r>
          </a:p>
          <a:p>
            <a:pPr algn="ctr">
              <a:spcBef>
                <a:spcPts val="400"/>
              </a:spcBef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lần (lượng từ)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5494" y="1481328"/>
            <a:ext cx="5977561" cy="5010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这是我第一次来北京。</a:t>
            </a:r>
          </a:p>
          <a:p>
            <a:pPr>
              <a:spcBef>
                <a:spcPts val="200"/>
              </a:spcBef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Zhè shì wǒ dì-yī cì lái Běijīng.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Đây là lần đầu mình đến Bắc Kinh.</a:t>
            </a:r>
          </a:p>
          <a:p>
            <a:pPr>
              <a:spcBef>
                <a:spcPts val="2200"/>
              </a:spcBef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我去过两次上海。</a:t>
            </a:r>
          </a:p>
          <a:p>
            <a:pPr>
              <a:spcBef>
                <a:spcPts val="200"/>
              </a:spcBef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Wǒ qùguo liǎng cì Shànghǎi.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Mình đã đi Thượng Hải hai lần.</a:t>
            </a:r>
          </a:p>
          <a:p>
            <a:pPr>
              <a:spcBef>
                <a:spcPts val="2200"/>
              </a:spcBef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下次再来玩儿吧。</a:t>
            </a:r>
          </a:p>
          <a:p>
            <a:pPr>
              <a:spcBef>
                <a:spcPts val="200"/>
              </a:spcBef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Xià cì zài lái wánr ba.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Lần sau lại đến chơi nhé.</a:t>
            </a:r>
          </a:p>
        </p:txBody>
      </p:sp>
      <p:pic>
        <p:nvPicPr>
          <p:cNvPr id="8" name="slide05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4/12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懂</a:t>
            </a:r>
          </a:p>
        </p:txBody>
      </p:sp>
      <p:pic>
        <p:nvPicPr>
          <p:cNvPr id="6" name="Picture 5" descr="do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8775" y="1481328"/>
            <a:ext cx="2219384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27448"/>
            <a:ext cx="4659654" cy="1764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懂</a:t>
            </a:r>
            <a:r>
              <a:rPr sz="16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v.</a:t>
            </a:r>
          </a:p>
          <a:p>
            <a:pPr algn="ctr">
              <a:spcBef>
                <a:spcPts val="600"/>
              </a:spcBef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dǒng</a:t>
            </a:r>
          </a:p>
          <a:p>
            <a:pPr algn="ctr">
              <a:spcBef>
                <a:spcPts val="400"/>
              </a:spcBef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hiểu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5494" y="1481328"/>
            <a:ext cx="5977561" cy="5010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有时不太懂她的意思。</a:t>
            </a:r>
          </a:p>
          <a:p>
            <a:pPr>
              <a:spcBef>
                <a:spcPts val="200"/>
              </a:spcBef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Yǒushí bú tài dǒng tā de yìsi.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Đôi khi không hiểu hết ý chị ấy.</a:t>
            </a:r>
          </a:p>
          <a:p>
            <a:pPr>
              <a:spcBef>
                <a:spcPts val="2200"/>
              </a:spcBef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你懂我的意思吗？</a:t>
            </a:r>
          </a:p>
          <a:p>
            <a:pPr>
              <a:spcBef>
                <a:spcPts val="200"/>
              </a:spcBef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Nǐ dǒng wǒ de yìsi ma?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Bạn hiểu ý mình không?</a:t>
            </a:r>
          </a:p>
          <a:p>
            <a:pPr>
              <a:spcBef>
                <a:spcPts val="2200"/>
              </a:spcBef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这句话我不懂。</a:t>
            </a:r>
          </a:p>
          <a:p>
            <a:pPr>
              <a:spcBef>
                <a:spcPts val="200"/>
              </a:spcBef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Zhè jù huà wǒ bù dǒng.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Câu này mình không hiểu.</a:t>
            </a:r>
          </a:p>
        </p:txBody>
      </p:sp>
      <p:pic>
        <p:nvPicPr>
          <p:cNvPr id="9" name="slide06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5/12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给</a:t>
            </a:r>
          </a:p>
        </p:txBody>
      </p:sp>
      <p:pic>
        <p:nvPicPr>
          <p:cNvPr id="6" name="Picture 5" descr="ge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987" y="1481328"/>
            <a:ext cx="310896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27448"/>
            <a:ext cx="4659654" cy="1764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给</a:t>
            </a:r>
            <a:r>
              <a:rPr sz="16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v./prep.</a:t>
            </a:r>
          </a:p>
          <a:p>
            <a:pPr algn="ctr">
              <a:spcBef>
                <a:spcPts val="600"/>
              </a:spcBef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gěi</a:t>
            </a:r>
          </a:p>
          <a:p>
            <a:pPr algn="ctr">
              <a:spcBef>
                <a:spcPts val="400"/>
              </a:spcBef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cho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5494" y="1481328"/>
            <a:ext cx="5977561" cy="5010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我给他打个电话。</a:t>
            </a:r>
          </a:p>
          <a:p>
            <a:pPr>
              <a:spcBef>
                <a:spcPts val="200"/>
              </a:spcBef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Wǒ gěi tā dǎ gè diànhuà.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Mình gọi điện cho cậu ấy.</a:t>
            </a:r>
          </a:p>
          <a:p>
            <a:pPr>
              <a:spcBef>
                <a:spcPts val="2200"/>
              </a:spcBef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这是给你的礼物。</a:t>
            </a:r>
          </a:p>
          <a:p>
            <a:pPr>
              <a:spcBef>
                <a:spcPts val="200"/>
              </a:spcBef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Zhè shì gěi nǐ de lǐwù.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Đây là quà tặng cho bạn.</a:t>
            </a:r>
          </a:p>
          <a:p>
            <a:pPr>
              <a:spcBef>
                <a:spcPts val="2200"/>
              </a:spcBef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老师给我们介绍了很多东西。</a:t>
            </a:r>
          </a:p>
          <a:p>
            <a:pPr>
              <a:spcBef>
                <a:spcPts val="200"/>
              </a:spcBef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Lǎoshī gěi wǒmen jièshàole hěn duō dōngxi.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Cô giáo giới thiệu cho tụi mình nhiều thứ.</a:t>
            </a:r>
          </a:p>
        </p:txBody>
      </p:sp>
      <p:pic>
        <p:nvPicPr>
          <p:cNvPr id="9" name="slide07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6/12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接</a:t>
            </a:r>
          </a:p>
        </p:txBody>
      </p:sp>
      <p:pic>
        <p:nvPicPr>
          <p:cNvPr id="6" name="Picture 5" descr="ji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987" y="1481328"/>
            <a:ext cx="310896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27448"/>
            <a:ext cx="4659654" cy="1764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接</a:t>
            </a:r>
            <a:r>
              <a:rPr sz="16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v.</a:t>
            </a:r>
          </a:p>
          <a:p>
            <a:pPr algn="ctr">
              <a:spcBef>
                <a:spcPts val="600"/>
              </a:spcBef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jiē</a:t>
            </a:r>
          </a:p>
          <a:p>
            <a:pPr algn="ctr">
              <a:spcBef>
                <a:spcPts val="400"/>
              </a:spcBef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đón, tiếp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5494" y="1481328"/>
            <a:ext cx="5977561" cy="5010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我来接你们。</a:t>
            </a:r>
          </a:p>
          <a:p>
            <a:pPr>
              <a:spcBef>
                <a:spcPts val="200"/>
              </a:spcBef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Wǒ lái jiē nǐmen.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Mình đến đón các em.</a:t>
            </a:r>
          </a:p>
          <a:p>
            <a:pPr>
              <a:spcBef>
                <a:spcPts val="2200"/>
              </a:spcBef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谁去机场接他？</a:t>
            </a:r>
          </a:p>
          <a:p>
            <a:pPr>
              <a:spcBef>
                <a:spcPts val="200"/>
              </a:spcBef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Shéi qù jīchǎng jiē tā?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Ai đi sân bay đón anh ấy?</a:t>
            </a:r>
          </a:p>
          <a:p>
            <a:pPr>
              <a:spcBef>
                <a:spcPts val="2200"/>
              </a:spcBef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我明天去车站接你。</a:t>
            </a:r>
          </a:p>
          <a:p>
            <a:pPr>
              <a:spcBef>
                <a:spcPts val="200"/>
              </a:spcBef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Wǒ míngtiān qù chēzhàn jiē nǐ.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Mai mình ra bến xe đón bạn.</a:t>
            </a:r>
          </a:p>
        </p:txBody>
      </p:sp>
      <p:pic>
        <p:nvPicPr>
          <p:cNvPr id="9" name="slide08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7/12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4659654" cy="5010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就</a:t>
            </a:r>
            <a:r>
              <a:rPr sz="16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adv.</a:t>
            </a:r>
          </a:p>
          <a:p>
            <a:pPr algn="ctr">
              <a:spcBef>
                <a:spcPts val="600"/>
              </a:spcBef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jiù</a:t>
            </a:r>
          </a:p>
          <a:p>
            <a:pPr algn="ctr">
              <a:spcBef>
                <a:spcPts val="400"/>
              </a:spcBef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thì, liền (nhấn mạnh)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5494" y="1481328"/>
            <a:ext cx="5977561" cy="5010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你们有事就找我。</a:t>
            </a:r>
          </a:p>
          <a:p>
            <a:pPr>
              <a:spcBef>
                <a:spcPts val="200"/>
              </a:spcBef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Nǐmen yǒu shì jiù zhǎo wǒ.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Có việc gì thì cứ tìm mình.</a:t>
            </a:r>
          </a:p>
          <a:p>
            <a:pPr>
              <a:spcBef>
                <a:spcPts val="2200"/>
              </a:spcBef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我下课就回家。</a:t>
            </a:r>
          </a:p>
          <a:p>
            <a:pPr>
              <a:spcBef>
                <a:spcPts val="200"/>
              </a:spcBef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Wǒ xiàkè jiù huí jiā.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Mình tan học là về nhà liền.</a:t>
            </a:r>
          </a:p>
          <a:p>
            <a:pPr>
              <a:spcBef>
                <a:spcPts val="2200"/>
              </a:spcBef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他一到就打电话给我。</a:t>
            </a:r>
          </a:p>
          <a:p>
            <a:pPr>
              <a:spcBef>
                <a:spcPts val="200"/>
              </a:spcBef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Tā yídào jiù dǎ diànhuà gěi wǒ.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Anh ấy vừa đến là gọi điện cho mình liền.</a:t>
            </a:r>
          </a:p>
        </p:txBody>
      </p:sp>
      <p:pic>
        <p:nvPicPr>
          <p:cNvPr id="8" name="slide09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8/12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旅游</a:t>
            </a:r>
          </a:p>
        </p:txBody>
      </p:sp>
      <p:pic>
        <p:nvPicPr>
          <p:cNvPr id="6" name="Picture 5" descr="lvyo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8775" y="1481328"/>
            <a:ext cx="2219384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27448"/>
            <a:ext cx="4659654" cy="1764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旅游</a:t>
            </a:r>
            <a:r>
              <a:rPr sz="16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v.</a:t>
            </a:r>
          </a:p>
          <a:p>
            <a:pPr algn="ctr">
              <a:spcBef>
                <a:spcPts val="600"/>
              </a:spcBef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lǚyóu</a:t>
            </a:r>
          </a:p>
          <a:p>
            <a:pPr algn="ctr">
              <a:spcBef>
                <a:spcPts val="400"/>
              </a:spcBef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du lịch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5494" y="1481328"/>
            <a:ext cx="5977561" cy="5010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我们是来旅游的。</a:t>
            </a:r>
          </a:p>
          <a:p>
            <a:pPr>
              <a:spcBef>
                <a:spcPts val="200"/>
              </a:spcBef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Wǒmen shì lái lǚyóu de.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Tụi mình đến đây để du lịch.</a:t>
            </a:r>
          </a:p>
          <a:p>
            <a:pPr>
              <a:spcBef>
                <a:spcPts val="2200"/>
              </a:spcBef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你喜欢去哪儿旅游？</a:t>
            </a:r>
          </a:p>
          <a:p>
            <a:pPr>
              <a:spcBef>
                <a:spcPts val="200"/>
              </a:spcBef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Nǐ xǐhuan qù nǎr lǚyóu?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Bạn thích đi du lịch ở đâu?</a:t>
            </a:r>
          </a:p>
          <a:p>
            <a:pPr>
              <a:spcBef>
                <a:spcPts val="2200"/>
              </a:spcBef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暑假我想去云南旅游。</a:t>
            </a:r>
          </a:p>
          <a:p>
            <a:pPr>
              <a:spcBef>
                <a:spcPts val="200"/>
              </a:spcBef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Shǔjià wǒ xiǎng qù Yúnnán lǚyóu.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Nghỉ hè mình muốn đi Vân Nam du lịch.</a:t>
            </a:r>
          </a:p>
        </p:txBody>
      </p:sp>
      <p:pic>
        <p:nvPicPr>
          <p:cNvPr id="9" name="slide10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9/12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让</a:t>
            </a:r>
          </a:p>
        </p:txBody>
      </p:sp>
      <p:pic>
        <p:nvPicPr>
          <p:cNvPr id="6" name="Picture 5" descr="ra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987" y="1481328"/>
            <a:ext cx="310896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27448"/>
            <a:ext cx="4659654" cy="1764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让</a:t>
            </a:r>
            <a:r>
              <a:rPr sz="16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v.</a:t>
            </a:r>
          </a:p>
          <a:p>
            <a:pPr algn="ctr">
              <a:spcBef>
                <a:spcPts val="600"/>
              </a:spcBef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ràng</a:t>
            </a:r>
          </a:p>
          <a:p>
            <a:pPr algn="ctr">
              <a:spcBef>
                <a:spcPts val="400"/>
              </a:spcBef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để cho, khiến, bảo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5494" y="1481328"/>
            <a:ext cx="5977561" cy="5010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她让我来接你们。</a:t>
            </a:r>
          </a:p>
          <a:p>
            <a:pPr>
              <a:spcBef>
                <a:spcPts val="200"/>
              </a:spcBef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Tā ràng wǒ lái jiē nǐmen.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Chị ấy bảo mình đến đón các bạn.</a:t>
            </a:r>
          </a:p>
          <a:p>
            <a:pPr>
              <a:spcBef>
                <a:spcPts val="2200"/>
              </a:spcBef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老师让我们说中文。</a:t>
            </a:r>
          </a:p>
          <a:p>
            <a:pPr>
              <a:spcBef>
                <a:spcPts val="200"/>
              </a:spcBef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Lǎoshī ràng wǒmen shuō Zhōngwén.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Cô giáo bảo tụi mình nói tiếng Trung.</a:t>
            </a:r>
          </a:p>
          <a:p>
            <a:pPr>
              <a:spcBef>
                <a:spcPts val="2200"/>
              </a:spcBef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妈妈让我早点儿回家。</a:t>
            </a:r>
          </a:p>
          <a:p>
            <a:pPr>
              <a:spcBef>
                <a:spcPts val="200"/>
              </a:spcBef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Māma ràng wǒ zǎo diǎnr huí jiā.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Mẹ bảo mình về nhà sớm một chút.</a:t>
            </a:r>
          </a:p>
        </p:txBody>
      </p:sp>
      <p:pic>
        <p:nvPicPr>
          <p:cNvPr id="9" name="slide11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10/12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已经</a:t>
            </a:r>
          </a:p>
        </p:txBody>
      </p:sp>
      <p:pic>
        <p:nvPicPr>
          <p:cNvPr id="6" name="Picture 5" descr="yij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987" y="1740408"/>
            <a:ext cx="3108960" cy="2590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27448"/>
            <a:ext cx="4659654" cy="1764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已经</a:t>
            </a:r>
            <a:r>
              <a:rPr sz="16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adv.</a:t>
            </a:r>
          </a:p>
          <a:p>
            <a:pPr algn="ctr">
              <a:spcBef>
                <a:spcPts val="600"/>
              </a:spcBef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yǐjīng</a:t>
            </a:r>
          </a:p>
          <a:p>
            <a:pPr algn="ctr">
              <a:spcBef>
                <a:spcPts val="400"/>
              </a:spcBef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đã, đã rồi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5494" y="1481328"/>
            <a:ext cx="5977561" cy="5010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我们已经到北京了。</a:t>
            </a:r>
          </a:p>
          <a:p>
            <a:pPr>
              <a:spcBef>
                <a:spcPts val="200"/>
              </a:spcBef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Wǒmen yǐjīng dào Běijīng le.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Tụi mình đến Bắc Kinh rồi.</a:t>
            </a:r>
          </a:p>
          <a:p>
            <a:pPr>
              <a:spcBef>
                <a:spcPts val="2200"/>
              </a:spcBef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他已经走了。</a:t>
            </a:r>
          </a:p>
          <a:p>
            <a:pPr>
              <a:spcBef>
                <a:spcPts val="200"/>
              </a:spcBef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Tā yǐjīng zǒu le.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Anh ấy đi rồi.</a:t>
            </a:r>
          </a:p>
          <a:p>
            <a:pPr>
              <a:spcBef>
                <a:spcPts val="2200"/>
              </a:spcBef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我已经吃过饭了。</a:t>
            </a:r>
          </a:p>
          <a:p>
            <a:pPr>
              <a:spcBef>
                <a:spcPts val="200"/>
              </a:spcBef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Wǒ yǐjīng chīguo fàn le.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Mình đã ăn cơm rồi.</a:t>
            </a:r>
          </a:p>
        </p:txBody>
      </p:sp>
      <p:pic>
        <p:nvPicPr>
          <p:cNvPr id="9" name="slide12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11/12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意思</a:t>
            </a:r>
          </a:p>
        </p:txBody>
      </p:sp>
      <p:pic>
        <p:nvPicPr>
          <p:cNvPr id="6" name="Picture 5" descr="yis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987" y="1481328"/>
            <a:ext cx="310896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27448"/>
            <a:ext cx="4659654" cy="1764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意思</a:t>
            </a:r>
            <a:r>
              <a:rPr sz="16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n.</a:t>
            </a:r>
          </a:p>
          <a:p>
            <a:pPr algn="ctr">
              <a:spcBef>
                <a:spcPts val="600"/>
              </a:spcBef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yìsi</a:t>
            </a:r>
          </a:p>
          <a:p>
            <a:pPr algn="ctr">
              <a:spcBef>
                <a:spcPts val="400"/>
              </a:spcBef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ý nghĩa, ý tứ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5494" y="1481328"/>
            <a:ext cx="5977561" cy="5010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有时不太懂他的意思。</a:t>
            </a:r>
          </a:p>
          <a:p>
            <a:pPr>
              <a:spcBef>
                <a:spcPts val="200"/>
              </a:spcBef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Yǒushí bú tài dǒng tā de yìsi.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Đôi khi không hiểu hết ý anh ấy.</a:t>
            </a:r>
          </a:p>
          <a:p>
            <a:pPr>
              <a:spcBef>
                <a:spcPts val="2200"/>
              </a:spcBef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这个词是什么意思？</a:t>
            </a:r>
          </a:p>
          <a:p>
            <a:pPr>
              <a:spcBef>
                <a:spcPts val="200"/>
              </a:spcBef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Zhège cí shì shénme yìsi?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Từ này nghĩa là gì?</a:t>
            </a:r>
          </a:p>
          <a:p>
            <a:pPr>
              <a:spcBef>
                <a:spcPts val="2200"/>
              </a:spcBef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你明白我的意思吗？</a:t>
            </a:r>
          </a:p>
          <a:p>
            <a:pPr>
              <a:spcBef>
                <a:spcPts val="200"/>
              </a:spcBef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Nǐ míngbai wǒ de yìsi ma?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Bạn hiểu ý mình không?</a:t>
            </a:r>
          </a:p>
        </p:txBody>
      </p:sp>
      <p:pic>
        <p:nvPicPr>
          <p:cNvPr id="9" name="slide13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12/12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有时</a:t>
            </a:r>
          </a:p>
        </p:txBody>
      </p:sp>
      <p:pic>
        <p:nvPicPr>
          <p:cNvPr id="6" name="Picture 5" descr="yoush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987" y="1998982"/>
            <a:ext cx="3108960" cy="20736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27448"/>
            <a:ext cx="4659654" cy="1764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有时</a:t>
            </a:r>
            <a:r>
              <a:rPr sz="16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adv.</a:t>
            </a:r>
          </a:p>
          <a:p>
            <a:pPr algn="ctr">
              <a:spcBef>
                <a:spcPts val="600"/>
              </a:spcBef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yǒushí</a:t>
            </a:r>
          </a:p>
          <a:p>
            <a:pPr algn="ctr">
              <a:spcBef>
                <a:spcPts val="400"/>
              </a:spcBef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có lúc, đôi khi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5494" y="1481328"/>
            <a:ext cx="5977561" cy="5010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</a:t>
            </a:r>
          </a:p>
          <a:p>
            <a:pPr>
              <a:spcBef>
                <a:spcPts val="2200"/>
              </a:spcBef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我有时不太懂。</a:t>
            </a:r>
          </a:p>
          <a:p>
            <a:pPr>
              <a:spcBef>
                <a:spcPts val="200"/>
              </a:spcBef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Wǒ yǒushí bú tài dǒng.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Mình đôi khi không hiểu hết.</a:t>
            </a:r>
          </a:p>
          <a:p>
            <a:pPr>
              <a:spcBef>
                <a:spcPts val="2200"/>
              </a:spcBef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他有时来晚了。</a:t>
            </a:r>
          </a:p>
          <a:p>
            <a:pPr>
              <a:spcBef>
                <a:spcPts val="200"/>
              </a:spcBef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Tā yǒushí lái wǎn le.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Đôi khi anh ấy đến trễ.</a:t>
            </a:r>
          </a:p>
          <a:p>
            <a:pPr>
              <a:spcBef>
                <a:spcPts val="2200"/>
              </a:spcBef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我有时候一个人去旅游。</a:t>
            </a:r>
          </a:p>
          <a:p>
            <a:pPr>
              <a:spcBef>
                <a:spcPts val="200"/>
              </a:spcBef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Wǒ yǒu shíhou yí gè rén qù lǚyóu.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Đôi khi mình đi du lịch một mình.</a:t>
            </a:r>
          </a:p>
        </p:txBody>
      </p:sp>
      <p:pic>
        <p:nvPicPr>
          <p:cNvPr id="9" name="slide14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课文1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在机场 — 王一雪接到了白家月和安妮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81328"/>
            <a:ext cx="6949440" cy="758456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白家月: </a:t>
            </a:r>
            <a:r>
              <a:rPr sz="1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请问，您是王一飞老师的姐姐吗？</a:t>
            </a:r>
          </a:p>
          <a:p>
            <a:pPr algn="l"/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Qǐngwèn, nín shì Wáng Yīfēi lǎoshī de jiějie ma?</a:t>
            </a:r>
          </a:p>
        </p:txBody>
      </p:sp>
      <p:sp>
        <p:nvSpPr>
          <p:cNvPr id="7" name="Oval 6"/>
          <p:cNvSpPr/>
          <p:nvPr/>
        </p:nvSpPr>
        <p:spPr>
          <a:xfrm>
            <a:off x="371977" y="1363553"/>
            <a:ext cx="420624" cy="420624"/>
          </a:xfrm>
          <a:prstGeom prst="ellipse">
            <a:avLst/>
          </a:prstGeom>
          <a:solidFill>
            <a:srgbClr val="2980B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93615" y="2350105"/>
            <a:ext cx="6949440" cy="758456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王一雪: </a:t>
            </a:r>
            <a:r>
              <a:rPr sz="1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是的，你们就是她的学生吧？</a:t>
            </a:r>
          </a:p>
          <a:p>
            <a:pPr algn="l"/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Shì de, nǐmen jiù shì tā de xuésheng ba?</a:t>
            </a:r>
          </a:p>
        </p:txBody>
      </p:sp>
      <p:sp>
        <p:nvSpPr>
          <p:cNvPr id="9" name="Oval 8"/>
          <p:cNvSpPr/>
          <p:nvPr/>
        </p:nvSpPr>
        <p:spPr>
          <a:xfrm>
            <a:off x="11399093" y="2232330"/>
            <a:ext cx="420624" cy="420624"/>
          </a:xfrm>
          <a:prstGeom prst="ellipse">
            <a:avLst/>
          </a:prstGeom>
          <a:solidFill>
            <a:srgbClr val="27AE6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18882"/>
            <a:ext cx="6949440" cy="758456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白家月: </a:t>
            </a:r>
            <a:r>
              <a:rPr sz="1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对，我是白家月，她是安妮。</a:t>
            </a:r>
          </a:p>
          <a:p>
            <a:pPr algn="l"/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Duì, wǒ shì Bái Jiāyuè, tā shì Ānnī.</a:t>
            </a:r>
          </a:p>
        </p:txBody>
      </p:sp>
      <p:sp>
        <p:nvSpPr>
          <p:cNvPr id="11" name="Oval 10"/>
          <p:cNvSpPr/>
          <p:nvPr/>
        </p:nvSpPr>
        <p:spPr>
          <a:xfrm>
            <a:off x="371977" y="3101107"/>
            <a:ext cx="420624" cy="420624"/>
          </a:xfrm>
          <a:prstGeom prst="ellipse">
            <a:avLst/>
          </a:prstGeom>
          <a:solidFill>
            <a:srgbClr val="2980B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93615" y="4087659"/>
            <a:ext cx="6949440" cy="758456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王一雪: </a:t>
            </a:r>
            <a:r>
              <a:rPr sz="1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你们好，我叫王一雪。王一飞给我打电话了，让我来接你们。</a:t>
            </a:r>
          </a:p>
          <a:p>
            <a:pPr algn="l"/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Nǐmen hǎo, wǒ jiào Wáng Yīxuě. Wáng Yīfēi gěi wǒ dǎ diànhuà le, ràng wǒ lái jiē nǐmen.</a:t>
            </a:r>
          </a:p>
        </p:txBody>
      </p:sp>
      <p:sp>
        <p:nvSpPr>
          <p:cNvPr id="13" name="Oval 12"/>
          <p:cNvSpPr/>
          <p:nvPr/>
        </p:nvSpPr>
        <p:spPr>
          <a:xfrm>
            <a:off x="11399093" y="3969884"/>
            <a:ext cx="420624" cy="420624"/>
          </a:xfrm>
          <a:prstGeom prst="ellipse">
            <a:avLst/>
          </a:prstGeom>
          <a:solidFill>
            <a:srgbClr val="27AE6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56436"/>
            <a:ext cx="6949440" cy="758456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白家月: </a:t>
            </a:r>
            <a:r>
              <a:rPr sz="1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谢谢您。</a:t>
            </a:r>
          </a:p>
          <a:p>
            <a:pPr algn="l"/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Xièxie nín.</a:t>
            </a:r>
          </a:p>
        </p:txBody>
      </p:sp>
      <p:sp>
        <p:nvSpPr>
          <p:cNvPr id="15" name="Oval 14"/>
          <p:cNvSpPr/>
          <p:nvPr/>
        </p:nvSpPr>
        <p:spPr>
          <a:xfrm>
            <a:off x="371977" y="4838661"/>
            <a:ext cx="420624" cy="420624"/>
          </a:xfrm>
          <a:prstGeom prst="ellipse">
            <a:avLst/>
          </a:prstGeom>
          <a:solidFill>
            <a:srgbClr val="2980B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93615" y="5825213"/>
            <a:ext cx="6949440" cy="758456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王一雪: </a:t>
            </a:r>
            <a:r>
              <a:rPr sz="1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不客气。</a:t>
            </a:r>
          </a:p>
          <a:p>
            <a:pPr algn="l"/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Bú kèqi.</a:t>
            </a:r>
          </a:p>
        </p:txBody>
      </p:sp>
      <p:sp>
        <p:nvSpPr>
          <p:cNvPr id="17" name="Oval 16"/>
          <p:cNvSpPr/>
          <p:nvPr/>
        </p:nvSpPr>
        <p:spPr>
          <a:xfrm>
            <a:off x="11399093" y="5707438"/>
            <a:ext cx="420624" cy="420624"/>
          </a:xfrm>
          <a:prstGeom prst="ellipse">
            <a:avLst/>
          </a:prstGeom>
          <a:solidFill>
            <a:srgbClr val="27AE6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王</a:t>
            </a:r>
          </a:p>
        </p:txBody>
      </p:sp>
      <p:pic>
        <p:nvPicPr>
          <p:cNvPr id="18" name="slide15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8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课文2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在车里 — trò chuyện trên xe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81328"/>
            <a:ext cx="6949440" cy="758456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王一雪: </a:t>
            </a:r>
            <a:r>
              <a:rPr sz="1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你们是第一次来北京吗？</a:t>
            </a:r>
          </a:p>
          <a:p>
            <a:pPr algn="l"/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Nǐmen shì dì-yī cì lái Běijīng ma?</a:t>
            </a:r>
          </a:p>
        </p:txBody>
      </p:sp>
      <p:sp>
        <p:nvSpPr>
          <p:cNvPr id="7" name="Oval 6"/>
          <p:cNvSpPr/>
          <p:nvPr/>
        </p:nvSpPr>
        <p:spPr>
          <a:xfrm>
            <a:off x="371977" y="1363553"/>
            <a:ext cx="420624" cy="420624"/>
          </a:xfrm>
          <a:prstGeom prst="ellipse">
            <a:avLst/>
          </a:prstGeom>
          <a:solidFill>
            <a:srgbClr val="2980B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93615" y="2350105"/>
            <a:ext cx="6949440" cy="758456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白家月: </a:t>
            </a:r>
            <a:r>
              <a:rPr sz="1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是的，我们都是第一次来。</a:t>
            </a:r>
          </a:p>
          <a:p>
            <a:pPr algn="l"/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Shì de, wǒmen dōu shì dì-yī cì lái.</a:t>
            </a:r>
          </a:p>
        </p:txBody>
      </p:sp>
      <p:sp>
        <p:nvSpPr>
          <p:cNvPr id="9" name="Oval 8"/>
          <p:cNvSpPr/>
          <p:nvPr/>
        </p:nvSpPr>
        <p:spPr>
          <a:xfrm>
            <a:off x="11399093" y="2232330"/>
            <a:ext cx="420624" cy="420624"/>
          </a:xfrm>
          <a:prstGeom prst="ellipse">
            <a:avLst/>
          </a:prstGeom>
          <a:solidFill>
            <a:srgbClr val="27AE6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18882"/>
            <a:ext cx="6949440" cy="758456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王一雪: </a:t>
            </a:r>
            <a:r>
              <a:rPr sz="1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你们是来学中文的吗？</a:t>
            </a:r>
          </a:p>
          <a:p>
            <a:pPr algn="l"/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Nǐmen shì lái xué Zhōngwén de ma?</a:t>
            </a:r>
          </a:p>
        </p:txBody>
      </p:sp>
      <p:sp>
        <p:nvSpPr>
          <p:cNvPr id="11" name="Oval 10"/>
          <p:cNvSpPr/>
          <p:nvPr/>
        </p:nvSpPr>
        <p:spPr>
          <a:xfrm>
            <a:off x="371977" y="3101107"/>
            <a:ext cx="420624" cy="420624"/>
          </a:xfrm>
          <a:prstGeom prst="ellipse">
            <a:avLst/>
          </a:prstGeom>
          <a:solidFill>
            <a:srgbClr val="2980B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93615" y="4087659"/>
            <a:ext cx="6949440" cy="758456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白家月: </a:t>
            </a:r>
            <a:r>
              <a:rPr sz="1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不是，我们是来旅游的。</a:t>
            </a:r>
          </a:p>
          <a:p>
            <a:pPr algn="l"/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Bú shì, wǒmen shì lái lǚyóu de.</a:t>
            </a:r>
          </a:p>
        </p:txBody>
      </p:sp>
      <p:sp>
        <p:nvSpPr>
          <p:cNvPr id="13" name="Oval 12"/>
          <p:cNvSpPr/>
          <p:nvPr/>
        </p:nvSpPr>
        <p:spPr>
          <a:xfrm>
            <a:off x="11399093" y="3969884"/>
            <a:ext cx="420624" cy="420624"/>
          </a:xfrm>
          <a:prstGeom prst="ellipse">
            <a:avLst/>
          </a:prstGeom>
          <a:solidFill>
            <a:srgbClr val="27AE6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56436"/>
            <a:ext cx="6949440" cy="758456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王一雪: </a:t>
            </a:r>
            <a:r>
              <a:rPr sz="1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我这几天都不忙，你们有事就找我。</a:t>
            </a:r>
          </a:p>
          <a:p>
            <a:pPr algn="l"/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zhè jǐ tiān dōu bù máng, nǐmen yǒu shì jiù zhǎo wǒ.</a:t>
            </a:r>
          </a:p>
        </p:txBody>
      </p:sp>
      <p:sp>
        <p:nvSpPr>
          <p:cNvPr id="15" name="Oval 14"/>
          <p:cNvSpPr/>
          <p:nvPr/>
        </p:nvSpPr>
        <p:spPr>
          <a:xfrm>
            <a:off x="371977" y="4838661"/>
            <a:ext cx="420624" cy="420624"/>
          </a:xfrm>
          <a:prstGeom prst="ellipse">
            <a:avLst/>
          </a:prstGeom>
          <a:solidFill>
            <a:srgbClr val="2980B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93615" y="5825213"/>
            <a:ext cx="6949440" cy="758456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白家月: </a:t>
            </a:r>
            <a:r>
              <a:rPr sz="1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好的，谢谢您。</a:t>
            </a:r>
          </a:p>
          <a:p>
            <a:pPr algn="l"/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Hǎo de, xièxie nín.</a:t>
            </a:r>
          </a:p>
        </p:txBody>
      </p:sp>
      <p:sp>
        <p:nvSpPr>
          <p:cNvPr id="17" name="Oval 16"/>
          <p:cNvSpPr/>
          <p:nvPr/>
        </p:nvSpPr>
        <p:spPr>
          <a:xfrm>
            <a:off x="11399093" y="5707438"/>
            <a:ext cx="420624" cy="420624"/>
          </a:xfrm>
          <a:prstGeom prst="ellipse">
            <a:avLst/>
          </a:prstGeom>
          <a:solidFill>
            <a:srgbClr val="27AE6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白</a:t>
            </a:r>
          </a:p>
        </p:txBody>
      </p:sp>
      <p:pic>
        <p:nvPicPr>
          <p:cNvPr id="18" name="slide16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8"/>
                </p:tgtEl>
              </p:cMediaNode>
            </p:video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课文3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电话 — 陈天中 nhờ vả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81328"/>
            <a:ext cx="6949440" cy="758456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陈天中: </a:t>
            </a:r>
            <a:r>
              <a:rPr sz="1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喂，家月，你明天有时间吗？我想请你帮个忙。</a:t>
            </a:r>
          </a:p>
          <a:p>
            <a:pPr algn="l"/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Wéi, Jiāyuè, nǐ míngtiān yǒu shíjiān ma? Wǒ xiǎng qǐng nǐ bāng gè máng.</a:t>
            </a:r>
          </a:p>
        </p:txBody>
      </p:sp>
      <p:sp>
        <p:nvSpPr>
          <p:cNvPr id="7" name="Oval 6"/>
          <p:cNvSpPr/>
          <p:nvPr/>
        </p:nvSpPr>
        <p:spPr>
          <a:xfrm>
            <a:off x="371977" y="1363553"/>
            <a:ext cx="420624" cy="420624"/>
          </a:xfrm>
          <a:prstGeom prst="ellipse">
            <a:avLst/>
          </a:prstGeom>
          <a:solidFill>
            <a:srgbClr val="2980B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93615" y="2350105"/>
            <a:ext cx="6949440" cy="758456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白家月: </a:t>
            </a:r>
            <a:r>
              <a:rPr sz="1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不好意思，天中，我已经到北京了。</a:t>
            </a:r>
          </a:p>
          <a:p>
            <a:pPr algn="l"/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Bù hǎoyìsi, Tiānzhōng, wǒ yǐjīng dào Běijīng le.</a:t>
            </a:r>
          </a:p>
        </p:txBody>
      </p:sp>
      <p:sp>
        <p:nvSpPr>
          <p:cNvPr id="9" name="Oval 8"/>
          <p:cNvSpPr/>
          <p:nvPr/>
        </p:nvSpPr>
        <p:spPr>
          <a:xfrm>
            <a:off x="11399093" y="2232330"/>
            <a:ext cx="420624" cy="420624"/>
          </a:xfrm>
          <a:prstGeom prst="ellipse">
            <a:avLst/>
          </a:prstGeom>
          <a:solidFill>
            <a:srgbClr val="27AE6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18882"/>
            <a:ext cx="6949440" cy="758456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陈天中: </a:t>
            </a:r>
            <a:r>
              <a:rPr sz="1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你是什么时候到的？</a:t>
            </a:r>
          </a:p>
          <a:p>
            <a:pPr algn="l"/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 shì shénme shíhou dào de?</a:t>
            </a:r>
          </a:p>
        </p:txBody>
      </p:sp>
      <p:sp>
        <p:nvSpPr>
          <p:cNvPr id="11" name="Oval 10"/>
          <p:cNvSpPr/>
          <p:nvPr/>
        </p:nvSpPr>
        <p:spPr>
          <a:xfrm>
            <a:off x="371977" y="3101107"/>
            <a:ext cx="420624" cy="420624"/>
          </a:xfrm>
          <a:prstGeom prst="ellipse">
            <a:avLst/>
          </a:prstGeom>
          <a:solidFill>
            <a:srgbClr val="2980B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93615" y="4087659"/>
            <a:ext cx="6949440" cy="758456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白家月: </a:t>
            </a:r>
            <a:r>
              <a:rPr sz="1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我是今天早上到的。</a:t>
            </a:r>
          </a:p>
          <a:p>
            <a:pPr algn="l"/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shì jīntiān zǎoshang dào de.</a:t>
            </a:r>
          </a:p>
        </p:txBody>
      </p:sp>
      <p:sp>
        <p:nvSpPr>
          <p:cNvPr id="13" name="Oval 12"/>
          <p:cNvSpPr/>
          <p:nvPr/>
        </p:nvSpPr>
        <p:spPr>
          <a:xfrm>
            <a:off x="11399093" y="3969884"/>
            <a:ext cx="420624" cy="420624"/>
          </a:xfrm>
          <a:prstGeom prst="ellipse">
            <a:avLst/>
          </a:prstGeom>
          <a:solidFill>
            <a:srgbClr val="27AE6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93615" y="4956436"/>
            <a:ext cx="6949440" cy="758456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白家月: </a:t>
            </a:r>
            <a:r>
              <a:rPr sz="1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你有事可以叫李文帮忙，他还在学校呢。</a:t>
            </a:r>
          </a:p>
          <a:p>
            <a:pPr algn="l"/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 yǒu shì kěyǐ jiào Lǐ Wén bāngmáng, tā hái zài xuéxiào ne.</a:t>
            </a:r>
          </a:p>
        </p:txBody>
      </p:sp>
      <p:sp>
        <p:nvSpPr>
          <p:cNvPr id="15" name="Oval 14"/>
          <p:cNvSpPr/>
          <p:nvPr/>
        </p:nvSpPr>
        <p:spPr>
          <a:xfrm>
            <a:off x="11399093" y="4838661"/>
            <a:ext cx="420624" cy="420624"/>
          </a:xfrm>
          <a:prstGeom prst="ellipse">
            <a:avLst/>
          </a:prstGeom>
          <a:solidFill>
            <a:srgbClr val="27AE6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825213"/>
            <a:ext cx="6949440" cy="758456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陈天中: </a:t>
            </a:r>
            <a:r>
              <a:rPr sz="1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好的，那我给他打个电话。</a:t>
            </a:r>
          </a:p>
          <a:p>
            <a:pPr algn="l"/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Hǎo de, nà wǒ gěi tā dǎ gè diànhuà.</a:t>
            </a:r>
          </a:p>
        </p:txBody>
      </p:sp>
      <p:sp>
        <p:nvSpPr>
          <p:cNvPr id="17" name="Oval 16"/>
          <p:cNvSpPr/>
          <p:nvPr/>
        </p:nvSpPr>
        <p:spPr>
          <a:xfrm>
            <a:off x="371977" y="5707438"/>
            <a:ext cx="420624" cy="420624"/>
          </a:xfrm>
          <a:prstGeom prst="ellipse">
            <a:avLst/>
          </a:prstGeom>
          <a:solidFill>
            <a:srgbClr val="2980B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陈</a:t>
            </a:r>
          </a:p>
        </p:txBody>
      </p:sp>
      <p:pic>
        <p:nvPicPr>
          <p:cNvPr id="18" name="slide17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8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课文4 · 叙述体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白家月 nhắn tin cho 王老师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481328"/>
            <a:ext cx="6888175" cy="5010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1600"/>
              </a:spcBef>
            </a:pP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王老师，我们已经到北京了，是您姐姐来接的我们。</a:t>
            </a:r>
          </a:p>
          <a:p>
            <a:pPr>
              <a:spcBef>
                <a:spcPts val="100"/>
              </a:spcBef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Wáng lǎoshī, wǒmen yǐjīng dào Běijīng le, shì nín jiějie lái jiē de wǒmen.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Cô ơi, tụi em đến Bắc Kinh rồi, chị gái cô đã đến đón tụi em.</a:t>
            </a:r>
          </a:p>
          <a:p>
            <a:pPr>
              <a:spcBef>
                <a:spcPts val="1600"/>
              </a:spcBef>
            </a:pP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她请我们吃了北京烤鸭，还给我们介绍了很多东西。</a:t>
            </a:r>
          </a:p>
          <a:p>
            <a:pPr>
              <a:spcBef>
                <a:spcPts val="100"/>
              </a:spcBef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Tā qǐng wǒmen chīle Běijīng kǎoyā, hái gěi wǒmen jièshàole hěn duō dōngxi.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Chị ấy mời tụi em ăn vịt quay Bắc Kinh, còn giới thiệu cho tụi em nhiều thứ nữa.</a:t>
            </a:r>
          </a:p>
          <a:p>
            <a:pPr>
              <a:spcBef>
                <a:spcPts val="1600"/>
              </a:spcBef>
            </a:pP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我们的中文不太好，有时不太懂她的意思。</a:t>
            </a:r>
          </a:p>
          <a:p>
            <a:pPr>
              <a:spcBef>
                <a:spcPts val="100"/>
              </a:spcBef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Wǒmen de Zhōngwén bú tài hǎo, yǒushí bú tài dǒng tā de yìsi.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Tiếng Trung của tụi em chưa tốt lắm, đôi khi không hiểu hết ý chị ấy.</a:t>
            </a:r>
          </a:p>
          <a:p>
            <a:pPr>
              <a:spcBef>
                <a:spcPts val="1400"/>
              </a:spcBef>
            </a:pPr>
            <a:r>
              <a:rPr sz="14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• 白家月 nhắn tin kể lại cho 王老师 (王一飞) chuyện vừa được chị gái cô đón và mời ăn — 课文 dạng tự sự (叙述体), không phải hội thoại qua lại.</a:t>
            </a:r>
          </a:p>
        </p:txBody>
      </p:sp>
      <p:pic>
        <p:nvPicPr>
          <p:cNvPr id="7" name="Picture 6" descr="text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6544"/>
            <a:ext cx="3840480" cy="3840480"/>
          </a:xfrm>
          <a:prstGeom prst="rect">
            <a:avLst/>
          </a:prstGeom>
        </p:spPr>
      </p:pic>
      <p:pic>
        <p:nvPicPr>
          <p:cNvPr id="8" name="slide18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语法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语气助词「吧」(2) — phỏng đoán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6430975" cy="5010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「吧」đặt cuối câu hỏi để diễn đạt ý phỏng đoán, ước lượng — người nói đã có cơ sở đoán trước, chỉ hỏi lại cho chắc.</a:t>
            </a:r>
          </a:p>
          <a:p>
            <a:pPr>
              <a:spcBef>
                <a:spcPts val="2000"/>
              </a:spcBef>
            </a:pPr>
            <a:r>
              <a:rPr sz="2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你们就是她的学生吧？</a:t>
            </a:r>
            <a:r>
              <a:rPr sz="15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Nǐmen jiù shì tā de xuésheng ba?</a:t>
            </a:r>
          </a:p>
          <a:p>
            <a:pPr>
              <a:spcBef>
                <a:spcPts val="300"/>
              </a:spcBef>
            </a:pPr>
            <a:r>
              <a:rPr sz="15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Các em là học sinh của cô ấy đúng không?</a:t>
            </a:r>
          </a:p>
          <a:p>
            <a:pPr>
              <a:spcBef>
                <a:spcPts val="2000"/>
              </a:spcBef>
            </a:pPr>
            <a:r>
              <a:rPr sz="2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她唱歌很好听吧？</a:t>
            </a:r>
            <a:r>
              <a:rPr sz="15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Tā chàng gē hěn hǎotīng ba?</a:t>
            </a:r>
          </a:p>
          <a:p>
            <a:pPr>
              <a:spcBef>
                <a:spcPts val="300"/>
              </a:spcBef>
            </a:pPr>
            <a:r>
              <a:rPr sz="15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Cô ấy hát hay lắm phải không?</a:t>
            </a:r>
          </a:p>
          <a:p>
            <a:pPr>
              <a:spcBef>
                <a:spcPts val="2000"/>
              </a:spcBef>
            </a:pPr>
            <a:r>
              <a:rPr sz="2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陈天中是泰国人吧？</a:t>
            </a:r>
            <a:r>
              <a:rPr sz="15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Chén Tiānzhōng shì Tàiguó rén ba?</a:t>
            </a:r>
          </a:p>
          <a:p>
            <a:pPr>
              <a:spcBef>
                <a:spcPts val="300"/>
              </a:spcBef>
            </a:pPr>
            <a:r>
              <a:rPr sz="15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Trần Thiên Trung là người Thái phải không?</a:t>
            </a:r>
          </a:p>
          <a:p>
            <a:pPr>
              <a:spcBef>
                <a:spcPts val="1500"/>
              </a:spcBef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• Phân biệt với 吗: 吗 hỏi trung lập (chưa biết gì); 吧 hỏi khi đã đoán được phần nào.</a:t>
            </a:r>
          </a:p>
          <a:p>
            <a:pPr>
              <a:spcBef>
                <a:spcPts val="1200"/>
              </a:spcBef>
            </a:pPr>
            <a:r>
              <a:rPr sz="12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📖 New HSK Course 2, Bài 1</a:t>
            </a:r>
          </a:p>
        </p:txBody>
      </p:sp>
      <p:pic>
        <p:nvPicPr>
          <p:cNvPr id="7" name="Picture 6" descr="guess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375" y="2778061"/>
            <a:ext cx="4297680" cy="2417445"/>
          </a:xfrm>
          <a:prstGeom prst="rect">
            <a:avLst/>
          </a:prstGeom>
        </p:spPr>
      </p:pic>
      <p:pic>
        <p:nvPicPr>
          <p:cNvPr id="8" name="slide19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语法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「是……的」句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481328"/>
            <a:ext cx="6430975" cy="5010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Nhấn mạnh THỜI GIAN / NƠI CHỐN / CÁCH THỨC của việc ĐÃ xảy ra.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Khẳng định, nghi vấn: có thể bỏ 是. Phủ định: KHÔNG được bỏ 是.</a:t>
            </a:r>
          </a:p>
          <a:p>
            <a:pPr>
              <a:spcBef>
                <a:spcPts val="2000"/>
              </a:spcBef>
            </a:pPr>
            <a:r>
              <a:rPr sz="2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我们是来旅游的。</a:t>
            </a:r>
            <a:r>
              <a:rPr sz="15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Wǒmen shì lái lǚyóu de.</a:t>
            </a:r>
          </a:p>
          <a:p>
            <a:pPr>
              <a:spcBef>
                <a:spcPts val="300"/>
              </a:spcBef>
            </a:pPr>
            <a:r>
              <a:rPr sz="15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Tụi mình đến đây (là) để du lịch.</a:t>
            </a:r>
          </a:p>
          <a:p>
            <a:pPr>
              <a:spcBef>
                <a:spcPts val="2000"/>
              </a:spcBef>
            </a:pPr>
            <a:r>
              <a:rPr sz="2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你是什么时候到的？</a:t>
            </a:r>
            <a:r>
              <a:rPr sz="15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Nǐ shì shénme shíhou dào de?</a:t>
            </a:r>
          </a:p>
          <a:p>
            <a:pPr>
              <a:spcBef>
                <a:spcPts val="300"/>
              </a:spcBef>
            </a:pPr>
            <a:r>
              <a:rPr sz="15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Bạn đến lúc nào vậy?</a:t>
            </a:r>
          </a:p>
          <a:p>
            <a:pPr>
              <a:spcBef>
                <a:spcPts val="2000"/>
              </a:spcBef>
            </a:pPr>
            <a:r>
              <a:rPr sz="2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我们不是坐出租车去的。</a:t>
            </a:r>
            <a:r>
              <a:rPr sz="15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Wǒmen bú shì zuò chūzūchē qù de.</a:t>
            </a:r>
          </a:p>
          <a:p>
            <a:pPr>
              <a:spcBef>
                <a:spcPts val="300"/>
              </a:spcBef>
            </a:pPr>
            <a:r>
              <a:rPr sz="15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Tụi mình không phải đi bằng taxi.</a:t>
            </a:r>
          </a:p>
          <a:p>
            <a:pPr>
              <a:spcBef>
                <a:spcPts val="1200"/>
              </a:spcBef>
            </a:pPr>
            <a:r>
              <a:rPr sz="12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📖 New HSK Course 2, Bài 1</a:t>
            </a:r>
          </a:p>
        </p:txBody>
      </p:sp>
      <p:pic>
        <p:nvPicPr>
          <p:cNvPr id="7" name="Picture 6" descr="tax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37944"/>
            <a:ext cx="4297680" cy="4297680"/>
          </a:xfrm>
          <a:prstGeom prst="rect">
            <a:avLst/>
          </a:prstGeom>
        </p:spPr>
      </p:pic>
      <p:pic>
        <p:nvPicPr>
          <p:cNvPr id="8" name="slide20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语法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兼语句 (请 / 让 / 叫)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6430975" cy="5010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Vị ngữ gồm 2 cụm động từ; tân ngữ của động từ 1 = chủ ngữ của động từ 2.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Cấu trúc: Chủ ngữ + 请/让/叫 + Tân ngữ (=chủ ngữ 2) + Động từ/cụm động từ.</a:t>
            </a:r>
          </a:p>
          <a:p>
            <a:pPr>
              <a:spcBef>
                <a:spcPts val="2000"/>
              </a:spcBef>
            </a:pPr>
            <a:r>
              <a:rPr sz="2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我想请你帮个忙。</a:t>
            </a:r>
            <a:r>
              <a:rPr sz="15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Wǒ xiǎng qǐng nǐ bāng gè máng.</a:t>
            </a:r>
          </a:p>
          <a:p>
            <a:pPr>
              <a:spcBef>
                <a:spcPts val="300"/>
              </a:spcBef>
            </a:pPr>
            <a:r>
              <a:rPr sz="15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Mình muốn nhờ bạn giúp một việc.</a:t>
            </a:r>
          </a:p>
          <a:p>
            <a:pPr>
              <a:spcBef>
                <a:spcPts val="2000"/>
              </a:spcBef>
            </a:pPr>
            <a:r>
              <a:rPr sz="2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王老师让我们说中文。</a:t>
            </a:r>
            <a:r>
              <a:rPr sz="15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Wáng lǎoshī ràng wǒmen shuō Zhōngwén.</a:t>
            </a:r>
          </a:p>
          <a:p>
            <a:pPr>
              <a:spcBef>
                <a:spcPts val="300"/>
              </a:spcBef>
            </a:pPr>
            <a:r>
              <a:rPr sz="15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Cô Vương bảo tụi mình nói tiếng Trung.</a:t>
            </a:r>
          </a:p>
          <a:p>
            <a:pPr>
              <a:spcBef>
                <a:spcPts val="2000"/>
              </a:spcBef>
            </a:pPr>
            <a:r>
              <a:rPr sz="2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妈妈叫孩子们回家。</a:t>
            </a:r>
            <a:r>
              <a:rPr sz="15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Māma jiào háizimen huí jiā.</a:t>
            </a:r>
          </a:p>
          <a:p>
            <a:pPr>
              <a:spcBef>
                <a:spcPts val="300"/>
              </a:spcBef>
            </a:pPr>
            <a:r>
              <a:rPr sz="15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Mẹ gọi các con về nhà.</a:t>
            </a:r>
          </a:p>
          <a:p>
            <a:pPr>
              <a:spcBef>
                <a:spcPts val="1500"/>
              </a:spcBef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• 请 = mời/nhờ (lịch sự); 让 = để cho/bảo (trung tính); 叫 = gọi/bảo (khẩu ngữ, đôi khi mang ý ra lệnh).</a:t>
            </a:r>
          </a:p>
          <a:p>
            <a:pPr>
              <a:spcBef>
                <a:spcPts val="1200"/>
              </a:spcBef>
            </a:pPr>
            <a:r>
              <a:rPr sz="12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📖 New HSK Course 2, Bài 1</a:t>
            </a:r>
          </a:p>
        </p:txBody>
      </p:sp>
      <p:pic>
        <p:nvPicPr>
          <p:cNvPr id="7" name="Picture 6" descr="help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375" y="1837944"/>
            <a:ext cx="4297680" cy="4297680"/>
          </a:xfrm>
          <a:prstGeom prst="rect">
            <a:avLst/>
          </a:prstGeom>
        </p:spPr>
      </p:pic>
      <p:pic>
        <p:nvPicPr>
          <p:cNvPr id="8" name="slide21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口语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10 câu khẩu ngữ dùng ngay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81330"/>
          <a:ext cx="11094415" cy="50109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455537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中文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Tiếng Việt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455537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请问，您是……吗？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Qǐngwèn, nín shì...ma?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Xin hỏi, chị/anh là... phải không?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455537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我是第一次来北京。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Wǒ shì dì-yī cì lái Běijīng.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Đây là lần đầu mình đến Bắc Kinh.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455537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你们是来旅游的吗？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Nǐmen shì lái lǚyóu de ma?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Các bạn đến đây du lịch à?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455537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我想请你帮个忙。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Wǒ xiǎng qǐng nǐ bāng gè máng.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Mình muốn nhờ bạn giúp một việc.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455537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不好意思，我已经到了。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Bù hǎoyìsi, wǒ yǐjīng dào le.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Ngại quá, mình đến rồi.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455537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你是什么时候到的？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Nǐ shì shénme shíhou dào de?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Bạn đến lúc nào vậy?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455537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有事就找我。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Yǒu shì jiù zhǎo wǒ.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Có việc gì cứ tìm mình.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455537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谢谢你的介绍。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Xièxie nǐ de jièshào.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Cảm ơn bạn đã giới thiệu.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455537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我有时不太懂他的意思。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Wǒ yǒushí bú tài dǒng tā de yìsi.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Đôi khi mình không hiểu hết ý anh ấy.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455537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那我给你打个电话。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Nà wǒ gěi nǐ dǎ gè diànhuà.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Vậy để mình gọi điện cho bạn.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pic>
        <p:nvPicPr>
          <p:cNvPr id="7" name="slide22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易错点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Quên 是……的 khi nhấn mạnh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6522415" cy="5010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1300"/>
              </a:spcBef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❌ 我来北京旅游。</a:t>
            </a:r>
          </a:p>
          <a:p>
            <a:pPr>
              <a:spcBef>
                <a:spcPts val="1300"/>
              </a:spcBef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✔ 我是来北京旅游的。</a:t>
            </a:r>
          </a:p>
          <a:p>
            <a:pPr>
              <a:spcBef>
                <a:spcPts val="1300"/>
              </a:spcBef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Vì sao: khi cần NHẤN MẠNH mục đích/cách thức của việc đã xảy ra, tiếng Việt không có cấu trúc tương ứng nên hay quên 是……的.</a:t>
            </a:r>
          </a:p>
        </p:txBody>
      </p:sp>
      <p:pic>
        <p:nvPicPr>
          <p:cNvPr id="7" name="Picture 6" descr="error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6815" y="1883664"/>
            <a:ext cx="42062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易错点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Lẫn 吧 với 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6522415" cy="5010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1300"/>
              </a:spcBef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❌ 你是学生吧？ (khi hoàn toàn chưa biết)</a:t>
            </a:r>
          </a:p>
          <a:p>
            <a:pPr>
              <a:spcBef>
                <a:spcPts val="1300"/>
              </a:spcBef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✔ 你是学生吗？</a:t>
            </a:r>
          </a:p>
          <a:p>
            <a:pPr>
              <a:spcBef>
                <a:spcPts val="1300"/>
              </a:spcBef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Vì sao: 吧 chỉ dùng khi đã có cơ sở đoán trước; hỏi trung lập, chưa biết gì phải dùng 吗, không phải dịch máy móc "phải không" = 吧.</a:t>
            </a:r>
          </a:p>
        </p:txBody>
      </p:sp>
      <p:pic>
        <p:nvPicPr>
          <p:cNvPr id="7" name="Picture 6" descr="error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6815" y="1883664"/>
            <a:ext cx="42062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易错点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Thiếu tân ngữ trong câu 兼语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6522415" cy="5010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1300"/>
              </a:spcBef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❌ 老师让说中文。</a:t>
            </a:r>
          </a:p>
          <a:p>
            <a:pPr>
              <a:spcBef>
                <a:spcPts val="1300"/>
              </a:spcBef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✔ 老师让我们说中文。</a:t>
            </a:r>
          </a:p>
          <a:p>
            <a:pPr>
              <a:spcBef>
                <a:spcPts val="1300"/>
              </a:spcBef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Vì sao: câu 兼语 bắt buộc phải có tân ngữ (=chủ ngữ 2) giữa 让/叫/请 và động từ — tiếng Việt hay nói tắt nên dễ bỏ sót đối tượng.</a:t>
            </a:r>
          </a:p>
        </p:txBody>
      </p:sp>
      <p:pic>
        <p:nvPicPr>
          <p:cNvPr id="7" name="Picture 6" descr="error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6815" y="1883664"/>
            <a:ext cx="42062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课堂活动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Đóng vai: đón bạn ở nhà ga / sân bay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6522415" cy="5010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1300"/>
              </a:spcBef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Chia nhóm 2 người: A = người đi đón, B = người vừa đến nơi.</a:t>
            </a:r>
          </a:p>
          <a:p>
            <a:pPr>
              <a:spcBef>
                <a:spcPts val="1300"/>
              </a:spcBef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A hỏi B: đến đây để làm gì (du lịch/học tiếng Trung/…), sẽ đi đâu tiếp, có cần giúp gì không.</a:t>
            </a:r>
          </a:p>
          <a:p>
            <a:pPr>
              <a:spcBef>
                <a:spcPts val="1300"/>
              </a:spcBef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Cố dùng lại: 吧 phỏng đoán · 是……的 nhấn mạnh · 请/让/叫 nhờ vả · từ vựng bài 1.</a:t>
            </a:r>
          </a:p>
          <a:p>
            <a:pPr>
              <a:spcBef>
                <a:spcPts val="1300"/>
              </a:spcBef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Gợi ý câu mở đầu (vai A): 你们是第一次来……吧？</a:t>
            </a:r>
          </a:p>
        </p:txBody>
      </p:sp>
      <p:pic>
        <p:nvPicPr>
          <p:cNvPr id="7" name="Picture 6" descr="trainst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6815" y="2584019"/>
            <a:ext cx="4206240" cy="2805529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1094415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谢谢！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