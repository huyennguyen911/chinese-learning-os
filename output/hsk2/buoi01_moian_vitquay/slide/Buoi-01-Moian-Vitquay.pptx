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她请我们吃了北京烤鸭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 · 语气助词「吧」(2) · 是……的句 · 兼语句</a:t>
            </a:r>
          </a:p>
        </p:txBody>
      </p:sp>
      <p:pic>
        <p:nvPicPr>
          <p:cNvPr id="4" name="Picture 3" descr="pekingdu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语气助词「吧」(2) — dùng để phỏng đoán, ước lượng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「是……的」句 — nhấn mạnh thời gian/nơi chốn/cách thức của việc đã xảy ra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兼语句 (请/让/叫) — nhờ vả, sai khiến ai làm gì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đề: được đón ở sân bay, mời ăn vịt quay Bắc Kinh, nhờ vả bạn bè</a:t>
            </a:r>
          </a:p>
        </p:txBody>
      </p:sp>
      <p:pic>
        <p:nvPicPr>
          <p:cNvPr id="7" name="Picture 6" descr="air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帮忙</a:t>
            </a:r>
          </a:p>
        </p:txBody>
      </p:sp>
      <p:pic>
        <p:nvPicPr>
          <p:cNvPr id="6" name="Picture 5" descr="bangm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30548"/>
            <a:ext cx="3108960" cy="2070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bāngmáng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giúp đỡ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我想请你帮个忙。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xiǎng qǐng nǐ bāng gè máng.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muốn nhờ bạn giúp một việc.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谢谢你的帮忙。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Xièxie nǐ de bāngmáng.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Cảm ơn sự giúp đỡ của bạn.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你能帮帮忙吗？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néng bāngbang máng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có thể giúp một chút được không?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忙 = 忄(xīn, trái tim) + 亡(wáng, mất mát) → lòng NƠM NỚP như sắp mất điều gì → "bận rộn" → 帮忙 = giúp khi ai đó đang bận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不好意思</a:t>
            </a:r>
          </a:p>
        </p:txBody>
      </p:sp>
      <p:pic>
        <p:nvPicPr>
          <p:cNvPr id="6" name="Picture 5" descr="buhaoyi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idiom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hǎoyìsi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ngại quá, xin lỗi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不好意思，我已经到了。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Bù hǎoyìsi, wǒ yǐjīng dào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Ngại quá, mình đến rồi.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不好意思，我来晚了。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Bù hǎoyìsi, wǒ lái wǎn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Xin lỗi, mình đến trễ rồi.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真不好意思，麻烦你了。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Zhēn bù hǎoyìsi, máfan nǐ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Thật ngại quá, làm phiền bạn rồi.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思 = 田(tián, đầu/ruộng) + 心(xīn, tim) → nghĩ bằng cả ĐẦU và TIM → "suy nghĩ, ý" → 不好意思 = ngại ngùng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lần (lượng từ)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这是我第一次来北京。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dì-yī cì lái Běijīng.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lần đầu mình đến Bắc Kinh.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我去过两次上海。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qùguo liǎng cì Shànghǎi.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đã đi Thượng Hải hai lần.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下次再来玩儿吧。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Xià cì zài lái wánr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Lần sau lại đến chơi nhé.</a:t>
            </a:r>
          </a:p>
        </p:txBody>
      </p:sp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次 = 冫(bīng, hơi thở) + 欠(qiàn, người đang HÁ MIỆNG ngáp) → ngáp liên tục NHIỀU LẦN → lượng từ đếm "lần"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懂</a:t>
            </a:r>
          </a:p>
        </p:txBody>
      </p:sp>
      <p:pic>
        <p:nvPicPr>
          <p:cNvPr id="6" name="Picture 5" descr="d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75" y="1611376"/>
            <a:ext cx="2219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懂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dǒng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hiểu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有时不太懂她的意思。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Yǒushí bú tài dǒng tā de yìsi.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Đôi khi không hiểu hết ý chị ấy.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你懂我的意思吗？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dǒng wǒ de yìsi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hiểu ý mình không?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这句话我不懂。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jù huà wǒ bù dǒng.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Câu này mình không hiểu.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懂 = 忄(xīn, tâm trí) + 董(dǒng, giám đốc, người quản lý mọi việc) → tâm trí như GIÁM ĐỐC nắm rõ mọi việc → "hiểu"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给</a:t>
            </a:r>
          </a:p>
        </p:txBody>
      </p:sp>
      <p:pic>
        <p:nvPicPr>
          <p:cNvPr id="6" name="Picture 5" descr="ge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v./prep.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gěi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我给他打个电话。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gěi tā dǎ gè diànhuà.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gọi điện cho cậu ấy.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这是给你的礼物。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gěi nǐ de lǐwù.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quà tặng cho bạn.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老师给我们介绍了很多东西。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Lǎoshī gěi wǒmen jièshàole hěn duō dōngxi.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giáo giới thiệu cho tụi mình nhiều thứ.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给 = 纟(sī, sợi dây/tơ) + 合(hé, hợp lại, khớp vào nhau) → dùng DÂY buộc mà TRAO cho nhau → "cho, tặng"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接</a:t>
            </a:r>
          </a:p>
        </p:txBody>
      </p:sp>
      <p:pic>
        <p:nvPicPr>
          <p:cNvPr id="6" name="Picture 5" descr="j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đón, tiếp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我来接你们。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lái jiē nǐmen.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đến đón các em.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谁去机场接他？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Shéi qù jīchǎng jiē tā?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Ai đi sân bay đón anh ấy?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我明天去车站接你。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míngtiān qù chēzhàn jiē nǐ.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Mai mình ra bến xe đón bạn.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接 = 扌(shǒu, tay) → giơ TAY ra ĐỠ lấy, nối lại → "đón, tiếp, nối"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thì, liền (nhấn mạnh)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你们有事就找我。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Nǐmen yǒu shì jiù zhǎo wǒ.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 việc gì thì cứ tìm mình.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我下课就回家。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xiàkè jiù huí jiā.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tan học là về nhà liền.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他一到就打电话给我。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yídào jiù dǎ diànhuà gěi wǒ.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vừa đến là gọi điện cho mình liền.</a:t>
            </a:r>
          </a:p>
        </p:txBody>
      </p:sp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就 (jiù) nghe giống trong từ "tựu trường"/"thành tựu" (đến nơi, đạt được) → nghĩa "liền, thì ngay"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旅游</a:t>
            </a:r>
          </a:p>
        </p:txBody>
      </p:sp>
      <p:pic>
        <p:nvPicPr>
          <p:cNvPr id="6" name="Picture 5" descr="lv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75" y="1611376"/>
            <a:ext cx="2219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lǚyóu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du lịch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我们是来旅游的。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shì lái lǚyóu de.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Tụi mình đến đây để du lịch.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你喜欢去哪儿旅游？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xǐhuan qù nǎr lǚyóu?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thích đi du lịch ở đâu?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暑假我想去云南旅游。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Shǔjià wǒ xiǎng qù Yúnnán lǚyóu.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Nghỉ hè mình muốn đi Vân Nam du lịch.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游 = 氵(shuǐ, nước) + phần bên phải như LÁ CỜ phấp phới → trôi nổi tự do trong nước → "bơi" → 旅游 = đi du lịch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让</a:t>
            </a:r>
          </a:p>
        </p:txBody>
      </p:sp>
      <p:pic>
        <p:nvPicPr>
          <p:cNvPr id="6" name="Picture 5" descr="r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ràng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để cho, khiến, bảo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她让我来接你们。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ràng wǒ lái jiē nǐmen.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Chị ấy bảo mình đến đón các bạn.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老师让我们说中文。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Lǎoshī ràng wǒmen shuō Zhōngwén.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giáo bảo tụi mình nói tiếng Trung.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妈妈让我早点儿回家。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Māma ràng wǒ zǎo diǎnr huí jiā.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Mẹ bảo mình về nhà sớm một chút.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已经</a:t>
            </a:r>
          </a:p>
        </p:txBody>
      </p:sp>
      <p:pic>
        <p:nvPicPr>
          <p:cNvPr id="6" name="Picture 5" descr="yij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70456"/>
            <a:ext cx="3108960" cy="2590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yǐjīng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đã, đã rồi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我们已经到北京了。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yǐjīng dào Běijīng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Tụi mình đến Bắc Kinh rồi.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他已经走了。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yǐjīng zǒu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đi rồi.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我已经吃过饭了。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yǐjīng chīguo fàn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đã ăn cơm rồi.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经 = 纟(sī, sợi tơ dọc trong khung dệt) → mở rộng nghĩa "đã trải qua, kinh qua" → 已经 = đã... rồi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意思</a:t>
            </a:r>
          </a:p>
        </p:txBody>
      </p:sp>
      <p:pic>
        <p:nvPicPr>
          <p:cNvPr id="6" name="Picture 5" descr="yi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意思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yìsi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ý nghĩa, ý tứ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有时不太懂他的意思。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Yǒushí bú tài dǒng tā de yìsi.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Đôi khi không hiểu hết ý anh ấy.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这个词是什么意思？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Zhège cí shì shénme yìsi?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Từ này nghĩa là gì?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你明白我的意思吗？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míngbai wǒ de yìsi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hiểu ý mình không?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意 = 音(yīn, âm thanh) + 心(xīn, tim) → âm thanh phát ra từ TRONG TIM → "ý, suy nghĩ" → 意思 = ý tứ, nghĩa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有时</a:t>
            </a:r>
          </a:p>
        </p:txBody>
      </p:sp>
      <p:pic>
        <p:nvPicPr>
          <p:cNvPr id="6" name="Picture 5" descr="yo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9030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有时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yǒushí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 lúc, đôi khi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我有时不太懂。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yǒushí bú tài dǒng.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đôi khi không hiểu hết.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他有时来晚了。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yǒushí lái wǎn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Đôi khi anh ấy đến trễ.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我有时候一个人去旅游。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yǒu shíhou yí gè rén qù lǚyóu.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Đôi khi mình đi du lịch một mình.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时 = 日(rì, mặt trời) + 寸(cùn, đo lường nhỏ) → đo THỜI GIAN theo bóng MẶT TRỜI → "thời gian" → 有时 = có lúc, đôi khi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在机场 — 王一雪接到了白家月和安妮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14528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请问，您是王一飞老师的姐姐吗？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nín shì Wáng Yīfēi lǎoshī de jiějie ma?</a:t>
            </a:r>
          </a:p>
        </p:txBody>
      </p:sp>
      <p:sp>
        <p:nvSpPr>
          <p:cNvPr id="7" name="Oval 6"/>
          <p:cNvSpPr/>
          <p:nvPr/>
        </p:nvSpPr>
        <p:spPr>
          <a:xfrm>
            <a:off x="383028" y="1500968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455" y="2339873"/>
            <a:ext cx="353060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是的，你们就是她的学生吧？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de, nǐmen jiù shì tā de xuésheng ba?</a:t>
            </a:r>
          </a:p>
        </p:txBody>
      </p:sp>
      <p:sp>
        <p:nvSpPr>
          <p:cNvPr id="9" name="Oval 8"/>
          <p:cNvSpPr/>
          <p:nvPr/>
        </p:nvSpPr>
        <p:spPr>
          <a:xfrm>
            <a:off x="11414353" y="2229465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8370"/>
            <a:ext cx="322326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对，我是白家月，她是安妮。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Duì, wǒ shì Bái Jiāyuè, tā shì Ānnī.</a:t>
            </a:r>
          </a:p>
        </p:txBody>
      </p:sp>
      <p:sp>
        <p:nvSpPr>
          <p:cNvPr id="11" name="Oval 10"/>
          <p:cNvSpPr/>
          <p:nvPr/>
        </p:nvSpPr>
        <p:spPr>
          <a:xfrm>
            <a:off x="383028" y="2957962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3796867"/>
            <a:ext cx="694944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你们好，我叫王一雪。王一飞给我打电话了，让我来接你们。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hǎo, wǒ jiào Wáng Yīxuě. Wáng Yīfēi gěi wǒ dǎ diànhuà le, ràng wǒ lái jiē nǐmen.</a:t>
            </a:r>
          </a:p>
        </p:txBody>
      </p:sp>
      <p:sp>
        <p:nvSpPr>
          <p:cNvPr id="13" name="Oval 12"/>
          <p:cNvSpPr/>
          <p:nvPr/>
        </p:nvSpPr>
        <p:spPr>
          <a:xfrm>
            <a:off x="11414353" y="3686459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5364"/>
            <a:ext cx="173736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谢谢您。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 nín.</a:t>
            </a:r>
          </a:p>
        </p:txBody>
      </p:sp>
      <p:sp>
        <p:nvSpPr>
          <p:cNvPr id="15" name="Oval 14"/>
          <p:cNvSpPr/>
          <p:nvPr/>
        </p:nvSpPr>
        <p:spPr>
          <a:xfrm>
            <a:off x="383028" y="4414956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5695" y="5253861"/>
            <a:ext cx="1737360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kèqi.</a:t>
            </a:r>
          </a:p>
        </p:txBody>
      </p:sp>
      <p:sp>
        <p:nvSpPr>
          <p:cNvPr id="17" name="Oval 16"/>
          <p:cNvSpPr/>
          <p:nvPr/>
        </p:nvSpPr>
        <p:spPr>
          <a:xfrm>
            <a:off x="11414353" y="5143453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8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在车里 — trò chuyện trên 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06959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你们是第一次来北京吗？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shì dì-yī cì lái Běijīng ma?</a:t>
            </a:r>
          </a:p>
        </p:txBody>
      </p:sp>
      <p:sp>
        <p:nvSpPr>
          <p:cNvPr id="7" name="Oval 6"/>
          <p:cNvSpPr/>
          <p:nvPr/>
        </p:nvSpPr>
        <p:spPr>
          <a:xfrm>
            <a:off x="383028" y="1500968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6630" y="2339873"/>
            <a:ext cx="314642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是的，我们都是第一次来。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de, wǒmen dōu shì dì-yī cì lái.</a:t>
            </a:r>
          </a:p>
        </p:txBody>
      </p:sp>
      <p:sp>
        <p:nvSpPr>
          <p:cNvPr id="9" name="Oval 8"/>
          <p:cNvSpPr/>
          <p:nvPr/>
        </p:nvSpPr>
        <p:spPr>
          <a:xfrm>
            <a:off x="11414353" y="2229465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8370"/>
            <a:ext cx="2992755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你们是来学中文的吗？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shì lái xué Zhōngwén de ma?</a:t>
            </a:r>
          </a:p>
        </p:txBody>
      </p:sp>
      <p:sp>
        <p:nvSpPr>
          <p:cNvPr id="11" name="Oval 10"/>
          <p:cNvSpPr/>
          <p:nvPr/>
        </p:nvSpPr>
        <p:spPr>
          <a:xfrm>
            <a:off x="383028" y="2957962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03970" y="3796867"/>
            <a:ext cx="283908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不是，我们是来旅游的。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shì, wǒmen shì lái lǚyóu de.</a:t>
            </a:r>
          </a:p>
        </p:txBody>
      </p:sp>
      <p:sp>
        <p:nvSpPr>
          <p:cNvPr id="13" name="Oval 12"/>
          <p:cNvSpPr/>
          <p:nvPr/>
        </p:nvSpPr>
        <p:spPr>
          <a:xfrm>
            <a:off x="11414353" y="3686459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5364"/>
            <a:ext cx="4606290" cy="63599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我这几天都不忙，你们有事就找我。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zhè jǐ tiān dōu bù máng, nǐmen yǒu shì jiù zhǎo wǒ.</a:t>
            </a:r>
          </a:p>
        </p:txBody>
      </p:sp>
      <p:sp>
        <p:nvSpPr>
          <p:cNvPr id="15" name="Oval 14"/>
          <p:cNvSpPr/>
          <p:nvPr/>
        </p:nvSpPr>
        <p:spPr>
          <a:xfrm>
            <a:off x="383028" y="4414956"/>
            <a:ext cx="394313" cy="394313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5990" y="5253861"/>
            <a:ext cx="1917065" cy="63599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好的，谢谢您。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de, xièxie nín.</a:t>
            </a:r>
          </a:p>
        </p:txBody>
      </p:sp>
      <p:sp>
        <p:nvSpPr>
          <p:cNvPr id="17" name="Oval 16"/>
          <p:cNvSpPr/>
          <p:nvPr/>
        </p:nvSpPr>
        <p:spPr>
          <a:xfrm>
            <a:off x="11414353" y="5143453"/>
            <a:ext cx="394313" cy="394313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8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电话 — 陈天中 nhờ vả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912485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喂，家月，你明天有时间吗？我想请你帮个忙。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Wéi, Jiāyuè, nǐ míngtiān yǒu shíjiān ma? Wǒ xiǎng qǐng nǐ bāng gè máng.</a:t>
            </a:r>
          </a:p>
        </p:txBody>
      </p:sp>
      <p:sp>
        <p:nvSpPr>
          <p:cNvPr id="7" name="Oval 6"/>
          <p:cNvSpPr/>
          <p:nvPr/>
        </p:nvSpPr>
        <p:spPr>
          <a:xfrm>
            <a:off x="374949" y="1495582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7775" y="2375411"/>
            <a:ext cx="4145280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不好意思，天中，我已经到北京了。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hǎoyìsi, Tiānzhōng, wǒ yǐjīng dào Běijīng le.</a:t>
            </a:r>
          </a:p>
        </p:txBody>
      </p:sp>
      <p:sp>
        <p:nvSpPr>
          <p:cNvPr id="9" name="Oval 8"/>
          <p:cNvSpPr/>
          <p:nvPr/>
        </p:nvSpPr>
        <p:spPr>
          <a:xfrm>
            <a:off x="11403196" y="2259617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9446"/>
            <a:ext cx="2608580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你是什么时候到的？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shénme shíhou dào de?</a:t>
            </a:r>
          </a:p>
        </p:txBody>
      </p:sp>
      <p:sp>
        <p:nvSpPr>
          <p:cNvPr id="11" name="Oval 10"/>
          <p:cNvSpPr/>
          <p:nvPr/>
        </p:nvSpPr>
        <p:spPr>
          <a:xfrm>
            <a:off x="374949" y="3023652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03970" y="3903481"/>
            <a:ext cx="2839085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我是今天早上到的。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jīntiān zǎoshang dào de.</a:t>
            </a:r>
          </a:p>
        </p:txBody>
      </p:sp>
      <p:sp>
        <p:nvSpPr>
          <p:cNvPr id="13" name="Oval 12"/>
          <p:cNvSpPr/>
          <p:nvPr/>
        </p:nvSpPr>
        <p:spPr>
          <a:xfrm>
            <a:off x="11403196" y="3787687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75755" y="4667516"/>
            <a:ext cx="5067300" cy="66701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你有事可以叫李文帮忙，他还在学校呢。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yǒu shì kěyǐ jiào Lǐ Wén bāngmáng, tā hái zài xuéxiào ne.</a:t>
            </a:r>
          </a:p>
        </p:txBody>
      </p:sp>
      <p:sp>
        <p:nvSpPr>
          <p:cNvPr id="15" name="Oval 14"/>
          <p:cNvSpPr/>
          <p:nvPr/>
        </p:nvSpPr>
        <p:spPr>
          <a:xfrm>
            <a:off x="11403196" y="4551722"/>
            <a:ext cx="413549" cy="41354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31551"/>
            <a:ext cx="3146425" cy="66701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好的，那我给他打个电话。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de, nà wǒ gěi tā dǎ gè diànhuà.</a:t>
            </a:r>
          </a:p>
        </p:txBody>
      </p:sp>
      <p:sp>
        <p:nvSpPr>
          <p:cNvPr id="17" name="Oval 16"/>
          <p:cNvSpPr/>
          <p:nvPr/>
        </p:nvSpPr>
        <p:spPr>
          <a:xfrm>
            <a:off x="374949" y="5315757"/>
            <a:ext cx="413549" cy="41354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6689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课文4 · 叙述体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 nhắn tin cho 王老师</a:t>
            </a:r>
          </a:p>
        </p:txBody>
      </p:sp>
      <p:pic>
        <p:nvPicPr>
          <p:cNvPr id="6" name="Picture 5" descr="tex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09" y="1611376"/>
            <a:ext cx="1561876" cy="1561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王老师，我们已经到北京了，是您姐姐来接的我们。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wǒmen yǐjīng dào Běijīng le, shì nín jiějie lái jiē de wǒmen.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ơi, tụi em đến Bắc Kinh rồi, chị gái cô đã đến đón tụi em.</a:t>
            </a:r>
          </a:p>
          <a:p>
            <a:pPr>
              <a:spcBef>
                <a:spcPts val="124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她请我们吃了北京烤鸭，还给我们介绍了很多东西。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qǐng wǒmen chīle Běijīng kǎoyā, hái gěi wǒmen jièshàole hěn duō dōngxi.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Chị ấy mời tụi em ăn vịt quay Bắc Kinh, còn giới thiệu cho tụi em nhiều thứ nữa.</a:t>
            </a:r>
          </a:p>
          <a:p>
            <a:pPr>
              <a:spcBef>
                <a:spcPts val="124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我们的中文不太好，有时不太懂她的意思。</a:t>
            </a:r>
          </a:p>
          <a:p>
            <a:pPr>
              <a:spcBef>
                <a:spcPts val="8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de Zhōngwén bú tài hǎo, yǒushí bú tài dǒng tā de yìsi.</a:t>
            </a:r>
          </a:p>
          <a:p>
            <a:pPr>
              <a:spcBef>
                <a:spcPts val="8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Tiếng Trung của tụi em chưa tốt lắm, đôi khi không hiểu hết ý chị ấy.</a:t>
            </a:r>
          </a:p>
          <a:p>
            <a:pPr>
              <a:spcBef>
                <a:spcPts val="1065"/>
              </a:spcBef>
              <a:buNone/>
            </a:pPr>
            <a:r>
              <a:rPr sz="12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白家月 nhắn tin kể lại cho 王老师 (王一飞) chuyện vừa được chị gái cô đón và mời ăn — 课文 dạng tự sự (叙述体), không phải hội thoại qua lại.</a:t>
            </a:r>
          </a:p>
        </p:txBody>
      </p:sp>
      <p:pic>
        <p:nvPicPr>
          <p:cNvPr id="8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语气助词「吧」(2) — phỏng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「吧」đặt cuối câu hỏi để diễn đạt ý phỏng đoán, ước lượng — người nói đã có cơ sở đoán trước, chỉ hỏi lại cho chắc.</a:t>
            </a:r>
          </a:p>
          <a:p>
            <a:pPr>
              <a:spcBef>
                <a:spcPts val="147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你们就是她的学生吧？</a:t>
            </a:r>
          </a:p>
          <a:p>
            <a:pPr>
              <a:spcBef>
                <a:spcPts val="22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jiù shì tā de xuésheng ba?</a:t>
            </a:r>
          </a:p>
          <a:p>
            <a:pPr>
              <a:spcBef>
                <a:spcPts val="22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em là học sinh của cô ấy đúng không?</a:t>
            </a:r>
          </a:p>
          <a:p>
            <a:pPr>
              <a:spcBef>
                <a:spcPts val="147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她唱歌很好听吧？</a:t>
            </a:r>
          </a:p>
          <a:p>
            <a:pPr>
              <a:spcBef>
                <a:spcPts val="22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chàng gē hěn hǎotīng ba?</a:t>
            </a:r>
          </a:p>
          <a:p>
            <a:pPr>
              <a:spcBef>
                <a:spcPts val="22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hát hay lắm phải không?</a:t>
            </a:r>
          </a:p>
          <a:p>
            <a:pPr>
              <a:spcBef>
                <a:spcPts val="1475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陈天中是泰国人吧？</a:t>
            </a:r>
          </a:p>
          <a:p>
            <a:pPr>
              <a:spcBef>
                <a:spcPts val="22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Chén Tiānzhōng shì Tàiguó rén ba?</a:t>
            </a:r>
          </a:p>
          <a:p>
            <a:pPr>
              <a:spcBef>
                <a:spcPts val="22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Trần Thiên Trung là người Thái phải không?</a:t>
            </a:r>
          </a:p>
          <a:p>
            <a:pPr>
              <a:spcBef>
                <a:spcPts val="1106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Phân biệt với 吗: 吗 hỏi trung lập (chưa biết gì); 吧 hỏi khi đã đoán được phần nào.</a:t>
            </a:r>
          </a:p>
          <a:p>
            <a:pPr>
              <a:spcBef>
                <a:spcPts val="885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1</a:t>
            </a:r>
          </a:p>
        </p:txBody>
      </p:sp>
      <p:pic>
        <p:nvPicPr>
          <p:cNvPr id="7" name="Picture 6" descr="gu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843085"/>
            <a:ext cx="4297680" cy="2417445"/>
          </a:xfrm>
          <a:prstGeom prst="rect">
            <a:avLst/>
          </a:prstGeom>
        </p:spPr>
      </p:pic>
      <p:pic>
        <p:nvPicPr>
          <p:cNvPr id="8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「是……的」句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Nhấn mạnh THỜI GIAN / NƠI CHỐN / CÁCH THỨC của việc ĐÃ xảy ra.</a:t>
            </a:r>
          </a:p>
          <a:p>
            <a:pPr>
              <a:spcBef>
                <a:spcPts val="321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Khẳng định, nghi vấn: có thể bỏ 是. Phủ định: KHÔNG được bỏ 是.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我们是来旅游的。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shì lái lǚyóu de.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Tụi mình đến đây (là) để du lịch.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你是什么时候到的？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shénme shíhou dào de?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đến lúc nào vậy?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我们不是坐出租车去的。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bú shì zuò chūzūchē qù de.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Tụi mình không phải đi bằng taxi.</a:t>
            </a:r>
          </a:p>
          <a:p>
            <a:pPr>
              <a:spcBef>
                <a:spcPts val="964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1</a:t>
            </a:r>
          </a:p>
        </p:txBody>
      </p:sp>
      <p:pic>
        <p:nvPicPr>
          <p:cNvPr id="7" name="Picture 6" descr="tax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2968"/>
            <a:ext cx="4297680" cy="4297680"/>
          </a:xfrm>
          <a:prstGeom prst="rect">
            <a:avLst/>
          </a:prstGeom>
        </p:spPr>
      </p:pic>
      <p:pic>
        <p:nvPicPr>
          <p:cNvPr id="8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兼语句 (请 / 让 / 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Vị ngữ gồm 2 cụm động từ; tân ngữ của động từ 1 = chủ ngữ của động từ 2.</a:t>
            </a:r>
          </a:p>
          <a:p>
            <a:pPr>
              <a:spcBef>
                <a:spcPts val="27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trúc: Chủ ngữ + 请/让/叫 + Tân ngữ (=chủ ngữ 2) + Động từ/cụm động từ.</a:t>
            </a:r>
          </a:p>
          <a:p>
            <a:pPr>
              <a:spcBef>
                <a:spcPts val="1396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我想请你帮个忙。</a:t>
            </a:r>
          </a:p>
          <a:p>
            <a:pPr>
              <a:spcBef>
                <a:spcPts val="20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qǐng nǐ bāng gè máng.</a:t>
            </a:r>
          </a:p>
          <a:p>
            <a:pPr>
              <a:spcBef>
                <a:spcPts val="20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nhờ bạn giúp một việc.</a:t>
            </a:r>
          </a:p>
          <a:p>
            <a:pPr>
              <a:spcBef>
                <a:spcPts val="1396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王老师让我们说中文。</a:t>
            </a:r>
          </a:p>
          <a:p>
            <a:pPr>
              <a:spcBef>
                <a:spcPts val="20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 ràng wǒmen shuō Zhōngwén.</a:t>
            </a:r>
          </a:p>
          <a:p>
            <a:pPr>
              <a:spcBef>
                <a:spcPts val="20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Vương bảo tụi mình nói tiếng Trung.</a:t>
            </a:r>
          </a:p>
          <a:p>
            <a:pPr>
              <a:spcBef>
                <a:spcPts val="1396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妈妈叫孩子们回家。</a:t>
            </a:r>
          </a:p>
          <a:p>
            <a:pPr>
              <a:spcBef>
                <a:spcPts val="209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jiào háizimen huí jiā.</a:t>
            </a:r>
          </a:p>
          <a:p>
            <a:pPr>
              <a:spcBef>
                <a:spcPts val="209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gọi các con về nhà.</a:t>
            </a:r>
          </a:p>
          <a:p>
            <a:pPr>
              <a:spcBef>
                <a:spcPts val="1047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请 = mời/nhờ (lịch sự); 让 = để cho/bảo (trung tính); 叫 = gọi/bảo (khẩu ngữ, đôi khi mang ý ra lệnh).</a:t>
            </a:r>
          </a:p>
          <a:p>
            <a:pPr>
              <a:spcBef>
                <a:spcPts val="837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1</a:t>
            </a:r>
          </a:p>
        </p:txBody>
      </p:sp>
      <p:pic>
        <p:nvPicPr>
          <p:cNvPr id="7" name="Picture 6" descr="hel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902968"/>
            <a:ext cx="4297680" cy="4297680"/>
          </a:xfrm>
          <a:prstGeom prst="rect">
            <a:avLst/>
          </a:prstGeom>
        </p:spPr>
      </p:pic>
      <p:pic>
        <p:nvPicPr>
          <p:cNvPr id="8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dùng ngay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8"/>
          <a:ext cx="11094413" cy="4880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957"/>
                <a:gridCol w="4127572"/>
                <a:gridCol w="4627884"/>
              </a:tblGrid>
              <a:tr h="415039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请问，您是……吗？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Qǐngwèn, nín shì...ma?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hỏi, chị/anh là... phải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我是第一次来北京。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dì-yī cì lái Běijīng.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Đây là lần đầu mình đến Bắc Kinh.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你们是来旅游的吗？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Nǐmen shì lái lǚyóu de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Các bạn đến đây du lịch à?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我想请你帮个忙。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xiǎng qǐng nǐ bāng gè máng.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muốn nhờ bạn giúp một việc.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7275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不好意思，我已经到了。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Bù hǎoyìsi, wǒ yǐjīng dào le.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Ngại quá, mình đến rồi.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你是什么时候到的？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shì shénme shíhou dào de?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đến lúc nào vậy?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有事就找我。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Yǒu shì jiù zhǎo wǒ.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việc gì cứ tìm mình.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谢谢你的介绍。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Xièxie nǐ de jièshào.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Cảm ơn bạn đã giới thiệu.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7275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我有时不太懂他的意思。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yǒushí bú tài dǒng tā de yìsi.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Đôi khi mình không hiểu hết ý anh ấy.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5039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那我给你打个电话。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Nà wǒ gěi nǐ dǎ gè diànhuà.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Vậy để mình gọi điện cho bạn.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Quên 是……的 khi nhấn mạnh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我来北京旅游。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我是来北京旅游的。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khi cần NHẤN MẠNH mục đích/cách thức của việc đã xảy ra, tiếng Việt không có cấu trúc tương ứng nên hay quên 是……的.</a:t>
            </a:r>
          </a:p>
        </p:txBody>
      </p:sp>
      <p:pic>
        <p:nvPicPr>
          <p:cNvPr id="7" name="Picture 6" descr="erro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Lẫn 吧 với 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你是学生吧？ (khi hoàn toàn chưa biết)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你是学生吗？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吧 chỉ dùng khi đã có cơ sở đoán trước; hỏi trung lập, chưa biết gì phải dùng 吗, không phải dịch máy móc "phải không" = 吧.</a:t>
            </a:r>
          </a:p>
        </p:txBody>
      </p:sp>
      <p:pic>
        <p:nvPicPr>
          <p:cNvPr id="7" name="Picture 6" descr="erro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Thiếu tân ngữ trong câu 兼语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老师让说中文。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老师让我们说中文。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câu 兼语 bắt buộc phải có tân ngữ (=chủ ngữ 2) giữa 让/叫/请 và động từ — tiếng Việt hay nói tắt nên dễ bỏ sót đối tượng.</a:t>
            </a:r>
          </a:p>
        </p:txBody>
      </p:sp>
      <p:pic>
        <p:nvPicPr>
          <p:cNvPr id="7" name="Picture 6" descr="erro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课堂活动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Đóng vai: đón bạn ở nhà ga / sân 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Chia nhóm 2 người: A = người đi đón, B = người vừa đến nơi.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 hỏi B: đến đây để làm gì (du lịch/học tiếng Trung/…), sẽ đi đâu tiếp, có cần giúp gì không.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Cố dùng lại: 吧 phỏng đoán · 是……的 nhấn mạnh · 请/让/叫 nhờ vả · từ vựng bài 1.</a:t>
            </a:r>
          </a:p>
          <a:p>
            <a:pPr>
              <a:spcBef>
                <a:spcPts val="2081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Gợi ý câu mở đầu (vai A): 你们是第一次来……吧？</a:t>
            </a:r>
          </a:p>
        </p:txBody>
      </p:sp>
      <p:pic>
        <p:nvPicPr>
          <p:cNvPr id="7" name="Picture 6" descr="train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68499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