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3"/><Relationship Id="rId3" Type="http://schemas.openxmlformats.org/officeDocument/2006/relationships/video" Target="../media/media6.mp3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3"/><Relationship Id="rId3" Type="http://schemas.openxmlformats.org/officeDocument/2006/relationships/video" Target="../media/media7.mp3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3"/><Relationship Id="rId3" Type="http://schemas.openxmlformats.org/officeDocument/2006/relationships/video" Target="../media/media8.mp3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3"/><Relationship Id="rId3" Type="http://schemas.openxmlformats.org/officeDocument/2006/relationships/video" Target="../media/media12.mp3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9.mp3"/><Relationship Id="rId3" Type="http://schemas.openxmlformats.org/officeDocument/2006/relationships/video" Target="../media/media19.mp3"/><Relationship Id="rId4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0.mp3"/><Relationship Id="rId3" Type="http://schemas.openxmlformats.org/officeDocument/2006/relationships/video" Target="../media/media20.mp3"/><Relationship Id="rId4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22.mp3"/><Relationship Id="rId4" Type="http://schemas.openxmlformats.org/officeDocument/2006/relationships/video" Target="../media/media22.mp3"/><Relationship Id="rId5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23.mp3"/><Relationship Id="rId4" Type="http://schemas.openxmlformats.org/officeDocument/2006/relationships/video" Target="../media/media23.mp3"/><Relationship Id="rId5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3"/><Relationship Id="rId3" Type="http://schemas.openxmlformats.org/officeDocument/2006/relationships/video" Target="../media/media24.mp3"/><Relationship Id="rId4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6675120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还是打车去北大吧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Buổi 2 · 还是……吧 · 用「多」表达概数 · 动词/主谓短语作定语</a:t>
            </a:r>
          </a:p>
        </p:txBody>
      </p:sp>
      <p:pic>
        <p:nvPicPr>
          <p:cNvPr id="4" name="Picture 3" descr="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495" y="1934751"/>
            <a:ext cx="4480560" cy="29884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固定格式「还是……吧」— đề nghị phương án tốt hơn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用「多」表达概数 — số lượng phỏng chừng (hơn/mấy)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动词/主谓短语作定语 — cụm động từ làm định ngữ (thêm 的)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Chủ đề: hỏi đường/bắt taxi, tham quan trường, đề nghị lựa chọn</a:t>
            </a:r>
          </a:p>
        </p:txBody>
      </p:sp>
      <p:pic>
        <p:nvPicPr>
          <p:cNvPr id="7" name="Picture 6" descr="camp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584019"/>
            <a:ext cx="4206240" cy="28055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公交车</a:t>
            </a:r>
          </a:p>
        </p:txBody>
      </p:sp>
      <p:pic>
        <p:nvPicPr>
          <p:cNvPr id="6" name="Picture 5" descr="gongjiao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69948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公交车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gōngjiāochē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xe buýt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这儿有到北京大学的公交车吗？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Zhèr yǒu dào Běijīng Dàxué de gōngjiāochē ma?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Ở đây có xe buýt đến ĐH Bắc Kinh không?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附近有公交车站吗？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Fùjìn yǒu gōngjiāo chēzhàn ma?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Gần đây có trạm xe buýt không?</a:t>
            </a:r>
          </a:p>
        </p:txBody>
      </p:sp>
      <p:pic>
        <p:nvPicPr>
          <p:cNvPr id="9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2/16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车站</a:t>
            </a:r>
          </a:p>
        </p:txBody>
      </p:sp>
      <p:pic>
        <p:nvPicPr>
          <p:cNvPr id="6" name="Picture 5" descr="chezh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80574"/>
            <a:ext cx="3108960" cy="23104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车站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chēzhàn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trạm/bến 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有，但车站有点儿远。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Yǒu, dàn chēzhàn yǒudiǎnr yuǎn.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Có, nhưng trạm xe hơi xa.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公交车站在哪儿？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Gōngjiāo chēzhàn zài nǎr?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Trạm xe buýt ở đâu?</a:t>
            </a:r>
          </a:p>
        </p:txBody>
      </p:sp>
      <p:pic>
        <p:nvPicPr>
          <p:cNvPr id="9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3/16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远</a:t>
            </a:r>
          </a:p>
        </p:txBody>
      </p:sp>
      <p:pic>
        <p:nvPicPr>
          <p:cNvPr id="6" name="Picture 5" descr="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202607"/>
            <a:ext cx="3108960" cy="16664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远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adj.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yuǎn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车站有点儿远。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Chēzhàn yǒudiǎnr yuǎn.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Trạm xe hơi xa.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学校离我家不远。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Xuéxiào lí wǒ jiā bù yuǎn.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Trường cách nhà mình không xa.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4/16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打车</a:t>
            </a:r>
          </a:p>
        </p:txBody>
      </p:sp>
      <p:pic>
        <p:nvPicPr>
          <p:cNvPr id="6" name="Picture 5" descr="dach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69948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打车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dǎchē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bắt taxi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这儿好打车吗？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Zhèr hǎo dǎchē ma?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Ở đây có dễ bắt taxi không?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我们还是打车去吧。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háishi dǎchē qù ba.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bắt taxi đi thôi.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659654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但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conj.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dàn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nhưng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有，但车站有点儿远。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Yǒu, dàn chēzhàn yǒudiǎnr yuǎn.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Có, nhưng trạm xe hơi xa.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我很想去，但没有时间。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 hěn xiǎng qù, dàn méiyǒu shíjiān.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Mình rất muốn đi, nhưng không có thời gian.</a:t>
            </a:r>
          </a:p>
        </p:txBody>
      </p:sp>
      <p:pic>
        <p:nvPicPr>
          <p:cNvPr id="8" name="slide0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6/16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还是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659654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adv./conj.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háishi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hay là; nên (chọn phương án tốt hơn)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我们还是打车去吧。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háishi dǎchē qù ba.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Chúng ta bắt taxi đi thôi.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还是别看电影了。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Háishi bié kàn diànyǐng le.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Thôi đừng xem phim nữa.</a:t>
            </a:r>
          </a:p>
        </p:txBody>
      </p:sp>
      <p:pic>
        <p:nvPicPr>
          <p:cNvPr id="8" name="slide0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7/16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659654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啊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part.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a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trợ từ cuối câu (tán thưởng, đồng tình)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学校里人真多啊！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Xuéxiào lǐ rén zhēn duō a!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Trong trường đông người thật đấy!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是啊，电影院还不小。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Shì a, diànyǐngyuàn hái bù xiǎo.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Đúng vậy, rạp phim cũng không nhỏ.</a:t>
            </a:r>
          </a:p>
        </p:txBody>
      </p:sp>
      <p:pic>
        <p:nvPicPr>
          <p:cNvPr id="8" name="slide0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8/16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659654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万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num.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wàn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vạn (10.000)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北京大学有四万多名学生呢！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Běijīng Dàxué yǒu sìwàn duō míng xuéshēng ne!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ĐH Bắc Kinh có hơn bốn vạn sinh viên đấy!</a:t>
            </a:r>
          </a:p>
        </p:txBody>
      </p:sp>
      <p:pic>
        <p:nvPicPr>
          <p:cNvPr id="8" name="slide1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9/16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659654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名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míng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(lượng từ chỉ người)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北京大学有四万多名学生。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Běijīng Dàxué yǒu sìwàn duō míng xuéshēng.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ĐH Bắc Kinh có hơn bốn vạn sinh viên.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网上还说有三千多名外国学生。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Wǎngshang hái shuō yǒu sānqiān duō míng wàiguó xuéshēng.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Trên mạng còn nói có hơn ba nghìn sinh viên nước ngoài.</a:t>
            </a:r>
          </a:p>
        </p:txBody>
      </p:sp>
      <p:pic>
        <p:nvPicPr>
          <p:cNvPr id="8" name="slide1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10/16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网上</a:t>
            </a:r>
          </a:p>
        </p:txBody>
      </p:sp>
      <p:pic>
        <p:nvPicPr>
          <p:cNvPr id="6" name="Picture 5" descr="wangsh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2000524"/>
            <a:ext cx="3108960" cy="20705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wǎngshang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trên mạng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是网上说的。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Shì wǎngshang shuō de.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Là đọc trên mạng.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网上说这家饭馆很不错。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Wǎngshang shuō zhè jiā fànguǎn hěn búcuò.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Trên mạng nói quán ăn này khá ngon.</a:t>
            </a:r>
          </a:p>
        </p:txBody>
      </p:sp>
      <p:pic>
        <p:nvPicPr>
          <p:cNvPr id="9" name="slide1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11/16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外国</a:t>
            </a:r>
          </a:p>
        </p:txBody>
      </p:sp>
      <p:pic>
        <p:nvPicPr>
          <p:cNvPr id="6" name="Picture 5" descr="waigu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471" y="1481328"/>
            <a:ext cx="1939991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外国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wàiguó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nước ngoài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网上还说北京大学有三千多名外国学生。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Wǎngshang hái shuō Běijīng Dàxué yǒu sānqiān duō míng wàiguó xuéshēng.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Trên mạng còn nói ĐH Bắc Kinh có hơn ba nghìn sinh viên nước ngoài.</a:t>
            </a:r>
          </a:p>
        </p:txBody>
      </p:sp>
      <p:pic>
        <p:nvPicPr>
          <p:cNvPr id="9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12/16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659654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间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m.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jiān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(lượng từ chỉ phòng)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那边就有一间教室。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Nàbiān jiù yǒu yì jiān jiàoshì.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Đằng kia có một phòng học.</a:t>
            </a:r>
          </a:p>
        </p:txBody>
      </p:sp>
      <p:pic>
        <p:nvPicPr>
          <p:cNvPr id="8" name="slide14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13/16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教室</a:t>
            </a:r>
          </a:p>
        </p:txBody>
      </p:sp>
      <p:pic>
        <p:nvPicPr>
          <p:cNvPr id="6" name="Picture 5" descr="jiao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69948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jiàoshì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phòng học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那边就有一间教室，我们去看一下吧。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Nàbiān jiù yǒu yì jiān jiàoshì, wǒmen qù kàn yíxià ba.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Đằng kia có một phòng học, chúng ta đi xem thử đi.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14/16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票</a:t>
            </a:r>
          </a:p>
        </p:txBody>
      </p:sp>
      <p:pic>
        <p:nvPicPr>
          <p:cNvPr id="6" name="Picture 5" descr="pi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87" y="1869948"/>
            <a:ext cx="31089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727448"/>
            <a:ext cx="4659654" cy="1764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票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n.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piào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他们卖的电影票也很便宜。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Tāmen mài de diànyǐngpiào yě hěn piányi.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Vé phim họ bán cũng rất rẻ.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电影票还不到二十块钱。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Diànyǐngpiào hái bú dào èrshí kuài qián.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Vé phim còn chưa đến hai mươi tệ.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15/16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659654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别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adv.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bié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đừng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还是别看电影了。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Háishi bié kàn diànyǐng le.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Thôi đừng xem phim nữa.</a:t>
            </a:r>
          </a:p>
        </p:txBody>
      </p:sp>
      <p:pic>
        <p:nvPicPr>
          <p:cNvPr id="8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16/16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过来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659654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过来</a:t>
            </a:r>
            <a:r>
              <a:rPr sz="16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v.</a:t>
            </a:r>
          </a:p>
          <a:p>
            <a:pPr algn="ctr">
              <a:spcBef>
                <a:spcPts val="600"/>
              </a:spcBef>
            </a:pPr>
            <a:r>
              <a:rPr sz="22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guòlái</a:t>
            </a:r>
          </a:p>
          <a:p>
            <a:pPr algn="ctr">
              <a:spcBef>
                <a:spcPts val="4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đến đây, quay lại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481328"/>
            <a:ext cx="5977561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例句</a:t>
            </a:r>
          </a:p>
          <a:p>
            <a:pPr>
              <a:spcBef>
                <a:spcPts val="2200"/>
              </a:spcBef>
            </a:pPr>
            <a:r>
              <a:rPr sz="18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我们有时间还想再过来看个电影。</a:t>
            </a:r>
          </a:p>
          <a:p>
            <a:pPr>
              <a:spcBef>
                <a:spcPts val="2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   Wǒmen yǒu shíjiān hái xiǎng zài guòlái kàn ge diànyǐng.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     Khi có thời gian chúng tôi còn muốn quay lại xem phim.</a:t>
            </a:r>
          </a:p>
        </p:txBody>
      </p:sp>
      <p:pic>
        <p:nvPicPr>
          <p:cNvPr id="8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在宾馆前台 — hỏi đường, bắt taxi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请问，这儿有到北京大学的公交车吗？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Qǐngwèn, zhèr yǒu dào Běijīng Dàxué de gōngjiāochē ma?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3615" y="2350105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服务员: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有，但车站有点儿远。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Yǒu, dàn chēzhàn yǒudiǎnr yuǎn.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232330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18882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这儿好打车吗？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Zhèr hǎo dǎchē ma?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10110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3615" y="4087659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服务员: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好打车。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 dǎchē.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396988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56436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谢谢。安妮，我们还是打车去吧。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Xièxie. Ānnī, wǒmen háishi dǎchē qù ba.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83866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3615" y="5825213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好，没问题。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Hǎo, méi wèntí.</a:t>
            </a:r>
          </a:p>
        </p:txBody>
      </p:sp>
      <p:sp>
        <p:nvSpPr>
          <p:cNvPr id="17" name="Oval 16"/>
          <p:cNvSpPr/>
          <p:nvPr/>
        </p:nvSpPr>
        <p:spPr>
          <a:xfrm>
            <a:off x="11399093" y="5707438"/>
            <a:ext cx="420624" cy="420624"/>
          </a:xfrm>
          <a:prstGeom prst="ellipse">
            <a:avLst/>
          </a:prstGeom>
          <a:solidFill>
            <a:srgbClr val="D354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pic>
        <p:nvPicPr>
          <p:cNvPr id="18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在北京大学 — tham quan, số liệu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学校里人真多啊！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Xuéxiào lǐ rén zhēn duō a!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3615" y="2350105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是啊，北京大学有四万多名学生呢！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a, Běijīng Dàxué yǒu sìwàn duō míng xuéshēng ne!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232330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18882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你是怎么知道的？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Nǐ shì zěnme zhīdào de?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10110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3615" y="4087659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是网上说的，网上还说北京大学有三千多名外国学生。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wǎngshang shuō de, wǎngshang hái shuō Běijīng Dàxué yǒu sānqiān duō míng wàiguó xuéshēng.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396988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56436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我也想来这儿学习。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 yě xiǎng lái zhèr xuéxí.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83866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3615" y="5825213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那边就有一间教室，我们去看一下吧。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Nàbiān jiù yǒu yì jiān jiàoshì, wǒmen qù kàn yíxià ba.</a:t>
            </a:r>
          </a:p>
        </p:txBody>
      </p:sp>
      <p:sp>
        <p:nvSpPr>
          <p:cNvPr id="17" name="Oval 16"/>
          <p:cNvSpPr/>
          <p:nvPr/>
        </p:nvSpPr>
        <p:spPr>
          <a:xfrm>
            <a:off x="11399093" y="5707438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pic>
        <p:nvPicPr>
          <p:cNvPr id="18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电影院 — rạp phim trong trường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家月，你看，学校里有家电影院！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Jiāyuè, nǐ kàn, xuéxiào lǐ yǒu jiā diànyǐngyuàn!</a:t>
            </a:r>
          </a:p>
        </p:txBody>
      </p:sp>
      <p:sp>
        <p:nvSpPr>
          <p:cNvPr id="7" name="Oval 6"/>
          <p:cNvSpPr/>
          <p:nvPr/>
        </p:nvSpPr>
        <p:spPr>
          <a:xfrm>
            <a:off x="371977" y="136355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3615" y="2350105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是啊，电影院还不小。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Shì a, diànyǐngyuàn hái bù xiǎo.</a:t>
            </a:r>
          </a:p>
        </p:txBody>
      </p:sp>
      <p:sp>
        <p:nvSpPr>
          <p:cNvPr id="9" name="Oval 8"/>
          <p:cNvSpPr/>
          <p:nvPr/>
        </p:nvSpPr>
        <p:spPr>
          <a:xfrm>
            <a:off x="11399093" y="2232330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18882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他们卖的电影票也很便宜。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Tāmen mài de diànyǐngpiào yě hěn piányi.</a:t>
            </a:r>
          </a:p>
        </p:txBody>
      </p:sp>
      <p:sp>
        <p:nvSpPr>
          <p:cNvPr id="11" name="Oval 10"/>
          <p:cNvSpPr/>
          <p:nvPr/>
        </p:nvSpPr>
        <p:spPr>
          <a:xfrm>
            <a:off x="371977" y="310110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3615" y="4087659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天啊！有的还不到二十块钱。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Tiān a! Yǒude hái bú dào èrshí kuài qián.</a:t>
            </a:r>
          </a:p>
        </p:txBody>
      </p:sp>
      <p:sp>
        <p:nvSpPr>
          <p:cNvPr id="13" name="Oval 12"/>
          <p:cNvSpPr/>
          <p:nvPr/>
        </p:nvSpPr>
        <p:spPr>
          <a:xfrm>
            <a:off x="11399093" y="396988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56436"/>
            <a:ext cx="6949440" cy="758456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安妮: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那你想不想去看个电影？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Nà nǐ xiǎng bu xiǎng qù kàn ge diànyǐng?</a:t>
            </a:r>
          </a:p>
        </p:txBody>
      </p:sp>
      <p:sp>
        <p:nvSpPr>
          <p:cNvPr id="15" name="Oval 14"/>
          <p:cNvSpPr/>
          <p:nvPr/>
        </p:nvSpPr>
        <p:spPr>
          <a:xfrm>
            <a:off x="371977" y="483866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3615" y="5825213"/>
            <a:ext cx="6949440" cy="7584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白家月: </a:t>
            </a:r>
            <a:r>
              <a:rPr sz="1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还是别看电影了，北京大学就很好看！</a:t>
            </a:r>
          </a:p>
          <a:p>
            <a:pPr algn="l"/>
            <a:r>
              <a:rPr sz="11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Háishi bié kàn diànyǐng le, Běijīng Dàxué jiù hěn hǎokàn!</a:t>
            </a:r>
          </a:p>
        </p:txBody>
      </p:sp>
      <p:sp>
        <p:nvSpPr>
          <p:cNvPr id="17" name="Oval 16"/>
          <p:cNvSpPr/>
          <p:nvPr/>
        </p:nvSpPr>
        <p:spPr>
          <a:xfrm>
            <a:off x="11399093" y="5707438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</a:t>
            </a:r>
          </a:p>
        </p:txBody>
      </p:sp>
      <p:pic>
        <p:nvPicPr>
          <p:cNvPr id="18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白家月给陈天中发信息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北京大学很大，有四万多名学生。</a:t>
            </a:r>
          </a:p>
          <a:p>
            <a:pPr>
              <a:spcBef>
                <a:spcPts val="1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Běijīng Dàxué hěn dà, yǒu sìwàn duō míng xuéshēng.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ĐH Bắc Kinh rất lớn, có hơn bốn vạn sinh viên.</a:t>
            </a:r>
          </a:p>
          <a:p>
            <a:pPr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学校很漂亮，里边还有家电影院，电影票也不贵，</a:t>
            </a:r>
          </a:p>
          <a:p>
            <a:pPr>
              <a:spcBef>
                <a:spcPts val="1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Xuéxiào hěn piàoliang, lǐbian hái yǒu jiā diànyǐngyuàn, diànyǐngpiào yě bú guì,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Trường rất đẹp, bên trong còn có rạp chiếu phim, vé phim cũng không đắt,</a:t>
            </a:r>
          </a:p>
          <a:p>
            <a:pPr>
              <a:spcBef>
                <a:spcPts val="1600"/>
              </a:spcBef>
            </a:pPr>
            <a:r>
              <a:rPr sz="22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我们有时间还想再过来看个电影。</a:t>
            </a:r>
          </a:p>
          <a:p>
            <a:pPr>
              <a:spcBef>
                <a:spcPts val="100"/>
              </a:spcBef>
            </a:pPr>
            <a:r>
              <a:rPr sz="14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wǒmen yǒu shíjiān hái xiǎng zài guòlái kàn ge diànyǐng.</a:t>
            </a:r>
          </a:p>
          <a:p>
            <a:pPr>
              <a:spcBef>
                <a:spcPts val="100"/>
              </a:spcBef>
            </a:pPr>
            <a:r>
              <a:rPr sz="14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khi có thời gian chúng tôi còn muốn quay lại xem phim.</a:t>
            </a:r>
          </a:p>
        </p:txBody>
      </p:sp>
      <p:pic>
        <p:nvPicPr>
          <p:cNvPr id="7" name="slide2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固定格式「还是……吧」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Biểu thị lựa chọn nghiêng về một phương án, mang ý "làm thế này tốt hơn".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Cấu trúc: 还是 + (chủ ngữ) + động từ... + 吧。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我们还是打车去吧。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Wǒmen háishi dǎchē qù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Chúng ta bắt taxi đi thôi.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那件衣服很好看，还是买那件吧。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Nà jiàn yīfu hěn hǎokàn, háishi mǎi nà jiàn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Cái áo đó đẹp lắm, mua cái đó đi.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你第一次去北京，还是找个人接你吧。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Nǐ dì-yī cì qù Běijīng, háishi zhǎo ge rén jiē nǐ ba.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lần đầu đến Bắc Kinh, nên tìm người đón bạn thì hơn.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2</a:t>
            </a:r>
          </a:p>
        </p:txBody>
      </p:sp>
      <p:pic>
        <p:nvPicPr>
          <p:cNvPr id="7" name="Picture 6" descr="dec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869421"/>
            <a:ext cx="4297680" cy="4234725"/>
          </a:xfrm>
          <a:prstGeom prst="rect">
            <a:avLst/>
          </a:prstGeom>
        </p:spPr>
      </p:pic>
      <p:pic>
        <p:nvPicPr>
          <p:cNvPr id="8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用「多」表达概数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「多」đứng sau số từ/số lượng từ, biểu thị có số lẻ (hơn/mấy).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là bội số của 10 → 多 đứng NGAY SAU số từ (trước lượng từ): 四万多名.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Số KHÔNG phải bội số của 10 → 多 đứng SAU lượng từ: 五块多钱.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北京大学有四万多名学生呢！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Běijīng Dàxué yǒu sìwàn duō míng xuéshēng ne!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ĐH Bắc Kinh có hơn bốn vạn sinh viên đấy!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教室里有二十多个学生。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Jiàoshì lǐ yǒu èrshí duō ge xuésheng.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Trong phòng học có hơn hai mươi học sinh.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这两个苹果五块多钱。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liǎng ge píngguǒ wǔ kuài duō qián.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Hai quả táo này hơn năm tệ.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2</a:t>
            </a:r>
          </a:p>
        </p:txBody>
      </p:sp>
      <p:pic>
        <p:nvPicPr>
          <p:cNvPr id="7" name="Picture 6" descr="coun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436" y="1481328"/>
            <a:ext cx="3327558" cy="5010912"/>
          </a:xfrm>
          <a:prstGeom prst="rect">
            <a:avLst/>
          </a:prstGeom>
        </p:spPr>
      </p:pic>
      <p:pic>
        <p:nvPicPr>
          <p:cNvPr id="8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动词/主谓短语作定语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Động từ, cụm động từ, hoặc cụm chủ-vị đứng trước danh từ để bổ nghĩa (đặc điểm/trạng thái).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Bắt buộc có 「的」nối giữa cụm bổ nghĩa và danh từ trung tâm.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他们卖的电影票也很便宜。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Tāmen mài de diànyǐngpiào yě hěn piányi.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Vé phim họ bán cũng rất rẻ.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现在学中文的学生很多。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Xiànzài xué Zhōngwén de xuésheng hěn duō.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Hiện nay học sinh học tiếng Trung rất nhiều.</a:t>
            </a:r>
          </a:p>
          <a:p>
            <a:pPr>
              <a:spcBef>
                <a:spcPts val="20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这是朋友给我的杯子。</a:t>
            </a:r>
            <a:r>
              <a:rPr sz="1500" b="0" i="1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  Zhè shì péngyou gěi wǒ de bēizi.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cái cốc bạn tặng mình.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New HSK Course 2, Bài 2</a:t>
            </a:r>
          </a:p>
        </p:txBody>
      </p:sp>
      <p:pic>
        <p:nvPicPr>
          <p:cNvPr id="7" name="Picture 6" descr="modif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5623"/>
            <a:ext cx="4297680" cy="2862322"/>
          </a:xfrm>
          <a:prstGeom prst="rect">
            <a:avLst/>
          </a:prstGeom>
        </p:spPr>
      </p:pic>
      <p:pic>
        <p:nvPicPr>
          <p:cNvPr id="8" name="slide2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10 câu khẩu ngữ dùng ngay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81330"/>
          <a:ext cx="11094415" cy="5010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5537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请问，这儿有到北京大学的公交车吗？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Qǐngwèn, zhèr yǒu dào Běijīng Dàxué de gōngjiāochē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Xin hỏi, ở đây có xe buýt đến ĐH Bắc Kinh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车站有点儿远，我们还是打车去吧。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Chēzhàn yǒudiǎnr yuǎn, wǒmen háishi dǎchē qù ba.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Trạm xe hơi xa, chúng ta bắt taxi đi thôi.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这儿好打车吗？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Zhèr hǎo dǎchē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đây có dễ bắt taxi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学校里人真多啊！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Xuéxiào lǐ rén zhēn duō a!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Trong trường đông người thật đấy!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你是怎么知道的？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shì zěnme zhīdào de?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biết bằng cách nào vậy?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网上说这家饭馆很不错。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Wǎngshang shuō zhè jiā fànguǎn hěn búcuò.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Trên mạng nói quán ăn này khá ngon.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这里有三十多个学生。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Zhèlǐ yǒu sānshí duō ge xuésheng.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đây có hơn ba mươi học sinh.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他们卖的东西也很便宜。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Tāmen mài de dōngxi yě hěn piányi.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Đồ họ bán cũng rất rẻ.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电影票还不到二十块钱。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Diànyǐngpiào hái bú dào èrshí kuài qián.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Vé phim còn chưa đến hai mươi tệ.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455537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还是别去了，太远了。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Háishi bié qù le, tài yuǎn le.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Thôi đừng đi nữa, xa quá.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Lẫn 还是 (đề nghị) với 还是……还是 (câu hỏi lựa chọn)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你去还是不去还是吧？ (nhét thêm 吧 vào câu hỏi lựa chọn)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你去还是不去？ (hỏi lựa chọn, KHÔNG có 吧) — 你还是别去了吧。 (đề nghị, CÓ 吧)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sao: 还是 có 2 vai trò khác nhau — trong câu hỏi A还是B là liên từ nối 2 lựa chọn ngang hàng; đứng đầu vế sau + 吧 cuối câu là đề nghị phương án tốt hơn. Người Việt hay lẫn vì cả hai đều dịch "hay là".</a:t>
            </a:r>
          </a:p>
        </p:txBody>
      </p:sp>
      <p:pic>
        <p:nvPicPr>
          <p:cNvPr id="7" name="Picture 6" descr="error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483968"/>
            <a:ext cx="4206240" cy="300563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2/3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Đặt sai vị trí 「多」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四万名多学生 (multi đặt sau lượng từ dù 四万 là bội số của 10)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四万多名学生 — vì 4万 là bội số của 10 nên 多 đứng NGAY SAU số từ, trước lượng từ 名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sao: tiếng Việt luôn nói "hơn" ở cuối cụm số lượng (bốn vạn hơn), nên hay quen đặt 多 ở cuối bất kể số có phải bội số của 10 hay không.</a:t>
            </a:r>
          </a:p>
        </p:txBody>
      </p:sp>
      <p:pic>
        <p:nvPicPr>
          <p:cNvPr id="7" name="Picture 6" descr="error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409444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易错点 3/3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Quên 「的」khi cụm động từ làm định ngữ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❌ 他们卖电影票也很便宜。 (thiếu 的 sau cụm động từ 卖电影票)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✔ 他们卖的电影票也很便宜。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Vì sao: khi cụm động từ đứng trước bổ nghĩa cho danh từ, bắt buộc có 的 nối; tiếng Việt không có trợ từ tương ứng ("vé phim [mà] họ bán") nên dễ bỏ sót.</a:t>
            </a:r>
          </a:p>
        </p:txBody>
      </p:sp>
      <p:pic>
        <p:nvPicPr>
          <p:cNvPr id="7" name="Picture 6" descr="error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584019"/>
            <a:ext cx="4206240" cy="280552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课堂活动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Đóng vai: hỏi đường đến rạp chiếu phim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Chia nhóm 2 người: A = người hỏi đường, B = người trả lời (nguyên gốc sách, Classroom Activity Bài 2).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 hỏi:附近有没有到新新电影院的公交车？车站远不远？到电影院要多长时间？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Cố dùng lại: 还是……吧 đề nghị · 多 số phỏng chừng · từ vựng bài 2 (公交车/车站/远/打车).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Gợi ý câu mở đầu (vai A): 请问，这儿有到……的公交车吗？</a:t>
            </a:r>
          </a:p>
        </p:txBody>
      </p:sp>
      <p:pic>
        <p:nvPicPr>
          <p:cNvPr id="7" name="Picture 6" descr="rolep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409444"/>
            <a:ext cx="42062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