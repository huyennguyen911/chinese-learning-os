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16.mp3" ContentType="audio/mpeg"/>
  <Override PartName="/ppt/media/media17.mp3" ContentType="audio/mpeg"/>
  <Override PartName="/ppt/media/media18.mp3" ContentType="audio/mpeg"/>
  <Override PartName="/ppt/media/media19.mp3" ContentType="audio/mpeg"/>
  <Override PartName="/ppt/media/media2.mp3" ContentType="audio/mpeg"/>
  <Override PartName="/ppt/media/media20.mp3" ContentType="audio/mpeg"/>
  <Override PartName="/ppt/media/media21.mp3" ContentType="audio/mpeg"/>
  <Override PartName="/ppt/media/media22.mp3" ContentType="audio/mpeg"/>
  <Override PartName="/ppt/media/media23.mp3" ContentType="audio/mpeg"/>
  <Override PartName="/ppt/media/media24.mp3" ContentType="audio/mpeg"/>
  <Override PartName="/ppt/media/media25.mp3" ContentType="audio/mpeg"/>
  <Override PartName="/ppt/media/media26.mp3" ContentType="audio/mpeg"/>
  <Override PartName="/ppt/media/media27.mp3" ContentType="audio/mpeg"/>
  <Override PartName="/ppt/media/media28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3"/><Relationship Id="rId3" Type="http://schemas.openxmlformats.org/officeDocument/2006/relationships/video" Target="../media/media2.mp3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3"/><Relationship Id="rId3" Type="http://schemas.openxmlformats.org/officeDocument/2006/relationships/video" Target="../media/media3.mp3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3"/><Relationship Id="rId3" Type="http://schemas.openxmlformats.org/officeDocument/2006/relationships/video" Target="../media/media4.mp3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microsoft.com/office/2007/relationships/media" Target="../media/media5.mp3"/><Relationship Id="rId4" Type="http://schemas.openxmlformats.org/officeDocument/2006/relationships/video" Target="../media/media5.mp3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microsoft.com/office/2007/relationships/media" Target="../media/media6.mp3"/><Relationship Id="rId4" Type="http://schemas.openxmlformats.org/officeDocument/2006/relationships/video" Target="../media/media6.mp3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3"/><Relationship Id="rId3" Type="http://schemas.openxmlformats.org/officeDocument/2006/relationships/video" Target="../media/media7.mp3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microsoft.com/office/2007/relationships/media" Target="../media/media8.mp3"/><Relationship Id="rId4" Type="http://schemas.openxmlformats.org/officeDocument/2006/relationships/video" Target="../media/media8.mp3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3"/><Relationship Id="rId3" Type="http://schemas.openxmlformats.org/officeDocument/2006/relationships/video" Target="../media/media9.mp3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3"/><Relationship Id="rId3" Type="http://schemas.openxmlformats.org/officeDocument/2006/relationships/video" Target="../media/media10.mp3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11.mp3"/><Relationship Id="rId4" Type="http://schemas.openxmlformats.org/officeDocument/2006/relationships/video" Target="../media/media11.mp3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3"/><Relationship Id="rId3" Type="http://schemas.openxmlformats.org/officeDocument/2006/relationships/video" Target="../media/media12.mp3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3"/><Relationship Id="rId3" Type="http://schemas.openxmlformats.org/officeDocument/2006/relationships/video" Target="../media/media13.mp3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microsoft.com/office/2007/relationships/media" Target="../media/media14.mp3"/><Relationship Id="rId4" Type="http://schemas.openxmlformats.org/officeDocument/2006/relationships/video" Target="../media/media14.mp3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microsoft.com/office/2007/relationships/media" Target="../media/media15.mp3"/><Relationship Id="rId4" Type="http://schemas.openxmlformats.org/officeDocument/2006/relationships/video" Target="../media/media15.mp3"/><Relationship Id="rId5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microsoft.com/office/2007/relationships/media" Target="../media/media16.mp3"/><Relationship Id="rId4" Type="http://schemas.openxmlformats.org/officeDocument/2006/relationships/video" Target="../media/media16.mp3"/><Relationship Id="rId5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microsoft.com/office/2007/relationships/media" Target="../media/media17.mp3"/><Relationship Id="rId4" Type="http://schemas.openxmlformats.org/officeDocument/2006/relationships/video" Target="../media/media17.mp3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18.mp3"/><Relationship Id="rId4" Type="http://schemas.openxmlformats.org/officeDocument/2006/relationships/video" Target="../media/media18.mp3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microsoft.com/office/2007/relationships/media" Target="../media/media19.mp3"/><Relationship Id="rId4" Type="http://schemas.openxmlformats.org/officeDocument/2006/relationships/video" Target="../media/media19.mp3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0.mp3"/><Relationship Id="rId3" Type="http://schemas.openxmlformats.org/officeDocument/2006/relationships/video" Target="../media/media20.mp3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1.mp3"/><Relationship Id="rId3" Type="http://schemas.openxmlformats.org/officeDocument/2006/relationships/video" Target="../media/media21.mp3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2.mp3"/><Relationship Id="rId3" Type="http://schemas.openxmlformats.org/officeDocument/2006/relationships/video" Target="../media/media22.mp3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3.mp3"/><Relationship Id="rId3" Type="http://schemas.openxmlformats.org/officeDocument/2006/relationships/video" Target="../media/media23.mp3"/><Relationship Id="rId4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4.mp3"/><Relationship Id="rId3" Type="http://schemas.openxmlformats.org/officeDocument/2006/relationships/video" Target="../media/media24.mp3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microsoft.com/office/2007/relationships/media" Target="../media/media25.mp3"/><Relationship Id="rId4" Type="http://schemas.openxmlformats.org/officeDocument/2006/relationships/video" Target="../media/media25.mp3"/><Relationship Id="rId5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6.mp3"/><Relationship Id="rId3" Type="http://schemas.openxmlformats.org/officeDocument/2006/relationships/video" Target="../media/media26.mp3"/><Relationship Id="rId4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7.mp3"/><Relationship Id="rId3" Type="http://schemas.openxmlformats.org/officeDocument/2006/relationships/video" Target="../media/media27.mp3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8.mp3"/><Relationship Id="rId3" Type="http://schemas.openxmlformats.org/officeDocument/2006/relationships/video" Target="../media/media28.mp3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667512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他篮球打得很好</a:t>
            </a:r>
          </a:p>
          <a:p>
            <a:pPr algn="l">
              <a:spcBef>
                <a:spcPts val="1000"/>
              </a:spcBef>
              <a:buNone/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Tā lánqiú dǎ de hěn hǎo — Cậu ấy chơi bóng rổ rất giỏi</a:t>
            </a:r>
          </a:p>
        </p:txBody>
      </p:sp>
      <p:pic>
        <p:nvPicPr>
          <p:cNvPr id="4" name="Picture 3" descr="basketball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1934751"/>
            <a:ext cx="4480560" cy="2988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今天学什么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6522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状态补语 (得) — nói ai làm việc gì "giỏi/dở/nhanh/chậm" thế nào (ôn lại, học sâu hơn)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紧缩复句 一…就… — nối 2 hành động liên tiếp nhau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Từ vựng: thể thao, các môn bóng, vận động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36815" y="1611376"/>
            <a:ext cx="4206240" cy="4880864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assets/placeholder_goals.jpg]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assets/words/vcong_PLACEHOLDER.jpg]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从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prep.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cóng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từ (nơi chốn/thời gian)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你是什么时候从北京回来的？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shénme shíhou cóng Běijīng huílái de?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từ Bắc Kinh về khi nào vậy?</a:t>
            </a:r>
          </a:p>
        </p:txBody>
      </p:sp>
      <p:pic>
        <p:nvPicPr>
          <p:cNvPr id="9" name="slide03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从 = hai chữ 人(rén, người) nối đuôi nhau đi theo → "từ, theo"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assets/words/vwang_PLACEHOLDER.jpg]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往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prep./v.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wǎng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hướng về; đi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你怎么一下课就往外跑？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zěnme yí xiàkè jiù wǎng wài pǎo?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Sao vừa hết tiết là cậu chạy ra ngoài vậy?</a:t>
            </a:r>
          </a:p>
        </p:txBody>
      </p:sp>
      <p:pic>
        <p:nvPicPr>
          <p:cNvPr id="9" name="slide0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往 = 彳(chì, bước chân) + 王(wáng, vua) → BƯỚC theo một hướng nhất định → "hướng về, đi tới"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assets/words/vpao_PLACEHOLDER.jpg]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跑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pǎo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chạy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你跑得快不快？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pǎo de kuài bu kuài?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chạy nhanh không?</a:t>
            </a:r>
          </a:p>
        </p:txBody>
      </p:sp>
      <p:pic>
        <p:nvPicPr>
          <p:cNvPr id="9" name="slide0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跑 = 足(zú, chân) → dùng CHÂN di chuyển thật nhanh → "chạy"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4/13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assets/words/vda_PLACEHOLDER.jpg]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打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dǎ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chơi (thể thao); đánh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我跟同学说好了，一起去打篮球。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gēn tóngxué shuōhǎo le, yìqǐ qù dǎ lánqiú.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Tớ hẹn với bạn học rồi, cùng đi chơi bóng rổ.</a:t>
            </a:r>
          </a:p>
        </p:txBody>
      </p:sp>
      <p:pic>
        <p:nvPicPr>
          <p:cNvPr id="9" name="slide06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打 = 扌(shǒu, tay) + 丁(dīng, hình CÁI ĐINH) → tay cầm búa ĐÓNG ĐINH → "đánh, gõ" → 打篮球 = chơi bóng rổ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5/13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篮球</a:t>
            </a:r>
          </a:p>
        </p:txBody>
      </p:sp>
      <p:pic>
        <p:nvPicPr>
          <p:cNvPr id="6" name="Picture 5" descr="vlanqi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篮球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lánqiú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bóng rổ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你篮球打得怎么样？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lánqiú dǎ de zěnmeyàng?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chơi bóng rổ thế nào?</a:t>
            </a:r>
          </a:p>
        </p:txBody>
      </p:sp>
      <p:pic>
        <p:nvPicPr>
          <p:cNvPr id="9" name="slide0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篮 = 竹(zhú, tre) → đồ đan bằng TRE dùng đựng đồ → "giỏ" → 篮球 = bóng rổ (ném bóng vào giỏ)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6/13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运动</a:t>
            </a:r>
          </a:p>
        </p:txBody>
      </p:sp>
      <p:pic>
        <p:nvPicPr>
          <p:cNvPr id="6" name="Picture 5" descr="vyundo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133584"/>
            <a:ext cx="3108960" cy="2064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运动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v./n.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yùndòng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vận động, thể thao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我的爱好是运动。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de àihào shì yùndòng.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Sở thích của tớ là thể thao.</a:t>
            </a:r>
          </a:p>
        </p:txBody>
      </p:sp>
      <p:pic>
        <p:nvPicPr>
          <p:cNvPr id="9" name="slide0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运 = 辶(chuò, đi) + 云(yún, mây) → di chuyển NHẸ NHÀNG như mây trôi → "vận động"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assets/words/vti_PLACEHOLDER.jpg]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踢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tī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đá (⚠️ trùng HSK1)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你踢得怎么样？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tī de zěnmeyàng?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đá được không?</a:t>
            </a:r>
          </a:p>
        </p:txBody>
      </p:sp>
      <p:pic>
        <p:nvPicPr>
          <p:cNvPr id="9" name="slide0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踢 = 足(zú, chân) → dùng CHÂN hất mạnh ra → "đá"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8/13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足球</a:t>
            </a:r>
          </a:p>
        </p:txBody>
      </p:sp>
      <p:pic>
        <p:nvPicPr>
          <p:cNvPr id="6" name="Picture 5" descr="vzuqi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129030"/>
            <a:ext cx="3108960" cy="2073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足球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zúqiú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bóng đá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我还喜欢踢足球，一到星期天就跟朋友们去踢球。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hái xǐhuan tī zúqiú, yí dào xīngqītiān jiù gēn péngyoumen qù tī qiú.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Tớ còn thích đá bóng, cứ đến Chủ nhật là tớ đi đá bóng với bạn bè.</a:t>
            </a:r>
          </a:p>
        </p:txBody>
      </p:sp>
      <p:pic>
        <p:nvPicPr>
          <p:cNvPr id="9" name="slide1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足 vốn là hình bàn CHÂN (口 là đầu gối) → "chân" → 足球 = bóng đá (đá bằng chân)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assets/words/vqiu_PLACEHOLDER.jpg]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quả bóng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一到星期天就跟朋友们去踢球。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Yí dào xīngqītiān jiù gēn péngyoumen qù tī qiú.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Cứ đến Chủ nhật là đi đá bóng với bạn bè.</a:t>
            </a:r>
          </a:p>
        </p:txBody>
      </p:sp>
      <p:pic>
        <p:nvPicPr>
          <p:cNvPr id="9" name="slide11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球 = 王(biến thể của 玉, ngọc) + phần bên phải hình khối tròn → NGỌC mài tròn → "quả bóng"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跑步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assets/words/vpaobu_PLACEHOLDER.jpg]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跑步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pǎobù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chạy bộ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跑步呢？你跑得快不快？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Pǎobù ne? Nǐ pǎo de kuài bu kuài?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Còn chạy bộ thì sao? Cậu chạy nhanh không?</a:t>
            </a:r>
          </a:p>
        </p:txBody>
      </p:sp>
      <p:pic>
        <p:nvPicPr>
          <p:cNvPr id="9" name="slide1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步 = 止(zhǐ, bàn chân) đặt chồng lên nhau → bước chân NỌ nối chân KIA → "bước" → 跑步 = chạy bộ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游泳</a:t>
            </a:r>
          </a:p>
        </p:txBody>
      </p:sp>
      <p:pic>
        <p:nvPicPr>
          <p:cNvPr id="6" name="Picture 5" descr="vyouyo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204932"/>
            <a:ext cx="3108960" cy="1921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游泳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yóuyǒng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bơi lội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那你喜欢游泳吗？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Nà nǐ xǐhuan yóuyǒng ma?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Vậy cậu có thích bơi không?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喜欢，但我游泳游得不快。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Xǐhuan, dàn wǒ yóuyǒng yóu de bú kuài.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Có, nhưng tớ bơi không nhanh.</a:t>
            </a:r>
          </a:p>
        </p:txBody>
      </p:sp>
      <p:pic>
        <p:nvPicPr>
          <p:cNvPr id="9" name="slide1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泳 = 氵(shuǐ, nước) + 永(yǒng, dòng chảy dài) → bơi theo DÒNG nước dài → "bơi"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爱好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assets/words/vaihao_PLACEHOLDER.jpg]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爱好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n./v.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àihào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sở thích; thích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你有什么爱好？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yǒu shénme àihào?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có sở thích gì?</a:t>
            </a:r>
          </a:p>
        </p:txBody>
      </p:sp>
      <p:pic>
        <p:nvPicPr>
          <p:cNvPr id="9" name="slide1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爱 = 爫(trảo, bàn tay) + 冖(mái che) + 友(bạn) → ĐEM một người BẠN vào nhà che chở → "yêu, thích"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3987" y="1611376"/>
            <a:ext cx="3108960" cy="310896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[hình: assets/words/vkaishi_PLACEHOLDER.jpg]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开始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v./n.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kāishǐ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bắt đầu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从上小学开始，我每天都跟爸爸去运动。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Cóng shàng xiǎoxué kāishǐ, wǒ měi tiān dōu gēn bàba qù yùndòng.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Từ khi vào tiểu học, ngày nào tớ cũng đi tập thể thao cùng ba.</a:t>
            </a:r>
          </a:p>
        </p:txBody>
      </p:sp>
      <p:pic>
        <p:nvPicPr>
          <p:cNvPr id="9" name="slide1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开 = 一(chốt cửa) + 廾(gǒng, hai bàn tay) → hai tay NÂNG chốt cửa lên → "mở" → 开始 = mở đầu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1/6 · Bóng vợt trong nhà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乒乓球</a:t>
            </a:r>
          </a:p>
        </p:txBody>
      </p:sp>
      <p:pic>
        <p:nvPicPr>
          <p:cNvPr id="6" name="Picture 5" descr="pingp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984451"/>
            <a:ext cx="3108960" cy="23628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乒乓球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pīngpāngqiú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bóng bàn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他乒乓球打得很好。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pīngpāngqiú dǎ de hěn hǎo.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Cậu ấy chơi bóng bàn rất giỏi.</a:t>
            </a:r>
          </a:p>
        </p:txBody>
      </p:sp>
      <p:pic>
        <p:nvPicPr>
          <p:cNvPr id="9" name="slide1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乒乓 là chữ TƯỢNG THANH mô phỏng tiếng bóng nảy "cạch-cạch" → 乒乓球 = bóng bàn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2/6 · Bóng vợt trong nhà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羽毛球</a:t>
            </a:r>
          </a:p>
        </p:txBody>
      </p:sp>
      <p:pic>
        <p:nvPicPr>
          <p:cNvPr id="6" name="Picture 5" descr="yumaoqi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007586"/>
            <a:ext cx="3108960" cy="2316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羽毛球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yǔmáoqiú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cầu lông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我们周末一起打羽毛球吧。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zhōumò yìqǐ dǎ yǔmáoqiú ba.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Cuối tuần chúng ta cùng đánh cầu lông đi.</a:t>
            </a:r>
          </a:p>
        </p:txBody>
      </p:sp>
      <p:pic>
        <p:nvPicPr>
          <p:cNvPr id="9" name="slide1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羽 vốn là hình hai CHIẾC LÔNG VŨ → "lông vũ" → 羽毛球 = cầu lông (quả cầu có lông)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3/6 · Bóng ngoài trời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网球</a:t>
            </a:r>
          </a:p>
        </p:txBody>
      </p:sp>
      <p:pic>
        <p:nvPicPr>
          <p:cNvPr id="6" name="Picture 5" descr="wangqi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047055"/>
            <a:ext cx="3108960" cy="22376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网球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wǎngqiú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tennis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她网球打得不错。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wǎngqiú dǎ de búcuò.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Cô ấy chơi tennis khá đấy.</a:t>
            </a:r>
          </a:p>
        </p:txBody>
      </p:sp>
      <p:pic>
        <p:nvPicPr>
          <p:cNvPr id="9" name="slide1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网 vốn là hình vẽ CÁI LƯỚI (nét đan chéo như mắt lưới) → 网球 = tennis (đánh bóng qua lưới)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4/6 · Bóng ngoài trời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排球</a:t>
            </a:r>
          </a:p>
        </p:txBody>
      </p:sp>
      <p:pic>
        <p:nvPicPr>
          <p:cNvPr id="6" name="Picture 5" descr="paiqi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942310"/>
            <a:ext cx="3108960" cy="24470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排球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páiqiú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bóng chuyền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我排球打得不怎么样。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páiqiú dǎ de bù zěnmeyàng.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Tớ chơi bóng chuyền không giỏi lắm.</a:t>
            </a:r>
          </a:p>
        </p:txBody>
      </p:sp>
      <p:pic>
        <p:nvPicPr>
          <p:cNvPr id="9" name="slide1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排 = 扌(shǒu, tay) + 非(fēi, dàn ngang 2 bên) → dùng TAY xếp thành HÀNG → 排球 = bóng chuyền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5/6 · Vận động ngoài trời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骑自行车</a:t>
            </a:r>
          </a:p>
        </p:txBody>
      </p:sp>
      <p:pic>
        <p:nvPicPr>
          <p:cNvPr id="6" name="Picture 5" descr="qizixingc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999996"/>
            <a:ext cx="310896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骑自行车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qí zìxíngchē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đạp xe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我每天骑自行车上学。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měitiān qí zìxíngchē shàngxué.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Ngày nào tớ cũng đạp xe đi học.</a:t>
            </a:r>
          </a:p>
        </p:txBody>
      </p:sp>
      <p:pic>
        <p:nvPicPr>
          <p:cNvPr id="9" name="slide2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骑 = 马(mǎ, ngựa) → hành động NGỒI lên lưng ngựa → "cưỡi" → 骑自行车 = đạp xe (cưỡi xe)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29184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6/6 · Vận động ngoài trời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爬山</a:t>
            </a:r>
          </a:p>
        </p:txBody>
      </p:sp>
      <p:pic>
        <p:nvPicPr>
          <p:cNvPr id="6" name="Picture 5" descr="pash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129030"/>
            <a:ext cx="3108960" cy="2073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爬山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páshān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leo núi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一有时间我就去爬山。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Yì yǒu shíjiān wǒ jiù qù páshān.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Hễ có thời gian là tớ đi leo núi.</a:t>
            </a:r>
          </a:p>
        </p:txBody>
      </p:sp>
      <p:pic>
        <p:nvPicPr>
          <p:cNvPr id="9" name="slide2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山 vốn là hình BA ĐỈNH NÚI nhấp nhô → "núi" → 爬山 = leo núi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65875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 · 状态补语 (得)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Ngữ pháp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buNone/>
            </a:pP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Cấu trúc: Động từ + 得 + Cụm tính từ — bổ sung trạng thái của hành động.</a:t>
            </a:r>
          </a:p>
          <a:p>
            <a:pPr>
              <a:spcBef>
                <a:spcPts val="317"/>
              </a:spcBef>
              <a:buNone/>
            </a:pP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Phủ định: thêm 不 trước tính từ.</a:t>
            </a:r>
          </a:p>
          <a:p>
            <a:pPr>
              <a:spcBef>
                <a:spcPts val="317"/>
              </a:spcBef>
              <a:buNone/>
            </a:pP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3 dạng câu hỏi: (1) thêm 吗 cuối câu; (2) Động từ+得+Adj+不+Adj; (3) Động từ+得+怎么样.</a:t>
            </a:r>
          </a:p>
          <a:p>
            <a:pPr>
              <a:spcBef>
                <a:spcPts val="317"/>
              </a:spcBef>
              <a:buNone/>
            </a:pP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Động từ có tân ngữ / từ ly hợp → lặp lại động từ: 你篮球打得怎么样？(không nói 你打篮球得怎么样)</a:t>
            </a:r>
          </a:p>
          <a:p>
            <a:pPr>
              <a:spcBef>
                <a:spcPts val="1587"/>
              </a:spcBef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我踢得还可以。</a:t>
            </a:r>
          </a:p>
          <a:p>
            <a:pPr>
              <a:spcBef>
                <a:spcPts val="238"/>
              </a:spcBef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tī de hái kěyǐ.</a:t>
            </a:r>
          </a:p>
          <a:p>
            <a:pPr>
              <a:spcBef>
                <a:spcPts val="238"/>
              </a:spcBef>
              <a:buNone/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Tớ đá cũng tạm được.</a:t>
            </a:r>
          </a:p>
          <a:p>
            <a:pPr>
              <a:spcBef>
                <a:spcPts val="1587"/>
              </a:spcBef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你跑得快不快？</a:t>
            </a:r>
          </a:p>
          <a:p>
            <a:pPr>
              <a:spcBef>
                <a:spcPts val="238"/>
              </a:spcBef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pǎo de kuài bu kuài?</a:t>
            </a:r>
          </a:p>
          <a:p>
            <a:pPr>
              <a:spcBef>
                <a:spcPts val="238"/>
              </a:spcBef>
              <a:buNone/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Cậu chạy nhanh không?</a:t>
            </a:r>
          </a:p>
          <a:p>
            <a:pPr>
              <a:spcBef>
                <a:spcPts val="1587"/>
              </a:spcBef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你篮球打得怎么样？</a:t>
            </a:r>
          </a:p>
          <a:p>
            <a:pPr>
              <a:spcBef>
                <a:spcPts val="238"/>
              </a:spcBef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lánqiú dǎ de zěnmeyàng?</a:t>
            </a:r>
          </a:p>
          <a:p>
            <a:pPr>
              <a:spcBef>
                <a:spcPts val="238"/>
              </a:spcBef>
              <a:buNone/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Cậu chơi bóng rổ thế nào?</a:t>
            </a:r>
          </a:p>
        </p:txBody>
      </p:sp>
      <p:pic>
        <p:nvPicPr>
          <p:cNvPr id="7" name="slide2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6771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 · 一…就…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Ngữ pháp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紧缩复句 "一……就……" — hành động sau nối tiếp NGAY hành động trước, thường mang nghĩa điều kiện/nguyên nhân → kết quả.</a:t>
            </a:r>
          </a:p>
          <a:p>
            <a:pPr>
              <a:spcBef>
                <a:spcPts val="400"/>
              </a:spcBef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Chủ ngữ GIỐNG NHAU → đặt 1 lần trước 一 (hoặc trước 就), chủ ngữ dùng chung cho cả câu.</a:t>
            </a:r>
          </a:p>
          <a:p>
            <a:pPr>
              <a:spcBef>
                <a:spcPts val="400"/>
              </a:spcBef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Chủ ngữ KHÁC NHAU → mỗi chủ ngữ đặt riêng trước 一 và trước 就.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你怎么一下课就往外跑？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zěnme yí xiàkè jiù wǎng wài pǎo?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Sao vừa hết tiết là cậu chạy ra ngoài luôn vậy?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一到星期天，陈天中就跟同学去打篮球。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Yí dào xīngqītiān, Chén Tiānzhōng jiù gēn tóngxué qù dǎ lánqiú.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Cứ đến Chủ nhật là Trần Thiên Trung lại đi chơi bóng rổ với bạn học.</a:t>
            </a:r>
          </a:p>
        </p:txBody>
      </p:sp>
      <p:pic>
        <p:nvPicPr>
          <p:cNvPr id="7" name="slide23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6771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 · 一…就…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Ngữ pháp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Ví dụ thêm — chủ ngữ khác nhau (mỗi người 1 vị trí):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我一有时间就去运动。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yì yǒu shíjiān jiù qù yùndòng.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Hễ có thời gian là tớ lại đi tập thể thao.</a:t>
            </a:r>
          </a:p>
          <a:p>
            <a:pPr>
              <a:spcBef>
                <a:spcPts val="2000"/>
              </a:spcBef>
              <a:buNone/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我一到家，妈妈就打来电话了。</a:t>
            </a:r>
          </a:p>
          <a:p>
            <a:pPr>
              <a:spcBef>
                <a:spcPts val="300"/>
              </a:spcBef>
              <a:buNone/>
            </a:pP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yí dào jiā, māma jiù dǎ lái diànhuà le.</a:t>
            </a:r>
          </a:p>
          <a:p>
            <a:pPr>
              <a:spcBef>
                <a:spcPts val="300"/>
              </a:spcBef>
              <a:buNone/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Tớ vừa về đến nhà là mẹ gọi điện tới ngay.</a:t>
            </a:r>
          </a:p>
        </p:txBody>
      </p:sp>
      <p:pic>
        <p:nvPicPr>
          <p:cNvPr id="7" name="slide2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语法难点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Lỗi người Việt hay mắc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✗ 他打篮球好 → ✓ 他打得很好 (quên 得, dịch thẳng từ tiếng Việt "chơi bóng rổ giỏi")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✗ 你打篮球得怎么样 → ✓ 你篮球打得怎么样 (động từ có tân ngữ phải lặp lại động từ, không chèn 得 giữa động từ và tân ngữ)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✗ 一下课就他走了 → ✓ 他一下课就走了 (chủ ngữ phải đứng trước 一, không chèn sau 就)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Trong lớp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4298950" cy="788117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安妮，你是什么时候从北京回来的？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Ānnī, nǐ shì shénme shíhou cóng Běijīng huílái de?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4936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8920" y="2514128"/>
            <a:ext cx="5144135" cy="788117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昨天下午。天中，你怎么一下课就往外跑？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Zuótiān xiàwǔ. Tiānzhōng, nǐ zěnme yí xiàkè jiù wǎng wài pǎo?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396353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16880"/>
            <a:ext cx="3914775" cy="788117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我跟同学说好了，一起去打篮球。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gēn tóngxué shuōhǎo le, yìqǐ qù dǎ lánqiú.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299105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03970" y="4319632"/>
            <a:ext cx="2839085" cy="788117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我也想跟你们一起玩。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yě xiǎng gēn nǐmen yìqǐ wán.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4201857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22384"/>
            <a:ext cx="1968500" cy="788117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没问题，走吧。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Méi wèntí, zǒu ba.</a:t>
            </a:r>
          </a:p>
        </p:txBody>
      </p:sp>
      <p:sp>
        <p:nvSpPr>
          <p:cNvPr id="15" name="Oval 14"/>
          <p:cNvSpPr/>
          <p:nvPr/>
        </p:nvSpPr>
        <p:spPr>
          <a:xfrm>
            <a:off x="371977" y="5104609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pic>
        <p:nvPicPr>
          <p:cNvPr id="16" name="slide26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Trên sân trường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3991610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天中，你是不是很喜欢打篮球？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Tiānzhōng, nǐ shì bu shì hěn xǐhuan dǎ lánqiú?</a:t>
            </a:r>
          </a:p>
        </p:txBody>
      </p:sp>
      <p:sp>
        <p:nvSpPr>
          <p:cNvPr id="7" name="Oval 6"/>
          <p:cNvSpPr/>
          <p:nvPr/>
        </p:nvSpPr>
        <p:spPr>
          <a:xfrm>
            <a:off x="383028" y="1500968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5695" y="2339873"/>
            <a:ext cx="1737360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没错。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Méi cuò.</a:t>
            </a:r>
          </a:p>
        </p:txBody>
      </p:sp>
      <p:sp>
        <p:nvSpPr>
          <p:cNvPr id="9" name="Oval 8"/>
          <p:cNvSpPr/>
          <p:nvPr/>
        </p:nvSpPr>
        <p:spPr>
          <a:xfrm>
            <a:off x="11414353" y="2229465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8370"/>
            <a:ext cx="2685415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你还喜欢什么运动？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hái xǐhuan shénme yùndòng?</a:t>
            </a:r>
          </a:p>
        </p:txBody>
      </p:sp>
      <p:sp>
        <p:nvSpPr>
          <p:cNvPr id="11" name="Oval 10"/>
          <p:cNvSpPr/>
          <p:nvPr/>
        </p:nvSpPr>
        <p:spPr>
          <a:xfrm>
            <a:off x="383028" y="2957962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30570" y="3796867"/>
            <a:ext cx="5912485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我还喜欢踢足球，一到星期天就跟朋友们去踢球。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hái xǐhuan tī zúqiú, yí dào xīngqītiān jiù gēn péngyoumen qù tī qiú.</a:t>
            </a:r>
          </a:p>
        </p:txBody>
      </p:sp>
      <p:sp>
        <p:nvSpPr>
          <p:cNvPr id="13" name="Oval 12"/>
          <p:cNvSpPr/>
          <p:nvPr/>
        </p:nvSpPr>
        <p:spPr>
          <a:xfrm>
            <a:off x="11414353" y="3686459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5364"/>
            <a:ext cx="1917065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你踢得怎么样？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tī de zěnmeyàng?</a:t>
            </a:r>
          </a:p>
        </p:txBody>
      </p:sp>
      <p:sp>
        <p:nvSpPr>
          <p:cNvPr id="15" name="Oval 14"/>
          <p:cNvSpPr/>
          <p:nvPr/>
        </p:nvSpPr>
        <p:spPr>
          <a:xfrm>
            <a:off x="383028" y="4414956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02825" y="5253861"/>
            <a:ext cx="1840230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我踢得还可以。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tī de hái kěyǐ.</a:t>
            </a:r>
          </a:p>
        </p:txBody>
      </p:sp>
      <p:sp>
        <p:nvSpPr>
          <p:cNvPr id="17" name="Oval 16"/>
          <p:cNvSpPr/>
          <p:nvPr/>
        </p:nvSpPr>
        <p:spPr>
          <a:xfrm>
            <a:off x="11414353" y="5143453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pic>
        <p:nvPicPr>
          <p:cNvPr id="18" name="slide27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Tiếp tục trên sân trường</a:t>
            </a:r>
          </a:p>
        </p:txBody>
      </p:sp>
      <p:pic>
        <p:nvPicPr>
          <p:cNvPr id="6" name="Picture 5" descr="basketball_cou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11628"/>
            <a:ext cx="3840480" cy="2880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754880" y="1611376"/>
            <a:ext cx="2454910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你篮球打得怎么样？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lánqiú dǎ de zěnmeyàng?</a:t>
            </a:r>
          </a:p>
        </p:txBody>
      </p:sp>
      <p:sp>
        <p:nvSpPr>
          <p:cNvPr id="8" name="Oval 7"/>
          <p:cNvSpPr/>
          <p:nvPr/>
        </p:nvSpPr>
        <p:spPr>
          <a:xfrm>
            <a:off x="4589268" y="1500968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5695" y="2339873"/>
            <a:ext cx="1737360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打得还可以。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Dǎ de hái kěyǐ.</a:t>
            </a:r>
          </a:p>
        </p:txBody>
      </p:sp>
      <p:sp>
        <p:nvSpPr>
          <p:cNvPr id="10" name="Oval 9"/>
          <p:cNvSpPr/>
          <p:nvPr/>
        </p:nvSpPr>
        <p:spPr>
          <a:xfrm>
            <a:off x="11414353" y="2229465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068370"/>
            <a:ext cx="2992755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跑步呢？你跑得快不快？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Pǎobù ne? Nǐ pǎo de kuài bu kuài?</a:t>
            </a:r>
          </a:p>
        </p:txBody>
      </p:sp>
      <p:sp>
        <p:nvSpPr>
          <p:cNvPr id="12" name="Oval 11"/>
          <p:cNvSpPr/>
          <p:nvPr/>
        </p:nvSpPr>
        <p:spPr>
          <a:xfrm>
            <a:off x="4589268" y="2957962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8785" y="3796867"/>
            <a:ext cx="3684270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我跑得不快，也不太喜欢跑步。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pǎo de bú kuài, yě bú tài xǐhuan pǎobù.</a:t>
            </a:r>
          </a:p>
        </p:txBody>
      </p:sp>
      <p:sp>
        <p:nvSpPr>
          <p:cNvPr id="14" name="Oval 13"/>
          <p:cNvSpPr/>
          <p:nvPr/>
        </p:nvSpPr>
        <p:spPr>
          <a:xfrm>
            <a:off x="11414353" y="3686459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525364"/>
            <a:ext cx="2301240" cy="63599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那你喜欢游泳吗？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Nà nǐ xǐhuan yóuyǒng ma?</a:t>
            </a:r>
          </a:p>
        </p:txBody>
      </p:sp>
      <p:sp>
        <p:nvSpPr>
          <p:cNvPr id="16" name="Oval 15"/>
          <p:cNvSpPr/>
          <p:nvPr/>
        </p:nvSpPr>
        <p:spPr>
          <a:xfrm>
            <a:off x="4589268" y="4414956"/>
            <a:ext cx="394313" cy="394313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25" y="5253861"/>
            <a:ext cx="3376930" cy="63599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喜欢，但我游泳游得不快。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Xǐhuan, dàn wǒ yóuyǒng yóu de bú kuài.</a:t>
            </a:r>
          </a:p>
        </p:txBody>
      </p:sp>
      <p:sp>
        <p:nvSpPr>
          <p:cNvPr id="18" name="Oval 17"/>
          <p:cNvSpPr/>
          <p:nvPr/>
        </p:nvSpPr>
        <p:spPr>
          <a:xfrm>
            <a:off x="11414353" y="5143453"/>
            <a:ext cx="394313" cy="394313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pic>
        <p:nvPicPr>
          <p:cNvPr id="19" name="slide2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陈天中写日记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①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我的爱好是运动。</a:t>
            </a:r>
          </a:p>
          <a:p>
            <a:pPr>
              <a:spcBef>
                <a:spcPts val="1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de àihào shì yùndòng.</a:t>
            </a:r>
          </a:p>
          <a:p>
            <a:pPr>
              <a:spcBef>
                <a:spcPts val="1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Sở thích của tớ là thể thao.</a:t>
            </a:r>
          </a:p>
          <a:p>
            <a:pPr>
              <a:spcBef>
                <a:spcPts val="1400"/>
              </a:spcBef>
              <a:buNone/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②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从上小学开始，我每天都跟爸爸去运动。</a:t>
            </a:r>
          </a:p>
          <a:p>
            <a:pPr>
              <a:spcBef>
                <a:spcPts val="1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Cóng shàng xiǎoxué kāishǐ, wǒ měi tiān dōu gēn bàba qù yùndòng.</a:t>
            </a:r>
          </a:p>
          <a:p>
            <a:pPr>
              <a:spcBef>
                <a:spcPts val="1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Từ khi vào tiểu học, ngày nào tớ cũng đi tập thể thao cùng ba.</a:t>
            </a:r>
          </a:p>
          <a:p>
            <a:pPr>
              <a:spcBef>
                <a:spcPts val="1400"/>
              </a:spcBef>
              <a:buNone/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③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现在我篮球打得很好，足球踢得不错，游泳游得也很快。</a:t>
            </a:r>
          </a:p>
          <a:p>
            <a:pPr>
              <a:spcBef>
                <a:spcPts val="1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Xiànzài wǒ lánqiú dǎ de hěn hǎo, zúqiú tī de búcuò, yóuyǒng yóu de yě hěn kuài.</a:t>
            </a:r>
          </a:p>
          <a:p>
            <a:pPr>
              <a:spcBef>
                <a:spcPts val="1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Bây giờ tớ chơi bóng rổ rất giỏi, đá bóng cũng khá, bơi cũng nhanh.</a:t>
            </a:r>
          </a:p>
          <a:p>
            <a:pPr>
              <a:spcBef>
                <a:spcPts val="1400"/>
              </a:spcBef>
              <a:buNone/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④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我一有时间就去运动。</a:t>
            </a:r>
          </a:p>
          <a:p>
            <a:pPr>
              <a:spcBef>
                <a:spcPts val="1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yì yǒu shíjiān jiù qù yùndòng.</a:t>
            </a:r>
          </a:p>
          <a:p>
            <a:pPr>
              <a:spcBef>
                <a:spcPts val="1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Hễ có thời gian là tớ lại đi tập thể thao.</a:t>
            </a:r>
          </a:p>
        </p:txBody>
      </p:sp>
      <p:pic>
        <p:nvPicPr>
          <p:cNvPr id="7" name="slide2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Luyện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Điền 得 vào chỗ trống cho đúng (chú ý động từ có tân ngữ phải lặp lại động từ):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1. 他篮球打___很好。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2. 你___跑___快不快？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3. 我游泳游___不太快。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Luyện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Sắp xếp lại thành câu đúng dùng 一…就…: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1. 就 / 下课 / 他 / 一 / 回家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2. 就 / 有时间 / 我 / 一 / 去运动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3. 就 / 星期天 / 到 / 一 / 我们 / 去踢球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dùng ngay — Thể thao (1/2)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0290"/>
          <a:ext cx="11094413" cy="4441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879"/>
                <a:gridCol w="3868538"/>
                <a:gridCol w="5111996"/>
              </a:tblGrid>
              <a:tr h="696230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9623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你打得怎么样？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dǎ de zěnmeyàng?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Cậu chơi thế nào?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9623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加油，你可以的！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Jiāyóu, nǐ kěyǐ de!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Cố lên, cậu làm được!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9623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周末一起打球吧！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Zhōumò yìqǐ dǎqiú ba!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Cuối tuần đi chơi bóng cùng nhau đi!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9623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我们先热身一下。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Wǒmen xiān rèshēn yíxià.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Chúng ta khởi động một chút trước đã.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96079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你今天打得真不错！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jīntiān dǎ de zhēn búcuò!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Hôm nay cậu chơi khá đấy!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slide3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dùng ngay — Thể thao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0290"/>
          <a:ext cx="11094413" cy="4441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878"/>
                <a:gridCol w="4230342"/>
                <a:gridCol w="4776193"/>
              </a:tblGrid>
              <a:tr h="657093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57093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我们分成两队吧。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Wǒmen fēnchéng liǎng duì ba.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Chúng ta chia thành 2 đội đi.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57093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该你发球了。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Gāi nǐ fāqiú le.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Đến lượt cậu giao bóng rồi.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9067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别灰心，再来一次！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Bié huīxīn, zài lái yí cì!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Đừng chán, chơi lại lần nữa!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57093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我们赢了！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Wǒmen yíng le!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Chúng ta thắng rồi!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90678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运动完了要多喝水。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Yùndòng wán le yào duō hē shuǐ.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Vận động xong phải uống nhiều nước.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slide33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