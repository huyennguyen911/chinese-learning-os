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39" y="8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e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e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eg"/><Relationship Id="rId3" Type="http://schemas.microsoft.com/office/2007/relationships/media" Target="../media/media25.mp3"/><Relationship Id="rId4" Type="http://schemas.openxmlformats.org/officeDocument/2006/relationships/video" Target="../media/media25.mp3"/><Relationship Id="rId5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7.mp3"/><Relationship Id="rId3" Type="http://schemas.openxmlformats.org/officeDocument/2006/relationships/video" Target="../media/media27.mp3"/><Relationship Id="rId4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8.mp3"/><Relationship Id="rId3" Type="http://schemas.openxmlformats.org/officeDocument/2006/relationships/video" Target="../media/media28.mp3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他篮球打得很好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Tā lánqiú dǎ de hěn hǎo — Cậu ấy chơi bóng rổ rất giỏi</a:t>
            </a:r>
          </a:p>
        </p:txBody>
      </p:sp>
      <p:pic>
        <p:nvPicPr>
          <p:cNvPr id="4" name="Picture 3" descr="basketball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34751"/>
            <a:ext cx="4480560" cy="29884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63264"/>
            <a:ext cx="6522415" cy="32470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状态补语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(得) —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ai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làm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việc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gì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"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giỏi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/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dở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/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nhanh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/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chậm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" </a:t>
            </a:r>
            <a:endParaRPr lang="en-US" sz="20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endParaRPr lang="en-US" sz="200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endParaRPr lang="en-US" sz="2000" b="1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r>
              <a:rPr sz="20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紧缩复句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一…就… —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nối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2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hành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liên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tiếp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nhau</a:t>
            </a:r>
            <a:endParaRPr sz="20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endParaRPr lang="en-US" sz="2000" b="1" i="0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endParaRPr lang="en-US" sz="2000" b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r>
              <a:rPr sz="20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vựng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: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thể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thao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,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các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môn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bóng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,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vận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</a:t>
            </a:r>
            <a:endParaRPr sz="20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</p:txBody>
      </p:sp>
      <p:pic>
        <p:nvPicPr>
          <p:cNvPr id="8" name="Picture 7" descr="Quy định về phát triển thể dục, thể thao quần chúng là gì?">
            <a:extLst>
              <a:ext uri="{FF2B5EF4-FFF2-40B4-BE49-F238E27FC236}">
                <a16:creationId xmlns:a16="http://schemas.microsoft.com/office/drawing/2014/main" id="{57C4A519-D340-4BF5-11B5-42D93E854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697" y="2679404"/>
            <a:ext cx="4887149" cy="3258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prep.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cóng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nơi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chốn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/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thời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gian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你是什么时候从北京回来的？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shì shénme shíhou cóng Běijīng huílái de?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Cậu từ Bắc Kinh về khi nào vậy?</a:t>
            </a:r>
          </a:p>
        </p:txBody>
      </p:sp>
      <p:pic>
        <p:nvPicPr>
          <p:cNvPr id="9" name="Picture 8" descr="每日一字——人篇（从）_搜狐网">
            <a:extLst>
              <a:ext uri="{FF2B5EF4-FFF2-40B4-BE49-F238E27FC236}">
                <a16:creationId xmlns:a16="http://schemas.microsoft.com/office/drawing/2014/main" id="{58E867F1-71D1-D303-EAF9-0E633023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7" y="2130552"/>
            <a:ext cx="5224354" cy="2361408"/>
          </a:xfrm>
          <a:prstGeom prst="rect">
            <a:avLst/>
          </a:prstGeom>
        </p:spPr>
      </p:pic>
      <p:pic>
        <p:nvPicPr>
          <p:cNvPr id="10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往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prep./v.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wǎng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hướng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về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;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</a:t>
            </a:r>
            <a:endParaRPr sz="18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你怎么一下课就往外跑？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zěnme yí xiàkè jiù wǎng wài pǎo?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Sao vừa hết tiết là cậu chạy ra ngoài vậy?</a:t>
            </a:r>
          </a:p>
        </p:txBody>
      </p:sp>
      <p:pic>
        <p:nvPicPr>
          <p:cNvPr id="9" name="Picture 8" descr="漢字的故事 : 往">
            <a:extLst>
              <a:ext uri="{FF2B5EF4-FFF2-40B4-BE49-F238E27FC236}">
                <a16:creationId xmlns:a16="http://schemas.microsoft.com/office/drawing/2014/main" id="{134C609B-4BB1-74CF-5727-0FC9D51F98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59" t="4984" r="15096" b="5320"/>
          <a:stretch>
            <a:fillRect/>
          </a:stretch>
        </p:blipFill>
        <p:spPr>
          <a:xfrm>
            <a:off x="566119" y="1429654"/>
            <a:ext cx="4550735" cy="3297794"/>
          </a:xfrm>
          <a:prstGeom prst="rect">
            <a:avLst/>
          </a:prstGeom>
        </p:spPr>
      </p:pic>
      <p:pic>
        <p:nvPicPr>
          <p:cNvPr id="10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chạy</a:t>
            </a:r>
            <a:endParaRPr sz="18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你跑得快不快？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pǎo de kuài bu kuài?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Cậu chạy nhanh không?</a:t>
            </a:r>
          </a:p>
        </p:txBody>
      </p:sp>
      <p:pic>
        <p:nvPicPr>
          <p:cNvPr id="10" name="Picture 9" descr="跑步的男孩跑-插圖素材[11805926] - PIXTA圖庫">
            <a:extLst>
              <a:ext uri="{FF2B5EF4-FFF2-40B4-BE49-F238E27FC236}">
                <a16:creationId xmlns:a16="http://schemas.microsoft.com/office/drawing/2014/main" id="{96E8F0E4-389C-4620-EBEE-454771872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73" y="1592507"/>
            <a:ext cx="3449202" cy="3134941"/>
          </a:xfrm>
          <a:prstGeom prst="rect">
            <a:avLst/>
          </a:prstGeom>
        </p:spPr>
      </p:pic>
      <p:pic>
        <p:nvPicPr>
          <p:cNvPr id="11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chơi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thể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thao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);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đánh</a:t>
            </a:r>
            <a:endParaRPr sz="18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5495" y="4673721"/>
            <a:ext cx="4286580" cy="13978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  <a:endParaRPr sz="1600" b="1" i="0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2200"/>
              </a:spcBef>
            </a:pPr>
            <a:r>
              <a:rPr sz="18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我跟同学说好了，一起去打篮球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</a:pP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gēn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shuōhǎo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le,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yìqǐ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lánqiú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</a:t>
            </a:r>
          </a:p>
          <a:p>
            <a:pPr>
              <a:spcBef>
                <a:spcPts val="100"/>
              </a:spcBef>
            </a:pP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hẹn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với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học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rồi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,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cùng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chơi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bóng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rổ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.</a:t>
            </a:r>
          </a:p>
        </p:txBody>
      </p:sp>
      <p:pic>
        <p:nvPicPr>
          <p:cNvPr id="9" name="Picture 8" descr="打 Meaning In Japanese - Mazii | Mazii: Japanese Dictionary | J...">
            <a:extLst>
              <a:ext uri="{FF2B5EF4-FFF2-40B4-BE49-F238E27FC236}">
                <a16:creationId xmlns:a16="http://schemas.microsoft.com/office/drawing/2014/main" id="{D4B8BE20-D8FF-DF43-0ECB-509333EBCD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4" t="24755" r="3663" b="6692"/>
          <a:stretch>
            <a:fillRect/>
          </a:stretch>
        </p:blipFill>
        <p:spPr>
          <a:xfrm>
            <a:off x="2010859" y="1353312"/>
            <a:ext cx="6941755" cy="2908800"/>
          </a:xfrm>
          <a:prstGeom prst="rect">
            <a:avLst/>
          </a:prstGeom>
        </p:spPr>
      </p:pic>
      <p:pic>
        <p:nvPicPr>
          <p:cNvPr id="10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篮球</a:t>
            </a:r>
          </a:p>
        </p:txBody>
      </p:sp>
      <p:pic>
        <p:nvPicPr>
          <p:cNvPr id="6" name="Picture 5" descr="vlanqi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481328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篮球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lánqiú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bóng rổ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你篮球打得怎么样？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lánqiú dǎ de zěnmeyàng?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Cậu chơi bóng rổ thế nào?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运动</a:t>
            </a:r>
          </a:p>
        </p:txBody>
      </p:sp>
      <p:pic>
        <p:nvPicPr>
          <p:cNvPr id="6" name="Picture 5" descr="vyund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03536"/>
            <a:ext cx="3108960" cy="20645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运动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v./n.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yùndòng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vận động, thể thao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我的爱好是运动。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de àihào shì yùndòng.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Sở thích của tớ là thể thao.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踢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tī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đá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(⚠️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trùng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HSK1)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5" y="5057012"/>
            <a:ext cx="3319018" cy="14352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  <a:endParaRPr sz="1600" b="1" i="0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2200"/>
              </a:spcBef>
            </a:pPr>
            <a:r>
              <a:rPr sz="18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你踢得怎么样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200"/>
              </a:spcBef>
            </a:pP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tī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de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zěnmeyàng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?</a:t>
            </a:r>
          </a:p>
          <a:p>
            <a:pPr>
              <a:spcBef>
                <a:spcPts val="100"/>
              </a:spcBef>
            </a:pP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đá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được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không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?</a:t>
            </a:r>
          </a:p>
        </p:txBody>
      </p:sp>
      <p:pic>
        <p:nvPicPr>
          <p:cNvPr id="9" name="Picture 8" descr="卡通踢足球背景图片下载_免费高清卡通踢足球背景设计素材_图精灵">
            <a:extLst>
              <a:ext uri="{FF2B5EF4-FFF2-40B4-BE49-F238E27FC236}">
                <a16:creationId xmlns:a16="http://schemas.microsoft.com/office/drawing/2014/main" id="{C223DD6F-D97E-D9EF-E235-D54A5259C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82" y="1500376"/>
            <a:ext cx="5686425" cy="3190875"/>
          </a:xfrm>
          <a:prstGeom prst="rect">
            <a:avLst/>
          </a:prstGeom>
        </p:spPr>
      </p:pic>
      <p:pic>
        <p:nvPicPr>
          <p:cNvPr id="10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足球</a:t>
            </a:r>
          </a:p>
        </p:txBody>
      </p:sp>
      <p:pic>
        <p:nvPicPr>
          <p:cNvPr id="6" name="Picture 5" descr="vzuqi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8982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足球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zúqiú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bóng đá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3300698"/>
            <a:ext cx="5977561" cy="13721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  <a:endParaRPr sz="1600" b="1" i="0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2200"/>
              </a:spcBef>
            </a:pPr>
            <a:r>
              <a:rPr sz="18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我还喜欢踢足球，一到星期天就跟朋友们去踢球</a:t>
            </a:r>
            <a:br>
              <a:rPr lang="en-US" sz="20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</a:b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xǐhuan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tī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zúqiú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,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dào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xīngqītiān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gēn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péngyoumen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tī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qiú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</a:t>
            </a:r>
          </a:p>
          <a:p>
            <a:pPr>
              <a:spcBef>
                <a:spcPts val="100"/>
              </a:spcBef>
            </a:pP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còn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thích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đá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bóng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,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cứ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đến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Chủ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nhật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là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đá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bóng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với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bè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.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球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qiú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quả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bóng</a:t>
            </a:r>
            <a:endParaRPr sz="18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一到星期天就跟朋友们去踢球。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Yí dào xīngqītiān jiù gēn péngyoumen qù tī qiú.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Cứ đến Chủ nhật là đi đá bóng với bạn bè.</a:t>
            </a:r>
          </a:p>
        </p:txBody>
      </p:sp>
      <p:pic>
        <p:nvPicPr>
          <p:cNvPr id="9" name="Picture 8" descr="球足球运动的- 免费矢量图形Pixabay">
            <a:extLst>
              <a:ext uri="{FF2B5EF4-FFF2-40B4-BE49-F238E27FC236}">
                <a16:creationId xmlns:a16="http://schemas.microsoft.com/office/drawing/2014/main" id="{FF9660CA-8D59-6284-BA68-F0454D768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41371"/>
            <a:ext cx="2912925" cy="2912925"/>
          </a:xfrm>
          <a:prstGeom prst="rect">
            <a:avLst/>
          </a:prstGeom>
        </p:spPr>
      </p:pic>
      <p:pic>
        <p:nvPicPr>
          <p:cNvPr id="10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跑步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跑步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pǎobù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chạy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bộ</a:t>
            </a:r>
            <a:endParaRPr sz="18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跑步呢？你跑得快不快？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Pǎobù ne? Nǐ pǎo de kuài bu kuài?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Còn chạy bộ thì sao? Cậu chạy nhanh không?</a:t>
            </a:r>
          </a:p>
        </p:txBody>
      </p:sp>
      <p:pic>
        <p:nvPicPr>
          <p:cNvPr id="10" name="Picture 9" descr="比「超慢跑」更燃脂的「跑走法」，跑1分鐘走4分鐘的，哈佛期刊大推，速瘦減腰圍">
            <a:extLst>
              <a:ext uri="{FF2B5EF4-FFF2-40B4-BE49-F238E27FC236}">
                <a16:creationId xmlns:a16="http://schemas.microsoft.com/office/drawing/2014/main" id="{50A122E0-3D8A-1A3B-E406-9CD9C6173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23" y="1576401"/>
            <a:ext cx="4177931" cy="2785287"/>
          </a:xfrm>
          <a:prstGeom prst="rect">
            <a:avLst/>
          </a:prstGeom>
        </p:spPr>
      </p:pic>
      <p:pic>
        <p:nvPicPr>
          <p:cNvPr id="11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游泳</a:t>
            </a:r>
          </a:p>
        </p:txBody>
      </p:sp>
      <p:pic>
        <p:nvPicPr>
          <p:cNvPr id="6" name="Picture 5" descr="vyouyo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74884"/>
            <a:ext cx="3108960" cy="1921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游泳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yóuyǒng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bơi lội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那你喜欢游泳吗？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Nà nǐ xǐhuan yóuyǒng ma?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Vậy cậu có thích bơi không?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爱好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爱好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n./v.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àihào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sở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thích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;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thích</a:t>
            </a:r>
            <a:endParaRPr sz="18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你有什么爱好？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yǒu shénme àihào?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Cậu có sở thích gì?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D32C81-F452-825E-ECC0-5C3C1059B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19" y="1700784"/>
            <a:ext cx="4659654" cy="3074830"/>
          </a:xfrm>
          <a:prstGeom prst="rect">
            <a:avLst/>
          </a:prstGeom>
        </p:spPr>
      </p:pic>
      <p:pic>
        <p:nvPicPr>
          <p:cNvPr id="11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开始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开始</a:t>
            </a:r>
            <a:r>
              <a:rPr sz="1600" b="0" i="1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v./n.</a:t>
            </a:r>
          </a:p>
          <a:p>
            <a:pPr algn="ctr">
              <a:spcBef>
                <a:spcPts val="600"/>
              </a:spcBef>
            </a:pPr>
            <a:r>
              <a:rPr sz="22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kāishǐ</a:t>
            </a:r>
            <a:endParaRPr sz="2200" b="0" i="1" dirty="0">
              <a:solidFill>
                <a:srgbClr val="8E2B20"/>
              </a:solidFill>
              <a:latin typeface="Calibri"/>
              <a:ea typeface="Microsoft YaHei"/>
              <a:cs typeface="Microsoft YaHei"/>
            </a:endParaRPr>
          </a:p>
          <a:p>
            <a:pPr algn="ctr">
              <a:spcBef>
                <a:spcPts val="400"/>
              </a:spcBef>
            </a:pP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bắt</a:t>
            </a:r>
            <a:r>
              <a:rPr sz="18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đầu</a:t>
            </a:r>
            <a:endParaRPr sz="18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从上小学开始，我每天都跟爸爸去运动。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Cóng shàng xiǎoxué kāishǐ, wǒ měi tiān dōu gēn bàba qù yùndòng.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Từ khi vào tiểu học, ngày nào tớ cũng đi tập thể thao cùng ba.</a:t>
            </a:r>
          </a:p>
        </p:txBody>
      </p:sp>
      <p:pic>
        <p:nvPicPr>
          <p:cNvPr id="9" name="Picture 8" descr="Hơn 2.069.800 Bắt đầu ảnh, hình chụp &amp; hình ảnh trả phí bản quyền một lần  sẵn có - iStock">
            <a:extLst>
              <a:ext uri="{FF2B5EF4-FFF2-40B4-BE49-F238E27FC236}">
                <a16:creationId xmlns:a16="http://schemas.microsoft.com/office/drawing/2014/main" id="{ECBBD4BB-BB9A-3C83-F8D7-B32CF237E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07" y="2230927"/>
            <a:ext cx="4829520" cy="2209584"/>
          </a:xfrm>
          <a:prstGeom prst="rect">
            <a:avLst/>
          </a:prstGeom>
        </p:spPr>
      </p:pic>
      <p:pic>
        <p:nvPicPr>
          <p:cNvPr id="10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1/6 · Bóng vợt trong nhà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乒乓球</a:t>
            </a:r>
          </a:p>
        </p:txBody>
      </p:sp>
      <p:pic>
        <p:nvPicPr>
          <p:cNvPr id="6" name="Picture 5" descr="pingp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54403"/>
            <a:ext cx="3108960" cy="23628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乒乓球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pīngpāngqiú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bóng bàn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他乒乓球打得很好。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pīngpāngqiú dǎ de hěn hǎo.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Cậu ấy chơi bóng bàn rất giỏi.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2/6 · Bóng vợt trong nhà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羽毛球</a:t>
            </a:r>
          </a:p>
        </p:txBody>
      </p:sp>
      <p:pic>
        <p:nvPicPr>
          <p:cNvPr id="6" name="Picture 5" descr="yumaoqi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77538"/>
            <a:ext cx="3108960" cy="2316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羽毛球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yǔmáoqiú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cầu lông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我们周末一起打羽毛球吧。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zhōumò yìqǐ dǎ yǔmáoqiú ba.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Cuối tuần chúng ta cùng đánh cầu lông đi.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3/6 · Bóng ngoài trời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网球</a:t>
            </a:r>
          </a:p>
        </p:txBody>
      </p:sp>
      <p:pic>
        <p:nvPicPr>
          <p:cNvPr id="6" name="Picture 5" descr="wangqi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17007"/>
            <a:ext cx="3108960" cy="22376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网球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wǎngqiú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tennis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她网球打得不错。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wǎngqiú dǎ de búcuò.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Cô ấy chơi tennis khá đấy.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4/6 · Bóng ngoài trời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排球</a:t>
            </a:r>
          </a:p>
        </p:txBody>
      </p:sp>
      <p:pic>
        <p:nvPicPr>
          <p:cNvPr id="6" name="Picture 5" descr="paiqi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12262"/>
            <a:ext cx="3108960" cy="24470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排球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páiqiú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bóng chuyền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我排球打得不怎么样。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páiqiú dǎ de bù zěnmeyàng.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Tớ chơi bóng chuyền không giỏi lắm.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5/6 · Vận động ngoài trời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骑自行车</a:t>
            </a:r>
          </a:p>
        </p:txBody>
      </p:sp>
      <p:pic>
        <p:nvPicPr>
          <p:cNvPr id="6" name="Picture 5" descr="qizixing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69948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骑自行车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qí zìxíngchē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đạp 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我每天骑自行车上学。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měitiān qí zìxíngchē shàngxué.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Ngày nào tớ cũng đạp xe đi học.</a:t>
            </a:r>
          </a:p>
        </p:txBody>
      </p:sp>
      <p:pic>
        <p:nvPicPr>
          <p:cNvPr id="9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6/6 · Vận động ngoài trời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爬山</a:t>
            </a:r>
          </a:p>
        </p:txBody>
      </p:sp>
      <p:pic>
        <p:nvPicPr>
          <p:cNvPr id="6" name="Picture 5" descr="pash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8982"/>
            <a:ext cx="3108960" cy="2073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爬山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páshān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leo núi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一有时间我就去爬山。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Yì yǒu shíjiān wǒ jiù qù páshān.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Hễ có thời gian là tớ đi leo núi.</a:t>
            </a:r>
          </a:p>
        </p:txBody>
      </p:sp>
      <p:pic>
        <p:nvPicPr>
          <p:cNvPr id="9" name="slide2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状态补语 (得)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859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+ 得 +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Cụm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tính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từ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—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bổ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sung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trạng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thái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của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hành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8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</a:t>
            </a:r>
            <a:r>
              <a:rPr sz="18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.</a:t>
            </a:r>
            <a:endParaRPr lang="en-US" sz="2400" b="1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889"/>
              </a:spcBef>
            </a:pPr>
            <a:r>
              <a:rPr sz="24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我踢得还可以</a:t>
            </a:r>
            <a:r>
              <a:rPr sz="2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tī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de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kěyǐ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</a:t>
            </a:r>
          </a:p>
          <a:p>
            <a:pPr>
              <a:spcBef>
                <a:spcPts val="283"/>
              </a:spcBef>
            </a:pP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đá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cũng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tạm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được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.</a:t>
            </a:r>
            <a:endParaRPr lang="en-US" sz="2400" b="1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889"/>
              </a:spcBef>
            </a:pPr>
            <a:r>
              <a:rPr sz="24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你跑得快不快</a:t>
            </a:r>
            <a:r>
              <a:rPr sz="2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de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bu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?</a:t>
            </a:r>
          </a:p>
          <a:p>
            <a:pPr>
              <a:spcBef>
                <a:spcPts val="283"/>
              </a:spcBef>
            </a:pP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chạy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nhanh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không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?</a:t>
            </a:r>
            <a:endParaRPr lang="en-US" sz="2400" b="1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889"/>
              </a:spcBef>
            </a:pPr>
            <a:r>
              <a:rPr sz="24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你篮球打得怎么样</a:t>
            </a:r>
            <a:r>
              <a:rPr sz="24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lánqiú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de </a:t>
            </a:r>
            <a:r>
              <a:rPr sz="14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zěnmeyàng</a:t>
            </a:r>
            <a:r>
              <a:rPr sz="14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?</a:t>
            </a:r>
          </a:p>
          <a:p>
            <a:pPr>
              <a:spcBef>
                <a:spcPts val="283"/>
              </a:spcBef>
            </a:pP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chơi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bóng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rổ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thế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nào</a:t>
            </a:r>
            <a:r>
              <a:rPr sz="14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?</a:t>
            </a:r>
            <a:endParaRPr lang="en-US" sz="14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283"/>
              </a:spcBef>
            </a:pPr>
            <a:endParaRPr lang="en-US" sz="140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77"/>
              </a:spcBef>
            </a:pP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Phủ định: thêm </a:t>
            </a:r>
            <a:r>
              <a:rPr lang="zh-CN" altLang="en-US" sz="1400" b="1" dirty="0">
                <a:solidFill>
                  <a:srgbClr val="1F2933"/>
                </a:solidFill>
                <a:ea typeface="Microsoft YaHei"/>
                <a:cs typeface="Microsoft YaHei"/>
              </a:rPr>
              <a:t>不 </a:t>
            </a: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trước tính từ.</a:t>
            </a:r>
          </a:p>
          <a:p>
            <a:pPr>
              <a:spcBef>
                <a:spcPts val="377"/>
              </a:spcBef>
            </a:pP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 dạng câu hỏi: </a:t>
            </a:r>
            <a:br>
              <a:rPr lang="en-US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</a:b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(1) thêm </a:t>
            </a:r>
            <a:r>
              <a:rPr lang="zh-CN" altLang="en-US" sz="1400" b="1" dirty="0">
                <a:solidFill>
                  <a:srgbClr val="1F2933"/>
                </a:solidFill>
                <a:ea typeface="Microsoft YaHei"/>
                <a:cs typeface="Microsoft YaHei"/>
              </a:rPr>
              <a:t>吗 </a:t>
            </a: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cuối câu; </a:t>
            </a:r>
            <a:br>
              <a:rPr lang="en-US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</a:b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(2) Động từ+</a:t>
            </a:r>
            <a:r>
              <a:rPr lang="zh-CN" altLang="en-US" sz="1400" b="1" dirty="0">
                <a:solidFill>
                  <a:srgbClr val="1F2933"/>
                </a:solidFill>
                <a:ea typeface="Microsoft YaHei"/>
                <a:cs typeface="Microsoft YaHei"/>
              </a:rPr>
              <a:t>得</a:t>
            </a:r>
            <a:r>
              <a:rPr lang="en-US" altLang="zh-CN" sz="1400" b="1" dirty="0">
                <a:solidFill>
                  <a:srgbClr val="1F2933"/>
                </a:solidFill>
                <a:ea typeface="Microsoft YaHei"/>
                <a:cs typeface="Microsoft YaHei"/>
              </a:rPr>
              <a:t>+</a:t>
            </a: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Adj+</a:t>
            </a:r>
            <a:r>
              <a:rPr lang="zh-CN" altLang="en-US" sz="1400" b="1" dirty="0">
                <a:solidFill>
                  <a:srgbClr val="1F2933"/>
                </a:solidFill>
                <a:ea typeface="Microsoft YaHei"/>
                <a:cs typeface="Microsoft YaHei"/>
              </a:rPr>
              <a:t>不</a:t>
            </a:r>
            <a:r>
              <a:rPr lang="en-US" altLang="zh-CN" sz="1400" b="1" dirty="0">
                <a:solidFill>
                  <a:srgbClr val="1F2933"/>
                </a:solidFill>
                <a:ea typeface="Microsoft YaHei"/>
                <a:cs typeface="Microsoft YaHei"/>
              </a:rPr>
              <a:t>+</a:t>
            </a: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Adj; </a:t>
            </a:r>
            <a:br>
              <a:rPr lang="en-US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</a:b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(3) Động từ+</a:t>
            </a:r>
            <a:r>
              <a:rPr lang="zh-CN" altLang="en-US" sz="1400" b="1" dirty="0">
                <a:solidFill>
                  <a:srgbClr val="1F2933"/>
                </a:solidFill>
                <a:ea typeface="Microsoft YaHei"/>
                <a:cs typeface="Microsoft YaHei"/>
              </a:rPr>
              <a:t>得</a:t>
            </a:r>
            <a:r>
              <a:rPr lang="en-US" altLang="zh-CN" sz="1400" b="1" dirty="0">
                <a:solidFill>
                  <a:srgbClr val="1F2933"/>
                </a:solidFill>
                <a:ea typeface="Microsoft YaHei"/>
                <a:cs typeface="Microsoft YaHei"/>
              </a:rPr>
              <a:t>+</a:t>
            </a:r>
            <a:r>
              <a:rPr lang="zh-CN" altLang="en-US" sz="1400" b="1" dirty="0">
                <a:solidFill>
                  <a:srgbClr val="1F2933"/>
                </a:solidFill>
                <a:ea typeface="Microsoft YaHei"/>
                <a:cs typeface="Microsoft YaHei"/>
              </a:rPr>
              <a:t>怎么样</a:t>
            </a:r>
            <a:r>
              <a:rPr lang="en-US" altLang="zh-CN" sz="1400" b="1" dirty="0">
                <a:solidFill>
                  <a:srgbClr val="1F2933"/>
                </a:solidFill>
                <a:ea typeface="Microsoft YaHei"/>
                <a:cs typeface="Microsoft YaHei"/>
              </a:rPr>
              <a:t>.</a:t>
            </a:r>
          </a:p>
          <a:p>
            <a:pPr>
              <a:spcBef>
                <a:spcPts val="377"/>
              </a:spcBef>
            </a:pPr>
            <a:br>
              <a:rPr lang="en-US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</a:b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 từ có tân ngữ / từ ly hợp → lặp lại động từ: </a:t>
            </a:r>
            <a:r>
              <a:rPr lang="zh-CN" altLang="en-US" sz="1400" b="1" dirty="0">
                <a:solidFill>
                  <a:srgbClr val="1F2933"/>
                </a:solidFill>
                <a:ea typeface="Microsoft YaHei"/>
                <a:cs typeface="Microsoft YaHei"/>
              </a:rPr>
              <a:t>你篮球打得怎么样？</a:t>
            </a:r>
            <a:r>
              <a:rPr lang="en-US" altLang="zh-CN" sz="1400" b="1" dirty="0">
                <a:solidFill>
                  <a:srgbClr val="1F2933"/>
                </a:solidFill>
                <a:ea typeface="Microsoft YaHei"/>
                <a:cs typeface="Microsoft YaHei"/>
              </a:rPr>
              <a:t>(</a:t>
            </a:r>
            <a:r>
              <a:rPr lang="vi-VN" sz="14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nói</a:t>
            </a:r>
            <a:endParaRPr sz="14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</p:txBody>
      </p:sp>
      <p:pic>
        <p:nvPicPr>
          <p:cNvPr id="7" name="Picture 6" descr="NBA，教练我要死在球场上(绅士留步)小说在线阅读-首发起点中文网">
            <a:extLst>
              <a:ext uri="{FF2B5EF4-FFF2-40B4-BE49-F238E27FC236}">
                <a16:creationId xmlns:a16="http://schemas.microsoft.com/office/drawing/2014/main" id="{5AEB80AC-1396-F763-EBC3-A3F2C8FF3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621" y="1207008"/>
            <a:ext cx="4218379" cy="5624506"/>
          </a:xfrm>
          <a:prstGeom prst="rect">
            <a:avLst/>
          </a:prstGeom>
        </p:spPr>
      </p:pic>
      <p:pic>
        <p:nvPicPr>
          <p:cNvPr id="8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一…就…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1" y="1773936"/>
            <a:ext cx="8212588" cy="42037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紧缩复句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"一……就……" —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hành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sau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nối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tiếp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NGAY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hành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trước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, </a:t>
            </a:r>
            <a:br>
              <a:rPr lang="en-US"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</a:b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thường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mang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điều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kiện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/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nguyên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nhân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→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kết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quả</a:t>
            </a:r>
            <a:r>
              <a:rPr sz="20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.</a:t>
            </a:r>
            <a:endParaRPr lang="en-US" sz="2000" b="1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endParaRPr sz="2000" b="1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2000"/>
              </a:spcBef>
            </a:pPr>
            <a:r>
              <a:rPr sz="26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你怎么一下课就往外跑</a:t>
            </a:r>
            <a:r>
              <a:rPr sz="26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zěnme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xiàkè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wǎng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wài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?</a:t>
            </a:r>
          </a:p>
          <a:p>
            <a:pPr>
              <a:spcBef>
                <a:spcPts val="300"/>
              </a:spcBef>
            </a:pP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Sao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vừa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hết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tiết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là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chạy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ra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ngoài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luôn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vậy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?</a:t>
            </a:r>
            <a:br>
              <a:rPr lang="en-US"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</a:br>
            <a:r>
              <a:rPr lang="vi-VN" sz="16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ngữ GIỐNG NHAU → đặt 1 lần trước </a:t>
            </a:r>
            <a:r>
              <a:rPr lang="zh-CN" altLang="en-US" sz="1600" b="1" dirty="0">
                <a:solidFill>
                  <a:srgbClr val="1F2933"/>
                </a:solidFill>
                <a:ea typeface="Microsoft YaHei"/>
                <a:cs typeface="Microsoft YaHei"/>
              </a:rPr>
              <a:t>一 </a:t>
            </a:r>
            <a:r>
              <a:rPr lang="en-US" altLang="zh-CN" sz="1600" b="1" dirty="0">
                <a:solidFill>
                  <a:srgbClr val="1F2933"/>
                </a:solidFill>
                <a:ea typeface="Microsoft YaHei"/>
                <a:cs typeface="Microsoft YaHei"/>
              </a:rPr>
              <a:t>(</a:t>
            </a:r>
            <a:r>
              <a:rPr lang="vi-VN" sz="16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hoặc trước </a:t>
            </a:r>
            <a:r>
              <a:rPr lang="zh-CN" altLang="en-US" sz="1600" b="1" dirty="0">
                <a:solidFill>
                  <a:srgbClr val="1F2933"/>
                </a:solidFill>
                <a:ea typeface="Microsoft YaHei"/>
                <a:cs typeface="Microsoft YaHei"/>
              </a:rPr>
              <a:t>就</a:t>
            </a:r>
            <a:r>
              <a:rPr lang="en-US" altLang="zh-CN" sz="1600" b="1" dirty="0">
                <a:solidFill>
                  <a:srgbClr val="1F2933"/>
                </a:solidFill>
                <a:ea typeface="Microsoft YaHei"/>
                <a:cs typeface="Microsoft YaHei"/>
              </a:rPr>
              <a:t>), </a:t>
            </a:r>
            <a:r>
              <a:rPr lang="vi-VN" sz="16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ngữ dùng chung cho cả câu.</a:t>
            </a:r>
          </a:p>
          <a:p>
            <a:pPr>
              <a:spcBef>
                <a:spcPts val="300"/>
              </a:spcBef>
            </a:pPr>
            <a:endParaRPr sz="15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2000"/>
              </a:spcBef>
            </a:pPr>
            <a:r>
              <a:rPr sz="26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一到星期天，陈天中就跟同学去打篮球</a:t>
            </a:r>
            <a:r>
              <a:rPr sz="26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</a:t>
            </a:r>
            <a:br>
              <a:rPr lang="en-US"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</a:b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dào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xīngqītiān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, Chén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Tiānzhōng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gēn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lánqiú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Cứ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đến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Chủ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nhật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là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Trần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Thiên Trung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lại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chơi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bóng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rổ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với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học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.</a:t>
            </a:r>
            <a:br>
              <a:rPr lang="en-US"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</a:br>
            <a:r>
              <a:rPr lang="vi-VN" sz="16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ngữ KHÁC NHAU → mỗi chủ ngữ đặt riêng trước </a:t>
            </a:r>
            <a:r>
              <a:rPr lang="zh-CN" altLang="en-US" sz="1600" b="1" dirty="0">
                <a:solidFill>
                  <a:srgbClr val="1F2933"/>
                </a:solidFill>
                <a:ea typeface="Microsoft YaHei"/>
                <a:cs typeface="Microsoft YaHei"/>
              </a:rPr>
              <a:t>一 </a:t>
            </a:r>
            <a:r>
              <a:rPr lang="vi-VN" sz="1600" b="1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và trước </a:t>
            </a:r>
            <a:r>
              <a:rPr lang="zh-CN" altLang="en-US" sz="1600" b="1" dirty="0">
                <a:solidFill>
                  <a:srgbClr val="1F2933"/>
                </a:solidFill>
                <a:ea typeface="Microsoft YaHei"/>
                <a:cs typeface="Microsoft YaHei"/>
              </a:rPr>
              <a:t>就</a:t>
            </a:r>
            <a:r>
              <a:rPr lang="en-US" altLang="zh-CN" sz="1600" b="1" dirty="0">
                <a:solidFill>
                  <a:srgbClr val="1F2933"/>
                </a:solidFill>
                <a:ea typeface="Microsoft YaHei"/>
                <a:cs typeface="Microsoft YaHei"/>
              </a:rPr>
              <a:t>.</a:t>
            </a:r>
          </a:p>
          <a:p>
            <a:pPr>
              <a:spcBef>
                <a:spcPts val="300"/>
              </a:spcBef>
            </a:pPr>
            <a:endParaRPr sz="15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</p:txBody>
      </p:sp>
      <p:pic>
        <p:nvPicPr>
          <p:cNvPr id="7" name="Picture 6" descr="等你下课一起走好吗, Cr：李昀锐、关晓彤官方抖音, #李昀锐 #关晓彤 #耀眼 #奔跑吧">
            <a:extLst>
              <a:ext uri="{FF2B5EF4-FFF2-40B4-BE49-F238E27FC236}">
                <a16:creationId xmlns:a16="http://schemas.microsoft.com/office/drawing/2014/main" id="{D0CC192B-BF72-31A3-D159-11274B13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278" y="3987209"/>
            <a:ext cx="3487799" cy="2615849"/>
          </a:xfrm>
          <a:prstGeom prst="rect">
            <a:avLst/>
          </a:prstGeom>
        </p:spPr>
      </p:pic>
      <p:pic>
        <p:nvPicPr>
          <p:cNvPr id="8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 · 一…就…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81027"/>
            <a:ext cx="11094415" cy="4611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000"/>
              </a:spcBef>
            </a:pPr>
            <a:r>
              <a:rPr sz="26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我一有时间就去运动</a:t>
            </a:r>
            <a:r>
              <a:rPr sz="26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shíjiān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yùndòng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Hễ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có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thời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gian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là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lại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tập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thể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thao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.</a:t>
            </a:r>
            <a:endParaRPr lang="en-US" sz="15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lang="en-US" sz="150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</a:pPr>
            <a:endParaRPr sz="1500" b="0" i="0" dirty="0">
              <a:solidFill>
                <a:srgbClr val="6B768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2000"/>
              </a:spcBef>
            </a:pPr>
            <a:r>
              <a:rPr sz="26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我一到家，妈妈就打来电话了</a:t>
            </a:r>
            <a:r>
              <a:rPr sz="26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</a:t>
            </a:r>
            <a:br>
              <a:rPr lang="en-US"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</a:b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dào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,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lái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diànhuà</a:t>
            </a:r>
            <a:r>
              <a:rPr sz="15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le.</a:t>
            </a:r>
          </a:p>
          <a:p>
            <a:pPr>
              <a:spcBef>
                <a:spcPts val="300"/>
              </a:spcBef>
            </a:pP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vừa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về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đến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là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gọi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điện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tới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ngay</a:t>
            </a:r>
            <a:r>
              <a:rPr sz="1500" b="0" i="0" dirty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.</a:t>
            </a:r>
          </a:p>
        </p:txBody>
      </p:sp>
      <p:pic>
        <p:nvPicPr>
          <p:cNvPr id="7" name="Picture 6" descr="Thế hệ &quot;sợ nghe điện thoại&quot; tại Hàn Quốc: Căng thẳng khi nghe chuông reo,  người thân gọi điện cũng sợ bắt máy">
            <a:extLst>
              <a:ext uri="{FF2B5EF4-FFF2-40B4-BE49-F238E27FC236}">
                <a16:creationId xmlns:a16="http://schemas.microsoft.com/office/drawing/2014/main" id="{A852DFF7-7DB8-4909-14A8-A5113882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008" y="2289350"/>
            <a:ext cx="5458047" cy="3070151"/>
          </a:xfrm>
          <a:prstGeom prst="rect">
            <a:avLst/>
          </a:prstGeom>
        </p:spPr>
      </p:pic>
      <p:pic>
        <p:nvPicPr>
          <p:cNvPr id="8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Lỗi người Việt hay mắc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7752"/>
            <a:ext cx="11094415" cy="22980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✗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他打篮球好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→</a:t>
            </a:r>
            <a:endParaRPr lang="en-US" sz="20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endParaRPr sz="20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r>
              <a:rPr sz="20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✗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你打篮球得怎么样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→</a:t>
            </a:r>
            <a:endParaRPr lang="en-US" sz="20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endParaRPr sz="2000" b="0" i="0" dirty="0">
              <a:solidFill>
                <a:srgbClr val="1F2933"/>
              </a:solidFill>
              <a:latin typeface="Calibri"/>
              <a:ea typeface="Microsoft YaHei"/>
              <a:cs typeface="Microsoft YaHei"/>
            </a:endParaRPr>
          </a:p>
          <a:p>
            <a:pPr>
              <a:spcBef>
                <a:spcPts val="1300"/>
              </a:spcBef>
            </a:pPr>
            <a:r>
              <a:rPr sz="20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✗ </a:t>
            </a:r>
            <a:r>
              <a:rPr sz="2000" b="0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一下课就他走了</a:t>
            </a:r>
            <a:r>
              <a:rPr sz="2000" b="0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Trong </a:t>
            </a:r>
            <a:r>
              <a:rPr sz="2700" b="1" i="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lớp</a:t>
            </a:r>
            <a:r>
              <a:rPr sz="2700" b="1" i="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700" b="1" i="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học</a:t>
            </a:r>
            <a:endParaRPr sz="2700" b="1" i="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4298950" cy="808728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安妮，你是什么时候从北京回来的？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Ānnī, nǐ shì shénme shíhou cóng Běijīng huílái de?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8920" y="2407689"/>
            <a:ext cx="5144135" cy="808728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昨天下午。天中，你怎么一下课就往外跑？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Zuótiān xiàwǔ. Tiānzhōng, nǐ zěnme yí xiàkè jiù wǎng wài pǎo?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28991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4050"/>
            <a:ext cx="4182848" cy="808728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我跟同学说好了，一起去打篮球。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gēn tóngxué shuōhǎo le, yìqǐ qù dǎ lánqiú.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216275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03970" y="4260411"/>
            <a:ext cx="2839085" cy="808728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我也想跟你们一起玩。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yě xiǎng gēn nǐmen yìqǐ wán.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142636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39" y="5186772"/>
            <a:ext cx="2407211" cy="808728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</a:t>
            </a:r>
            <a:r>
              <a:rPr sz="11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: </a:t>
            </a:r>
            <a:r>
              <a:rPr sz="17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没问题，走吧</a:t>
            </a:r>
            <a:r>
              <a:rPr sz="17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l"/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wèntí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,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zǒu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ba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506899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pic>
        <p:nvPicPr>
          <p:cNvPr id="16" name="Picture 15" descr="Học Sinh Nói Chuyện Trong Lớp Học Hình ảnh Sẵn có - Tải xuống Hình ảnh Ngay  bây giờ - Biểu cảm khuôn mặt, Bảng đen, Bốn người - iStock">
            <a:extLst>
              <a:ext uri="{FF2B5EF4-FFF2-40B4-BE49-F238E27FC236}">
                <a16:creationId xmlns:a16="http://schemas.microsoft.com/office/drawing/2014/main" id="{2FFB6FB1-D873-6CB9-C22C-F8920FA5F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76" y="4298196"/>
            <a:ext cx="3689241" cy="2457078"/>
          </a:xfrm>
          <a:prstGeom prst="rect">
            <a:avLst/>
          </a:prstGeom>
        </p:spPr>
      </p:pic>
      <p:pic>
        <p:nvPicPr>
          <p:cNvPr id="17" name="slide2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Trên sân trường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991610" cy="6526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天中，你是不是很喜欢打篮球？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Tiānzhōng, nǐ shì bu shì hěn xǐhuan dǎ lánqiú?</a:t>
            </a:r>
          </a:p>
        </p:txBody>
      </p:sp>
      <p:sp>
        <p:nvSpPr>
          <p:cNvPr id="7" name="Oval 6"/>
          <p:cNvSpPr/>
          <p:nvPr/>
        </p:nvSpPr>
        <p:spPr>
          <a:xfrm>
            <a:off x="378696" y="1368032"/>
            <a:ext cx="404627" cy="40462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05695" y="2228880"/>
            <a:ext cx="1737360" cy="6526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没错。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cuò.</a:t>
            </a:r>
          </a:p>
        </p:txBody>
      </p:sp>
      <p:sp>
        <p:nvSpPr>
          <p:cNvPr id="9" name="Oval 8"/>
          <p:cNvSpPr/>
          <p:nvPr/>
        </p:nvSpPr>
        <p:spPr>
          <a:xfrm>
            <a:off x="11408371" y="2115584"/>
            <a:ext cx="404627" cy="40462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6432"/>
            <a:ext cx="2685415" cy="6526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你还喜欢什么运动？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hái xǐhuan shénme yùndòng?</a:t>
            </a:r>
          </a:p>
        </p:txBody>
      </p:sp>
      <p:sp>
        <p:nvSpPr>
          <p:cNvPr id="11" name="Oval 10"/>
          <p:cNvSpPr/>
          <p:nvPr/>
        </p:nvSpPr>
        <p:spPr>
          <a:xfrm>
            <a:off x="378696" y="2863136"/>
            <a:ext cx="404627" cy="40462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30570" y="3723984"/>
            <a:ext cx="5912485" cy="6526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我还喜欢踢足球，一到星期天就跟朋友们去踢球。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hái xǐhuan tī zúqiú, yí dào xīngqītiān jiù gēn péngyoumen qù tī qiú.</a:t>
            </a:r>
          </a:p>
        </p:txBody>
      </p:sp>
      <p:sp>
        <p:nvSpPr>
          <p:cNvPr id="13" name="Oval 12"/>
          <p:cNvSpPr/>
          <p:nvPr/>
        </p:nvSpPr>
        <p:spPr>
          <a:xfrm>
            <a:off x="11408371" y="3610688"/>
            <a:ext cx="404627" cy="40462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71536"/>
            <a:ext cx="2152030" cy="6526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你踢得怎么样？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tī de zěnmeyàng?</a:t>
            </a:r>
          </a:p>
        </p:txBody>
      </p:sp>
      <p:sp>
        <p:nvSpPr>
          <p:cNvPr id="15" name="Oval 14"/>
          <p:cNvSpPr/>
          <p:nvPr/>
        </p:nvSpPr>
        <p:spPr>
          <a:xfrm>
            <a:off x="378696" y="4358240"/>
            <a:ext cx="404627" cy="40462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99181" y="5219088"/>
            <a:ext cx="2243874" cy="6526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</a:t>
            </a:r>
            <a:r>
              <a:rPr sz="11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: </a:t>
            </a:r>
            <a:r>
              <a:rPr sz="15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我踢得还可以</a:t>
            </a:r>
            <a:r>
              <a:rPr sz="15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l"/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tī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de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kěyǐ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11408371" y="5105792"/>
            <a:ext cx="404627" cy="40462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9AB9A1-86BA-ABD9-8A0B-403A191F6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615" y="4308628"/>
            <a:ext cx="2859956" cy="2549372"/>
          </a:xfrm>
          <a:prstGeom prst="rect">
            <a:avLst/>
          </a:prstGeom>
        </p:spPr>
      </p:pic>
      <p:pic>
        <p:nvPicPr>
          <p:cNvPr id="20" name="slide2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Tiếp tục trên sân trường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81328"/>
            <a:ext cx="2719808" cy="6526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你篮球打得怎么样？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lánqiú dǎ de zěnmeyàng?</a:t>
            </a:r>
          </a:p>
        </p:txBody>
      </p:sp>
      <p:sp>
        <p:nvSpPr>
          <p:cNvPr id="8" name="Oval 7"/>
          <p:cNvSpPr/>
          <p:nvPr/>
        </p:nvSpPr>
        <p:spPr>
          <a:xfrm>
            <a:off x="4584936" y="1368032"/>
            <a:ext cx="404627" cy="40462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54363" y="2228880"/>
            <a:ext cx="1988692" cy="6526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</a:t>
            </a:r>
            <a:r>
              <a:rPr sz="11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: </a:t>
            </a:r>
            <a:r>
              <a:rPr sz="15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打得还可以</a:t>
            </a:r>
            <a:r>
              <a:rPr sz="15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l"/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de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kěyǐ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11408371" y="2115584"/>
            <a:ext cx="404627" cy="40462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976432"/>
            <a:ext cx="2992755" cy="6526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跑步呢？你跑得快不快？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Pǎobù ne? Nǐ pǎo de kuài bu kuài?</a:t>
            </a:r>
          </a:p>
        </p:txBody>
      </p:sp>
      <p:sp>
        <p:nvSpPr>
          <p:cNvPr id="12" name="Oval 11"/>
          <p:cNvSpPr/>
          <p:nvPr/>
        </p:nvSpPr>
        <p:spPr>
          <a:xfrm>
            <a:off x="4584936" y="2863136"/>
            <a:ext cx="404627" cy="40462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8785" y="3723984"/>
            <a:ext cx="3684270" cy="6526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我跑得不快，也不太喜欢跑步。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pǎo de bú kuài, yě bú tài xǐhuan pǎobù.</a:t>
            </a:r>
          </a:p>
        </p:txBody>
      </p:sp>
      <p:sp>
        <p:nvSpPr>
          <p:cNvPr id="14" name="Oval 13"/>
          <p:cNvSpPr/>
          <p:nvPr/>
        </p:nvSpPr>
        <p:spPr>
          <a:xfrm>
            <a:off x="11408371" y="3610688"/>
            <a:ext cx="404627" cy="40462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471536"/>
            <a:ext cx="2592218" cy="6526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</a:t>
            </a:r>
            <a:r>
              <a:rPr sz="1100" b="1" i="0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: </a:t>
            </a:r>
            <a:r>
              <a:rPr sz="1500" b="1" i="0" dirty="0" err="1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那你喜欢游泳吗</a:t>
            </a:r>
            <a:r>
              <a:rPr sz="1500" b="1" i="0" dirty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 algn="l"/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xǐhuan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100" b="0" i="1" dirty="0" err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yóuyǒng</a:t>
            </a:r>
            <a:r>
              <a:rPr sz="1100" b="0" i="1" dirty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ma?</a:t>
            </a:r>
          </a:p>
        </p:txBody>
      </p:sp>
      <p:sp>
        <p:nvSpPr>
          <p:cNvPr id="16" name="Oval 15"/>
          <p:cNvSpPr/>
          <p:nvPr/>
        </p:nvSpPr>
        <p:spPr>
          <a:xfrm>
            <a:off x="4584936" y="4358240"/>
            <a:ext cx="404627" cy="404627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25" y="5219088"/>
            <a:ext cx="3376930" cy="6526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63500" bIns="63500" rtlCol="0" anchor="ctr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喜欢，但我游泳游得不快。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Xǐhuan, dàn wǒ yóuyǒng yóu de bú kuài.</a:t>
            </a:r>
          </a:p>
        </p:txBody>
      </p:sp>
      <p:sp>
        <p:nvSpPr>
          <p:cNvPr id="18" name="Oval 17"/>
          <p:cNvSpPr/>
          <p:nvPr/>
        </p:nvSpPr>
        <p:spPr>
          <a:xfrm>
            <a:off x="11408371" y="5105792"/>
            <a:ext cx="404627" cy="404627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pic>
        <p:nvPicPr>
          <p:cNvPr id="19" name="Picture 18" descr="Samsung đồng hành cùng giải bóng rổ RMIT Basketball 2019 League, tiếp tục  truyền cảm hứng và lan tỏa tinh thần “Làm Điều Không Thể” – Samsung  Newsroom Việt Nam">
            <a:extLst>
              <a:ext uri="{FF2B5EF4-FFF2-40B4-BE49-F238E27FC236}">
                <a16:creationId xmlns:a16="http://schemas.microsoft.com/office/drawing/2014/main" id="{F26467CA-876A-E804-EE80-3B2EC6E6A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02" y="2520211"/>
            <a:ext cx="4017240" cy="2678160"/>
          </a:xfrm>
          <a:prstGeom prst="rect">
            <a:avLst/>
          </a:prstGeom>
        </p:spPr>
      </p:pic>
      <p:pic>
        <p:nvPicPr>
          <p:cNvPr id="20" name="slide2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陈天中写日记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我的爱好是运动。</a:t>
            </a:r>
          </a:p>
          <a:p>
            <a:pPr>
              <a:spcBef>
                <a:spcPts val="1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de àihào shì yùndòng.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Sở thích của tớ là thể thao.</a:t>
            </a:r>
          </a:p>
          <a:p>
            <a:pPr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从上小学开始，我每天都跟爸爸去运动。</a:t>
            </a:r>
          </a:p>
          <a:p>
            <a:pPr>
              <a:spcBef>
                <a:spcPts val="1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Cóng shàng xiǎoxué kāishǐ, wǒ měi tiān dōu gēn bàba qù yùndòng.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Từ khi vào tiểu học, ngày nào tớ cũng đi tập thể thao cùng ba.</a:t>
            </a:r>
          </a:p>
          <a:p>
            <a:pPr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现在我篮球打得很好，足球踢得不错，游泳游得也很快。</a:t>
            </a:r>
          </a:p>
          <a:p>
            <a:pPr>
              <a:spcBef>
                <a:spcPts val="1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Xiànzài wǒ lánqiú dǎ de hěn hǎo, zúqiú tī de búcuò, yóuyǒng yóu de yě hěn kuài.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Bây giờ tớ chơi bóng rổ rất giỏi, đá bóng cũng khá, bơi cũng nhanh.</a:t>
            </a:r>
          </a:p>
          <a:p>
            <a:pPr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我一有时间就去运动。</a:t>
            </a:r>
          </a:p>
          <a:p>
            <a:pPr>
              <a:spcBef>
                <a:spcPts val="1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yì yǒu shíjiān jiù qù yùndòng.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Hễ có thời gian là tớ lại đi tập thể thao.</a:t>
            </a:r>
          </a:p>
        </p:txBody>
      </p:sp>
      <p:pic>
        <p:nvPicPr>
          <p:cNvPr id="7" name="Picture 6" descr="Vẽ tranh ƯỚC MƠ CỦA EM | Ước Mơ làm Cầu Thủ Bóng Đá | Vẽ tranh cuộc sống  quanh em | Vẽ tranh ngày hè">
            <a:extLst>
              <a:ext uri="{FF2B5EF4-FFF2-40B4-BE49-F238E27FC236}">
                <a16:creationId xmlns:a16="http://schemas.microsoft.com/office/drawing/2014/main" id="{16BF47D0-1439-6D2E-3F69-47B95D0DF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271" y="1312720"/>
            <a:ext cx="4833605" cy="2719784"/>
          </a:xfrm>
          <a:prstGeom prst="rect">
            <a:avLst/>
          </a:prstGeom>
        </p:spPr>
      </p:pic>
      <p:pic>
        <p:nvPicPr>
          <p:cNvPr id="8" name="slide2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得 vào chỗ trống cho đúng (chú ý động từ có tân ngữ phải lặp lại động từ):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1. 他篮球打___很好。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2. 你___跑___快不快？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3. 我游泳游___不太快。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lại thành câu đúng dùng 一…就…: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1. 就 / 下课 / 他 / 一 / 回家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2. 就 / 有时间 / 我 / 一 / 去运动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3. 就 / 星期天 / 到 / 一 / 我们 / 去踢球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10 câu khẩu ngữ dùng ngay — Thể thao (1/2)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94896"/>
          <a:ext cx="11094413" cy="478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8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marL="127000" marR="101600" marT="38100" marB="38100" anchor="ctr">
                    <a:solidFill>
                      <a:srgbClr val="8E2B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marL="127000" marR="101600" marT="38100" marB="38100" anchor="ctr">
                    <a:solidFill>
                      <a:srgbClr val="8E2B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marL="127000" marR="101600" marT="38100" marB="38100" anchor="ctr">
                    <a:solidFill>
                      <a:srgbClr val="8E2B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你打得怎么样？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dǎ de zěnmeyàng?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Cậu chơi thế nào?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加油，你可以的！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Jiāyóu, nǐ kěyǐ de!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Cố lên, cậu làm được!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周末一起打球吧！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Zhōumò yìqǐ dǎqiú ba!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Cuối tuần đi chơi bóng cùng nhau đi!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我们先热身一下。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Wǒmen xiān rèshēn yíxià.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Chúng ta khởi động một chút trước đã.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4735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你今天打得真不错！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jīntiān dǎ de zhēn búcuò!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 cậu chơi khá đấy!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slide3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10 câu khẩu ngữ dùng ngay — Thể thao (2/2)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9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0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1259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marL="127000" marR="101600" marT="38100" marB="38100" anchor="ctr">
                    <a:solidFill>
                      <a:srgbClr val="8E2B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marL="127000" marR="101600" marT="38100" marB="38100" anchor="ctr">
                    <a:solidFill>
                      <a:srgbClr val="8E2B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marL="127000" marR="101600" marT="38100" marB="38100" anchor="ctr">
                    <a:solidFill>
                      <a:srgbClr val="8E2B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259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我们分成两队吧。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Wǒmen fēnchéng liǎng duì ba.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Chúng ta chia thành 2 đội đi.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259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该你发球了。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Gāi nǐ fāqiú le.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Đến lượt cậu giao bóng rồi.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937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别灰心，再来一次！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Bié huīxīn, zài lái yí cì!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Đừng chán, chơi lại lần nữa!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259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我们赢了！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Wǒmen yíng le!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Chúng ta thắng rồi!</a:t>
                      </a:r>
                    </a:p>
                  </a:txBody>
                  <a:tcPr marL="127000" marR="101600" marT="38100" marB="38100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2937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运动完了要多喝水。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Yùndòng wán le yào duō hē shuǐ.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Vận động xong phải uống nhiều nước.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slide3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10207a7-7e4c-4d3c-8340-9923514c5c77}" enabled="1" method="Standard" siteId="{a2cf6df8-9540-4b4c-84c4-b50dff3d082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1802</Words>
  <Application>Microsoft Office PowerPoint</Application>
  <PresentationFormat>Widescreen</PresentationFormat>
  <Paragraphs>349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Huyen Nguyen Huynh My (BTS)</cp:lastModifiedBy>
  <cp:revision>2</cp:revision>
  <dcterms:created xsi:type="dcterms:W3CDTF">2013-01-27T09:14:16Z</dcterms:created>
  <dcterms:modified xsi:type="dcterms:W3CDTF">2026-08-06T07:02:52Z</dcterms:modified>
  <cp:category/>
</cp:coreProperties>
</file>