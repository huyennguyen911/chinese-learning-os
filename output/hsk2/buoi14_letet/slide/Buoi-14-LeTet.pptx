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一个人过年多没意思啊</a:t>
            </a:r>
          </a:p>
          <a:p>
            <a:pPr algn="ctr">
              <a:spcBef>
                <a:spcPts val="1000"/>
              </a:spcBef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Yí ge rén guònián duō méiyìsi a — Ăn Tết một mình chán quá</a:t>
            </a:r>
          </a:p>
          <a:p>
            <a:pPr algn="ctr">
              <a:spcBef>
                <a:spcPts val="600"/>
              </a:spcBef>
            </a:pPr>
            <a:r>
              <a:rPr sz="14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HSK2 · Buổi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Hôm nay học gì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289"/>
              </a:spcBef>
            </a:pP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9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Nghe hiểu và miêu tả có ai/vật gì tồn tại ở một nơi bằng 存现句(2) — 处所 + động từ + 着 + người/vật</a:t>
            </a:r>
          </a:p>
          <a:p>
            <a:pPr>
              <a:spcBef>
                <a:spcPts val="1289"/>
              </a:spcBef>
            </a:pP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9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Dùng phó từ mức độ "多" trong câu cảm thán để diễn đạt mức độ rất cao</a:t>
            </a:r>
          </a:p>
          <a:p>
            <a:pPr>
              <a:spcBef>
                <a:spcPts val="1289"/>
              </a:spcBef>
            </a:pP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9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Dùng "已经 + khoảng thời gian + 没 + động từ + 了" để nói đã lâu không làm gì</a:t>
            </a:r>
          </a:p>
          <a:p>
            <a:pPr>
              <a:spcBef>
                <a:spcPts val="1289"/>
              </a:spcBef>
            </a:pP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9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Nhận diện "动词 + 上" mang nghĩa mở rộng (bắt đầu và duy trì một trạng thái) — khác nghĩa chỉ hướng đã học ở Buổi 5</a:t>
            </a:r>
          </a:p>
          <a:p>
            <a:pPr>
              <a:spcBef>
                <a:spcPts val="1289"/>
              </a:spcBef>
            </a:pP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9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Mở rộng từ vựng chủ đề nhà cửa/phòng ốc/việc nhà (nâng cao, thay 21 từ cơ bản đã học)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7162495" cy="5010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一个人在家看电视，多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没意思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啊，还是找朋友一起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跳舞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吧。</a:t>
            </a:r>
          </a:p>
          <a:p>
            <a:pPr>
              <a:spcBef>
                <a:spcPts val="400"/>
              </a:spcBef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Yí ge rén zài jiā kàn diànshì, duō méiyìsi a, háishi zhǎo péngyou yìqǐ tiàowǔ ba.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Một mình ở nhà xem tivi thì chán biết bao, thôi rủ bạn cùng đi nhảy đi.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2478024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没意思</a:t>
            </a:r>
          </a:p>
          <a:p>
            <a:pPr algn="ctr">
              <a:spcBef>
                <a:spcPts val="400"/>
              </a:spcBef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méiyìsi</a:t>
            </a:r>
          </a:p>
          <a:p>
            <a:pPr algn="ctr">
              <a:spcBef>
                <a:spcPts val="3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chán, vô vị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335" y="4123944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跳舞</a:t>
            </a:r>
          </a:p>
          <a:p>
            <a:pPr algn="ctr">
              <a:spcBef>
                <a:spcPts val="400"/>
              </a:spcBef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tiàowǔ</a:t>
            </a:r>
          </a:p>
          <a:p>
            <a:pPr algn="ctr">
              <a:spcBef>
                <a:spcPts val="3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nhảy múa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7162495" cy="5010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杨同乐有一双大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眼睛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，笑起来特别好看。</a:t>
            </a:r>
          </a:p>
          <a:p>
            <a:pPr>
              <a:spcBef>
                <a:spcPts val="400"/>
              </a:spcBef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Yáng Tónglè yǒu yì shuāng dà yǎnjing, xiào qǐlái tèbié hǎokàn.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Dương Đồng Nhạc có đôi mắt to, cười lên rất đẹp.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3300984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眼睛</a:t>
            </a:r>
          </a:p>
          <a:p>
            <a:pPr algn="ctr">
              <a:spcBef>
                <a:spcPts val="400"/>
              </a:spcBef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yǎnjing</a:t>
            </a:r>
          </a:p>
          <a:p>
            <a:pPr algn="ctr">
              <a:spcBef>
                <a:spcPts val="3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con mắt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3/13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house_apart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387" y="1481328"/>
            <a:ext cx="2067000" cy="27560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420209"/>
            <a:ext cx="7162495" cy="2072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王一飞住的不是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别墅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，是一套小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公寓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，不过离学校很近。</a:t>
            </a:r>
          </a:p>
          <a:p>
            <a:pPr>
              <a:spcBef>
                <a:spcPts val="400"/>
              </a:spcBef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Wáng Yīfēi zhù de bú shì biéshù, shì yí tào xiǎo gōngyù, búguò lí xuéxiào hěn jìn.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Chỗ Vương Nhất Phi ở không phải biệt thự, mà là một căn hộ nhỏ, nhưng cách trường rất gần.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335" y="2478024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公寓</a:t>
            </a:r>
          </a:p>
          <a:p>
            <a:pPr algn="ctr">
              <a:spcBef>
                <a:spcPts val="400"/>
              </a:spcBef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gōngyù</a:t>
            </a:r>
          </a:p>
          <a:p>
            <a:pPr algn="ctr">
              <a:spcBef>
                <a:spcPts val="3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căn hộ, chung cư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8335" y="4123944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别墅</a:t>
            </a:r>
          </a:p>
          <a:p>
            <a:pPr algn="ctr">
              <a:spcBef>
                <a:spcPts val="400"/>
              </a:spcBef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biéshù</a:t>
            </a:r>
          </a:p>
          <a:p>
            <a:pPr algn="ctr">
              <a:spcBef>
                <a:spcPts val="3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biệt thự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4/13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7162495" cy="5010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杨同乐大学的时候住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宿舍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，毕业以后才搬进一间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平房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400"/>
              </a:spcBef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Yáng Tónglè dàxué de shíhou zhù sùshè, bìyè yǐhòu cái bān jìn yì jiān píngfáng.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Hồi đại học Dương Đồng Nhạc ở ký túc xá, sau khi tốt nghiệp mới chuyển vào một căn nhà một tầng.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2478024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宿舍</a:t>
            </a:r>
          </a:p>
          <a:p>
            <a:pPr algn="ctr">
              <a:spcBef>
                <a:spcPts val="400"/>
              </a:spcBef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sùshè</a:t>
            </a:r>
          </a:p>
          <a:p>
            <a:pPr algn="ctr">
              <a:spcBef>
                <a:spcPts val="3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ký túc xá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335" y="4123944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平房</a:t>
            </a:r>
          </a:p>
          <a:p>
            <a:pPr algn="ctr">
              <a:spcBef>
                <a:spcPts val="400"/>
              </a:spcBef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píngfáng</a:t>
            </a:r>
          </a:p>
          <a:p>
            <a:pPr algn="ctr">
              <a:spcBef>
                <a:spcPts val="3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nhà một tầng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5/13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living_ro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845" y="1481328"/>
            <a:ext cx="3396083" cy="27560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420209"/>
            <a:ext cx="7162495" cy="2072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这套公寓不大，只有一个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客厅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和一个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卧室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400"/>
              </a:spcBef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tào gōngyù bú dà, zhǐ yǒu yí ge kètīng hé yí ge wòshì.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Căn hộ này không lớn, chỉ có một phòng khách và một phòng ngủ.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335" y="2478024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客厅</a:t>
            </a:r>
          </a:p>
          <a:p>
            <a:pPr algn="ctr">
              <a:spcBef>
                <a:spcPts val="400"/>
              </a:spcBef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kètīng</a:t>
            </a:r>
          </a:p>
          <a:p>
            <a:pPr algn="ctr">
              <a:spcBef>
                <a:spcPts val="3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phòng khách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8335" y="4123944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卧室</a:t>
            </a:r>
          </a:p>
          <a:p>
            <a:pPr algn="ctr">
              <a:spcBef>
                <a:spcPts val="400"/>
              </a:spcBef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wòshì</a:t>
            </a:r>
          </a:p>
          <a:p>
            <a:pPr algn="ctr">
              <a:spcBef>
                <a:spcPts val="3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phòng ngủ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6/13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7162495" cy="5010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厨房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卫生间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都在客厅旁边，用起来很方便。</a:t>
            </a:r>
          </a:p>
          <a:p>
            <a:pPr>
              <a:spcBef>
                <a:spcPts val="400"/>
              </a:spcBef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Chúfáng hé wèishēngjiān dōu zài kètīng pángbiān, yòng qǐlái hěn fāngbiàn.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Phòng bếp và phòng vệ sinh đều ở cạnh phòng khách, dùng rất tiện.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2478024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厨房</a:t>
            </a:r>
          </a:p>
          <a:p>
            <a:pPr algn="ctr">
              <a:spcBef>
                <a:spcPts val="400"/>
              </a:spcBef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chúfáng</a:t>
            </a:r>
          </a:p>
          <a:p>
            <a:pPr algn="ctr">
              <a:spcBef>
                <a:spcPts val="3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phòng bếp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335" y="4123944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卫生间</a:t>
            </a:r>
          </a:p>
          <a:p>
            <a:pPr algn="ctr">
              <a:spcBef>
                <a:spcPts val="400"/>
              </a:spcBef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wèishēngjiān</a:t>
            </a:r>
          </a:p>
          <a:p>
            <a:pPr algn="ctr">
              <a:spcBef>
                <a:spcPts val="3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phòng vệ sinh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7/13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balcony_pla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942" y="1481328"/>
            <a:ext cx="3669889" cy="27560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420209"/>
            <a:ext cx="7162495" cy="2072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阳台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上摆着几盆花，妈妈每天都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打扫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得干干净净。</a:t>
            </a:r>
          </a:p>
          <a:p>
            <a:pPr>
              <a:spcBef>
                <a:spcPts val="400"/>
              </a:spcBef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Yángtái shàng bǎizhe jǐ pén huā, māma měitiān dōu dǎsǎo de gāngānjìngjìng.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Trên ban công bày mấy chậu hoa, mẹ ngày nào cũng quét dọn sạch sẽ.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335" y="2478024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阳台</a:t>
            </a:r>
          </a:p>
          <a:p>
            <a:pPr algn="ctr">
              <a:spcBef>
                <a:spcPts val="400"/>
              </a:spcBef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yángtái</a:t>
            </a:r>
          </a:p>
          <a:p>
            <a:pPr algn="ctr">
              <a:spcBef>
                <a:spcPts val="3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ban công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8335" y="4123944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打扫</a:t>
            </a:r>
          </a:p>
          <a:p>
            <a:pPr algn="ctr">
              <a:spcBef>
                <a:spcPts val="400"/>
              </a:spcBef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dǎsǎo</a:t>
            </a:r>
          </a:p>
          <a:p>
            <a:pPr algn="ctr">
              <a:spcBef>
                <a:spcPts val="3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quét dọn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8/13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7162495" cy="5010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收拾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完房间、擦好窗户以后，家里多干净啊！</a:t>
            </a:r>
          </a:p>
          <a:p>
            <a:pPr>
              <a:spcBef>
                <a:spcPts val="400"/>
              </a:spcBef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Shōushi wán fángjiān, cā hǎo chuānghu yǐhòu, jiā li duō gānjìng a!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Dọn xong phòng, lau xong cửa sổ rồi, nhà cửa sạch biết bao!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2478024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收拾</a:t>
            </a:r>
          </a:p>
          <a:p>
            <a:pPr algn="ctr">
              <a:spcBef>
                <a:spcPts val="400"/>
              </a:spcBef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shōushi</a:t>
            </a:r>
          </a:p>
          <a:p>
            <a:pPr algn="ctr">
              <a:spcBef>
                <a:spcPts val="3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thu dọn, sắp xếp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335" y="4123944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擦窗户</a:t>
            </a:r>
          </a:p>
          <a:p>
            <a:pPr algn="ctr">
              <a:spcBef>
                <a:spcPts val="400"/>
              </a:spcBef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cā chuānghu</a:t>
            </a:r>
          </a:p>
          <a:p>
            <a:pPr algn="ctr">
              <a:spcBef>
                <a:spcPts val="3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lau cửa sổ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9/13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7162495" cy="5010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他每天回家先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拖地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、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倒垃圾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，然后才做饭。</a:t>
            </a:r>
          </a:p>
          <a:p>
            <a:pPr>
              <a:spcBef>
                <a:spcPts val="400"/>
              </a:spcBef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měitiān huí jiā xiān tuō dì, dào lājī, ránhòu cái zuò fàn.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Ngày nào anh ấy về nhà cũng lau nhà, đổ rác trước, rồi mới nấu cơm.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2478024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拖地</a:t>
            </a:r>
          </a:p>
          <a:p>
            <a:pPr algn="ctr">
              <a:spcBef>
                <a:spcPts val="400"/>
              </a:spcBef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tuō dì</a:t>
            </a:r>
          </a:p>
          <a:p>
            <a:pPr algn="ctr">
              <a:spcBef>
                <a:spcPts val="3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lau nhà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335" y="4123944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倒垃圾</a:t>
            </a:r>
          </a:p>
          <a:p>
            <a:pPr algn="ctr">
              <a:spcBef>
                <a:spcPts val="400"/>
              </a:spcBef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dào lājī</a:t>
            </a:r>
          </a:p>
          <a:p>
            <a:pPr algn="ctr">
              <a:spcBef>
                <a:spcPts val="3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đổ rác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10/13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laundry_balcon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327" y="1481328"/>
            <a:ext cx="438912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133088"/>
            <a:ext cx="7162495" cy="2359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洗衣服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洗得很快，洗完就拿到阳台上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晒衣服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400"/>
              </a:spcBef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Māma xǐ yīfu xǐ de hěn kuài, xǐ wán jiù ná dào yángtái shàng shài yīfu.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Mẹ giặt đồ rất nhanh, giặt xong là mang ra ban công phơi luôn.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335" y="2478024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洗衣服</a:t>
            </a:r>
          </a:p>
          <a:p>
            <a:pPr algn="ctr">
              <a:spcBef>
                <a:spcPts val="400"/>
              </a:spcBef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xǐ yīfu</a:t>
            </a:r>
          </a:p>
          <a:p>
            <a:pPr algn="ctr">
              <a:spcBef>
                <a:spcPts val="3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giặt quần áo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8335" y="4123944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晒衣服</a:t>
            </a:r>
          </a:p>
          <a:p>
            <a:pPr algn="ctr">
              <a:spcBef>
                <a:spcPts val="400"/>
              </a:spcBef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shài yīfu</a:t>
            </a:r>
          </a:p>
          <a:p>
            <a:pPr algn="ctr">
              <a:spcBef>
                <a:spcPts val="3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phơi quần áo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11/13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7162495" cy="5010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爸爸喜欢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烹饪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，可是从来不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洗碗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，都是妈妈洗。</a:t>
            </a:r>
          </a:p>
          <a:p>
            <a:pPr>
              <a:spcBef>
                <a:spcPts val="400"/>
              </a:spcBef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Bàba xǐhuan pēngrèn, kěshì cónglái bù xǐ wǎn, dōu shì māma xǐ.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Bố thích nấu nướng, nhưng chẳng bao giờ rửa bát, toàn mẹ rửa.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2478024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烹饪</a:t>
            </a:r>
          </a:p>
          <a:p>
            <a:pPr algn="ctr">
              <a:spcBef>
                <a:spcPts val="400"/>
              </a:spcBef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pēngrèn</a:t>
            </a:r>
          </a:p>
          <a:p>
            <a:pPr algn="ctr">
              <a:spcBef>
                <a:spcPts val="3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nấu nướng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335" y="4123944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洗碗</a:t>
            </a:r>
          </a:p>
          <a:p>
            <a:pPr algn="ctr">
              <a:spcBef>
                <a:spcPts val="400"/>
              </a:spcBef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xǐ wǎn</a:t>
            </a:r>
          </a:p>
          <a:p>
            <a:pPr algn="ctr">
              <a:spcBef>
                <a:spcPts val="3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rửa bát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12/13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7162495" cy="5010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他们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搬家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的时候，我送给他们几盆花，希望他们常常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浇花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400"/>
              </a:spcBef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Tāmen bānjiā de shíhou, wǒ sòng gěi tāmen jǐ pén huā, xīwàng tāmen chángcháng jiāo huā.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Lúc họ chuyển nhà, tôi tặng họ mấy chậu hoa, mong họ hay tưới hoa.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2478024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搬家</a:t>
            </a:r>
          </a:p>
          <a:p>
            <a:pPr algn="ctr">
              <a:spcBef>
                <a:spcPts val="400"/>
              </a:spcBef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bānjiā</a:t>
            </a:r>
          </a:p>
          <a:p>
            <a:pPr algn="ctr">
              <a:spcBef>
                <a:spcPts val="3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chuyển nhà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335" y="4123944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浇花</a:t>
            </a:r>
          </a:p>
          <a:p>
            <a:pPr algn="ctr">
              <a:spcBef>
                <a:spcPts val="400"/>
              </a:spcBef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jiāo huā</a:t>
            </a:r>
          </a:p>
          <a:p>
            <a:pPr algn="ctr">
              <a:spcBef>
                <a:spcPts val="3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tưới hoa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13/13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7162495" cy="5010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水管坏了，他自己在家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修东西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，修了一个下午。</a:t>
            </a:r>
          </a:p>
          <a:p>
            <a:pPr>
              <a:spcBef>
                <a:spcPts val="400"/>
              </a:spcBef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Shuǐguǎn huài le, tā zìjǐ zài jiā xiū dōngxi, xiū le yí ge xiàwǔ.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Ống nước hỏng rồi, anh ấy tự sửa đồ ở nhà, sửa mất cả buổi chiều.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3300984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修东西</a:t>
            </a:r>
          </a:p>
          <a:p>
            <a:pPr algn="ctr">
              <a:spcBef>
                <a:spcPts val="400"/>
              </a:spcBef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xiū dōngxi</a:t>
            </a:r>
          </a:p>
          <a:p>
            <a:pPr algn="ctr">
              <a:spcBef>
                <a:spcPts val="3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sửa đồ đạc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回家路上 — 李文发现楼下站着一个人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3914775" cy="725139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李文: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王老师，你家楼下站着一个人。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Wáng lǎoshī, nǐ jiā lóuxià zhànzhe yí ge rén.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363553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4980" y="2311941"/>
            <a:ext cx="2378075" cy="725139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王一飞: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我家楼下？我看看。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jiā lóuxià? Wǒ kànkan.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194166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42554"/>
            <a:ext cx="5758815" cy="725139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李文: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那个人穿着黑色的裤子，手里还拿着一个黑色的包。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Nàge rén chuānzhe hēisè de kùzi, shǒulǐ hái názhe yí ge hēisè de bāo.</a:t>
            </a:r>
          </a:p>
        </p:txBody>
      </p:sp>
      <p:sp>
        <p:nvSpPr>
          <p:cNvPr id="11" name="Oval 10"/>
          <p:cNvSpPr/>
          <p:nvPr/>
        </p:nvSpPr>
        <p:spPr>
          <a:xfrm>
            <a:off x="371977" y="3024779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8280" y="3973167"/>
            <a:ext cx="3914775" cy="725139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王一飞: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我看见那个人了，他是我男朋友。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kànjiàn nàge rén le, tā shì wǒ nánpéngyou.</a:t>
            </a:r>
          </a:p>
        </p:txBody>
      </p:sp>
      <p:sp>
        <p:nvSpPr>
          <p:cNvPr id="13" name="Oval 12"/>
          <p:cNvSpPr/>
          <p:nvPr/>
        </p:nvSpPr>
        <p:spPr>
          <a:xfrm>
            <a:off x="11399093" y="3855392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03780"/>
            <a:ext cx="2224405" cy="725139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李文: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那我们快过去吧。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Nà wǒmen kuài guòqù ba.</a:t>
            </a:r>
          </a:p>
        </p:txBody>
      </p:sp>
      <p:sp>
        <p:nvSpPr>
          <p:cNvPr id="15" name="Oval 14"/>
          <p:cNvSpPr/>
          <p:nvPr/>
        </p:nvSpPr>
        <p:spPr>
          <a:xfrm>
            <a:off x="371977" y="4686005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在回家路上，李文和王一飞边走边聊，发现楼下站着一个陌生人。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楼下 — 王一飞见到男朋友杨同乐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3576218" cy="365760"/>
          </a:xfrm>
          <a:prstGeom prst="roundRect">
            <a:avLst/>
          </a:prstGeom>
          <a:solidFill>
            <a:srgbClr val="F7E4E1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王一飞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7738" y="1481328"/>
            <a:ext cx="3576218" cy="365760"/>
          </a:xfrm>
          <a:prstGeom prst="roundRect">
            <a:avLst/>
          </a:prstGeom>
          <a:solidFill>
            <a:srgbClr val="E4EEF7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杨同乐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481328"/>
            <a:ext cx="3576218" cy="365760"/>
          </a:xfrm>
          <a:prstGeom prst="roundRect">
            <a:avLst/>
          </a:prstGeom>
          <a:solidFill>
            <a:srgbClr val="FBF0D9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李文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56816"/>
            <a:ext cx="3576218" cy="938921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/>
            <a:r>
              <a:rPr sz="1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1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同乐，真是你啊！上次打电话，你说有时间过来看我，没想到这么快就来了！</a:t>
            </a:r>
          </a:p>
          <a:p>
            <a:pPr algn="l"/>
            <a:r>
              <a:rPr sz="9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Tóngle, zhēnshi nǐ a! Shàng cì dǎ diànhuà, nǐ shuō yǒu shíjiān guòlái kàn wǒ, méi xiǎngdào zhème kuài jiù lái le!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2934455"/>
            <a:ext cx="3576218" cy="793727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/>
            <a:r>
              <a:rPr sz="1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1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就要过年了，你一个人在这儿多没意思啊，所以我就早早过来了。</a:t>
            </a:r>
          </a:p>
          <a:p>
            <a:pPr algn="l"/>
            <a:r>
              <a:rPr sz="9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Jiù yào guònián le, nǐ yí ge rén zài zhèr duō méiyìsi a, suǒyǐ wǒ jiù zǎozǎo guòlái 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66900"/>
            <a:ext cx="3576218" cy="35814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/>
            <a:r>
              <a:rPr sz="1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1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你能来，我太高兴了！</a:t>
            </a:r>
          </a:p>
          <a:p>
            <a:pPr algn="l"/>
            <a:r>
              <a:rPr sz="9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néng lái, wǒ tài gāoxìng le!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7738" y="4163763"/>
            <a:ext cx="3576218" cy="358145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/>
            <a:r>
              <a:rPr sz="1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4. </a:t>
            </a:r>
            <a:r>
              <a:rPr sz="1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一飞，你旁边这位是？</a:t>
            </a:r>
          </a:p>
          <a:p>
            <a:pPr algn="l"/>
            <a:r>
              <a:rPr sz="9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Yīfēi, nǐ pángbiān zhè wèi shì?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60626"/>
            <a:ext cx="3576218" cy="938921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/>
            <a:r>
              <a:rPr sz="1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5. </a:t>
            </a:r>
            <a:r>
              <a:rPr sz="1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同乐，这是李文，他在我们学校学医。李文，这是我男朋友杨同乐。</a:t>
            </a:r>
          </a:p>
          <a:p>
            <a:pPr algn="l"/>
            <a:r>
              <a:rPr sz="9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Tóngle, zhè shì Lǐ Wén, tā zài wǒmen xuéxiào xué yī. Lǐ Wén, zhè shì wǒ nánpéngyou Yáng Tónglè.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7738" y="5538265"/>
            <a:ext cx="3576218" cy="358145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/>
            <a:r>
              <a:rPr sz="1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6. </a:t>
            </a:r>
            <a:r>
              <a:rPr sz="1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李文，很高兴认识你！</a:t>
            </a:r>
          </a:p>
          <a:p>
            <a:pPr algn="l"/>
            <a:r>
              <a:rPr sz="9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Lǐ Wén, hěn gāoxìng rènshi nǐ!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5935128"/>
            <a:ext cx="3576218" cy="648533"/>
          </a:xfrm>
          <a:prstGeom prst="roundRect">
            <a:avLst/>
          </a:prstGeom>
          <a:solidFill>
            <a:srgbClr val="FBF0D9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/>
            <a:r>
              <a:rPr sz="1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7. </a:t>
            </a:r>
            <a:r>
              <a:rPr sz="1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认识你我也很高兴！我家就在前面那个楼，有时间来玩。</a:t>
            </a:r>
          </a:p>
          <a:p>
            <a:pPr algn="l"/>
            <a:r>
              <a:rPr sz="9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Rènshi nǐ wǒ yě hěn gāoxìng! Wǒ jiā jiù zài qiánmiàn nàge lóu, yǒu shíjiān lái wán.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在楼下，王一飞见到从外地赶来过年的男朋友杨同乐，并介绍给李文认识。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王一飞家客厅 — 杨同乐和王一飞聊房子</a:t>
            </a:r>
          </a:p>
        </p:txBody>
      </p:sp>
      <p:pic>
        <p:nvPicPr>
          <p:cNvPr id="6" name="Picture 5" descr="bedro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575" y="2546604"/>
            <a:ext cx="3840480" cy="2880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481328"/>
            <a:ext cx="5528310" cy="59329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杨同乐: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一飞，你住的房子真不错，很大，离学校也不远。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Yīfēi, nǐ zhù de fángzi zhēn búcuò, hěn dà, lí xuéxiào yě bù yuǎn.</a:t>
            </a:r>
          </a:p>
        </p:txBody>
      </p:sp>
      <p:sp>
        <p:nvSpPr>
          <p:cNvPr id="8" name="Oval 7"/>
          <p:cNvSpPr/>
          <p:nvPr/>
        </p:nvSpPr>
        <p:spPr>
          <a:xfrm>
            <a:off x="394145" y="1378331"/>
            <a:ext cx="367843" cy="367843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31670" y="2160921"/>
            <a:ext cx="5605145" cy="59329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王一飞: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是啊！我楼下还住着一家中国人，他们人很好。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 a! Wǒ lóuxià hái zhùzhe yì jiā Zhōngguó rén, tāmen rén hěn hǎo.</a:t>
            </a:r>
          </a:p>
        </p:txBody>
      </p:sp>
      <p:sp>
        <p:nvSpPr>
          <p:cNvPr id="10" name="Oval 9"/>
          <p:cNvSpPr/>
          <p:nvPr/>
        </p:nvSpPr>
        <p:spPr>
          <a:xfrm>
            <a:off x="7223466" y="2057924"/>
            <a:ext cx="367843" cy="367843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40514"/>
            <a:ext cx="4452620" cy="59329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杨同乐: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这样你有事情就可以找他们帮忙。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Zhèyàng nǐ yǒu shìqing jiù kěyǐ zhǎo tāmen bāngmáng.</a:t>
            </a:r>
          </a:p>
        </p:txBody>
      </p:sp>
      <p:sp>
        <p:nvSpPr>
          <p:cNvPr id="12" name="Oval 11"/>
          <p:cNvSpPr/>
          <p:nvPr/>
        </p:nvSpPr>
        <p:spPr>
          <a:xfrm>
            <a:off x="394145" y="2737517"/>
            <a:ext cx="367843" cy="367843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1030" y="3520107"/>
            <a:ext cx="4375785" cy="59329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王一飞: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对，我也帮他们家的小孩儿学中文。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Duì, wǒ yě bāng tāmen jiā de xiǎoháir xué Zhōngwén.</a:t>
            </a:r>
          </a:p>
        </p:txBody>
      </p:sp>
      <p:sp>
        <p:nvSpPr>
          <p:cNvPr id="14" name="Oval 13"/>
          <p:cNvSpPr/>
          <p:nvPr/>
        </p:nvSpPr>
        <p:spPr>
          <a:xfrm>
            <a:off x="7223466" y="3417110"/>
            <a:ext cx="367843" cy="367843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99700"/>
            <a:ext cx="5067300" cy="59329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杨同乐: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我记得你跟我说过，是个女孩儿，学得也很好。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jìde nǐ gēn wǒ shuōguo, shì ge nǚháir, xué de yě hěn hǎo.</a:t>
            </a:r>
          </a:p>
        </p:txBody>
      </p:sp>
      <p:sp>
        <p:nvSpPr>
          <p:cNvPr id="16" name="Oval 15"/>
          <p:cNvSpPr/>
          <p:nvPr/>
        </p:nvSpPr>
        <p:spPr>
          <a:xfrm>
            <a:off x="394145" y="4096703"/>
            <a:ext cx="367843" cy="367843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8370" y="4879293"/>
            <a:ext cx="4068445" cy="59329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王一飞: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没错，她经常跑上来找我玩。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Méi cuò, tā jīngcháng pǎo shànglái zhǎo wǒ wán.</a:t>
            </a:r>
          </a:p>
        </p:txBody>
      </p:sp>
      <p:sp>
        <p:nvSpPr>
          <p:cNvPr id="18" name="Oval 17"/>
          <p:cNvSpPr/>
          <p:nvPr/>
        </p:nvSpPr>
        <p:spPr>
          <a:xfrm>
            <a:off x="7223466" y="4776296"/>
            <a:ext cx="367843" cy="367843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58886"/>
            <a:ext cx="5681980" cy="59329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杨同乐: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你问问他们什么时候有时间，我请他们吃个饭。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wènwen tāmen shénme shíhou yǒu shíjiān, wǒ qǐng tāmen chī ge fàn.</a:t>
            </a:r>
          </a:p>
        </p:txBody>
      </p:sp>
      <p:sp>
        <p:nvSpPr>
          <p:cNvPr id="20" name="Oval 19"/>
          <p:cNvSpPr/>
          <p:nvPr/>
        </p:nvSpPr>
        <p:spPr>
          <a:xfrm>
            <a:off x="394145" y="5455889"/>
            <a:ext cx="367843" cy="367843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在王一飞家客厅，杨同乐和王一飞聊起房子和楼下热心的中国邻居一家。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王一飞的日记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①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我男朋友姓杨，叫杨同乐。他高个子、大眼睛，唱歌唱得很好，跳舞跳得也不错。</a:t>
            </a:r>
          </a:p>
          <a:p>
            <a:pPr>
              <a:spcBef>
                <a:spcPts val="100"/>
              </a:spcBef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nánpéngyou xìng Yáng, jiào Yáng Tónglè. Tā gāo gèzi, dà yǎnjing, chàng gē chàng de hěn hǎo, tiàowǔ tiào de yě búcuò.</a:t>
            </a:r>
          </a:p>
          <a:p>
            <a:pPr>
              <a:spcBef>
                <a:spcPts val="100"/>
              </a:spcBef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trai tôi họ Dương, tên Dương Đồng Nhạc. Anh ấy cao, mắt to, hát hay, nhảy cũng đẹp.</a:t>
            </a:r>
          </a:p>
          <a:p>
            <a:pPr>
              <a:spcBef>
                <a:spcPts val="14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②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他和我姐姐一起工作，是姐姐介绍我们认识的。</a:t>
            </a:r>
          </a:p>
          <a:p>
            <a:pPr>
              <a:spcBef>
                <a:spcPts val="100"/>
              </a:spcBef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hé wǒ jiějie yìqǐ gōngzuò, shì jiějie jièshào wǒmen rènshi de.</a:t>
            </a:r>
          </a:p>
          <a:p>
            <a:pPr>
              <a:spcBef>
                <a:spcPts val="100"/>
              </a:spcBef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Anh ấy làm cùng chỗ chị gái tôi, chính chị giới thiệu chúng tôi quen nhau.</a:t>
            </a:r>
          </a:p>
          <a:p>
            <a:pPr>
              <a:spcBef>
                <a:spcPts val="14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③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他告诉我，从见到我的第一天开始，他就喜欢上我了。</a:t>
            </a:r>
          </a:p>
          <a:p>
            <a:pPr>
              <a:spcBef>
                <a:spcPts val="100"/>
              </a:spcBef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gàosu wǒ, cóng jiàndào wǒ de dì-yī tiān kāishǐ, tā jiù xǐhuan shàng wǒ le.</a:t>
            </a:r>
          </a:p>
          <a:p>
            <a:pPr>
              <a:spcBef>
                <a:spcPts val="100"/>
              </a:spcBef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Anh ấy kể với tôi, từ ngày đầu gặp tôi là đã thích tôi rồi.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小语的提示："喜欢上" 表示开始喜欢，并一直喜欢下去 — mở rộng nghĩa của bổ ngữ xu hướng.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存现句(2) — 处所 + động từ + 着 + người/vật phiếm chỉ</a:t>
            </a:r>
          </a:p>
          <a:p>
            <a:pPr>
              <a:spcBef>
                <a:spcPts val="1809"/>
              </a:spcBef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你家楼下站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着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一个人。</a:t>
            </a:r>
          </a:p>
          <a:p>
            <a:pPr>
              <a:spcBef>
                <a:spcPts val="271"/>
              </a:spcBef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jiā lóuxià zhànzhe yí ge rén.</a:t>
            </a:r>
          </a:p>
          <a:p>
            <a:pPr>
              <a:spcBef>
                <a:spcPts val="271"/>
              </a:spcBef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Dưới nhà cậu có một người đang đứng đó.</a:t>
            </a:r>
          </a:p>
          <a:p>
            <a:pPr>
              <a:spcBef>
                <a:spcPts val="1809"/>
              </a:spcBef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阳台上摆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着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几盆花。</a:t>
            </a:r>
          </a:p>
          <a:p>
            <a:pPr>
              <a:spcBef>
                <a:spcPts val="271"/>
              </a:spcBef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Yángtái shàng bǎizhe jǐ pén huā.</a:t>
            </a:r>
          </a:p>
          <a:p>
            <a:pPr>
              <a:spcBef>
                <a:spcPts val="271"/>
              </a:spcBef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Trên ban công bày mấy chậu hoa.</a:t>
            </a:r>
          </a:p>
          <a:p>
            <a:pPr>
              <a:spcBef>
                <a:spcPts val="1809"/>
              </a:spcBef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客厅里坐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着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两个客人。</a:t>
            </a:r>
          </a:p>
          <a:p>
            <a:pPr>
              <a:spcBef>
                <a:spcPts val="271"/>
              </a:spcBef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Kètīng lǐ zuòzhe liǎng ge kèrén.</a:t>
            </a:r>
          </a:p>
          <a:p>
            <a:pPr>
              <a:spcBef>
                <a:spcPts val="271"/>
              </a:spcBef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Trong phòng khách có hai vị khách đang ngồi.</a:t>
            </a:r>
          </a:p>
          <a:p>
            <a:pPr>
              <a:spcBef>
                <a:spcPts val="1357"/>
              </a:spcBef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Cấu trúc: 处所 + động từ + 着 + người/vật (phiếm chỉ, không xác định cụ thể là ai/cái gì). Trợ từ động thái "着" đứng sau động từ để tạo thành câu tồn hiện, mô tả TRẠNG THÁI có ai/vật gì đó tồn tại ở một nơi.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2/4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程度副词"多" — dùng trong câu cảm thán, diễn đạt mức độ rất cao</a:t>
            </a:r>
          </a:p>
          <a:p>
            <a:pPr>
              <a:spcBef>
                <a:spcPts val="1893"/>
              </a:spcBef>
            </a:pPr>
            <a:r>
              <a:rPr sz="2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你一个人在这儿</a:t>
            </a:r>
            <a:r>
              <a:rPr sz="24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多</a:t>
            </a:r>
            <a:r>
              <a:rPr sz="2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没意思啊！</a:t>
            </a:r>
          </a:p>
          <a:p>
            <a:pPr>
              <a:spcBef>
                <a:spcPts val="283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yí ge rén zài zhèr duō méiyìsi a!</a:t>
            </a:r>
          </a:p>
          <a:p>
            <a:pPr>
              <a:spcBef>
                <a:spcPts val="283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Cậu ở đây một mình chán biết bao!</a:t>
            </a:r>
          </a:p>
          <a:p>
            <a:pPr>
              <a:spcBef>
                <a:spcPts val="1893"/>
              </a:spcBef>
            </a:pPr>
            <a:r>
              <a:rPr sz="2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我们一起去</a:t>
            </a:r>
            <a:r>
              <a:rPr sz="24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多</a:t>
            </a:r>
            <a:r>
              <a:rPr sz="2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好啊！</a:t>
            </a:r>
          </a:p>
          <a:p>
            <a:pPr>
              <a:spcBef>
                <a:spcPts val="283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yìqǐ qù duō hǎo a!</a:t>
            </a:r>
          </a:p>
          <a:p>
            <a:pPr>
              <a:spcBef>
                <a:spcPts val="283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cùng đi thì tốt biết mấy!</a:t>
            </a:r>
          </a:p>
          <a:p>
            <a:pPr>
              <a:spcBef>
                <a:spcPts val="1893"/>
              </a:spcBef>
            </a:pPr>
            <a:r>
              <a:rPr sz="2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这个客厅</a:t>
            </a:r>
            <a:r>
              <a:rPr sz="24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多</a:t>
            </a:r>
            <a:r>
              <a:rPr sz="2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干净啊！</a:t>
            </a:r>
          </a:p>
          <a:p>
            <a:pPr>
              <a:spcBef>
                <a:spcPts val="283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Zhège kètīng duō gānjìng a!</a:t>
            </a:r>
          </a:p>
          <a:p>
            <a:pPr>
              <a:spcBef>
                <a:spcPts val="283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Phòng khách này sạch sẽ biết bao!</a:t>
            </a:r>
          </a:p>
          <a:p>
            <a:pPr>
              <a:spcBef>
                <a:spcPts val="1419"/>
              </a:spcBef>
            </a:pPr>
            <a:r>
              <a:rPr sz="14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Cấu trúc: "多" + tính từ + "啊" (câu cảm thán). Diễn đạt mức độ rất cao của tính chất được nói tới, thường mang sắc thái cảm xúc mạnh (khen/than).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09434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3/4 · 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已经 + khoảng thời gian + 没 + động từ + 了 — đã lâu không làm gì</a:t>
            </a:r>
          </a:p>
          <a:p>
            <a:pPr>
              <a:spcBef>
                <a:spcPts val="1809"/>
              </a:spcBef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已经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几年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没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回国了，今年想回国过年。</a:t>
            </a:r>
          </a:p>
          <a:p>
            <a:pPr>
              <a:spcBef>
                <a:spcPts val="271"/>
              </a:spcBef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yǐjīng jǐ nián méi huíguó le, jīnnián xiǎng huíguó guònián.</a:t>
            </a:r>
          </a:p>
          <a:p>
            <a:pPr>
              <a:spcBef>
                <a:spcPts val="271"/>
              </a:spcBef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Anh ấy đã mấy năm không về nước rồi, năm nay muốn về nước ăn Tết.</a:t>
            </a:r>
          </a:p>
          <a:p>
            <a:pPr>
              <a:spcBef>
                <a:spcPts val="1809"/>
              </a:spcBef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已经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好几个月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没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打扫阳台了，今天该收拾一下了。</a:t>
            </a:r>
          </a:p>
          <a:p>
            <a:pPr>
              <a:spcBef>
                <a:spcPts val="271"/>
              </a:spcBef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yǐjīng hǎo jǐ ge yuè méi dǎsǎo yángtái le, jīntiān gāi shōushi yíxià le.</a:t>
            </a:r>
          </a:p>
          <a:p>
            <a:pPr>
              <a:spcBef>
                <a:spcPts val="271"/>
              </a:spcBef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đã mấy tháng rồi không dọn ban công, hôm nay nên thu dọn một chút.</a:t>
            </a:r>
          </a:p>
          <a:p>
            <a:pPr>
              <a:spcBef>
                <a:spcPts val="1809"/>
              </a:spcBef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他们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已经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三年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没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搬家了，一直住在这套公寓里。</a:t>
            </a:r>
          </a:p>
          <a:p>
            <a:pPr>
              <a:spcBef>
                <a:spcPts val="271"/>
              </a:spcBef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Tāmen yǐjīng sān nián méi bānjiā le, yìzhí zhù zài zhè tào gōngyù lǐ.</a:t>
            </a:r>
          </a:p>
          <a:p>
            <a:pPr>
              <a:spcBef>
                <a:spcPts val="271"/>
              </a:spcBef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Họ đã 3 năm không chuyển nhà rồi, vẫn ở mãi trong căn hộ này.</a:t>
            </a:r>
          </a:p>
          <a:p>
            <a:pPr>
              <a:spcBef>
                <a:spcPts val="1357"/>
              </a:spcBef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Cấu trúc: 已经 + khoảng thời gian + 没 + động từ + 了 — diễn tả một khoảng thời gian khá lâu đã trôi qua mà chưa/không làm việc gì, thường kèm ý định/kế hoạch ở vế câu sau. Nguồn: 综合练习 nguyên văn sách Bài 14.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09434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4/4 · 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动词 + "上" (nghĩa mở rộng) — bắt đầu và duy trì một trạng thái</a:t>
            </a:r>
          </a:p>
          <a:p>
            <a:pPr>
              <a:spcBef>
                <a:spcPts val="1809"/>
              </a:spcBef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他告诉我，从见到我的第一天开始，他就喜欢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上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我了。</a:t>
            </a:r>
          </a:p>
          <a:p>
            <a:pPr>
              <a:spcBef>
                <a:spcPts val="271"/>
              </a:spcBef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gàosu wǒ, cóng jiàndào wǒ de dì-yī tiān kāishǐ, tā jiù xǐhuan shàng wǒ le.</a:t>
            </a:r>
          </a:p>
          <a:p>
            <a:pPr>
              <a:spcBef>
                <a:spcPts val="271"/>
              </a:spcBef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Anh ấy kể, từ ngày đầu gặp tôi là đã thích tôi rồi (và cứ thích mãi).</a:t>
            </a:r>
          </a:p>
          <a:p>
            <a:pPr>
              <a:spcBef>
                <a:spcPts val="1809"/>
              </a:spcBef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我们爱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上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了中文课。</a:t>
            </a:r>
          </a:p>
          <a:p>
            <a:pPr>
              <a:spcBef>
                <a:spcPts val="271"/>
              </a:spcBef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ài shàng le Zhōngwén kè.</a:t>
            </a:r>
          </a:p>
          <a:p>
            <a:pPr>
              <a:spcBef>
                <a:spcPts val="271"/>
              </a:spcBef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Chúng tôi đã yêu thích tiết học tiếng Trung (Buổi 13).</a:t>
            </a:r>
          </a:p>
          <a:p>
            <a:pPr>
              <a:spcBef>
                <a:spcPts val="1809"/>
              </a:spcBef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我一进这套公寓就看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上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了阳台。</a:t>
            </a:r>
          </a:p>
          <a:p>
            <a:pPr>
              <a:spcBef>
                <a:spcPts val="271"/>
              </a:spcBef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yí jìn zhè tào gōngyù jiù kànshàng le yángtái.</a:t>
            </a:r>
          </a:p>
          <a:p>
            <a:pPr>
              <a:spcBef>
                <a:spcPts val="271"/>
              </a:spcBef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Vừa bước vào căn hộ này là tôi đã ưng ngay cái ban công.</a:t>
            </a:r>
          </a:p>
          <a:p>
            <a:pPr>
              <a:spcBef>
                <a:spcPts val="1357"/>
              </a:spcBef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"động từ + 上" ở đây KHÔNG chỉ hướng như 复合趋向补语 đã học ở Buổi 5 (上/下/进/出/回/过 + 来/去), mà mang nghĩa MỞ RỘNG: bắt đầu một trạng thái/cảm xúc và duy trì nó về sau. Thường gặp: 喜欢上 · 爱上 · 迷上 · 看上.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